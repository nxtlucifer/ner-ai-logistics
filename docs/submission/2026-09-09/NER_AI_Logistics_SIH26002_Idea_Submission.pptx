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253F"/>
                </a:solidFill>
                <a:latin typeface="Calibri"/>
              </a:rPr>
              <a:t>Problem Statement ID - </a:t>
            </a:r>
            <a:r>
              <a:rPr sz="1600" b="1">
                <a:solidFill>
                  <a:srgbClr val="9B2C2C"/>
                </a:solidFill>
                <a:latin typeface="Calibri"/>
              </a:rPr>
              <a:t>SIH26002</a:t>
            </a:r>
            <a:endParaRPr lang="en-US" dirty="0"/>
          </a:p>
          <a:p>
            <a:pPr>
              <a:lnSpc>
                <a:spcPct val="95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0D253F"/>
                </a:solidFill>
                <a:latin typeface="Calibri"/>
              </a:rPr>
              <a:t>Problem Statement Title - </a:t>
            </a:r>
            <a:r>
              <a:rPr sz="1300" b="0">
                <a:solidFill>
                  <a:srgbClr val="1B2B3A"/>
                </a:solidFill>
                <a:latin typeface="Calibri"/>
              </a:rPr>
              <a:t>AI-Based Smart Logistics and Accessibility Intelligence Platform for North Eastern Region (NER)</a:t>
            </a:r>
          </a:p>
          <a:p>
            <a:pPr>
              <a:lnSpc>
                <a:spcPct val="95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0D253F"/>
                </a:solidFill>
                <a:latin typeface="Calibri"/>
              </a:rPr>
              <a:t>Theme - </a:t>
            </a:r>
            <a:r>
              <a:rPr sz="1300" b="0">
                <a:solidFill>
                  <a:srgbClr val="1B2B3A"/>
                </a:solidFill>
                <a:latin typeface="Calibri"/>
              </a:rPr>
              <a:t>Smart Automation</a:t>
            </a:r>
          </a:p>
          <a:p>
            <a:pPr>
              <a:lnSpc>
                <a:spcPct val="95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0D253F"/>
                </a:solidFill>
                <a:latin typeface="Calibri"/>
              </a:rPr>
              <a:t>PS Category - </a:t>
            </a:r>
            <a:r>
              <a:rPr sz="1300" b="0">
                <a:solidFill>
                  <a:srgbClr val="1B2B3A"/>
                </a:solidFill>
                <a:latin typeface="Calibri"/>
              </a:rPr>
              <a:t>Software</a:t>
            </a:r>
          </a:p>
          <a:p>
            <a:pPr>
              <a:lnSpc>
                <a:spcPct val="95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0D253F"/>
                </a:solidFill>
                <a:latin typeface="Calibri"/>
              </a:rPr>
              <a:t>Team ID - </a:t>
            </a:r>
            <a:r>
              <a:rPr sz="1300" b="0">
                <a:solidFill>
                  <a:srgbClr val="1B2B3A"/>
                </a:solidFill>
                <a:latin typeface="Calibri"/>
              </a:rPr>
              <a:t>&lt;TEAM ID FROM SIH PORTAL&gt;</a:t>
            </a:r>
          </a:p>
          <a:p>
            <a:pPr>
              <a:lnSpc>
                <a:spcPct val="95000"/>
              </a:lnSpc>
              <a:spcBef>
                <a:spcPts val="800"/>
              </a:spcBef>
              <a:spcAft>
                <a:spcPts val="0"/>
              </a:spcAft>
            </a:pPr>
            <a:r>
              <a:rPr sz="1300" b="1">
                <a:solidFill>
                  <a:srgbClr val="0D253F"/>
                </a:solidFill>
                <a:latin typeface="Calibri"/>
              </a:rPr>
              <a:t>Team Name - </a:t>
            </a:r>
            <a:r>
              <a:rPr sz="1300" b="0">
                <a:solidFill>
                  <a:srgbClr val="1B2B3A"/>
                </a:solidFill>
                <a:latin typeface="Calibri"/>
              </a:rPr>
              <a:t>NER-AI LOGISTICS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65760" y="4828032"/>
            <a:ext cx="5577840" cy="1481328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C2D2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530352" y="4956048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8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WORKING PROTOTYPE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04288" y="4901184"/>
            <a:ext cx="3566160" cy="384048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D253F"/>
                </a:solidFill>
                <a:latin typeface="Calibri"/>
              </a:rPr>
              <a:t>RASTA-AI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5303520"/>
            <a:ext cx="5303520" cy="914400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6E7C"/>
                </a:solidFill>
                <a:latin typeface="Calibri"/>
              </a:rPr>
              <a:t>Route Accessibility, Safety, Terrain &amp; Analytics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6372"/>
                </a:solidFill>
                <a:latin typeface="Calibri"/>
              </a:rPr>
              <a:t>Roads treated as changeably passable — not as fixed lines on a map.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algn="ctr"/>
            <a:r>
              <a:rPr sz="2200"/>
              <a:t>RASTA-AI — Accessibility-Intelligent Fleet Command for the North East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D253F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85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PS ID
SIH26002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1691640" y="768096"/>
            <a:ext cx="8869680" cy="274320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36372"/>
                </a:solidFill>
                <a:latin typeface="Calibri"/>
              </a:rPr>
              <a:t>Every route decision carries the evidence it was made from, and names the evidence it did not get.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329184" y="1170432"/>
            <a:ext cx="3703320" cy="3054096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C9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4" name="TextBox 15363"/>
          <p:cNvSpPr txBox="1"/>
          <p:nvPr/>
        </p:nvSpPr>
        <p:spPr>
          <a:xfrm>
            <a:off x="475488" y="1280160"/>
            <a:ext cx="338328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B2C2C"/>
                </a:solidFill>
                <a:latin typeface="Calibri"/>
              </a:rPr>
              <a:t>THE PROBLEM — SPECIFIC TO NER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475488" y="1572768"/>
            <a:ext cx="3410712" cy="2542032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9B2C2C"/>
                </a:solidFill>
                <a:latin typeface="Calibri"/>
              </a:rPr>
              <a:t>22 km chokepoint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Siliguri Corridor feeds all 8 NER states.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1" i="0">
                <a:solidFill>
                  <a:srgbClr val="9B2C2C"/>
                </a:solidFill>
                <a:latin typeface="Calibri"/>
              </a:rPr>
              <a:t>No parallel road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Next alternative often 100+ km away.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1" i="0">
                <a:solidFill>
                  <a:srgbClr val="9B2C2C"/>
                </a:solidFill>
                <a:latin typeface="Calibri"/>
              </a:rPr>
              <a:t>Monsoon closes highways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May–Sep landslides, washouts, flooding.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1" i="0">
                <a:solidFill>
                  <a:srgbClr val="9B2C2C"/>
                </a:solidFill>
                <a:latin typeface="Calibri"/>
              </a:rPr>
              <a:t>Dead cellular zones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Trucks unreachable for hours, routinely.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1" i="0">
                <a:solidFill>
                  <a:srgbClr val="9B2C2C"/>
                </a:solidFill>
                <a:latin typeface="Calibri"/>
              </a:rPr>
              <a:t>Manager learns by phone call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Needs signal, and a driver able to call.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1" i="0">
                <a:solidFill>
                  <a:srgbClr val="9B2C2C"/>
                </a:solidFill>
                <a:latin typeface="Calibri"/>
              </a:rPr>
              <a:t>Fuel budgeted by rule of thumb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Gradient and payload not modelled at all.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224528" y="1170432"/>
            <a:ext cx="3703320" cy="3054096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C9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7" name="TextBox 15366"/>
          <p:cNvSpPr txBox="1"/>
          <p:nvPr/>
        </p:nvSpPr>
        <p:spPr>
          <a:xfrm>
            <a:off x="4370832" y="1280160"/>
            <a:ext cx="338328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5DA0"/>
                </a:solidFill>
                <a:latin typeface="Calibri"/>
              </a:rPr>
              <a:t>PROPOSED SOLUTION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4370832" y="1572768"/>
            <a:ext cx="3410712" cy="2542032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145DA0"/>
                </a:solidFill>
                <a:latin typeface="Calibri"/>
              </a:rPr>
              <a:t>Accessibility intelligence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Weather, landslide and closure evidence revise which corridors are usable, live.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1" i="0">
                <a:solidFill>
                  <a:srgbClr val="145DA0"/>
                </a:solidFill>
                <a:latin typeface="Calibri"/>
              </a:rPr>
              <a:t>3-corridor explainable compare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Primary / fuel-saving / backup — distance, ETA, litres, reason-coded risk.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1" i="0">
                <a:solidFill>
                  <a:srgbClr val="145DA0"/>
                </a:solidFill>
                <a:latin typeface="Calibri"/>
              </a:rPr>
              <a:t>Physics fuel model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Litres and CO₂ from payload and climb metres, not distance.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1" i="0">
                <a:solidFill>
                  <a:srgbClr val="145DA0"/>
                </a:solidFill>
                <a:latin typeface="Calibri"/>
              </a:rPr>
              <a:t>Fleet Sentinel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Stationary + unanswered → automatic SOS briefing to the manager.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1" i="0">
                <a:solidFill>
                  <a:srgbClr val="145DA0"/>
                </a:solidFill>
                <a:latin typeface="Calibri"/>
              </a:rPr>
              <a:t>Offline-first driver app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Route, turns, POIs and emergency guide cached; GPS buffers and replays.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8119872" y="1170432"/>
            <a:ext cx="3739896" cy="3054096"/>
          </a:xfrm>
          <a:prstGeom prst="roundRect">
            <a:avLst>
              <a:gd name="adj" fmla="val 5000"/>
            </a:avLst>
          </a:prstGeom>
          <a:solidFill>
            <a:srgbClr val="ECF5F6"/>
          </a:solidFill>
          <a:ln w="12700">
            <a:solidFill>
              <a:srgbClr val="A9D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0" name="TextBox 15369"/>
          <p:cNvSpPr txBox="1"/>
          <p:nvPr/>
        </p:nvSpPr>
        <p:spPr>
          <a:xfrm>
            <a:off x="8266176" y="1280160"/>
            <a:ext cx="338328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6E7C"/>
                </a:solidFill>
                <a:latin typeface="Calibri"/>
              </a:rPr>
              <a:t>OUR USP — WHY THIS IS DIFFERENT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8266176" y="1572768"/>
            <a:ext cx="3447288" cy="2542032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E6E7C"/>
                </a:solidFill>
                <a:latin typeface="Calibri"/>
              </a:rPr>
              <a:t>“Silence is not evidence.”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No elapsed time can mark a road open. A repair claim is a separate state from a confirmation.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1" i="0">
                <a:solidFill>
                  <a:srgbClr val="0E6E7C"/>
                </a:solidFill>
                <a:latin typeface="Calibri"/>
              </a:rPr>
              <a:t>A closed road is refused, not penalised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A score can be out-voted. A refusal cannot.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1" i="0">
                <a:solidFill>
                  <a:srgbClr val="0E6E7C"/>
                </a:solidFill>
                <a:latin typeface="Calibri"/>
              </a:rPr>
              <a:t>UNKNOWN ≠ SAFE  ·  STALE ≠ LIVE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Missing data is displayed as missing. No provider outage can become “risk = 0”.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1" i="0">
                <a:solidFill>
                  <a:srgbClr val="0E6E7C"/>
                </a:solidFill>
                <a:latin typeface="Calibri"/>
              </a:rPr>
              <a:t>AI is never in the safety path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Rules decide. The model only rewords facts already computed.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1" i="0">
                <a:solidFill>
                  <a:srgbClr val="0E6E7C"/>
                </a:solidFill>
                <a:latin typeface="Calibri"/>
              </a:rPr>
              <a:t>Our own trucks are the sensor</a:t>
            </a:r>
          </a:p>
          <a:p>
            <a:pPr algn="l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A GPS traversal is the only evidence that reopens a road without a bulletin.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329184" y="4370832"/>
            <a:ext cx="5705856" cy="1170432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C9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3" name="TextBox 15372"/>
          <p:cNvSpPr txBox="1"/>
          <p:nvPr/>
        </p:nvSpPr>
        <p:spPr>
          <a:xfrm>
            <a:off x="475488" y="4462272"/>
            <a:ext cx="365760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D253F"/>
                </a:solidFill>
                <a:latin typeface="Calibri"/>
              </a:rPr>
              <a:t>DELIVERED AND MEASURED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438912" y="4718304"/>
            <a:ext cx="1097280" cy="365760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D253F"/>
                </a:solidFill>
                <a:latin typeface="Calibri"/>
              </a:rPr>
              <a:t>1,636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438912" y="5029200"/>
            <a:ext cx="1097280" cy="31089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536372"/>
                </a:solidFill>
                <a:latin typeface="Calibri"/>
              </a:rPr>
              <a:t>automated tests
passing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1554480" y="4718304"/>
            <a:ext cx="1097280" cy="365760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D253F"/>
                </a:solidFill>
                <a:latin typeface="Calibri"/>
              </a:rPr>
              <a:t>3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1554480" y="5029200"/>
            <a:ext cx="1097280" cy="31089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536372"/>
                </a:solidFill>
                <a:latin typeface="Calibri"/>
              </a:rPr>
              <a:t>shipped clients
web · Android · API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2670048" y="4718304"/>
            <a:ext cx="1097280" cy="365760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D253F"/>
                </a:solidFill>
                <a:latin typeface="Calibri"/>
              </a:rPr>
              <a:t>10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2670048" y="5029200"/>
            <a:ext cx="1097280" cy="31089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536372"/>
                </a:solidFill>
                <a:latin typeface="Calibri"/>
              </a:rPr>
              <a:t>deterministic
decision engines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3785615" y="4718304"/>
            <a:ext cx="1097280" cy="365760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D253F"/>
                </a:solidFill>
                <a:latin typeface="Calibri"/>
              </a:rPr>
              <a:t>71 MB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3785615" y="5029200"/>
            <a:ext cx="1097280" cy="31089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536372"/>
                </a:solidFill>
                <a:latin typeface="Calibri"/>
              </a:rPr>
              <a:t>installable
Android APK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4901183" y="4718304"/>
            <a:ext cx="1097280" cy="365760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D253F"/>
                </a:solidFill>
                <a:latin typeface="Calibri"/>
              </a:rPr>
              <a:t>17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4901183" y="5029200"/>
            <a:ext cx="1097280" cy="31089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536372"/>
                </a:solidFill>
                <a:latin typeface="Calibri"/>
              </a:rPr>
              <a:t>database tables
in production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6153912" y="4370832"/>
            <a:ext cx="5705856" cy="1170432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C9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5" name="TextBox 15384"/>
          <p:cNvSpPr txBox="1"/>
          <p:nvPr/>
        </p:nvSpPr>
        <p:spPr>
          <a:xfrm>
            <a:off x="6300216" y="4462272"/>
            <a:ext cx="365760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D253F"/>
                </a:solidFill>
                <a:latin typeface="Calibri"/>
              </a:rPr>
              <a:t>ALREADY WORKING IN THE PROTOTYPE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6300216" y="4700016"/>
            <a:ext cx="1693468" cy="219456"/>
          </a:xfrm>
          <a:prstGeom prst="roundRect">
            <a:avLst>
              <a:gd name="adj" fmla="val 50000"/>
            </a:avLst>
          </a:prstGeom>
          <a:solidFill>
            <a:srgbClr val="E2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780" b="1">
                <a:solidFill>
                  <a:srgbClr val="0D253F"/>
                </a:solidFill>
                <a:latin typeface="Calibri"/>
              </a:rPr>
              <a:t>Atomic plan + dispatch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8066836" y="4700016"/>
            <a:ext cx="1415491" cy="219456"/>
          </a:xfrm>
          <a:prstGeom prst="roundRect">
            <a:avLst>
              <a:gd name="adj" fmla="val 50000"/>
            </a:avLst>
          </a:prstGeom>
          <a:solidFill>
            <a:srgbClr val="E2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780" b="1">
                <a:solidFill>
                  <a:srgbClr val="0D253F"/>
                </a:solidFill>
                <a:latin typeface="Calibri"/>
              </a:rPr>
              <a:t>Live GPS freshness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9555480" y="4700016"/>
            <a:ext cx="1554480" cy="219456"/>
          </a:xfrm>
          <a:prstGeom prst="roundRect">
            <a:avLst>
              <a:gd name="adj" fmla="val 50000"/>
            </a:avLst>
          </a:prstGeom>
          <a:solidFill>
            <a:srgbClr val="E2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780" b="1">
                <a:solidFill>
                  <a:srgbClr val="0D253F"/>
                </a:solidFill>
                <a:latin typeface="Calibri"/>
              </a:rPr>
              <a:t>3-route risk compare</a:t>
            </a:r>
          </a:p>
        </p:txBody>
      </p:sp>
      <p:sp>
        <p:nvSpPr>
          <p:cNvPr id="15389" name="Rounded Rectangle 15388"/>
          <p:cNvSpPr/>
          <p:nvPr/>
        </p:nvSpPr>
        <p:spPr>
          <a:xfrm>
            <a:off x="6300216" y="4946904"/>
            <a:ext cx="1971446" cy="219456"/>
          </a:xfrm>
          <a:prstGeom prst="roundRect">
            <a:avLst>
              <a:gd name="adj" fmla="val 50000"/>
            </a:avLst>
          </a:prstGeom>
          <a:solidFill>
            <a:srgbClr val="E2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780" b="1">
                <a:solidFill>
                  <a:srgbClr val="0D253F"/>
                </a:solidFill>
                <a:latin typeface="Calibri"/>
              </a:rPr>
              <a:t>Authorised route selection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8344814" y="4946904"/>
            <a:ext cx="1693468" cy="219456"/>
          </a:xfrm>
          <a:prstGeom prst="roundRect">
            <a:avLst>
              <a:gd name="adj" fmla="val 50000"/>
            </a:avLst>
          </a:prstGeom>
          <a:solidFill>
            <a:srgbClr val="E2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780" b="1">
                <a:solidFill>
                  <a:srgbClr val="0D253F"/>
                </a:solidFill>
                <a:latin typeface="Calibri"/>
              </a:rPr>
              <a:t>Human-approved reroute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10111435" y="4946904"/>
            <a:ext cx="1276502" cy="219456"/>
          </a:xfrm>
          <a:prstGeom prst="roundRect">
            <a:avLst>
              <a:gd name="adj" fmla="val 50000"/>
            </a:avLst>
          </a:prstGeom>
          <a:solidFill>
            <a:srgbClr val="E2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780" b="1">
                <a:solidFill>
                  <a:srgbClr val="0D253F"/>
                </a:solidFill>
                <a:latin typeface="Calibri"/>
              </a:rPr>
              <a:t>Turn-by-turn nav</a:t>
            </a:r>
          </a:p>
        </p:txBody>
      </p:sp>
      <p:sp>
        <p:nvSpPr>
          <p:cNvPr id="15392" name="Rounded Rectangle 15391"/>
          <p:cNvSpPr/>
          <p:nvPr/>
        </p:nvSpPr>
        <p:spPr>
          <a:xfrm>
            <a:off x="6300216" y="5193792"/>
            <a:ext cx="1207007" cy="219456"/>
          </a:xfrm>
          <a:prstGeom prst="roundRect">
            <a:avLst>
              <a:gd name="adj" fmla="val 50000"/>
            </a:avLst>
          </a:prstGeom>
          <a:solidFill>
            <a:srgbClr val="E2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780" b="1">
                <a:solidFill>
                  <a:srgbClr val="0D253F"/>
                </a:solidFill>
                <a:latin typeface="Calibri"/>
              </a:rPr>
              <a:t>Offline package</a:t>
            </a:r>
          </a:p>
        </p:txBody>
      </p:sp>
      <p:sp>
        <p:nvSpPr>
          <p:cNvPr id="15393" name="Rounded Rectangle 15392"/>
          <p:cNvSpPr/>
          <p:nvPr/>
        </p:nvSpPr>
        <p:spPr>
          <a:xfrm>
            <a:off x="7580375" y="5193792"/>
            <a:ext cx="1554480" cy="219456"/>
          </a:xfrm>
          <a:prstGeom prst="roundRect">
            <a:avLst>
              <a:gd name="adj" fmla="val 50000"/>
            </a:avLst>
          </a:prstGeom>
          <a:solidFill>
            <a:srgbClr val="E2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780" b="1">
                <a:solidFill>
                  <a:srgbClr val="0D253F"/>
                </a:solidFill>
                <a:latin typeface="Calibri"/>
              </a:rPr>
              <a:t>Vernacular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/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D253F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85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PS ID
SIH26002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691640" y="768096"/>
            <a:ext cx="8869680" cy="274320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36372"/>
                </a:solidFill>
                <a:latin typeface="Calibri"/>
              </a:rPr>
              <a:t>How a trip flows through the system — input, process, output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9184" y="1225296"/>
            <a:ext cx="2487168" cy="29260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C9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Rounded Rectangle 17411"/>
          <p:cNvSpPr/>
          <p:nvPr/>
        </p:nvSpPr>
        <p:spPr>
          <a:xfrm>
            <a:off x="329184" y="109728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1499616"/>
            <a:ext cx="2249424" cy="2542032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5DA0"/>
                </a:solidFill>
                <a:latin typeface="Calibri"/>
              </a:rPr>
              <a:t>Manager</a:t>
            </a:r>
          </a:p>
          <a:p>
            <a:pPr algn="l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</a:pPr>
            <a:r>
              <a:rPr sz="900" b="0" i="0">
                <a:solidFill>
                  <a:srgbClr val="1B2B3A"/>
                </a:solidFill>
                <a:latin typeface="Calibri"/>
              </a:rPr>
              <a:t>Shipment · cargo weight · pickup · destination</a:t>
            </a:r>
          </a:p>
          <a:p>
            <a:pPr algn="l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</a:pPr>
            <a:r>
              <a:rPr sz="900" b="1" i="0">
                <a:solidFill>
                  <a:srgbClr val="145DA0"/>
                </a:solidFill>
                <a:latin typeface="Calibri"/>
              </a:rPr>
              <a:t>Driver phone</a:t>
            </a:r>
          </a:p>
          <a:p>
            <a:pPr algn="l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</a:pPr>
            <a:r>
              <a:rPr sz="900" b="0" i="0">
                <a:solidFill>
                  <a:srgbClr val="1B2B3A"/>
                </a:solidFill>
                <a:latin typeface="Calibri"/>
              </a:rPr>
              <a:t>GPS fixes · stop events · proof of delivery</a:t>
            </a:r>
          </a:p>
          <a:p>
            <a:pPr algn="l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</a:pPr>
            <a:r>
              <a:rPr sz="900" b="1" i="0">
                <a:solidFill>
                  <a:srgbClr val="145DA0"/>
                </a:solidFill>
                <a:latin typeface="Calibri"/>
              </a:rPr>
              <a:t>Open-Meteo</a:t>
            </a:r>
          </a:p>
          <a:p>
            <a:pPr algn="l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</a:pPr>
            <a:r>
              <a:rPr sz="900" b="0" i="0">
                <a:solidFill>
                  <a:srgbClr val="1B2B3A"/>
                </a:solidFill>
                <a:latin typeface="Calibri"/>
              </a:rPr>
              <a:t>Rainfall &amp; gusts along the route polyline</a:t>
            </a:r>
          </a:p>
          <a:p>
            <a:pPr algn="l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</a:pPr>
            <a:r>
              <a:rPr sz="900" b="1" i="0">
                <a:solidFill>
                  <a:srgbClr val="145DA0"/>
                </a:solidFill>
                <a:latin typeface="Calibri"/>
              </a:rPr>
              <a:t>OSRM + OpenStreetMap</a:t>
            </a:r>
          </a:p>
          <a:p>
            <a:pPr algn="l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</a:pPr>
            <a:r>
              <a:rPr sz="900" b="0" i="0">
                <a:solidFill>
                  <a:srgbClr val="1B2B3A"/>
                </a:solidFill>
                <a:latin typeface="Calibri"/>
              </a:rPr>
              <a:t>Road geometry · duration · turn maneuvers · POIs</a:t>
            </a:r>
          </a:p>
          <a:p>
            <a:pPr algn="l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</a:pPr>
            <a:r>
              <a:rPr sz="900" b="1" i="0">
                <a:solidFill>
                  <a:srgbClr val="145DA0"/>
                </a:solidFill>
                <a:latin typeface="Calibri"/>
              </a:rPr>
              <a:t>SRTM elevation</a:t>
            </a:r>
          </a:p>
          <a:p>
            <a:pPr algn="l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</a:pPr>
            <a:r>
              <a:rPr sz="900" b="0" i="0">
                <a:solidFill>
                  <a:srgbClr val="1B2B3A"/>
                </a:solidFill>
                <a:latin typeface="Calibri"/>
              </a:rPr>
              <a:t>Cumulative climb metres per corridor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962656" y="1225296"/>
            <a:ext cx="5760720" cy="2926080"/>
          </a:xfrm>
          <a:prstGeom prst="roundRect">
            <a:avLst>
              <a:gd name="adj" fmla="val 5000"/>
            </a:avLst>
          </a:prstGeom>
          <a:solidFill>
            <a:srgbClr val="F7F2E8"/>
          </a:solidFill>
          <a:ln w="12700">
            <a:solidFill>
              <a:srgbClr val="E2CE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Rounded Rectangle 17414"/>
          <p:cNvSpPr/>
          <p:nvPr/>
        </p:nvSpPr>
        <p:spPr>
          <a:xfrm>
            <a:off x="2962656" y="109728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A8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108960" y="1499616"/>
            <a:ext cx="5486400" cy="31089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D253F"/>
                </a:solidFill>
                <a:latin typeface="Calibri"/>
              </a:rPr>
              <a:t>FastAPI domain engines — deterministic, versioned, no model in the decision path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108960" y="1828800"/>
            <a:ext cx="1737360" cy="219456"/>
          </a:xfrm>
          <a:prstGeom prst="roundRect">
            <a:avLst>
              <a:gd name="adj" fmla="val 50000"/>
            </a:avLst>
          </a:prstGeom>
          <a:solidFill>
            <a:srgbClr val="A8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19" b="1">
                <a:solidFill>
                  <a:srgbClr val="FFFFFF"/>
                </a:solidFill>
                <a:latin typeface="Calibri"/>
              </a:rPr>
              <a:t>route_risk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108960" y="2066543"/>
            <a:ext cx="1737360" cy="475488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1B2B3A"/>
                </a:solidFill>
                <a:latin typeface="Calibri"/>
              </a:rPr>
              <a:t>rain ≤ 45 · wind ≤ 25
duration ≤ 20 · dist ≤ 10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965192" y="1828800"/>
            <a:ext cx="1737360" cy="219456"/>
          </a:xfrm>
          <a:prstGeom prst="roundRect">
            <a:avLst>
              <a:gd name="adj" fmla="val 50000"/>
            </a:avLst>
          </a:prstGeom>
          <a:solidFill>
            <a:srgbClr val="A8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19" b="1">
                <a:solidFill>
                  <a:srgbClr val="FFFFFF"/>
                </a:solidFill>
                <a:latin typeface="Calibri"/>
              </a:rPr>
              <a:t>route_eligibility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965192" y="2066543"/>
            <a:ext cx="1737360" cy="475488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1B2B3A"/>
                </a:solidFill>
                <a:latin typeface="Calibri"/>
              </a:rPr>
              <a:t>closed road = refusal,
not a high score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821423" y="1828800"/>
            <a:ext cx="1737360" cy="219456"/>
          </a:xfrm>
          <a:prstGeom prst="roundRect">
            <a:avLst>
              <a:gd name="adj" fmla="val 50000"/>
            </a:avLst>
          </a:prstGeom>
          <a:solidFill>
            <a:srgbClr val="A8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19" b="1">
                <a:solidFill>
                  <a:srgbClr val="FFFFFF"/>
                </a:solidFill>
                <a:latin typeface="Calibri"/>
              </a:rPr>
              <a:t>fuel_model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821423" y="2066543"/>
            <a:ext cx="1737360" cy="475488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1B2B3A"/>
                </a:solidFill>
                <a:latin typeface="Calibri"/>
              </a:rPr>
              <a:t>CMEM physics →
litres + CO₂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108960" y="2615184"/>
            <a:ext cx="1737360" cy="219456"/>
          </a:xfrm>
          <a:prstGeom prst="roundRect">
            <a:avLst>
              <a:gd name="adj" fmla="val 50000"/>
            </a:avLst>
          </a:prstGeom>
          <a:solidFill>
            <a:srgbClr val="A8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19" b="1">
                <a:solidFill>
                  <a:srgbClr val="FFFFFF"/>
                </a:solidFill>
                <a:latin typeface="Calibri"/>
              </a:rPr>
              <a:t>road_memory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108960" y="2852928"/>
            <a:ext cx="1737360" cy="475488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1B2B3A"/>
                </a:solidFill>
                <a:latin typeface="Calibri"/>
              </a:rPr>
              <a:t>5-state evidence
machine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965192" y="2615184"/>
            <a:ext cx="1737360" cy="219456"/>
          </a:xfrm>
          <a:prstGeom prst="roundRect">
            <a:avLst>
              <a:gd name="adj" fmla="val 50000"/>
            </a:avLst>
          </a:prstGeom>
          <a:solidFill>
            <a:srgbClr val="A8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19" b="1">
                <a:solidFill>
                  <a:srgbClr val="FFFFFF"/>
                </a:solidFill>
                <a:latin typeface="Calibri"/>
              </a:rPr>
              <a:t>route_recommendation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965192" y="2852928"/>
            <a:ext cx="1737360" cy="475488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1B2B3A"/>
                </a:solidFill>
                <a:latin typeface="Calibri"/>
              </a:rPr>
              <a:t>evidence-parity gate
before comparing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821423" y="2615184"/>
            <a:ext cx="1737360" cy="219456"/>
          </a:xfrm>
          <a:prstGeom prst="roundRect">
            <a:avLst>
              <a:gd name="adj" fmla="val 50000"/>
            </a:avLst>
          </a:prstGeom>
          <a:solidFill>
            <a:srgbClr val="A8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19" b="1">
                <a:solidFill>
                  <a:srgbClr val="FFFFFF"/>
                </a:solidFill>
                <a:latin typeface="Calibri"/>
              </a:rPr>
              <a:t>reroute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821423" y="2852928"/>
            <a:ext cx="1737360" cy="475488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1B2B3A"/>
                </a:solidFill>
                <a:latin typeface="Calibri"/>
              </a:rPr>
              <a:t>NO_ACTION · ALERT_ONLY
· PROPOSE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3108960" y="3621024"/>
            <a:ext cx="5468112" cy="402336"/>
          </a:xfrm>
          <a:prstGeom prst="roundRect">
            <a:avLst>
              <a:gd name="adj" fmla="val 5000"/>
            </a:avLst>
          </a:prstGeom>
          <a:solidFill>
            <a:srgbClr val="ECF4EF"/>
          </a:solidFill>
          <a:ln w="12700">
            <a:solidFill>
              <a:srgbClr val="B8D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TextBox 17429"/>
          <p:cNvSpPr txBox="1"/>
          <p:nvPr/>
        </p:nvSpPr>
        <p:spPr>
          <a:xfrm>
            <a:off x="3218688" y="3675888"/>
            <a:ext cx="5266944" cy="329184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186A43"/>
                </a:solidFill>
                <a:latin typeface="Calibri"/>
              </a:rPr>
              <a:t>SAFETY CORE (rules only) — capacity · documents · eligibility · Fleet Sentinel escalation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8869680" y="1225296"/>
            <a:ext cx="2990088" cy="29260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C9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2" name="Rounded Rectangle 17431"/>
          <p:cNvSpPr/>
          <p:nvPr/>
        </p:nvSpPr>
        <p:spPr>
          <a:xfrm>
            <a:off x="8869680" y="10972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18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8997696" y="1499616"/>
            <a:ext cx="2752344" cy="2542032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86A43"/>
                </a:solidFill>
                <a:latin typeface="Calibri"/>
              </a:rPr>
              <a:t>Manager console</a:t>
            </a:r>
          </a:p>
          <a:p>
            <a:pPr algn="l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</a:pPr>
            <a:r>
              <a:rPr sz="900" b="0" i="0">
                <a:solidFill>
                  <a:srgbClr val="1B2B3A"/>
                </a:solidFill>
                <a:latin typeface="Calibri"/>
              </a:rPr>
              <a:t>Live fleet map · 3-route risk comparison with reasons · reroute proposal</a:t>
            </a:r>
          </a:p>
          <a:p>
            <a:pPr algn="l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</a:pPr>
            <a:r>
              <a:rPr sz="900" b="1" i="0">
                <a:solidFill>
                  <a:srgbClr val="186A43"/>
                </a:solidFill>
                <a:latin typeface="Calibri"/>
              </a:rPr>
              <a:t>Driver app</a:t>
            </a:r>
          </a:p>
          <a:p>
            <a:pPr algn="l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</a:pPr>
            <a:r>
              <a:rPr sz="900" b="0" i="0">
                <a:solidFill>
                  <a:srgbClr val="1B2B3A"/>
                </a:solidFill>
                <a:latin typeface="Calibri"/>
              </a:rPr>
              <a:t>Turn-by-turn corridor · offline pack · hazard alerts · vernacular assistant</a:t>
            </a:r>
          </a:p>
          <a:p>
            <a:pPr algn="l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</a:pPr>
            <a:r>
              <a:rPr sz="900" b="1" i="0">
                <a:solidFill>
                  <a:srgbClr val="186A43"/>
                </a:solidFill>
                <a:latin typeface="Calibri"/>
              </a:rPr>
              <a:t>Escalation</a:t>
            </a:r>
          </a:p>
          <a:p>
            <a:pPr algn="l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</a:pPr>
            <a:r>
              <a:rPr sz="900" b="0" i="0">
                <a:solidFill>
                  <a:srgbClr val="1B2B3A"/>
                </a:solidFill>
                <a:latin typeface="Calibri"/>
              </a:rPr>
              <a:t>Populated SOS briefing when a driver goes silent</a:t>
            </a:r>
          </a:p>
          <a:p>
            <a:pPr algn="l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</a:pPr>
            <a:r>
              <a:rPr sz="900" b="1" i="0">
                <a:solidFill>
                  <a:srgbClr val="186A43"/>
                </a:solidFill>
                <a:latin typeface="Calibri"/>
              </a:rPr>
              <a:t>Audit trail</a:t>
            </a:r>
          </a:p>
          <a:p>
            <a:pPr algn="l">
              <a:lnSpc>
                <a:spcPct val="95000"/>
              </a:lnSpc>
              <a:spcBef>
                <a:spcPts val="250"/>
              </a:spcBef>
              <a:spcAft>
                <a:spcPts val="0"/>
              </a:spcAft>
            </a:pPr>
            <a:r>
              <a:rPr sz="900" b="0" i="0">
                <a:solidFill>
                  <a:srgbClr val="1B2B3A"/>
                </a:solidFill>
                <a:latin typeface="Calibri"/>
              </a:rPr>
              <a:t>Every authorisation, override and escalation, append-only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2798064" y="2368296"/>
            <a:ext cx="219456" cy="31089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36372"/>
                </a:solidFill>
                <a:latin typeface="Calibri"/>
              </a:rPr>
              <a:t>▶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8705088" y="2368296"/>
            <a:ext cx="219456" cy="310896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36372"/>
                </a:solidFill>
                <a:latin typeface="Calibri"/>
              </a:rPr>
              <a:t>▶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329184" y="4297680"/>
            <a:ext cx="11530584" cy="1024128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C9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TextBox 17436"/>
          <p:cNvSpPr txBox="1"/>
          <p:nvPr/>
        </p:nvSpPr>
        <p:spPr>
          <a:xfrm>
            <a:off x="475488" y="4370832"/>
            <a:ext cx="457200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D253F"/>
                </a:solidFill>
                <a:latin typeface="Calibri"/>
              </a:rPr>
              <a:t>TECHNOLOGIES USED — AND WHY EACH ONE IS REQUIRED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475488" y="4608576"/>
            <a:ext cx="1609344" cy="6766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5DA0"/>
                </a:solidFill>
                <a:latin typeface="Calibri"/>
              </a:rPr>
              <a:t>React + TypeScript</a:t>
            </a:r>
          </a:p>
          <a:p>
            <a:pPr algn="l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536372"/>
                </a:solidFill>
                <a:latin typeface="Calibri"/>
              </a:rPr>
              <a:t>Manager console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2103120" y="4608576"/>
            <a:ext cx="1609344" cy="6766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5DA0"/>
                </a:solidFill>
                <a:latin typeface="Calibri"/>
              </a:rPr>
              <a:t>Expo / React Native</a:t>
            </a:r>
          </a:p>
          <a:p>
            <a:pPr algn="l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536372"/>
                </a:solidFill>
                <a:latin typeface="Calibri"/>
              </a:rPr>
              <a:t>One Android build, phone-only field kit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3730752" y="4608576"/>
            <a:ext cx="1609344" cy="6766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5DA0"/>
                </a:solidFill>
                <a:latin typeface="Calibri"/>
              </a:rPr>
              <a:t>FastAPI · Python 3.11</a:t>
            </a:r>
          </a:p>
          <a:p>
            <a:pPr algn="l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536372"/>
                </a:solidFill>
                <a:latin typeface="Calibri"/>
              </a:rPr>
              <a:t>Async API + the domain engines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5358384" y="4608576"/>
            <a:ext cx="1609344" cy="6766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5DA0"/>
                </a:solidFill>
                <a:latin typeface="Calibri"/>
              </a:rPr>
              <a:t>PostgreSQL + PostGIS</a:t>
            </a:r>
          </a:p>
          <a:p>
            <a:pPr algn="l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536372"/>
                </a:solidFill>
                <a:latin typeface="Calibri"/>
              </a:rPr>
              <a:t>Corridor geometry, ST_DWithin stationary checks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6986016" y="4608576"/>
            <a:ext cx="1609344" cy="6766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5DA0"/>
                </a:solidFill>
                <a:latin typeface="Calibri"/>
              </a:rPr>
              <a:t>Supabase (ap-south-1)</a:t>
            </a:r>
          </a:p>
          <a:p>
            <a:pPr algn="l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536372"/>
                </a:solidFill>
                <a:latin typeface="Calibri"/>
              </a:rPr>
              <a:t>Managed Postgres + edge functions, in-India data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8613648" y="4608576"/>
            <a:ext cx="1609344" cy="6766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5DA0"/>
                </a:solidFill>
                <a:latin typeface="Calibri"/>
              </a:rPr>
              <a:t>MapLibre + OSM</a:t>
            </a:r>
          </a:p>
          <a:p>
            <a:pPr algn="l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536372"/>
                </a:solidFill>
                <a:latin typeface="Calibri"/>
              </a:rPr>
              <a:t>Licence-free fleet and route maps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10241280" y="4608576"/>
            <a:ext cx="1609344" cy="6766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5DA0"/>
                </a:solidFill>
                <a:latin typeface="Calibri"/>
              </a:rPr>
              <a:t>Gemini Flash (edge)</a:t>
            </a:r>
          </a:p>
          <a:p>
            <a:pPr algn="l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800" b="0" i="0">
                <a:solidFill>
                  <a:srgbClr val="536372"/>
                </a:solidFill>
                <a:latin typeface="Calibri"/>
              </a:rPr>
              <a:t>Vernacular restatement only — outside every decision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329184" y="5541264"/>
            <a:ext cx="3108960" cy="237744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D253F"/>
                </a:solidFill>
                <a:latin typeface="Calibri"/>
              </a:rPr>
              <a:t>TRIP LIFECYCLE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1920240" y="5504688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40" b="1">
                <a:solidFill>
                  <a:srgbClr val="FFFFFF"/>
                </a:solidFill>
                <a:latin typeface="Calibri"/>
              </a:rPr>
              <a:t>1. PLAN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3017520" y="5504688"/>
            <a:ext cx="20116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36372"/>
                </a:solidFill>
                <a:latin typeface="Calibri"/>
              </a:rPr>
              <a:t>›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3163824" y="5504688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A8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40" b="1">
                <a:solidFill>
                  <a:srgbClr val="FFFFFF"/>
                </a:solidFill>
                <a:latin typeface="Calibri"/>
              </a:rPr>
              <a:t>2. PREDICT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4261104" y="5504688"/>
            <a:ext cx="20116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36372"/>
                </a:solidFill>
                <a:latin typeface="Calibri"/>
              </a:rPr>
              <a:t>›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4407408" y="5504688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A8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40" b="1">
                <a:solidFill>
                  <a:srgbClr val="FFFFFF"/>
                </a:solidFill>
                <a:latin typeface="Calibri"/>
              </a:rPr>
              <a:t>3. EXPLAIN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5504688" y="5504688"/>
            <a:ext cx="20116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36372"/>
                </a:solidFill>
                <a:latin typeface="Calibri"/>
              </a:rPr>
              <a:t>›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5650992" y="5504688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40" b="1">
                <a:solidFill>
                  <a:srgbClr val="FFFFFF"/>
                </a:solidFill>
                <a:latin typeface="Calibri"/>
              </a:rPr>
              <a:t>4. AUTHORIZE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6748272" y="5504688"/>
            <a:ext cx="20116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36372"/>
                </a:solidFill>
                <a:latin typeface="Calibri"/>
              </a:rPr>
              <a:t>›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6894576" y="5504688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18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40" b="1">
                <a:solidFill>
                  <a:srgbClr val="FFFFFF"/>
                </a:solidFill>
                <a:latin typeface="Calibri"/>
              </a:rPr>
              <a:t>5. NAVIGATE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7991856" y="5504688"/>
            <a:ext cx="20116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36372"/>
                </a:solidFill>
                <a:latin typeface="Calibri"/>
              </a:rPr>
              <a:t>›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8138160" y="5504688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18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40" b="1">
                <a:solidFill>
                  <a:srgbClr val="FFFFFF"/>
                </a:solidFill>
                <a:latin typeface="Calibri"/>
              </a:rPr>
              <a:t>6. TRACK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9235440" y="5504688"/>
            <a:ext cx="20116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36372"/>
                </a:solidFill>
                <a:latin typeface="Calibri"/>
              </a:rPr>
              <a:t>›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9381744" y="5504688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9B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40" b="1">
                <a:solidFill>
                  <a:srgbClr val="FFFFFF"/>
                </a:solidFill>
                <a:latin typeface="Calibri"/>
              </a:rPr>
              <a:t>7. ADAPT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10479024" y="5504688"/>
            <a:ext cx="201168" cy="256032"/>
          </a:xfrm>
          <a:prstGeom prst="rect">
            <a:avLst/>
          </a:prstGeom>
          <a:noFill/>
        </p:spPr>
        <p:txBody>
          <a:bodyPr wrap="square" lIns="36576" rIns="36576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36372"/>
                </a:solidFill>
                <a:latin typeface="Calibri"/>
              </a:rPr>
              <a:t>›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10625328" y="5504688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0D2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40" b="1">
                <a:solidFill>
                  <a:srgbClr val="FFFFFF"/>
                </a:solidFill>
                <a:latin typeface="Calibri"/>
              </a:rPr>
              <a:t>8. DELIVER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/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D253F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85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PS ID
SIH26002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691640" y="768096"/>
            <a:ext cx="8869680" cy="274320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36372"/>
                </a:solidFill>
                <a:latin typeface="Calibri"/>
              </a:rPr>
              <a:t>Technology · implementation · cost · scalability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9184" y="1152144"/>
            <a:ext cx="2843784" cy="133502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C9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Rounded Rectangle 17411"/>
          <p:cNvSpPr/>
          <p:nvPr/>
        </p:nvSpPr>
        <p:spPr>
          <a:xfrm>
            <a:off x="420623" y="1243584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18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40" b="1">
                <a:solidFill>
                  <a:srgbClr val="FFFFFF"/>
                </a:solidFill>
                <a:latin typeface="Calibri"/>
              </a:rPr>
              <a:t>TECHNOLOGY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38912" y="1536192"/>
            <a:ext cx="2633472" cy="914400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B2B3A"/>
                </a:solidFill>
                <a:latin typeface="Calibri"/>
              </a:rPr>
              <a:t>• Backend, manager console and Android APK all run today.</a:t>
            </a:r>
          </a:p>
          <a:p>
            <a:pPr algn="l">
              <a:lnSpc>
                <a:spcPct val="95000"/>
              </a:lnSpc>
              <a:spcBef>
                <a:spcPts val="350"/>
              </a:spcBef>
              <a:spcAft>
                <a:spcPts val="0"/>
              </a:spcAft>
            </a:pPr>
            <a:r>
              <a:rPr sz="900" b="0" i="0">
                <a:solidFill>
                  <a:srgbClr val="1B2B3A"/>
                </a:solidFill>
                <a:latin typeface="Calibri"/>
              </a:rPr>
              <a:t>• 1,636 automated tests pass across three suites.</a:t>
            </a:r>
          </a:p>
          <a:p>
            <a:pPr algn="l">
              <a:lnSpc>
                <a:spcPct val="95000"/>
              </a:lnSpc>
              <a:spcBef>
                <a:spcPts val="350"/>
              </a:spcBef>
              <a:spcAft>
                <a:spcPts val="0"/>
              </a:spcAft>
            </a:pPr>
            <a:r>
              <a:rPr sz="900" b="0" i="0">
                <a:solidFill>
                  <a:srgbClr val="1B2B3A"/>
                </a:solidFill>
                <a:latin typeface="Calibri"/>
              </a:rPr>
              <a:t>• No GPU, no on-prem server, no vehicle retrofit.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218688" y="1152144"/>
            <a:ext cx="2843784" cy="133502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C9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Rounded Rectangle 17414"/>
          <p:cNvSpPr/>
          <p:nvPr/>
        </p:nvSpPr>
        <p:spPr>
          <a:xfrm>
            <a:off x="3310128" y="1243584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40" b="1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328416" y="1536192"/>
            <a:ext cx="2633472" cy="914400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B2B3A"/>
                </a:solidFill>
                <a:latin typeface="Calibri"/>
              </a:rPr>
              <a:t>• Driver needs only an Android phone — no telematics box.</a:t>
            </a:r>
          </a:p>
          <a:p>
            <a:pPr algn="l">
              <a:lnSpc>
                <a:spcPct val="95000"/>
              </a:lnSpc>
              <a:spcBef>
                <a:spcPts val="350"/>
              </a:spcBef>
              <a:spcAft>
                <a:spcPts val="0"/>
              </a:spcAft>
            </a:pPr>
            <a:r>
              <a:rPr sz="900" b="0" i="0">
                <a:solidFill>
                  <a:srgbClr val="1B2B3A"/>
                </a:solidFill>
                <a:latin typeface="Calibri"/>
              </a:rPr>
              <a:t>• Runs on one corridor pair or a whole state, unchanged.</a:t>
            </a:r>
          </a:p>
          <a:p>
            <a:pPr algn="l">
              <a:lnSpc>
                <a:spcPct val="95000"/>
              </a:lnSpc>
              <a:spcBef>
                <a:spcPts val="350"/>
              </a:spcBef>
              <a:spcAft>
                <a:spcPts val="0"/>
              </a:spcAft>
            </a:pPr>
            <a:r>
              <a:rPr sz="900" b="0" i="0">
                <a:solidFill>
                  <a:srgbClr val="1B2B3A"/>
                </a:solidFill>
                <a:latin typeface="Calibri"/>
              </a:rPr>
              <a:t>• Same schema everywhere; only hazard feeds are regional.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108192" y="1152144"/>
            <a:ext cx="2843784" cy="133502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C9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Rounded Rectangle 17417"/>
          <p:cNvSpPr/>
          <p:nvPr/>
        </p:nvSpPr>
        <p:spPr>
          <a:xfrm>
            <a:off x="6199631" y="1243584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A8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4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217920" y="1536192"/>
            <a:ext cx="2633472" cy="914400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B2B3A"/>
                </a:solidFill>
                <a:latin typeface="Calibri"/>
              </a:rPr>
              <a:t>• All data sources are free and licence-clear.</a:t>
            </a:r>
          </a:p>
          <a:p>
            <a:pPr algn="l">
              <a:lnSpc>
                <a:spcPct val="95000"/>
              </a:lnSpc>
              <a:spcBef>
                <a:spcPts val="350"/>
              </a:spcBef>
              <a:spcAft>
                <a:spcPts val="0"/>
              </a:spcAft>
            </a:pPr>
            <a:r>
              <a:rPr sz="900" b="0" i="0">
                <a:solidFill>
                  <a:srgbClr val="1B2B3A"/>
                </a:solidFill>
                <a:latin typeface="Calibri"/>
              </a:rPr>
              <a:t>• Managed Postgres + a container backend is the whole bill.</a:t>
            </a:r>
          </a:p>
          <a:p>
            <a:pPr algn="l">
              <a:lnSpc>
                <a:spcPct val="95000"/>
              </a:lnSpc>
              <a:spcBef>
                <a:spcPts val="350"/>
              </a:spcBef>
              <a:spcAft>
                <a:spcPts val="0"/>
              </a:spcAft>
            </a:pPr>
            <a:r>
              <a:rPr sz="900" b="0" i="0">
                <a:solidFill>
                  <a:srgbClr val="1B2B3A"/>
                </a:solidFill>
                <a:latin typeface="Calibri"/>
              </a:rPr>
              <a:t>• Cost scales with trucks, not with kilometres of road.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8997696" y="1152144"/>
            <a:ext cx="2843784" cy="133502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C9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Rounded Rectangle 17420"/>
          <p:cNvSpPr/>
          <p:nvPr/>
        </p:nvSpPr>
        <p:spPr>
          <a:xfrm>
            <a:off x="9089136" y="1243584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40" b="1">
                <a:solidFill>
                  <a:srgbClr val="FFFFFF"/>
                </a:solidFill>
                <a:latin typeface="Calibri"/>
              </a:rPr>
              <a:t>SCALABILITY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9107424" y="1536192"/>
            <a:ext cx="2633472" cy="914400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B2B3A"/>
                </a:solidFill>
                <a:latin typeface="Calibri"/>
              </a:rPr>
              <a:t>• Only the hazard feeds are regional; the engine is not.</a:t>
            </a:r>
          </a:p>
          <a:p>
            <a:pPr algn="l">
              <a:lnSpc>
                <a:spcPct val="95000"/>
              </a:lnSpc>
              <a:spcBef>
                <a:spcPts val="350"/>
              </a:spcBef>
              <a:spcAft>
                <a:spcPts val="0"/>
              </a:spcAft>
            </a:pPr>
            <a:r>
              <a:rPr sz="900" b="0" i="0">
                <a:solidFill>
                  <a:srgbClr val="1B2B3A"/>
                </a:solidFill>
                <a:latin typeface="Calibri"/>
              </a:rPr>
              <a:t>• Serves Himalayan, Ghat and island logistics unchanged.</a:t>
            </a:r>
          </a:p>
          <a:p>
            <a:pPr algn="l">
              <a:lnSpc>
                <a:spcPct val="95000"/>
              </a:lnSpc>
              <a:spcBef>
                <a:spcPts val="350"/>
              </a:spcBef>
              <a:spcAft>
                <a:spcPts val="0"/>
              </a:spcAft>
            </a:pPr>
            <a:r>
              <a:rPr sz="900" b="0" i="0">
                <a:solidFill>
                  <a:srgbClr val="1B2B3A"/>
                </a:solidFill>
                <a:latin typeface="Calibri"/>
              </a:rPr>
              <a:t>• Stateless API; PostGIS indexes the geometry.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29184" y="2633472"/>
            <a:ext cx="5705856" cy="279806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C9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TextBox 17423"/>
          <p:cNvSpPr txBox="1"/>
          <p:nvPr/>
        </p:nvSpPr>
        <p:spPr>
          <a:xfrm>
            <a:off x="475488" y="2743200"/>
            <a:ext cx="365760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B2C2C"/>
                </a:solidFill>
                <a:latin typeface="Calibri"/>
              </a:rPr>
              <a:t>CHALLENGES AND RISKS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75488" y="3035808"/>
            <a:ext cx="5431536" cy="2286000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9B2C2C"/>
                </a:solidFill>
                <a:latin typeface="Calibri"/>
              </a:rPr>
              <a:t>No source publishes “this road is open again.”</a:t>
            </a:r>
          </a:p>
          <a:p>
            <a:pPr algn="l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GSI forecasts hazard, ASDMA reports damage, IMD reports rain. Reopening is decided ad hoc by PWD / NHAI / BRO, so no feed carries it.</a:t>
            </a:r>
          </a:p>
          <a:p>
            <a:pPr algn="l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</a:pPr>
            <a:r>
              <a:rPr sz="980" b="1" i="0">
                <a:solidFill>
                  <a:srgbClr val="9B2C2C"/>
                </a:solidFill>
                <a:latin typeface="Calibri"/>
              </a:rPr>
              <a:t>Connectivity is the operating condition, not the exception.</a:t>
            </a:r>
          </a:p>
          <a:p>
            <a:pPr algn="l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Any client that assumes a network fails exactly where it matters most.</a:t>
            </a:r>
          </a:p>
          <a:p>
            <a:pPr algn="l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</a:pPr>
            <a:r>
              <a:rPr sz="980" b="1" i="0">
                <a:solidFill>
                  <a:srgbClr val="9B2C2C"/>
                </a:solidFill>
                <a:latin typeface="Calibri"/>
              </a:rPr>
              <a:t>Free-tier provider outage or quota exhaustion.</a:t>
            </a:r>
          </a:p>
          <a:p>
            <a:pPr algn="l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A weather failure must never silently become “risk = 0”.</a:t>
            </a:r>
          </a:p>
          <a:p>
            <a:pPr algn="l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</a:pPr>
            <a:r>
              <a:rPr sz="980" b="1" i="0">
                <a:solidFill>
                  <a:srgbClr val="9B2C2C"/>
                </a:solidFill>
                <a:latin typeface="Calibri"/>
              </a:rPr>
              <a:t>A score alone can be out-voted at the moment it matters most.</a:t>
            </a:r>
          </a:p>
          <a:p>
            <a:pPr algn="l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</a:pPr>
            <a:r>
              <a:rPr sz="980" b="1" i="0">
                <a:solidFill>
                  <a:srgbClr val="9B2C2C"/>
                </a:solidFill>
                <a:latin typeface="Calibri"/>
              </a:rPr>
              <a:t>Alert fatigue — a gate that fires on everything gets clicked through.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153912" y="2633472"/>
            <a:ext cx="5705856" cy="2798064"/>
          </a:xfrm>
          <a:prstGeom prst="roundRect">
            <a:avLst>
              <a:gd name="adj" fmla="val 5000"/>
            </a:avLst>
          </a:prstGeom>
          <a:solidFill>
            <a:srgbClr val="EFF4F9"/>
          </a:solidFill>
          <a:ln w="12700">
            <a:solidFill>
              <a:srgbClr val="B6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6300216" y="2743200"/>
            <a:ext cx="365760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5DA0"/>
                </a:solidFill>
                <a:latin typeface="Calibri"/>
              </a:rPr>
              <a:t>STRATEGIES TO OVERCOME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300216" y="3035808"/>
            <a:ext cx="5431536" cy="2286000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145DA0"/>
                </a:solidFill>
                <a:latin typeface="Calibri"/>
              </a:rPr>
              <a:t>Our own trucks close the evidence loop.</a:t>
            </a:r>
          </a:p>
          <a:p>
            <a:pPr algn="l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A GPS traversal reopens a segment when no bulletin can. Every corridor carries an append-only evidence log.</a:t>
            </a:r>
          </a:p>
          <a:p>
            <a:pPr algn="l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</a:pPr>
            <a:r>
              <a:rPr sz="980" b="1" i="0">
                <a:solidFill>
                  <a:srgbClr val="145DA0"/>
                </a:solidFill>
                <a:latin typeface="Calibri"/>
              </a:rPr>
              <a:t>Offline packages and a replay buffer.</a:t>
            </a:r>
          </a:p>
          <a:p>
            <a:pPr algn="l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Route, turns, POIs and emergency guide cached before the dead zone; GPS queues and replays idempotently.</a:t>
            </a:r>
          </a:p>
          <a:p>
            <a:pPr algn="l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</a:pPr>
            <a:r>
              <a:rPr sz="980" b="1" i="0">
                <a:solidFill>
                  <a:srgbClr val="145DA0"/>
                </a:solidFill>
                <a:latin typeface="Calibri"/>
              </a:rPr>
              <a:t>Fail honest, never fail quiet.</a:t>
            </a:r>
          </a:p>
          <a:p>
            <a:pPr algn="l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Provider down → factor marked NOT_AVAILABLE and shown in the UI.</a:t>
            </a:r>
          </a:p>
          <a:p>
            <a:pPr algn="l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</a:pPr>
            <a:r>
              <a:rPr sz="980" b="1" i="0">
                <a:solidFill>
                  <a:srgbClr val="145DA0"/>
                </a:solidFill>
                <a:latin typeface="Calibri"/>
              </a:rPr>
              <a:t>Closure is a refusal, not a penalty.</a:t>
            </a:r>
          </a:p>
          <a:p>
            <a:pPr algn="l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A confirmed closure is rejected at planning time, so no other factor can out-vote it.</a:t>
            </a:r>
          </a:p>
          <a:p>
            <a:pPr algn="l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</a:pPr>
            <a:r>
              <a:rPr sz="980" b="1" i="0">
                <a:solidFill>
                  <a:srgbClr val="145DA0"/>
                </a:solidFill>
                <a:latin typeface="Calibri"/>
              </a:rPr>
              <a:t>Human authorisation for every route change.</a:t>
            </a:r>
          </a:p>
          <a:p>
            <a:pPr algn="l">
              <a:lnSpc>
                <a:spcPct val="95000"/>
              </a:lnSpc>
              <a:spcBef>
                <a:spcPts val="280"/>
              </a:spcBef>
              <a:spcAft>
                <a:spcPts val="0"/>
              </a:spcAft>
            </a:pPr>
            <a:r>
              <a:rPr sz="980" b="0" i="0">
                <a:solidFill>
                  <a:srgbClr val="1B2B3A"/>
                </a:solidFill>
                <a:latin typeface="Calibri"/>
              </a:rPr>
              <a:t>Reviewer token required; the driver's map never changes underneath them.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329184" y="5577840"/>
            <a:ext cx="11521440" cy="31089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D253F"/>
                </a:solidFill>
                <a:latin typeface="Calibri"/>
              </a:rPr>
              <a:t>DEPLOYMENT PATH  ·  Guwahati – Shillong – Silchar corridor pair → state-level rollout on the same schema → all eight NER states on one accessibility record.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/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D253F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85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PS ID
SIH26002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691640" y="768096"/>
            <a:ext cx="8869680" cy="274320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36372"/>
                </a:solidFill>
                <a:latin typeface="Calibri"/>
              </a:rPr>
              <a:t>Who benefits, and what changes for them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9184" y="1170432"/>
            <a:ext cx="11530584" cy="15544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C9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475488" y="1243584"/>
            <a:ext cx="365760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D253F"/>
                </a:solidFill>
                <a:latin typeface="Calibri"/>
              </a:rPr>
              <a:t>WHO BENEFITS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75488" y="1499616"/>
            <a:ext cx="2651760" cy="237744"/>
          </a:xfrm>
          <a:prstGeom prst="roundRect">
            <a:avLst>
              <a:gd name="adj" fmla="val 50000"/>
            </a:avLst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40" b="1">
                <a:solidFill>
                  <a:srgbClr val="FFFFFF"/>
                </a:solidFill>
                <a:latin typeface="Calibri"/>
              </a:rPr>
              <a:t>FLEET MANAGER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75488" y="1792224"/>
            <a:ext cx="2743200" cy="841248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B2B3A"/>
                </a:solidFill>
                <a:latin typeface="Calibri"/>
              </a:rPr>
              <a:t>Never has to ask “where is that truck,
is the driver okay?” — already answered,
or already escalated.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346704" y="1499616"/>
            <a:ext cx="2651760" cy="237744"/>
          </a:xfrm>
          <a:prstGeom prst="roundRect">
            <a:avLst>
              <a:gd name="adj" fmla="val 50000"/>
            </a:avLst>
          </a:prstGeom>
          <a:solidFill>
            <a:srgbClr val="18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40" b="1">
                <a:solidFill>
                  <a:srgbClr val="FFFFFF"/>
                </a:solidFill>
                <a:latin typeface="Calibri"/>
              </a:rPr>
              <a:t>DRIVER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3346704" y="1792224"/>
            <a:ext cx="2743200" cy="841248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B2B3A"/>
                </a:solidFill>
                <a:latin typeface="Calibri"/>
              </a:rPr>
              <a:t>Found when something goes wrong.
Route, hazards and emergency help
work with no signal, in their language.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6217920" y="1499616"/>
            <a:ext cx="2651760" cy="237744"/>
          </a:xfrm>
          <a:prstGeom prst="roundRect">
            <a:avLst>
              <a:gd name="adj" fmla="val 50000"/>
            </a:avLst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40" b="1">
                <a:solidFill>
                  <a:srgbClr val="FFFFFF"/>
                </a:solidFill>
                <a:latin typeface="Calibri"/>
              </a:rPr>
              <a:t>OPERATIONS &amp; FINANCE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217920" y="1792224"/>
            <a:ext cx="2743200" cy="841248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B2B3A"/>
                </a:solidFill>
                <a:latin typeface="Calibri"/>
              </a:rPr>
              <a:t>Trip cost from a physics model,
not a rule of thumb. Document and
payment state tracked per trip.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9089136" y="1499616"/>
            <a:ext cx="2651760" cy="237744"/>
          </a:xfrm>
          <a:prstGeom prst="roundRect">
            <a:avLst>
              <a:gd name="adj" fmla="val 50000"/>
            </a:avLst>
          </a:prstGeom>
          <a:solidFill>
            <a:srgbClr val="A8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40" b="1">
                <a:solidFill>
                  <a:srgbClr val="FFFFFF"/>
                </a:solidFill>
                <a:latin typeface="Calibri"/>
              </a:rPr>
              <a:t>MDoNER / STATE TRANSPORT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9089136" y="1792224"/>
            <a:ext cx="2743200" cy="841248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B2B3A"/>
                </a:solidFill>
                <a:latin typeface="Calibri"/>
              </a:rPr>
              <a:t>An auditable record of which NER
corridors were passable, and when —
today held only as word of mouth.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329184" y="2798064"/>
            <a:ext cx="5705856" cy="2779776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C9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475488" y="2907792"/>
            <a:ext cx="365760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D253F"/>
                </a:solidFill>
                <a:latin typeface="Calibri"/>
              </a:rPr>
              <a:t>MEASURABLE IMPACT — WHAT THE PLATFORM DELIVERS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75488" y="3218688"/>
            <a:ext cx="5431536" cy="201168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536372"/>
                </a:solidFill>
                <a:latin typeface="Calibri"/>
              </a:rPr>
              <a:t/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75488" y="3438144"/>
            <a:ext cx="274320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B2B3A"/>
                </a:solidFill>
                <a:latin typeface="Calibri"/>
              </a:rPr>
              <a:t>Detection time for a stranded truck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3182112" y="3438144"/>
            <a:ext cx="141732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9B2C2C"/>
                </a:solidFill>
                <a:latin typeface="Calibri"/>
              </a:rPr>
              <a:t>hours (a phone call)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590288" y="3438144"/>
            <a:ext cx="137160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86A43"/>
                </a:solidFill>
                <a:latin typeface="Calibri"/>
              </a:rPr>
              <a:t>≤ 90 min, by rule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75488" y="3858768"/>
            <a:ext cx="274320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B2B3A"/>
                </a:solidFill>
                <a:latin typeface="Calibri"/>
              </a:rPr>
              <a:t>Routes planned over a closed road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3182112" y="3858768"/>
            <a:ext cx="141732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9B2C2C"/>
                </a:solidFill>
                <a:latin typeface="Calibri"/>
              </a:rPr>
              <a:t>never detected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590288" y="3858768"/>
            <a:ext cx="137160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86A43"/>
                </a:solidFill>
                <a:latin typeface="Calibri"/>
              </a:rPr>
              <a:t>refused at planning time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75488" y="4279392"/>
            <a:ext cx="274320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B2B3A"/>
                </a:solidFill>
                <a:latin typeface="Calibri"/>
              </a:rPr>
              <a:t>Fuel estimate basis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3182112" y="4279392"/>
            <a:ext cx="141732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9B2C2C"/>
                </a:solidFill>
                <a:latin typeface="Calibri"/>
              </a:rPr>
              <a:t>distance only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590288" y="4279392"/>
            <a:ext cx="137160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86A43"/>
                </a:solidFill>
                <a:latin typeface="Calibri"/>
              </a:rPr>
              <a:t>payload + climb metres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75488" y="4700016"/>
            <a:ext cx="274320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B2B3A"/>
                </a:solidFill>
                <a:latin typeface="Calibri"/>
              </a:rPr>
              <a:t>CO₂ visibility per corridor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3182112" y="4700016"/>
            <a:ext cx="141732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9B2C2C"/>
                </a:solidFill>
                <a:latin typeface="Calibri"/>
              </a:rPr>
              <a:t>none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590288" y="4700016"/>
            <a:ext cx="137160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86A43"/>
                </a:solidFill>
                <a:latin typeface="Calibri"/>
              </a:rPr>
              <a:t>reported at decision time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475488" y="5120640"/>
            <a:ext cx="274320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B2B3A"/>
                </a:solidFill>
                <a:latin typeface="Calibri"/>
              </a:rPr>
              <a:t>Road-condition evidence retained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3182112" y="5120640"/>
            <a:ext cx="141732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9B2C2C"/>
                </a:solidFill>
                <a:latin typeface="Calibri"/>
              </a:rPr>
              <a:t>word of mouth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4590288" y="5120640"/>
            <a:ext cx="137160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86A43"/>
                </a:solidFill>
                <a:latin typeface="Calibri"/>
              </a:rPr>
              <a:t>append-only, per segment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153912" y="2798064"/>
            <a:ext cx="1856231" cy="2779776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C9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0" name="Rounded Rectangle 17439"/>
          <p:cNvSpPr/>
          <p:nvPr/>
        </p:nvSpPr>
        <p:spPr>
          <a:xfrm>
            <a:off x="6245352" y="2889504"/>
            <a:ext cx="1673352" cy="219456"/>
          </a:xfrm>
          <a:prstGeom prst="roundRect">
            <a:avLst>
              <a:gd name="adj" fmla="val 50000"/>
            </a:avLst>
          </a:prstGeom>
          <a:solidFill>
            <a:srgbClr val="18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19" b="1">
                <a:solidFill>
                  <a:srgbClr val="FFFFFF"/>
                </a:solidFill>
                <a:latin typeface="Calibri"/>
              </a:rPr>
              <a:t>SOCIAL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263640" y="3182112"/>
            <a:ext cx="1636776" cy="2286000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B2B3A"/>
                </a:solidFill>
                <a:latin typeface="Calibri"/>
              </a:rPr>
              <a:t>• Driver silence escalates by rule, not by luck.</a:t>
            </a:r>
          </a:p>
          <a:p>
            <a:pPr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</a:pPr>
            <a:r>
              <a:rPr sz="880" b="0" i="0">
                <a:solidFill>
                  <a:srgbClr val="1B2B3A"/>
                </a:solidFill>
                <a:latin typeface="Calibri"/>
              </a:rPr>
              <a:t>• Assamese · Bengali · Hindi · English in-cab guidance.</a:t>
            </a:r>
          </a:p>
          <a:p>
            <a:pPr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</a:pPr>
            <a:r>
              <a:rPr sz="880" b="0" i="0">
                <a:solidFill>
                  <a:srgbClr val="1B2B3A"/>
                </a:solidFill>
                <a:latin typeface="Calibri"/>
              </a:rPr>
              <a:t>• 45-minute rest tracking; offline 112 / 108 / 1033.</a:t>
            </a:r>
          </a:p>
          <a:p>
            <a:pPr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</a:pPr>
            <a:r>
              <a:rPr sz="880" b="0" i="0">
                <a:solidFill>
                  <a:srgbClr val="1B2B3A"/>
                </a:solidFill>
                <a:latin typeface="Calibri"/>
              </a:rPr>
              <a:t>• Information parity between cab and office.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8065008" y="2798064"/>
            <a:ext cx="1856231" cy="2779776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C9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Rounded Rectangle 17442"/>
          <p:cNvSpPr/>
          <p:nvPr/>
        </p:nvSpPr>
        <p:spPr>
          <a:xfrm>
            <a:off x="8156448" y="2889504"/>
            <a:ext cx="1673352" cy="219456"/>
          </a:xfrm>
          <a:prstGeom prst="roundRect">
            <a:avLst>
              <a:gd name="adj" fmla="val 50000"/>
            </a:avLst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19" b="1">
                <a:solidFill>
                  <a:srgbClr val="FFFFFF"/>
                </a:solidFill>
                <a:latin typeface="Calibri"/>
              </a:rPr>
              <a:t>ECONOMIC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8174736" y="3182112"/>
            <a:ext cx="1636776" cy="2286000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B2B3A"/>
                </a:solidFill>
                <a:latin typeface="Calibri"/>
              </a:rPr>
              <a:t>• Fuel planned on payload and climb, not distance.</a:t>
            </a:r>
          </a:p>
          <a:p>
            <a:pPr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</a:pPr>
            <a:r>
              <a:rPr sz="880" b="0" i="0">
                <a:solidFill>
                  <a:srgbClr val="1B2B3A"/>
                </a:solidFill>
                <a:latin typeface="Calibri"/>
              </a:rPr>
              <a:t>• Closures refused at planning, not found at the roadblock.</a:t>
            </a:r>
          </a:p>
          <a:p>
            <a:pPr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</a:pPr>
            <a:r>
              <a:rPr sz="880" b="0" i="0">
                <a:solidFill>
                  <a:srgbClr val="1B2B3A"/>
                </a:solidFill>
                <a:latin typeface="Calibri"/>
              </a:rPr>
              <a:t>• Over-capacity loading refused before dispatch.</a:t>
            </a:r>
          </a:p>
          <a:p>
            <a:pPr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</a:pPr>
            <a:r>
              <a:rPr sz="880" b="0" i="0">
                <a:solidFill>
                  <a:srgbClr val="1B2B3A"/>
                </a:solidFill>
                <a:latin typeface="Calibri"/>
              </a:rPr>
              <a:t>• No per-vehicle hardware cost.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9976104" y="2798064"/>
            <a:ext cx="1856231" cy="2779776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C9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Rounded Rectangle 17445"/>
          <p:cNvSpPr/>
          <p:nvPr/>
        </p:nvSpPr>
        <p:spPr>
          <a:xfrm>
            <a:off x="10067544" y="2889504"/>
            <a:ext cx="1673352" cy="219456"/>
          </a:xfrm>
          <a:prstGeom prst="roundRect">
            <a:avLst>
              <a:gd name="adj" fmla="val 50000"/>
            </a:avLst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/>
          <a:lstStyle/>
          <a:p>
            <a:pPr algn="ctr">
              <a:lnSpc>
                <a:spcPct val="90000"/>
              </a:lnSpc>
            </a:pPr>
            <a:r>
              <a:rPr sz="819" b="1">
                <a:solidFill>
                  <a:srgbClr val="FFFFFF"/>
                </a:solidFill>
                <a:latin typeface="Calibri"/>
              </a:rPr>
              <a:t>ENVIRONMENTAL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10085832" y="3182112"/>
            <a:ext cx="1636776" cy="2286000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1B2B3A"/>
                </a:solidFill>
                <a:latin typeface="Calibri"/>
              </a:rPr>
              <a:t>• CO₂ shown per corridor at decision time.</a:t>
            </a:r>
          </a:p>
          <a:p>
            <a:pPr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</a:pPr>
            <a:r>
              <a:rPr sz="880" b="0" i="0">
                <a:solidFill>
                  <a:srgbClr val="1B2B3A"/>
                </a:solidFill>
                <a:latin typeface="Calibri"/>
              </a:rPr>
              <a:t>• Avoided detours and hill idling are avoided emissions.</a:t>
            </a:r>
          </a:p>
          <a:p>
            <a:pPr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</a:pPr>
            <a:r>
              <a:rPr sz="880" b="0" i="0">
                <a:solidFill>
                  <a:srgbClr val="1B2B3A"/>
                </a:solidFill>
                <a:latin typeface="Calibri"/>
              </a:rPr>
              <a:t>• Load-ratio planning cuts part-loaded running.</a:t>
            </a:r>
          </a:p>
          <a:p>
            <a:pPr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</a:pPr>
            <a:r>
              <a:rPr sz="880" b="0" i="0">
                <a:solidFill>
                  <a:srgbClr val="1B2B3A"/>
                </a:solidFill>
                <a:latin typeface="Calibri"/>
              </a:rPr>
              <a:t>• Digital documents and proof of delivery.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3182112" y="3218688"/>
            <a:ext cx="14173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60" b="1">
                <a:solidFill>
                  <a:srgbClr val="536372"/>
                </a:solidFill>
                <a:latin typeface="Calibri"/>
              </a:rPr>
              <a:t>WITHOUT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4590288" y="3218688"/>
            <a:ext cx="13716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60" b="1">
                <a:solidFill>
                  <a:srgbClr val="536372"/>
                </a:solidFill>
                <a:latin typeface="Calibri"/>
              </a:rPr>
              <a:t>WITH RASTA-AI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/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D253F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85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PS ID
SIH26002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9184" y="1170432"/>
            <a:ext cx="5705856" cy="2395728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C9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475488" y="1280160"/>
            <a:ext cx="457200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E6E7C"/>
                </a:solidFill>
                <a:latin typeface="Calibri"/>
              </a:rPr>
              <a:t>DATA SOURCES — LIVE IN THE PLATFORM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75488" y="1572768"/>
            <a:ext cx="5431536" cy="1883664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E6E7C"/>
                </a:solidFill>
                <a:latin typeface="Calibri"/>
              </a:rPr>
              <a:t>Route, terrain and weather evidence</a:t>
            </a:r>
          </a:p>
          <a:p>
            <a:pPr algn="l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</a:pPr>
            <a:r>
              <a:rPr sz="950" b="0" i="0">
                <a:solidFill>
                  <a:srgbClr val="1B2B3A"/>
                </a:solidFill>
                <a:latin typeface="Calibri"/>
              </a:rPr>
              <a:t>Open-Meteo forecast API — rainfall and gusts  ·  open-meteo.com</a:t>
            </a:r>
          </a:p>
          <a:p>
            <a:pPr algn="l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</a:pPr>
            <a:r>
              <a:rPr sz="950" b="0" i="0">
                <a:solidFill>
                  <a:srgbClr val="1B2B3A"/>
                </a:solidFill>
                <a:latin typeface="Calibri"/>
              </a:rPr>
              <a:t>Project-OSRM — geometry, duration, turn maneuvers  ·  project-osrm.org</a:t>
            </a:r>
          </a:p>
          <a:p>
            <a:pPr algn="l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</a:pPr>
            <a:r>
              <a:rPr sz="950" b="0" i="0">
                <a:solidFill>
                  <a:srgbClr val="1B2B3A"/>
                </a:solidFill>
                <a:latin typeface="Calibri"/>
              </a:rPr>
              <a:t>OpenStreetMap / Overpass — roadside POIs  ·  overpass-api.de</a:t>
            </a:r>
          </a:p>
          <a:p>
            <a:pPr algn="l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</a:pPr>
            <a:r>
              <a:rPr sz="950" b="0" i="0">
                <a:solidFill>
                  <a:srgbClr val="1B2B3A"/>
                </a:solidFill>
                <a:latin typeface="Calibri"/>
              </a:rPr>
              <a:t>NASA SRTM — elevation climb for the fuel model</a:t>
            </a:r>
          </a:p>
          <a:p>
            <a:pPr algn="l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</a:pPr>
            <a:r>
              <a:rPr sz="950" b="1" i="0">
                <a:solidFill>
                  <a:srgbClr val="0E6E7C"/>
                </a:solidFill>
                <a:latin typeface="Calibri"/>
              </a:rPr>
              <a:t>Hazard and closure evidence</a:t>
            </a:r>
          </a:p>
          <a:p>
            <a:pPr algn="l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</a:pPr>
            <a:r>
              <a:rPr sz="950" b="0" i="0">
                <a:solidFill>
                  <a:srgbClr val="1B2B3A"/>
                </a:solidFill>
                <a:latin typeface="Calibri"/>
              </a:rPr>
              <a:t>Geological Survey of India — landslide inventory  ·  bhukosh.gsi.gov.in</a:t>
            </a:r>
          </a:p>
          <a:p>
            <a:pPr algn="l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</a:pPr>
            <a:r>
              <a:rPr sz="950" b="0" i="0">
                <a:solidFill>
                  <a:srgbClr val="1B2B3A"/>
                </a:solidFill>
                <a:latin typeface="Calibri"/>
              </a:rPr>
              <a:t>ASDMA — flood and damage reports  ·  asdma.gov.in</a:t>
            </a:r>
          </a:p>
          <a:p>
            <a:pPr algn="l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</a:pPr>
            <a:r>
              <a:rPr sz="950" b="0" i="0">
                <a:solidFill>
                  <a:srgbClr val="1B2B3A"/>
                </a:solidFill>
                <a:latin typeface="Calibri"/>
              </a:rPr>
              <a:t>IMD — district rainfall warnings  ·  mausam.imd.gov.in</a:t>
            </a:r>
          </a:p>
          <a:p>
            <a:pPr algn="l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</a:pPr>
            <a:r>
              <a:rPr sz="950" b="0" i="0">
                <a:solidFill>
                  <a:srgbClr val="1B2B3A"/>
                </a:solidFill>
                <a:latin typeface="Calibri"/>
              </a:rPr>
              <a:t>NHAI / BRO / state PWD — closure and reopening bulletins, held as evidence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53912" y="1170432"/>
            <a:ext cx="5705856" cy="2395728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C9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6300216" y="1280160"/>
            <a:ext cx="457200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5DA0"/>
                </a:solidFill>
                <a:latin typeface="Calibri"/>
              </a:rPr>
              <a:t>MODELS, STANDARDS AND METHODS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300216" y="1572768"/>
            <a:ext cx="5431536" cy="1883664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5DA0"/>
                </a:solidFill>
                <a:latin typeface="Calibri"/>
              </a:rPr>
              <a:t>Fuel and emissions</a:t>
            </a:r>
          </a:p>
          <a:p>
            <a:pPr algn="l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</a:pPr>
            <a:r>
              <a:rPr sz="950" b="0" i="0">
                <a:solidFill>
                  <a:srgbClr val="1B2B3A"/>
                </a:solidFill>
                <a:latin typeface="Calibri"/>
              </a:rPr>
              <a:t>CMEM — Comprehensive Modal Emissions Model (Barth et al., UC Riverside)</a:t>
            </a:r>
          </a:p>
          <a:p>
            <a:pPr algn="l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</a:pPr>
            <a:r>
              <a:rPr sz="950" b="0" i="0">
                <a:solidFill>
                  <a:srgbClr val="1B2B3A"/>
                </a:solidFill>
                <a:latin typeface="Calibri"/>
              </a:rPr>
              <a:t>SAE J1321 Type II — fuel consumption test procedure</a:t>
            </a:r>
          </a:p>
          <a:p>
            <a:pPr algn="l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</a:pPr>
            <a:r>
              <a:rPr sz="950" b="0" i="0">
                <a:solidFill>
                  <a:srgbClr val="1B2B3A"/>
                </a:solidFill>
                <a:latin typeface="Calibri"/>
              </a:rPr>
              <a:t>IPCC / MoEFCC diesel factor — 2.68 kg CO₂ per litre</a:t>
            </a:r>
          </a:p>
          <a:p>
            <a:pPr algn="l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</a:pPr>
            <a:r>
              <a:rPr sz="950" b="1" i="0">
                <a:solidFill>
                  <a:srgbClr val="145DA0"/>
                </a:solidFill>
                <a:latin typeface="Calibri"/>
              </a:rPr>
              <a:t>Routing and geospatial</a:t>
            </a:r>
          </a:p>
          <a:p>
            <a:pPr algn="l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</a:pPr>
            <a:r>
              <a:rPr sz="950" b="0" i="0">
                <a:solidFill>
                  <a:srgbClr val="1B2B3A"/>
                </a:solidFill>
                <a:latin typeface="Calibri"/>
              </a:rPr>
              <a:t>Luxen &amp; Vetter, “Real-time routing with OpenStreetMap data”, ACM SIGSPATIAL 2011</a:t>
            </a:r>
          </a:p>
          <a:p>
            <a:pPr algn="l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</a:pPr>
            <a:r>
              <a:rPr sz="950" b="0" i="0">
                <a:solidFill>
                  <a:srgbClr val="1B2B3A"/>
                </a:solidFill>
                <a:latin typeface="Calibri"/>
              </a:rPr>
              <a:t>PostGIS ST_DWithin — corridor buffering and stationary-vehicle detection</a:t>
            </a:r>
          </a:p>
          <a:p>
            <a:pPr algn="l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</a:pPr>
            <a:r>
              <a:rPr sz="950" b="1" i="0">
                <a:solidFill>
                  <a:srgbClr val="145DA0"/>
                </a:solidFill>
                <a:latin typeface="Calibri"/>
              </a:rPr>
              <a:t>Security</a:t>
            </a:r>
          </a:p>
          <a:p>
            <a:pPr algn="l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</a:pPr>
            <a:r>
              <a:rPr sz="950" b="0" i="0">
                <a:solidFill>
                  <a:srgbClr val="1B2B3A"/>
                </a:solidFill>
                <a:latin typeface="Calibri"/>
              </a:rPr>
              <a:t>Argon2id (RFC 9106)  ·  OWASP refresh-token rotation with reuse detection</a:t>
            </a:r>
          </a:p>
          <a:p>
            <a:pPr algn="l">
              <a:lnSpc>
                <a:spcPct val="95000"/>
              </a:lnSpc>
              <a:spcBef>
                <a:spcPts val="260"/>
              </a:spcBef>
              <a:spcAft>
                <a:spcPts val="0"/>
              </a:spcAft>
            </a:pPr>
            <a:r>
              <a:rPr sz="950" b="0" i="0">
                <a:solidFill>
                  <a:srgbClr val="1B2B3A"/>
                </a:solidFill>
                <a:latin typeface="Calibri"/>
              </a:rPr>
              <a:t>PostgreSQL Row Level Security — enabled on every table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29184" y="3712463"/>
            <a:ext cx="11530584" cy="1353312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C9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475488" y="3785615"/>
            <a:ext cx="4572000" cy="219456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D253F"/>
                </a:solidFill>
                <a:latin typeface="Calibri"/>
              </a:rPr>
              <a:t>OUR OWN RESEARCH FINDINGS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75488" y="4078224"/>
            <a:ext cx="11247120" cy="914400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B2B3A"/>
                </a:solidFill>
                <a:latin typeface="Calibri"/>
              </a:rPr>
              <a:t>▸  Road-source survey: no Indian source publishes road reopening. That finding is why our own fleet traversals are treated as the strongest evidence a segment is open.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940" b="0" i="0">
                <a:solidFill>
                  <a:srgbClr val="1B2B3A"/>
                </a:solidFill>
                <a:latin typeface="Calibri"/>
              </a:rPr>
              <a:t>▸  Evidence governance: every route decision carries its inputs, its reason codes and the factors it could not obtain — recorded per segment, append-only.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</a:pPr>
            <a:r>
              <a:rPr sz="940" b="0" i="0">
                <a:solidFill>
                  <a:srgbClr val="1B2B3A"/>
                </a:solidFill>
                <a:latin typeface="Calibri"/>
              </a:rPr>
              <a:t>▸  Field verification: installable Android APK exercised end-to-end against hosted PostGIS in ap-south-1; 1,636 automated tests across backend, manager and driver suites.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29184" y="5120640"/>
            <a:ext cx="11521440" cy="329184"/>
          </a:xfrm>
          <a:prstGeom prst="rect">
            <a:avLst/>
          </a:prstGeom>
          <a:noFill/>
        </p:spPr>
        <p:txBody>
          <a:bodyPr wrap="square" lIns="36576" rIns="36576" tIns="9144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36372"/>
                </a:solidFill>
                <a:latin typeface="Calibri"/>
              </a:rPr>
              <a:t>Every engine named is a deterministic weighted rule with published constants — auditable in the code, in the API response and on screen. Rules decide; the language model only restates what the rules produced.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