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Judge answer on ML: We trained and evaluated a landslide-hazard model, but deliberately keep it outside production routing because its geographic false-positive rate is still too high (recall 0.95 at FPR 0.50 on the NER holdout). This prevents unreliable ML from making safety-critical decisions. Tests: backend 1138 passed / 5 skipped, driver 621, manager 170 (14 Sep 2026, commit 0b89ddf). Physical certification: docs/terrain/HANDOFF.md section 9; judge flow 12/12, role flow 9/9 on APK 1.0.18.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Full references:</a:t>
            </a:r>
          </a:p>
          <a:p>
            <a:r>
              <a:t>NASA Global Landslide Catalog — https://gpm.nasa.gov/landslides/ (data via https://data.nasa.gov)</a:t>
            </a:r>
          </a:p>
          <a:p>
            <a:r>
              <a:t>NDMA SACHET CAP alerts — https://sachet.ndma.gov.in</a:t>
            </a:r>
          </a:p>
          <a:p>
            <a:r>
              <a:t>GloFAS (Copernicus Emergency Management Service) — https://global-flood.emergency.copernicus.eu ; flood API via https://open-meteo.com/en/docs/flood-api</a:t>
            </a:r>
          </a:p>
          <a:p>
            <a:r>
              <a:t>Open-Meteo forecast / ERA5-Land archive — https://open-meteo.com ; MET Norway Locationforecast — https://api.met.no</a:t>
            </a:r>
          </a:p>
          <a:p>
            <a:r>
              <a:t>OpenTopoData — https://www.opentopodata.org ; Copernicus DEM GLO-90 — https://spacedata.copernicus.eu</a:t>
            </a:r>
          </a:p>
          <a:p>
            <a:r>
              <a:t>OSRM — https://project-osrm.org ; OpenStreetMap — https://www.openstreetmap.org</a:t>
            </a:r>
          </a:p>
          <a:p>
            <a:r>
              <a:t>Repository — https://github.com/nxtlucifer/ner-ai-logistics (docs/MODEL_REGISTRY.md, docs/HAZARD_ERROR_ANALYSIS.md, docs/AI_INVENTORY.md)</a:t>
            </a:r>
          </a:p>
          <a:p>
            <a:r>
              <a:t>Model metrics (experimental, not deployed): NER holdout n=770, 154 events; recall 0.95, precision 0.32, F1 0.48, PR-AUC 0.55, ROC-AUC 0.83, FPR 0.50, Brier 0.12; temporal split recall 0.90 @ FPR 0.38.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7" name="Picture 36" descr="bran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07008"/>
            <a:ext cx="868680" cy="868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1170432"/>
            <a:ext cx="54864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101820"/>
                </a:solidFill>
                <a:latin typeface="Calibri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1755648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468880"/>
            <a:ext cx="214884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2487168"/>
            <a:ext cx="365760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01820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20040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172968"/>
            <a:ext cx="4023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SIH26002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493008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538728"/>
            <a:ext cx="20116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3511296"/>
            <a:ext cx="402336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050791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096512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THEME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069080"/>
            <a:ext cx="4023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389120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443484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PS 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14600" y="4407408"/>
            <a:ext cx="4023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Software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4727448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477316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4745736"/>
            <a:ext cx="4023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5065776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5111496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4600" y="5084064"/>
            <a:ext cx="4023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NER-AI LOGISTICS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5404104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02920" y="5440680"/>
            <a:ext cx="822960" cy="502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2920" y="5541264"/>
            <a:ext cx="61264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01820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971032"/>
            <a:ext cx="61264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2563EB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355080"/>
            <a:ext cx="61264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93407" y="2350008"/>
            <a:ext cx="2318004" cy="3346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5" name="Picture 64" descr="mgr-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377440"/>
            <a:ext cx="2263140" cy="3291840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9208008" y="1161288"/>
            <a:ext cx="2072340" cy="4535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188720"/>
            <a:ext cx="2017476" cy="4480560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6720840" y="5797296"/>
            <a:ext cx="493776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25880"/>
            <a:ext cx="7955279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2563EB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157984"/>
            <a:ext cx="7955279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NER corridors: mountain terrain · monsoon · landslides · floods · road disruption · weak connectivity · stale evidence. </a:t>
            </a:r>
            <a:r>
              <a:rPr sz="1150" b="1">
                <a:solidFill>
                  <a:srgbClr val="DC2626"/>
                </a:solidFill>
                <a:latin typeface="Calibri"/>
              </a:rPr>
              <a:t>A shortest-path router still sends the truck.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2606040"/>
            <a:ext cx="23774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 NORMAL ROUTER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57200" y="2880360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67" name="Connector 15366"/>
          <p:cNvCxnSpPr/>
          <p:nvPr/>
        </p:nvCxnSpPr>
        <p:spPr>
          <a:xfrm>
            <a:off x="1554480" y="3182111"/>
            <a:ext cx="0" cy="256033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8" name="Rounded Rectangle 15367"/>
          <p:cNvSpPr/>
          <p:nvPr/>
        </p:nvSpPr>
        <p:spPr>
          <a:xfrm>
            <a:off x="457200" y="344728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1554480" y="3749039"/>
            <a:ext cx="0" cy="256033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57200" y="4014215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Truck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57200" y="4626864"/>
            <a:ext cx="22860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terrain, weather, hazard or freshness check.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3108960" y="2606040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Calibri"/>
              </a:rPr>
              <a:t>RASTA AI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3108960" y="2880360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74" name="Connector 15373"/>
          <p:cNvCxnSpPr/>
          <p:nvPr/>
        </p:nvCxnSpPr>
        <p:spPr>
          <a:xfrm>
            <a:off x="5737860" y="3163823"/>
            <a:ext cx="0" cy="100585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5" name="Rounded Rectangle 15374"/>
          <p:cNvSpPr/>
          <p:nvPr/>
        </p:nvSpPr>
        <p:spPr>
          <a:xfrm>
            <a:off x="3108960" y="3273552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Real route  ·  OSRM road, alternatives, turn steps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108960" y="3666744"/>
            <a:ext cx="5257800" cy="896112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3218688" y="3712463"/>
            <a:ext cx="50749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01820"/>
                </a:solidFill>
                <a:latin typeface="Calibri"/>
              </a:rPr>
              <a:t>ROUTE-SPECIFIC EVIDENCE  </a:t>
            </a:r>
            <a:r>
              <a:rPr sz="950" b="0">
                <a:solidFill>
                  <a:srgbClr val="6B7280"/>
                </a:solidFill>
                <a:latin typeface="Calibri"/>
              </a:rPr>
              <a:t>sampled along the selected road, each factor with its freshness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218688" y="3995928"/>
            <a:ext cx="7772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Terrain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069080" y="3995928"/>
            <a:ext cx="7772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Weather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919472" y="3995928"/>
            <a:ext cx="12344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Landslide exposure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6227064" y="3995928"/>
            <a:ext cx="10058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Flood context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3218688" y="4270248"/>
            <a:ext cx="11430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Official warnings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4434840" y="4270248"/>
            <a:ext cx="9144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Fleet traffic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5422392" y="4270248"/>
            <a:ext cx="12344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Evidence freshness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5737860" y="4572000"/>
            <a:ext cx="0" cy="100584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Rounded Rectangle 15385"/>
          <p:cNvSpPr/>
          <p:nvPr/>
        </p:nvSpPr>
        <p:spPr>
          <a:xfrm>
            <a:off x="3108960" y="4681728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87" name="Connector 15386"/>
          <p:cNvCxnSpPr/>
          <p:nvPr/>
        </p:nvCxnSpPr>
        <p:spPr>
          <a:xfrm>
            <a:off x="5737860" y="4965192"/>
            <a:ext cx="0" cy="100584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8" name="Rounded Rectangle 15387"/>
          <p:cNvSpPr/>
          <p:nvPr/>
        </p:nvSpPr>
        <p:spPr>
          <a:xfrm>
            <a:off x="3108960" y="5074920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  ·  reviews evidence, authorises, dispatches, approves reroutes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5737860" y="5358383"/>
            <a:ext cx="0" cy="100585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3108960" y="5468112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 ·  navigation, danger context, 23 languages, offline package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457200" y="5797296"/>
            <a:ext cx="2240280" cy="4023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UNKNOWN  ≠  SAFE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2834640" y="5760720"/>
            <a:ext cx="5577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The system refuses to fabricate certainty: </a:t>
            </a:r>
            <a:r>
              <a:rPr sz="1100" b="0">
                <a:solidFill>
                  <a:srgbClr val="101820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8613648" y="1161288"/>
            <a:ext cx="3256372" cy="50383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4" name="Picture 15393" descr="mgr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1188720"/>
            <a:ext cx="3201508" cy="4983480"/>
          </a:xfrm>
          <a:prstGeom prst="rect">
            <a:avLst/>
          </a:prstGeom>
        </p:spPr>
      </p:pic>
      <p:sp>
        <p:nvSpPr>
          <p:cNvPr id="15395" name="Rounded Rectangle 15394"/>
          <p:cNvSpPr/>
          <p:nvPr/>
        </p:nvSpPr>
        <p:spPr>
          <a:xfrm>
            <a:off x="8641080" y="5943600"/>
            <a:ext cx="3201508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Check conditions (real screen)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60704"/>
            <a:ext cx="77724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VERIFIED DATA  ·  provider adapters with health + freshness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024128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1728216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1819656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2340864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044952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3136392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3657600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361688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453128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GloFAS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974336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678424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769864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6291072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6995160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7086600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7607808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411480" y="2139696"/>
            <a:ext cx="7808976" cy="530352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02920" y="2185415"/>
            <a:ext cx="7626096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ROUTE-SPECIFIC EVIDENCE  · 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every factor sampled along the selected road · PostgreSQL + PostGIS (Supabase) · OSRM routes, alternatives, turn steps · freshness per factor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4315968" y="2688336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411480" y="2889504"/>
            <a:ext cx="7808976" cy="530352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02920" y="2935224"/>
            <a:ext cx="7626096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4315968" y="3438144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411480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2398014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384548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371082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4315968" y="4005072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411480" y="420624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755648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1837944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319272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3401568" y="42062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5248656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5330952" y="420624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6766559" y="4379976"/>
            <a:ext cx="73153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6848856" y="4206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REASSESS / REROUTE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8238744" y="4379976"/>
            <a:ext cx="91439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0" name="Connector 17449"/>
          <p:cNvCxnSpPr/>
          <p:nvPr/>
        </p:nvCxnSpPr>
        <p:spPr>
          <a:xfrm flipV="1">
            <a:off x="8330183" y="3154680"/>
            <a:ext cx="0" cy="1225296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 flipH="1">
            <a:off x="8238744" y="3154680"/>
            <a:ext cx="91439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411480" y="4626864"/>
            <a:ext cx="7808976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Decision loop: conditions are re-scored every 60 s along the road ahead; a material change goes back through the policy, and a reroute is proposed to the manager — never applied silently.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411480" y="5029200"/>
            <a:ext cx="7808976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CLIENTS  </a:t>
            </a:r>
            <a:r>
              <a:rPr sz="1050" b="0">
                <a:solidFill>
                  <a:srgbClr val="101820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STACK  </a:t>
            </a:r>
            <a:r>
              <a:rPr sz="1050" b="0">
                <a:solidFill>
                  <a:srgbClr val="1018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EVIDENCE  </a:t>
            </a:r>
            <a:r>
              <a:rPr sz="1050" b="0">
                <a:solidFill>
                  <a:srgbClr val="101820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8549640" y="1078992"/>
            <a:ext cx="3291840" cy="513892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8686800" y="117043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WHO DECIDES — AI IS SUPPORTING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686800" y="1508760"/>
            <a:ext cx="6400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8842248" y="1490472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8686800" y="2350008"/>
            <a:ext cx="6400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8842248" y="2331720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the decision and assists in the driver's language — never decides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8686800" y="3191256"/>
            <a:ext cx="64008" cy="658368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842248" y="3172968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research channel only; kept outside routing by the safety-validation gate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8686800" y="4023360"/>
            <a:ext cx="3017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TextBox 17462"/>
          <p:cNvSpPr txBox="1"/>
          <p:nvPr/>
        </p:nvSpPr>
        <p:spPr>
          <a:xfrm>
            <a:off x="8686800" y="409651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GOVERNANCE CHAIN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8686800" y="43891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0195560" y="4718304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8686800" y="4864608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10195560" y="5193792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Rounded Rectangle 17467"/>
          <p:cNvSpPr/>
          <p:nvPr/>
        </p:nvSpPr>
        <p:spPr>
          <a:xfrm>
            <a:off x="8686800" y="5340096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review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10195560" y="5669280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8686800" y="5815583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969264"/>
            <a:ext cx="8229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01820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1207008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1289304" y="148132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176272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258568" y="14813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DISPATCH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3282696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364992" y="14813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ACCEPT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297680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4379976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TRUCK VERIFY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632704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5715000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NAVIGATE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784848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6867144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OFF-ROUTE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7936992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8019288" y="1481328"/>
            <a:ext cx="20574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10094976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10177272" y="14813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29768" y="1984248"/>
            <a:ext cx="2393442" cy="3456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9" name="Picture 17428" descr="mgr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80"/>
            <a:ext cx="2338578" cy="3401568"/>
          </a:xfrm>
          <a:prstGeom prst="rect">
            <a:avLst/>
          </a:prstGeom>
        </p:spPr>
      </p:pic>
      <p:sp>
        <p:nvSpPr>
          <p:cNvPr id="17430" name="Rounded Rectangle 17429"/>
          <p:cNvSpPr/>
          <p:nvPr/>
        </p:nvSpPr>
        <p:spPr>
          <a:xfrm>
            <a:off x="2969514" y="1984248"/>
            <a:ext cx="1586498" cy="3456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truck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6946" y="2011680"/>
            <a:ext cx="1531634" cy="3401568"/>
          </a:xfrm>
          <a:prstGeom prst="rect">
            <a:avLst/>
          </a:prstGeom>
        </p:spPr>
      </p:pic>
      <p:sp>
        <p:nvSpPr>
          <p:cNvPr id="17432" name="Rounded Rectangle 17431"/>
          <p:cNvSpPr/>
          <p:nvPr/>
        </p:nvSpPr>
        <p:spPr>
          <a:xfrm>
            <a:off x="4702316" y="1984248"/>
            <a:ext cx="1586498" cy="3456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9748" y="2011680"/>
            <a:ext cx="1531634" cy="3401568"/>
          </a:xfrm>
          <a:prstGeom prst="rect">
            <a:avLst/>
          </a:prstGeom>
        </p:spPr>
      </p:pic>
      <p:sp>
        <p:nvSpPr>
          <p:cNvPr id="17434" name="Rounded Rectangle 17433"/>
          <p:cNvSpPr/>
          <p:nvPr/>
        </p:nvSpPr>
        <p:spPr>
          <a:xfrm>
            <a:off x="457200" y="5504688"/>
            <a:ext cx="2338578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996946" y="5504688"/>
            <a:ext cx="153163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729748" y="5504688"/>
            <a:ext cx="153163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navigation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499127" y="1956816"/>
            <a:ext cx="5250912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PROOF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499127" y="2212848"/>
            <a:ext cx="525091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The whole lifecycle above was run on a physical Android phone against the hosted backend, on the real road.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499127" y="2798064"/>
            <a:ext cx="8686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413527" y="2798064"/>
            <a:ext cx="433651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499127" y="3163824"/>
            <a:ext cx="8686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9/9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413527" y="3163824"/>
            <a:ext cx="433651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6499127" y="3547872"/>
            <a:ext cx="525091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1138+ </a:t>
            </a:r>
            <a:r>
              <a:rPr sz="1050" b="0">
                <a:solidFill>
                  <a:srgbClr val="101820"/>
                </a:solidFill>
                <a:latin typeface="Calibri"/>
              </a:rPr>
              <a:t>backend  ·  </a:t>
            </a:r>
            <a:r>
              <a:rPr sz="1300" b="1">
                <a:solidFill>
                  <a:srgbClr val="2563EB"/>
                </a:solidFill>
                <a:latin typeface="Calibri"/>
              </a:rPr>
              <a:t>621+ </a:t>
            </a:r>
            <a:r>
              <a:rPr sz="1050" b="0">
                <a:solidFill>
                  <a:srgbClr val="101820"/>
                </a:solidFill>
                <a:latin typeface="Calibri"/>
              </a:rPr>
              <a:t>driver  ·  </a:t>
            </a:r>
            <a:r>
              <a:rPr sz="1300" b="1">
                <a:solidFill>
                  <a:srgbClr val="2563EB"/>
                </a:solidFill>
                <a:latin typeface="Calibri"/>
              </a:rPr>
              <a:t>170+ </a:t>
            </a:r>
            <a:r>
              <a:rPr sz="1050" b="0">
                <a:solidFill>
                  <a:srgbClr val="101820"/>
                </a:solidFill>
                <a:latin typeface="Calibri"/>
              </a:rPr>
              <a:t>manager tests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499127" y="3986783"/>
            <a:ext cx="5250912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499127" y="4389120"/>
            <a:ext cx="5250912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101820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6499127" y="4754879"/>
            <a:ext cx="5250912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Every reroute on that run was approved by a manager before the phone followed it.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457200" y="5824728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457200" y="5870448"/>
            <a:ext cx="11292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KNOWN LIMITS → MITIGATION   </a:t>
            </a:r>
            <a:r>
              <a:rPr sz="1000" b="0">
                <a:solidFill>
                  <a:srgbClr val="101820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7955279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Calibri"/>
              </a:rPr>
              <a:t>RASTA AI does not ask only </a:t>
            </a:r>
            <a:r>
              <a:rPr sz="1900" b="1">
                <a:solidFill>
                  <a:srgbClr val="101820"/>
                </a:solidFill>
                <a:latin typeface="Calibri"/>
              </a:rPr>
              <a:t>“Which road is shortest?”</a:t>
            </a:r>
            <a:r>
              <a:rPr sz="1900" b="0">
                <a:solidFill>
                  <a:srgbClr val="6B7280"/>
                </a:solidFill>
                <a:latin typeface="Calibri"/>
              </a:rPr>
              <a:t>  It asks </a:t>
            </a:r>
            <a:r>
              <a:rPr sz="1900" b="1">
                <a:solidFill>
                  <a:srgbClr val="2563EB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847088"/>
            <a:ext cx="7955279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FOOD  ·  MEDICINE  ·  FUEL  ·  RELIEF SUPPLIES</a:t>
            </a:r>
            <a:r>
              <a:rPr sz="1150" b="0">
                <a:solidFill>
                  <a:srgbClr val="6B7280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212848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WHO BENEFITS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2496312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2496312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Safer navigation, danger context, emergency support, 23 languages.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535424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35424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More resilient access to food, medicine, fuel and relief supplies.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6574536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6574536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70332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DEMONSTRATED TODAY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57200" y="3977639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23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463040" y="3977639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44348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11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463040" y="44348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57200" y="48920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60 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463040" y="48920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480560" y="3977639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486400" y="3977639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480560" y="44348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100 %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486400" y="44348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480560" y="48920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0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486400" y="48920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57200" y="5440680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HUMAN GOVERNANCE — AI HAS NO UNCONTROLLED AUTHORITY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57200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13432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05456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4361688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4553712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6409944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6601968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7200" y="6099048"/>
            <a:ext cx="7955279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No invented percentages: impact is stated as who gains what, backed by the working system.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8567928" y="1069848"/>
            <a:ext cx="1872978" cy="2615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phone-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1097280"/>
            <a:ext cx="1818114" cy="2560320"/>
          </a:xfrm>
          <a:prstGeom prst="rect">
            <a:avLst/>
          </a:prstGeom>
        </p:spPr>
      </p:pic>
      <p:sp>
        <p:nvSpPr>
          <p:cNvPr id="17445" name="Rounded Rectangle 17444"/>
          <p:cNvSpPr/>
          <p:nvPr/>
        </p:nvSpPr>
        <p:spPr>
          <a:xfrm>
            <a:off x="8595360" y="3749039"/>
            <a:ext cx="181811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0523202" y="1069848"/>
            <a:ext cx="1262417" cy="2615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7" name="Picture 17446" descr="phone-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0634" y="1097280"/>
            <a:ext cx="1207553" cy="2560320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550634" y="3749039"/>
            <a:ext cx="1207553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mobile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595360" y="4114800"/>
            <a:ext cx="3154679" cy="1645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6858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457200" y="1426464"/>
            <a:ext cx="329183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457200" y="1481328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real road geometry, alternatives and turn steps; place search on the corridor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023360" y="1426464"/>
            <a:ext cx="32918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023360" y="1481328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forecast sampled along the road; climb, gradient and steep segments (GLO-90)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457200" y="2761488"/>
            <a:ext cx="329183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457200" y="2816352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official warnings polled with freshness; river discharge against its 30-day mean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023360" y="2761488"/>
            <a:ext cx="32918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023360" y="2816352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historical exposure; inventory 2007–2017, ≤5 km location-accuracy filter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57200" y="4096512"/>
            <a:ext cx="329183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457200" y="4151376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the decision in the driver's language — never safety authority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4023360" y="4096512"/>
            <a:ext cx="32918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4023360" y="4151376"/>
            <a:ext cx="3291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AI-based smart logistics and accessibility intelligence for the NER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379208" y="1042415"/>
            <a:ext cx="4535424" cy="4425696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7543800" y="1152144"/>
            <a:ext cx="42062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EXPERIMENTAL LANDSLIDE RESEARCH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543800" y="1389888"/>
            <a:ext cx="169164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01820"/>
                </a:solidFill>
                <a:latin typeface="Calibri"/>
              </a:rPr>
              <a:t>95 %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35440" y="1426464"/>
            <a:ext cx="2514599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on the NER geographic holdout — 154 catalogued events, no NER row used in training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543800" y="2395728"/>
            <a:ext cx="4206240" cy="749808"/>
          </a:xfrm>
          <a:prstGeom prst="roundRect">
            <a:avLst>
              <a:gd name="adj" fmla="val 12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543800" y="2450592"/>
            <a:ext cx="420624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7543800" y="3218688"/>
            <a:ext cx="42062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FPR 50 %</a:t>
            </a:r>
            <a:r>
              <a:rPr sz="1000" b="0">
                <a:solidFill>
                  <a:srgbClr val="6B7280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543800" y="360273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TRAIN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8266175" y="3730752"/>
            <a:ext cx="59436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8334756" y="3602736"/>
            <a:ext cx="148132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9825228" y="3730752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9893808" y="3602736"/>
            <a:ext cx="16276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USEFUL SIGNAL FOUND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11530584" y="3730752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7543800" y="3968496"/>
            <a:ext cx="181051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9363456" y="4096511"/>
            <a:ext cx="59436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9432036" y="3968496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SAFETY GATE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10428732" y="4096511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10497312" y="3968496"/>
            <a:ext cx="115214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543800" y="4352544"/>
            <a:ext cx="42062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VALIDATION BEFORE AUTOMATION. </a:t>
            </a:r>
            <a:r>
              <a:rPr sz="1050" b="0">
                <a:solidFill>
                  <a:srgbClr val="101820"/>
                </a:solidFill>
                <a:latin typeface="Calibri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543800" y="4992624"/>
            <a:ext cx="4206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57200" y="5596128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457200" y="5650992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REFERENCES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57200" y="5897880"/>
            <a:ext cx="112928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registry, error analysis)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>Built by docs/submission/build_final_deck.py from docs/PPT_SOURCE_OF_TRUTH.md.</dc:description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