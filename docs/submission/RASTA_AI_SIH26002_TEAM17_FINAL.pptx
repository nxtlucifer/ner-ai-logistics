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Judge answer on ML: We trained and evaluated a landslide-hazard model, but deliberately keep it outside production routing because its geographic false-positive rate is still too high (recall 0.95 at FPR 0.50 on the NER holdout). This prevents unreliable ML from making safety-critical decisions. Tests: backend 1138 passed / 5 skipped, driver 621, manager 170 (14 Sep 2026, commit 0b89ddf). Physical certification: docs/terrain/HANDOFF.md section 9.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Full references:</a:t>
            </a:r>
          </a:p>
          <a:p>
            <a:r>
              <a:t>NASA Global Landslide Catalog — https://gpm.nasa.gov/landslides/ (data via https://data.nasa.gov)</a:t>
            </a:r>
          </a:p>
          <a:p>
            <a:r>
              <a:t>NDMA SACHET CAP alerts — https://sachet.ndma.gov.in</a:t>
            </a:r>
          </a:p>
          <a:p>
            <a:r>
              <a:t>GloFAS (Copernicus Emergency Management Service) — https://global-flood.emergency.copernicus.eu ; flood API via https://open-meteo.com/en/docs/flood-api</a:t>
            </a:r>
          </a:p>
          <a:p>
            <a:r>
              <a:t>Open-Meteo forecast / ERA5-Land archive — https://open-meteo.com ; MET Norway Locationforecast — https://api.met.no</a:t>
            </a:r>
          </a:p>
          <a:p>
            <a:r>
              <a:t>OpenTopoData — https://www.opentopodata.org ; Copernicus DEM GLO-90 — https://spacedata.copernicus.eu</a:t>
            </a:r>
          </a:p>
          <a:p>
            <a:r>
              <a:t>OSRM — https://project-osrm.org ; OpenStreetMap — https://www.openstreetmap.org</a:t>
            </a:r>
          </a:p>
          <a:p>
            <a:r>
              <a:t>Repository — https://github.com/nxtlucifer/ner-ai-logistics (docs/MODEL_REGISTRY.md, docs/HAZARD_ERROR_ANALYSIS.md, docs/AI_INVENTORY.md)</a:t>
            </a:r>
          </a:p>
          <a:p>
            <a:r>
              <a:t>Model metrics: NER holdout n=770, 154 events; recall 0.95, precision 0.32, F1 0.48, PR-AUC 0.55, ROC-AUC 0.83, FPR 0.50, Brier 0.12; status EXPERIMENTAL, not deployed.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37" name="Picture 36" descr="brand-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207008"/>
            <a:ext cx="868680" cy="86868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463040" y="1170432"/>
            <a:ext cx="5486400" cy="6400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000" b="1">
                <a:solidFill>
                  <a:srgbClr val="101820"/>
                </a:solidFill>
                <a:latin typeface="Calibri"/>
              </a:rPr>
              <a:t>RASTA AI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481328" y="1755648"/>
            <a:ext cx="585216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Route Intelligence for Essential-Supply Logistics in North Eastern India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2468880"/>
            <a:ext cx="2148840" cy="64008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Calibri"/>
              </a:rPr>
              <a:t>SIH26002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88920" y="2487168"/>
            <a:ext cx="3657600" cy="60350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6B7280"/>
                </a:solidFill>
                <a:latin typeface="Calibri"/>
              </a:rPr>
              <a:t>Problem Statement ID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101820"/>
                </a:solidFill>
                <a:latin typeface="Calibri"/>
              </a:rPr>
              <a:t>MDoNER · Smart Automation · Software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3364992"/>
            <a:ext cx="2011680" cy="30175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>
                <a:solidFill>
                  <a:srgbClr val="6B7280"/>
                </a:solidFill>
                <a:latin typeface="Calibri"/>
              </a:rPr>
              <a:t>PROBLEM STATEMENT ID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514600" y="3337560"/>
            <a:ext cx="4023360" cy="30175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01820"/>
                </a:solidFill>
                <a:latin typeface="Calibri"/>
              </a:rPr>
              <a:t>SIH26002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502920" y="3685031"/>
            <a:ext cx="6035039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02920" y="3739896"/>
            <a:ext cx="2011680" cy="53035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>
                <a:solidFill>
                  <a:srgbClr val="6B7280"/>
                </a:solidFill>
                <a:latin typeface="Calibri"/>
              </a:rPr>
              <a:t>PROBLEM STATEMENT TITLE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514600" y="3712463"/>
            <a:ext cx="4023360" cy="53035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101820"/>
                </a:solidFill>
                <a:latin typeface="Calibri"/>
              </a:rPr>
              <a:t>AI-Based Smart Logistics and Accessibility Intelligence Platform for North Eastern Region (NER)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502920" y="4288536"/>
            <a:ext cx="6035039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502920" y="4343400"/>
            <a:ext cx="2011680" cy="30175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>
                <a:solidFill>
                  <a:srgbClr val="6B7280"/>
                </a:solidFill>
                <a:latin typeface="Calibri"/>
              </a:rPr>
              <a:t>THEME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514600" y="4315968"/>
            <a:ext cx="4023360" cy="30175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101820"/>
                </a:solidFill>
                <a:latin typeface="Calibri"/>
              </a:rPr>
              <a:t>Smart Automation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502920" y="4663440"/>
            <a:ext cx="6035039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02920" y="4718304"/>
            <a:ext cx="2011680" cy="30175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>
                <a:solidFill>
                  <a:srgbClr val="6B7280"/>
                </a:solidFill>
                <a:latin typeface="Calibri"/>
              </a:rPr>
              <a:t>PS CATEGORY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514600" y="4690872"/>
            <a:ext cx="4023360" cy="30175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101820"/>
                </a:solidFill>
                <a:latin typeface="Calibri"/>
              </a:rPr>
              <a:t>Software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502920" y="5038344"/>
            <a:ext cx="6035039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502920" y="5093208"/>
            <a:ext cx="2011680" cy="30175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>
                <a:solidFill>
                  <a:srgbClr val="6B7280"/>
                </a:solidFill>
                <a:latin typeface="Calibri"/>
              </a:rPr>
              <a:t>TEAM ID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514600" y="5065776"/>
            <a:ext cx="4023360" cy="30175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01820"/>
                </a:solidFill>
                <a:latin typeface="Calibri"/>
              </a:rPr>
              <a:t>17  (internal group no.)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02920" y="5413248"/>
            <a:ext cx="6035039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502920" y="5468112"/>
            <a:ext cx="2011680" cy="30175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>
                <a:solidFill>
                  <a:srgbClr val="6B7280"/>
                </a:solidFill>
                <a:latin typeface="Calibri"/>
              </a:rPr>
              <a:t>TEAM NAME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514600" y="5440680"/>
            <a:ext cx="4023360" cy="30175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01820"/>
                </a:solidFill>
                <a:latin typeface="Calibri"/>
              </a:rPr>
              <a:t>NER-AI LOGISTICS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502920" y="5788152"/>
            <a:ext cx="6035039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02920" y="5943600"/>
            <a:ext cx="61264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>
                <a:solidFill>
                  <a:srgbClr val="059669"/>
                </a:solidFill>
                <a:latin typeface="Calibri"/>
              </a:rPr>
              <a:t>End-to-end working prototype · physical-phone validated · live demo corridor Guwahati → Shillong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693407" y="2487168"/>
            <a:ext cx="2380869" cy="343814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2" name="Picture 61" descr="mgr-rou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0840" y="2514600"/>
            <a:ext cx="2326005" cy="3383280"/>
          </a:xfrm>
          <a:prstGeom prst="rect">
            <a:avLst/>
          </a:prstGeom>
        </p:spPr>
      </p:pic>
      <p:sp>
        <p:nvSpPr>
          <p:cNvPr id="63" name="Rounded Rectangle 62"/>
          <p:cNvSpPr/>
          <p:nvPr/>
        </p:nvSpPr>
        <p:spPr>
          <a:xfrm>
            <a:off x="9299448" y="1161288"/>
            <a:ext cx="2319378" cy="50840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4" name="Picture 63" descr="07-navigati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0" y="1188720"/>
            <a:ext cx="2264514" cy="5029200"/>
          </a:xfrm>
          <a:prstGeom prst="rect">
            <a:avLst/>
          </a:prstGeom>
        </p:spPr>
      </p:pic>
      <p:sp>
        <p:nvSpPr>
          <p:cNvPr id="65" name="Rounded Rectangle 64"/>
          <p:cNvSpPr/>
          <p:nvPr/>
        </p:nvSpPr>
        <p:spPr>
          <a:xfrm>
            <a:off x="6720840" y="6108192"/>
            <a:ext cx="4937760" cy="256032"/>
          </a:xfrm>
          <a:prstGeom prst="roundRect">
            <a:avLst>
              <a:gd name="adj" fmla="val 50000"/>
            </a:avLst>
          </a:prstGeom>
          <a:solidFill>
            <a:srgbClr val="10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Manager route review · Driver navigation — real screens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920240" y="0"/>
            <a:ext cx="7772400" cy="1143000"/>
          </a:xfrm>
        </p:spPr>
        <p:txBody>
          <a:bodyPr/>
          <a:lstStyle/>
          <a:p>
            <a:pPr eaLnBrk="1" hangingPunct="1"/>
            <a:r>
              <a:rPr lang="en-US" sz="2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RASTA AI — ROUTE INTELLIGENCE</a:t>
            </a:r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endParaRPr sz="280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274320" y="274320"/>
            <a:ext cx="1554480" cy="73152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 lIns="36576" rIns="36576"/>
          <a:lstStyle/>
          <a:p>
            <a:pPr algn="ctr"/>
            <a:r>
              <a:rPr sz="1000" b="1">
                <a:solidFill>
                  <a:srgbClr val="101820"/>
                </a:solidFill>
                <a:latin typeface="Calibri"/>
              </a:rPr>
              <a:t>NER-AI LOGISTICS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TextBox 15361"/>
          <p:cNvSpPr txBox="1"/>
          <p:nvPr/>
        </p:nvSpPr>
        <p:spPr>
          <a:xfrm>
            <a:off x="457200" y="1097280"/>
            <a:ext cx="3657600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6B7280"/>
                </a:solidFill>
                <a:latin typeface="Calibri"/>
              </a:rPr>
              <a:t>PROPOSED SOLUTION</a:t>
            </a:r>
          </a:p>
        </p:txBody>
      </p:sp>
      <p:sp>
        <p:nvSpPr>
          <p:cNvPr id="15363" name="TextBox 15362"/>
          <p:cNvSpPr txBox="1"/>
          <p:nvPr/>
        </p:nvSpPr>
        <p:spPr>
          <a:xfrm>
            <a:off x="457200" y="1325880"/>
            <a:ext cx="78638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101820"/>
                </a:solidFill>
                <a:latin typeface="Calibri"/>
              </a:rPr>
              <a:t>NOT THE SHORTEST ROAD. </a:t>
            </a:r>
            <a:r>
              <a:rPr sz="2400" b="1">
                <a:solidFill>
                  <a:srgbClr val="2563EB"/>
                </a:solidFill>
                <a:latin typeface="Calibri"/>
              </a:rPr>
              <a:t>THE ROAD THAT IS OPERATIONALLY USABLE NOW.</a:t>
            </a:r>
          </a:p>
        </p:txBody>
      </p:sp>
      <p:sp>
        <p:nvSpPr>
          <p:cNvPr id="15364" name="TextBox 15363"/>
          <p:cNvSpPr txBox="1"/>
          <p:nvPr/>
        </p:nvSpPr>
        <p:spPr>
          <a:xfrm>
            <a:off x="457200" y="2286000"/>
            <a:ext cx="3657600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6B7280"/>
                </a:solidFill>
                <a:latin typeface="Calibri"/>
              </a:rPr>
              <a:t>THE PROBLEM ON NER CORRIDORS</a:t>
            </a:r>
          </a:p>
        </p:txBody>
      </p:sp>
      <p:sp>
        <p:nvSpPr>
          <p:cNvPr id="15365" name="Rectangle 15364"/>
          <p:cNvSpPr/>
          <p:nvPr/>
        </p:nvSpPr>
        <p:spPr>
          <a:xfrm>
            <a:off x="457200" y="2651760"/>
            <a:ext cx="91440" cy="9144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66" name="TextBox 15365"/>
          <p:cNvSpPr txBox="1"/>
          <p:nvPr/>
        </p:nvSpPr>
        <p:spPr>
          <a:xfrm>
            <a:off x="621792" y="2560320"/>
            <a:ext cx="173736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101820"/>
                </a:solidFill>
                <a:latin typeface="Calibri"/>
              </a:rPr>
              <a:t>Mountain terrain</a:t>
            </a:r>
          </a:p>
        </p:txBody>
      </p:sp>
      <p:sp>
        <p:nvSpPr>
          <p:cNvPr id="15367" name="Rectangle 15366"/>
          <p:cNvSpPr/>
          <p:nvPr/>
        </p:nvSpPr>
        <p:spPr>
          <a:xfrm>
            <a:off x="457200" y="2926079"/>
            <a:ext cx="91440" cy="9144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68" name="TextBox 15367"/>
          <p:cNvSpPr txBox="1"/>
          <p:nvPr/>
        </p:nvSpPr>
        <p:spPr>
          <a:xfrm>
            <a:off x="621792" y="2834639"/>
            <a:ext cx="173736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101820"/>
                </a:solidFill>
                <a:latin typeface="Calibri"/>
              </a:rPr>
              <a:t>Monsoon weather</a:t>
            </a:r>
          </a:p>
        </p:txBody>
      </p:sp>
      <p:sp>
        <p:nvSpPr>
          <p:cNvPr id="15369" name="Rectangle 15368"/>
          <p:cNvSpPr/>
          <p:nvPr/>
        </p:nvSpPr>
        <p:spPr>
          <a:xfrm>
            <a:off x="457200" y="3200400"/>
            <a:ext cx="91440" cy="9144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70" name="TextBox 15369"/>
          <p:cNvSpPr txBox="1"/>
          <p:nvPr/>
        </p:nvSpPr>
        <p:spPr>
          <a:xfrm>
            <a:off x="621792" y="3108960"/>
            <a:ext cx="173736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101820"/>
                </a:solidFill>
                <a:latin typeface="Calibri"/>
              </a:rPr>
              <a:t>Landslides</a:t>
            </a:r>
          </a:p>
        </p:txBody>
      </p:sp>
      <p:sp>
        <p:nvSpPr>
          <p:cNvPr id="15371" name="Rectangle 15370"/>
          <p:cNvSpPr/>
          <p:nvPr/>
        </p:nvSpPr>
        <p:spPr>
          <a:xfrm>
            <a:off x="457200" y="3474720"/>
            <a:ext cx="91440" cy="9144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72" name="TextBox 15371"/>
          <p:cNvSpPr txBox="1"/>
          <p:nvPr/>
        </p:nvSpPr>
        <p:spPr>
          <a:xfrm>
            <a:off x="621792" y="3383279"/>
            <a:ext cx="173736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101820"/>
                </a:solidFill>
                <a:latin typeface="Calibri"/>
              </a:rPr>
              <a:t>Flood context</a:t>
            </a:r>
          </a:p>
        </p:txBody>
      </p:sp>
      <p:sp>
        <p:nvSpPr>
          <p:cNvPr id="15373" name="Rectangle 15372"/>
          <p:cNvSpPr/>
          <p:nvPr/>
        </p:nvSpPr>
        <p:spPr>
          <a:xfrm>
            <a:off x="2331720" y="2651760"/>
            <a:ext cx="91440" cy="9144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74" name="TextBox 15373"/>
          <p:cNvSpPr txBox="1"/>
          <p:nvPr/>
        </p:nvSpPr>
        <p:spPr>
          <a:xfrm>
            <a:off x="2496312" y="2560320"/>
            <a:ext cx="173736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101820"/>
                </a:solidFill>
                <a:latin typeface="Calibri"/>
              </a:rPr>
              <a:t>Road disruptions</a:t>
            </a:r>
          </a:p>
        </p:txBody>
      </p:sp>
      <p:sp>
        <p:nvSpPr>
          <p:cNvPr id="15375" name="Rectangle 15374"/>
          <p:cNvSpPr/>
          <p:nvPr/>
        </p:nvSpPr>
        <p:spPr>
          <a:xfrm>
            <a:off x="2331720" y="2926079"/>
            <a:ext cx="91440" cy="9144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76" name="TextBox 15375"/>
          <p:cNvSpPr txBox="1"/>
          <p:nvPr/>
        </p:nvSpPr>
        <p:spPr>
          <a:xfrm>
            <a:off x="2496312" y="2834639"/>
            <a:ext cx="173736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101820"/>
                </a:solidFill>
                <a:latin typeface="Calibri"/>
              </a:rPr>
              <a:t>Weak connectivity</a:t>
            </a:r>
          </a:p>
        </p:txBody>
      </p:sp>
      <p:sp>
        <p:nvSpPr>
          <p:cNvPr id="15377" name="Rectangle 15376"/>
          <p:cNvSpPr/>
          <p:nvPr/>
        </p:nvSpPr>
        <p:spPr>
          <a:xfrm>
            <a:off x="2331720" y="3200400"/>
            <a:ext cx="91440" cy="9144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78" name="TextBox 15377"/>
          <p:cNvSpPr txBox="1"/>
          <p:nvPr/>
        </p:nvSpPr>
        <p:spPr>
          <a:xfrm>
            <a:off x="2496312" y="3108960"/>
            <a:ext cx="173736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101820"/>
                </a:solidFill>
                <a:latin typeface="Calibri"/>
              </a:rPr>
              <a:t>Missing or stale evidence</a:t>
            </a:r>
          </a:p>
        </p:txBody>
      </p:sp>
      <p:sp>
        <p:nvSpPr>
          <p:cNvPr id="15379" name="TextBox 15378"/>
          <p:cNvSpPr txBox="1"/>
          <p:nvPr/>
        </p:nvSpPr>
        <p:spPr>
          <a:xfrm>
            <a:off x="457200" y="3703320"/>
            <a:ext cx="36576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1">
                <a:solidFill>
                  <a:srgbClr val="DC2626"/>
                </a:solidFill>
                <a:latin typeface="Calibri"/>
              </a:rPr>
              <a:t>A shortest-path router still sends the truck.</a:t>
            </a:r>
          </a:p>
        </p:txBody>
      </p:sp>
      <p:sp>
        <p:nvSpPr>
          <p:cNvPr id="15380" name="TextBox 15379"/>
          <p:cNvSpPr txBox="1"/>
          <p:nvPr/>
        </p:nvSpPr>
        <p:spPr>
          <a:xfrm>
            <a:off x="4343400" y="2286000"/>
            <a:ext cx="3657600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6B7280"/>
                </a:solidFill>
                <a:latin typeface="Calibri"/>
              </a:rPr>
              <a:t>WHAT IS DIFFERENT</a:t>
            </a:r>
          </a:p>
        </p:txBody>
      </p:sp>
      <p:sp>
        <p:nvSpPr>
          <p:cNvPr id="15381" name="TextBox 15380"/>
          <p:cNvSpPr txBox="1"/>
          <p:nvPr/>
        </p:nvSpPr>
        <p:spPr>
          <a:xfrm>
            <a:off x="4343400" y="2542032"/>
            <a:ext cx="3977639" cy="43891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01820"/>
                </a:solidFill>
                <a:latin typeface="Calibri"/>
              </a:rPr>
              <a:t>Evidence-aware routing</a:t>
            </a:r>
            <a:r>
              <a:rPr sz="1150" b="0">
                <a:solidFill>
                  <a:srgbClr val="6B7280"/>
                </a:solidFill>
                <a:latin typeface="Calibri"/>
              </a:rPr>
              <a:t> — terrain, weather, warnings, flood, landslide history, traffic, freshness; not shortest-path only</a:t>
            </a:r>
          </a:p>
        </p:txBody>
      </p:sp>
      <p:sp>
        <p:nvSpPr>
          <p:cNvPr id="15382" name="TextBox 15381"/>
          <p:cNvSpPr txBox="1"/>
          <p:nvPr/>
        </p:nvSpPr>
        <p:spPr>
          <a:xfrm>
            <a:off x="4343400" y="2999232"/>
            <a:ext cx="3977639" cy="43891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01820"/>
                </a:solidFill>
                <a:latin typeface="Calibri"/>
              </a:rPr>
              <a:t>Unknown or stale data is exposed</a:t>
            </a:r>
            <a:r>
              <a:rPr sz="1150" b="0">
                <a:solidFill>
                  <a:srgbClr val="6B7280"/>
                </a:solidFill>
                <a:latin typeface="Calibri"/>
              </a:rPr>
              <a:t> — never treated as safe</a:t>
            </a:r>
          </a:p>
        </p:txBody>
      </p:sp>
      <p:sp>
        <p:nvSpPr>
          <p:cNvPr id="15383" name="TextBox 15382"/>
          <p:cNvSpPr txBox="1"/>
          <p:nvPr/>
        </p:nvSpPr>
        <p:spPr>
          <a:xfrm>
            <a:off x="4343400" y="3456432"/>
            <a:ext cx="3977639" cy="43891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01820"/>
                </a:solidFill>
                <a:latin typeface="Calibri"/>
              </a:rPr>
              <a:t>Human-governed rerouting</a:t>
            </a:r>
            <a:r>
              <a:rPr sz="1150" b="0">
                <a:solidFill>
                  <a:srgbClr val="6B7280"/>
                </a:solidFill>
                <a:latin typeface="Calibri"/>
              </a:rPr>
              <a:t> — a manager approves every safety-critical route change</a:t>
            </a:r>
          </a:p>
        </p:txBody>
      </p:sp>
      <p:sp>
        <p:nvSpPr>
          <p:cNvPr id="15384" name="TextBox 15383"/>
          <p:cNvSpPr txBox="1"/>
          <p:nvPr/>
        </p:nvSpPr>
        <p:spPr>
          <a:xfrm>
            <a:off x="4343400" y="3913631"/>
            <a:ext cx="3977639" cy="43891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01820"/>
                </a:solidFill>
                <a:latin typeface="Calibri"/>
              </a:rPr>
              <a:t>23 languages + offline operation</a:t>
            </a:r>
            <a:r>
              <a:rPr sz="1150" b="0">
                <a:solidFill>
                  <a:srgbClr val="6B7280"/>
                </a:solidFill>
                <a:latin typeface="Calibri"/>
              </a:rPr>
              <a:t> — built for drivers on NER corridors</a:t>
            </a:r>
          </a:p>
        </p:txBody>
      </p:sp>
      <p:sp>
        <p:nvSpPr>
          <p:cNvPr id="15385" name="TextBox 15384"/>
          <p:cNvSpPr txBox="1"/>
          <p:nvPr/>
        </p:nvSpPr>
        <p:spPr>
          <a:xfrm>
            <a:off x="457200" y="4443984"/>
            <a:ext cx="3657600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6B7280"/>
                </a:solidFill>
                <a:latin typeface="Calibri"/>
              </a:rPr>
              <a:t>THE RASTA FLOW</a:t>
            </a:r>
          </a:p>
        </p:txBody>
      </p:sp>
      <p:sp>
        <p:nvSpPr>
          <p:cNvPr id="15386" name="Rounded Rectangle 15385"/>
          <p:cNvSpPr/>
          <p:nvPr/>
        </p:nvSpPr>
        <p:spPr>
          <a:xfrm>
            <a:off x="457200" y="4700016"/>
            <a:ext cx="123444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50" b="1">
                <a:solidFill>
                  <a:srgbClr val="101820"/>
                </a:solidFill>
                <a:latin typeface="Calibri"/>
              </a:rPr>
              <a:t>MANAGER TRIP</a:t>
            </a:r>
          </a:p>
        </p:txBody>
      </p:sp>
      <p:cxnSp>
        <p:nvCxnSpPr>
          <p:cNvPr id="15387" name="Connector 15386"/>
          <p:cNvCxnSpPr/>
          <p:nvPr/>
        </p:nvCxnSpPr>
        <p:spPr>
          <a:xfrm>
            <a:off x="1709928" y="4882896"/>
            <a:ext cx="100584" cy="0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88" name="Rounded Rectangle 15387"/>
          <p:cNvSpPr/>
          <p:nvPr/>
        </p:nvSpPr>
        <p:spPr>
          <a:xfrm>
            <a:off x="1828800" y="4700016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50" b="1">
                <a:solidFill>
                  <a:srgbClr val="101820"/>
                </a:solidFill>
                <a:latin typeface="Calibri"/>
              </a:rPr>
              <a:t>REAL ROUTE</a:t>
            </a:r>
          </a:p>
        </p:txBody>
      </p:sp>
      <p:cxnSp>
        <p:nvCxnSpPr>
          <p:cNvPr id="15389" name="Connector 15388"/>
          <p:cNvCxnSpPr/>
          <p:nvPr/>
        </p:nvCxnSpPr>
        <p:spPr>
          <a:xfrm>
            <a:off x="2944368" y="4882896"/>
            <a:ext cx="100584" cy="0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90" name="Rounded Rectangle 15389"/>
          <p:cNvSpPr/>
          <p:nvPr/>
        </p:nvSpPr>
        <p:spPr>
          <a:xfrm>
            <a:off x="3063239" y="4700016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50" b="1">
                <a:solidFill>
                  <a:srgbClr val="101820"/>
                </a:solidFill>
                <a:latin typeface="Calibri"/>
              </a:rPr>
              <a:t>TERRAIN + WEATHER</a:t>
            </a:r>
          </a:p>
        </p:txBody>
      </p:sp>
      <p:cxnSp>
        <p:nvCxnSpPr>
          <p:cNvPr id="15391" name="Connector 15390"/>
          <p:cNvCxnSpPr/>
          <p:nvPr/>
        </p:nvCxnSpPr>
        <p:spPr>
          <a:xfrm>
            <a:off x="4544567" y="4882896"/>
            <a:ext cx="100584" cy="0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92" name="Rounded Rectangle 15391"/>
          <p:cNvSpPr/>
          <p:nvPr/>
        </p:nvSpPr>
        <p:spPr>
          <a:xfrm>
            <a:off x="4663440" y="4700016"/>
            <a:ext cx="210312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50" b="1">
                <a:solidFill>
                  <a:srgbClr val="101820"/>
                </a:solidFill>
                <a:latin typeface="Calibri"/>
              </a:rPr>
              <a:t>LANDSLIDE · FLOOD · WARNINGS</a:t>
            </a:r>
          </a:p>
        </p:txBody>
      </p:sp>
      <p:cxnSp>
        <p:nvCxnSpPr>
          <p:cNvPr id="15393" name="Connector 15392"/>
          <p:cNvCxnSpPr/>
          <p:nvPr/>
        </p:nvCxnSpPr>
        <p:spPr>
          <a:xfrm>
            <a:off x="6784847" y="4882896"/>
            <a:ext cx="100584" cy="0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94" name="Rounded Rectangle 15393"/>
          <p:cNvSpPr/>
          <p:nvPr/>
        </p:nvSpPr>
        <p:spPr>
          <a:xfrm>
            <a:off x="6903719" y="4700016"/>
            <a:ext cx="160020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50" b="1">
                <a:solidFill>
                  <a:srgbClr val="101820"/>
                </a:solidFill>
                <a:latin typeface="Calibri"/>
              </a:rPr>
              <a:t>TRAFFIC + FRESHNESS</a:t>
            </a:r>
          </a:p>
        </p:txBody>
      </p:sp>
      <p:sp>
        <p:nvSpPr>
          <p:cNvPr id="15395" name="Rounded Rectangle 15394"/>
          <p:cNvSpPr/>
          <p:nvPr/>
        </p:nvSpPr>
        <p:spPr>
          <a:xfrm>
            <a:off x="7086599" y="5193792"/>
            <a:ext cx="1417320" cy="36576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ROUTE DECISION</a:t>
            </a:r>
          </a:p>
        </p:txBody>
      </p:sp>
      <p:cxnSp>
        <p:nvCxnSpPr>
          <p:cNvPr id="15396" name="Connector 15395"/>
          <p:cNvCxnSpPr/>
          <p:nvPr/>
        </p:nvCxnSpPr>
        <p:spPr>
          <a:xfrm flipH="1">
            <a:off x="6967727" y="5376672"/>
            <a:ext cx="100585" cy="0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97" name="Rounded Rectangle 15396"/>
          <p:cNvSpPr/>
          <p:nvPr/>
        </p:nvSpPr>
        <p:spPr>
          <a:xfrm>
            <a:off x="5349239" y="5193792"/>
            <a:ext cx="160020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50" b="1">
                <a:solidFill>
                  <a:srgbClr val="101820"/>
                </a:solidFill>
                <a:latin typeface="Calibri"/>
              </a:rPr>
              <a:t>DRIVER NAVIGATION</a:t>
            </a:r>
          </a:p>
        </p:txBody>
      </p:sp>
      <p:cxnSp>
        <p:nvCxnSpPr>
          <p:cNvPr id="15398" name="Connector 15397"/>
          <p:cNvCxnSpPr/>
          <p:nvPr/>
        </p:nvCxnSpPr>
        <p:spPr>
          <a:xfrm flipH="1">
            <a:off x="5230367" y="5376672"/>
            <a:ext cx="100584" cy="0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99" name="Rounded Rectangle 15398"/>
          <p:cNvSpPr/>
          <p:nvPr/>
        </p:nvSpPr>
        <p:spPr>
          <a:xfrm>
            <a:off x="3246119" y="5193792"/>
            <a:ext cx="196596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50" b="1">
                <a:solidFill>
                  <a:srgbClr val="101820"/>
                </a:solidFill>
                <a:latin typeface="Calibri"/>
              </a:rPr>
              <a:t>CONTINUOUS MONITORING</a:t>
            </a:r>
          </a:p>
        </p:txBody>
      </p:sp>
      <p:cxnSp>
        <p:nvCxnSpPr>
          <p:cNvPr id="15400" name="Connector 15399"/>
          <p:cNvCxnSpPr/>
          <p:nvPr/>
        </p:nvCxnSpPr>
        <p:spPr>
          <a:xfrm flipH="1">
            <a:off x="3127247" y="5376672"/>
            <a:ext cx="100584" cy="0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01" name="Rounded Rectangle 15400"/>
          <p:cNvSpPr/>
          <p:nvPr/>
        </p:nvSpPr>
        <p:spPr>
          <a:xfrm>
            <a:off x="1417319" y="5193792"/>
            <a:ext cx="169164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50" b="1">
                <a:solidFill>
                  <a:srgbClr val="101820"/>
                </a:solidFill>
                <a:latin typeface="Calibri"/>
              </a:rPr>
              <a:t>REROUTE / DELIVERY</a:t>
            </a:r>
          </a:p>
        </p:txBody>
      </p:sp>
      <p:cxnSp>
        <p:nvCxnSpPr>
          <p:cNvPr id="15402" name="Connector 15401"/>
          <p:cNvCxnSpPr/>
          <p:nvPr/>
        </p:nvCxnSpPr>
        <p:spPr>
          <a:xfrm>
            <a:off x="7703819" y="5074920"/>
            <a:ext cx="0" cy="109728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03" name="Rounded Rectangle 15402"/>
          <p:cNvSpPr/>
          <p:nvPr/>
        </p:nvSpPr>
        <p:spPr>
          <a:xfrm>
            <a:off x="457200" y="5715000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UNKNOWN  ≠  SAFE</a:t>
            </a:r>
          </a:p>
        </p:txBody>
      </p:sp>
      <p:sp>
        <p:nvSpPr>
          <p:cNvPr id="15404" name="TextBox 15403"/>
          <p:cNvSpPr txBox="1"/>
          <p:nvPr/>
        </p:nvSpPr>
        <p:spPr>
          <a:xfrm>
            <a:off x="2606040" y="5687568"/>
            <a:ext cx="576072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101820"/>
                </a:solidFill>
                <a:latin typeface="Calibri"/>
              </a:rPr>
              <a:t>Missing or stale evidence is shown as UNKNOWN and never counted as safe. </a:t>
            </a:r>
            <a:r>
              <a:rPr sz="1150" b="0">
                <a:solidFill>
                  <a:srgbClr val="6B7280"/>
                </a:solidFill>
                <a:latin typeface="Calibri"/>
              </a:rPr>
              <a:t>Routes with unknown hazard data need an authorised reviewer before selection.</a:t>
            </a:r>
          </a:p>
        </p:txBody>
      </p:sp>
      <p:sp>
        <p:nvSpPr>
          <p:cNvPr id="15405" name="Rounded Rectangle 15404"/>
          <p:cNvSpPr/>
          <p:nvPr/>
        </p:nvSpPr>
        <p:spPr>
          <a:xfrm>
            <a:off x="8613648" y="1161288"/>
            <a:ext cx="3256372" cy="503834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406" name="Picture 15405" descr="mgr-evide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41080" y="1188720"/>
            <a:ext cx="3201508" cy="4983480"/>
          </a:xfrm>
          <a:prstGeom prst="rect">
            <a:avLst/>
          </a:prstGeom>
        </p:spPr>
      </p:pic>
      <p:sp>
        <p:nvSpPr>
          <p:cNvPr id="15407" name="Rounded Rectangle 15406"/>
          <p:cNvSpPr/>
          <p:nvPr/>
        </p:nvSpPr>
        <p:spPr>
          <a:xfrm>
            <a:off x="8641080" y="5943600"/>
            <a:ext cx="3201508" cy="256032"/>
          </a:xfrm>
          <a:prstGeom prst="roundRect">
            <a:avLst>
              <a:gd name="adj" fmla="val 50000"/>
            </a:avLst>
          </a:prstGeom>
          <a:solidFill>
            <a:srgbClr val="10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Manager · Check conditions (real screen)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274320" y="274320"/>
            <a:ext cx="1554480" cy="73152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 lIns="36576" rIns="36576"/>
          <a:lstStyle/>
          <a:p>
            <a:pPr algn="ctr"/>
            <a:r>
              <a:rPr sz="1000" b="1">
                <a:solidFill>
                  <a:srgbClr val="101820"/>
                </a:solidFill>
                <a:latin typeface="Calibri"/>
              </a:rPr>
              <a:t>NER-AI LOGISTICS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11480" y="1060704"/>
            <a:ext cx="7772400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6B7280"/>
                </a:solidFill>
                <a:latin typeface="Calibri"/>
              </a:rPr>
              <a:t>VERIFIED DATA  ·  provider adapters with health + freshness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411480" y="1353312"/>
            <a:ext cx="1225296" cy="6217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2" name="TextBox 17411"/>
          <p:cNvSpPr txBox="1"/>
          <p:nvPr/>
        </p:nvSpPr>
        <p:spPr>
          <a:xfrm>
            <a:off x="502920" y="1399032"/>
            <a:ext cx="1042416" cy="53035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01820"/>
                </a:solidFill>
                <a:latin typeface="Calibri"/>
              </a:rPr>
              <a:t>WEATHER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Calibri"/>
              </a:rPr>
              <a:t>Open-Meteo · MET Norway</a:t>
            </a:r>
          </a:p>
        </p:txBody>
      </p:sp>
      <p:cxnSp>
        <p:nvCxnSpPr>
          <p:cNvPr id="17413" name="Connector 17412"/>
          <p:cNvCxnSpPr/>
          <p:nvPr/>
        </p:nvCxnSpPr>
        <p:spPr>
          <a:xfrm>
            <a:off x="1024128" y="1993391"/>
            <a:ext cx="0" cy="201169"/>
          </a:xfrm>
          <a:prstGeom prst="line">
            <a:avLst/>
          </a:prstGeom>
          <a:ln w="15875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4" name="Rounded Rectangle 17413"/>
          <p:cNvSpPr/>
          <p:nvPr/>
        </p:nvSpPr>
        <p:spPr>
          <a:xfrm>
            <a:off x="1728216" y="1353312"/>
            <a:ext cx="1225296" cy="6217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5" name="TextBox 17414"/>
          <p:cNvSpPr txBox="1"/>
          <p:nvPr/>
        </p:nvSpPr>
        <p:spPr>
          <a:xfrm>
            <a:off x="1819656" y="1399032"/>
            <a:ext cx="1042416" cy="53035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01820"/>
                </a:solidFill>
                <a:latin typeface="Calibri"/>
              </a:rPr>
              <a:t>TERRAIN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Calibri"/>
              </a:rPr>
              <a:t>Copernicus DEM · OpenTopoData</a:t>
            </a:r>
          </a:p>
        </p:txBody>
      </p:sp>
      <p:cxnSp>
        <p:nvCxnSpPr>
          <p:cNvPr id="17416" name="Connector 17415"/>
          <p:cNvCxnSpPr/>
          <p:nvPr/>
        </p:nvCxnSpPr>
        <p:spPr>
          <a:xfrm>
            <a:off x="2340864" y="1993391"/>
            <a:ext cx="0" cy="201169"/>
          </a:xfrm>
          <a:prstGeom prst="line">
            <a:avLst/>
          </a:prstGeom>
          <a:ln w="15875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7" name="Rounded Rectangle 17416"/>
          <p:cNvSpPr/>
          <p:nvPr/>
        </p:nvSpPr>
        <p:spPr>
          <a:xfrm>
            <a:off x="3044952" y="1353312"/>
            <a:ext cx="1225296" cy="6217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8" name="TextBox 17417"/>
          <p:cNvSpPr txBox="1"/>
          <p:nvPr/>
        </p:nvSpPr>
        <p:spPr>
          <a:xfrm>
            <a:off x="3136392" y="1399032"/>
            <a:ext cx="1042416" cy="53035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01820"/>
                </a:solidFill>
                <a:latin typeface="Calibri"/>
              </a:rPr>
              <a:t>WARNINGS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Calibri"/>
              </a:rPr>
              <a:t>NDMA SACHET (CAP)</a:t>
            </a:r>
          </a:p>
        </p:txBody>
      </p:sp>
      <p:cxnSp>
        <p:nvCxnSpPr>
          <p:cNvPr id="17419" name="Connector 17418"/>
          <p:cNvCxnSpPr/>
          <p:nvPr/>
        </p:nvCxnSpPr>
        <p:spPr>
          <a:xfrm>
            <a:off x="3657600" y="1993391"/>
            <a:ext cx="0" cy="201169"/>
          </a:xfrm>
          <a:prstGeom prst="line">
            <a:avLst/>
          </a:prstGeom>
          <a:ln w="15875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0" name="Rounded Rectangle 17419"/>
          <p:cNvSpPr/>
          <p:nvPr/>
        </p:nvSpPr>
        <p:spPr>
          <a:xfrm>
            <a:off x="4361688" y="1353312"/>
            <a:ext cx="1225296" cy="6217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1" name="TextBox 17420"/>
          <p:cNvSpPr txBox="1"/>
          <p:nvPr/>
        </p:nvSpPr>
        <p:spPr>
          <a:xfrm>
            <a:off x="4453128" y="1399032"/>
            <a:ext cx="1042416" cy="53035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01820"/>
                </a:solidFill>
                <a:latin typeface="Calibri"/>
              </a:rPr>
              <a:t>FLOOD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Calibri"/>
              </a:rPr>
              <a:t>GloFAS</a:t>
            </a:r>
          </a:p>
        </p:txBody>
      </p:sp>
      <p:cxnSp>
        <p:nvCxnSpPr>
          <p:cNvPr id="17422" name="Connector 17421"/>
          <p:cNvCxnSpPr/>
          <p:nvPr/>
        </p:nvCxnSpPr>
        <p:spPr>
          <a:xfrm>
            <a:off x="4974336" y="1993391"/>
            <a:ext cx="0" cy="201169"/>
          </a:xfrm>
          <a:prstGeom prst="line">
            <a:avLst/>
          </a:prstGeom>
          <a:ln w="15875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3" name="Rounded Rectangle 17422"/>
          <p:cNvSpPr/>
          <p:nvPr/>
        </p:nvSpPr>
        <p:spPr>
          <a:xfrm>
            <a:off x="5678424" y="1353312"/>
            <a:ext cx="1225296" cy="6217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4" name="TextBox 17423"/>
          <p:cNvSpPr txBox="1"/>
          <p:nvPr/>
        </p:nvSpPr>
        <p:spPr>
          <a:xfrm>
            <a:off x="5769864" y="1399032"/>
            <a:ext cx="1042416" cy="53035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01820"/>
                </a:solidFill>
                <a:latin typeface="Calibri"/>
              </a:rPr>
              <a:t>LANDSLIDE HISTORY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Calibri"/>
              </a:rPr>
              <a:t>NASA GLC 2007–17</a:t>
            </a:r>
          </a:p>
        </p:txBody>
      </p:sp>
      <p:cxnSp>
        <p:nvCxnSpPr>
          <p:cNvPr id="17425" name="Connector 17424"/>
          <p:cNvCxnSpPr/>
          <p:nvPr/>
        </p:nvCxnSpPr>
        <p:spPr>
          <a:xfrm>
            <a:off x="6291072" y="1993391"/>
            <a:ext cx="0" cy="201169"/>
          </a:xfrm>
          <a:prstGeom prst="line">
            <a:avLst/>
          </a:prstGeom>
          <a:ln w="15875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6" name="Rounded Rectangle 17425"/>
          <p:cNvSpPr/>
          <p:nvPr/>
        </p:nvSpPr>
        <p:spPr>
          <a:xfrm>
            <a:off x="6995160" y="1353312"/>
            <a:ext cx="1225296" cy="6217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7" name="TextBox 17426"/>
          <p:cNvSpPr txBox="1"/>
          <p:nvPr/>
        </p:nvSpPr>
        <p:spPr>
          <a:xfrm>
            <a:off x="7086600" y="1399032"/>
            <a:ext cx="1042416" cy="53035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01820"/>
                </a:solidFill>
                <a:latin typeface="Calibri"/>
              </a:rPr>
              <a:t>TRAFFIC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Calibri"/>
              </a:rPr>
              <a:t>fleet GPS fixes</a:t>
            </a:r>
          </a:p>
        </p:txBody>
      </p:sp>
      <p:cxnSp>
        <p:nvCxnSpPr>
          <p:cNvPr id="17428" name="Connector 17427"/>
          <p:cNvCxnSpPr/>
          <p:nvPr/>
        </p:nvCxnSpPr>
        <p:spPr>
          <a:xfrm>
            <a:off x="7607808" y="1993391"/>
            <a:ext cx="0" cy="201169"/>
          </a:xfrm>
          <a:prstGeom prst="line">
            <a:avLst/>
          </a:prstGeom>
          <a:ln w="15875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9" name="Rounded Rectangle 17428"/>
          <p:cNvSpPr/>
          <p:nvPr/>
        </p:nvSpPr>
        <p:spPr>
          <a:xfrm>
            <a:off x="411480" y="2212848"/>
            <a:ext cx="7808976" cy="566928"/>
          </a:xfrm>
          <a:prstGeom prst="roundRect">
            <a:avLst>
              <a:gd name="adj" fmla="val 12000"/>
            </a:avLst>
          </a:prstGeom>
          <a:solidFill>
            <a:srgbClr val="F7F8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0" name="TextBox 17429"/>
          <p:cNvSpPr txBox="1"/>
          <p:nvPr/>
        </p:nvSpPr>
        <p:spPr>
          <a:xfrm>
            <a:off x="502920" y="2258568"/>
            <a:ext cx="7626096" cy="4754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01820"/>
                </a:solidFill>
                <a:latin typeface="Calibri"/>
              </a:rPr>
              <a:t>FASTAPI BACKEND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PostgreSQL + PostGIS (Supabase) · OSRM routing, alternatives, turn steps · offline trip package · push relay · audit log</a:t>
            </a:r>
          </a:p>
        </p:txBody>
      </p:sp>
      <p:cxnSp>
        <p:nvCxnSpPr>
          <p:cNvPr id="17431" name="Connector 17430"/>
          <p:cNvCxnSpPr/>
          <p:nvPr/>
        </p:nvCxnSpPr>
        <p:spPr>
          <a:xfrm>
            <a:off x="4315968" y="2798064"/>
            <a:ext cx="0" cy="201168"/>
          </a:xfrm>
          <a:prstGeom prst="line">
            <a:avLst/>
          </a:prstGeom>
          <a:ln w="15875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2" name="Rounded Rectangle 17431"/>
          <p:cNvSpPr/>
          <p:nvPr/>
        </p:nvSpPr>
        <p:spPr>
          <a:xfrm>
            <a:off x="411480" y="3017520"/>
            <a:ext cx="7808976" cy="566928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 w="952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3" name="TextBox 17432"/>
          <p:cNvSpPr txBox="1"/>
          <p:nvPr/>
        </p:nvSpPr>
        <p:spPr>
          <a:xfrm>
            <a:off x="502920" y="3063239"/>
            <a:ext cx="7626096" cy="47548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DETERMINISTIC RISK POLICY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Calibri"/>
              </a:rPr>
              <a:t>11 factors · reason codes · UNKNOWN ≠ SAFE · reviewer authorisation when hazard data is missing</a:t>
            </a:r>
          </a:p>
        </p:txBody>
      </p:sp>
      <p:cxnSp>
        <p:nvCxnSpPr>
          <p:cNvPr id="17434" name="Connector 17433"/>
          <p:cNvCxnSpPr/>
          <p:nvPr/>
        </p:nvCxnSpPr>
        <p:spPr>
          <a:xfrm>
            <a:off x="4315968" y="3602736"/>
            <a:ext cx="0" cy="201168"/>
          </a:xfrm>
          <a:prstGeom prst="line">
            <a:avLst/>
          </a:prstGeom>
          <a:ln w="15875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5" name="Rounded Rectangle 17434"/>
          <p:cNvSpPr/>
          <p:nvPr/>
        </p:nvSpPr>
        <p:spPr>
          <a:xfrm>
            <a:off x="411480" y="3822191"/>
            <a:ext cx="1849374" cy="384048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CONTINUE</a:t>
            </a:r>
          </a:p>
        </p:txBody>
      </p:sp>
      <p:sp>
        <p:nvSpPr>
          <p:cNvPr id="17436" name="Rounded Rectangle 17435"/>
          <p:cNvSpPr/>
          <p:nvPr/>
        </p:nvSpPr>
        <p:spPr>
          <a:xfrm>
            <a:off x="2398014" y="3822191"/>
            <a:ext cx="1849374" cy="384048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CAUTION</a:t>
            </a:r>
          </a:p>
        </p:txBody>
      </p:sp>
      <p:sp>
        <p:nvSpPr>
          <p:cNvPr id="17437" name="Rounded Rectangle 17436"/>
          <p:cNvSpPr/>
          <p:nvPr/>
        </p:nvSpPr>
        <p:spPr>
          <a:xfrm>
            <a:off x="4384548" y="3822191"/>
            <a:ext cx="1849374" cy="384048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HOLD</a:t>
            </a:r>
          </a:p>
        </p:txBody>
      </p:sp>
      <p:sp>
        <p:nvSpPr>
          <p:cNvPr id="17438" name="Rounded Rectangle 17437"/>
          <p:cNvSpPr/>
          <p:nvPr/>
        </p:nvSpPr>
        <p:spPr>
          <a:xfrm>
            <a:off x="6371082" y="3822191"/>
            <a:ext cx="1849374" cy="384048"/>
          </a:xfrm>
          <a:prstGeom prst="roundRect">
            <a:avLst>
              <a:gd name="adj" fmla="val 50000"/>
            </a:avLst>
          </a:prstGeom>
          <a:solidFill>
            <a:srgbClr val="10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REROUTE</a:t>
            </a:r>
          </a:p>
        </p:txBody>
      </p:sp>
      <p:cxnSp>
        <p:nvCxnSpPr>
          <p:cNvPr id="17439" name="Connector 17438"/>
          <p:cNvCxnSpPr/>
          <p:nvPr/>
        </p:nvCxnSpPr>
        <p:spPr>
          <a:xfrm flipH="1">
            <a:off x="2363724" y="4224528"/>
            <a:ext cx="390448" cy="274320"/>
          </a:xfrm>
          <a:prstGeom prst="line">
            <a:avLst/>
          </a:prstGeom>
          <a:ln w="15875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40" name="Connector 17439"/>
          <p:cNvCxnSpPr/>
          <p:nvPr/>
        </p:nvCxnSpPr>
        <p:spPr>
          <a:xfrm>
            <a:off x="5877763" y="4224528"/>
            <a:ext cx="390449" cy="274320"/>
          </a:xfrm>
          <a:prstGeom prst="line">
            <a:avLst/>
          </a:prstGeom>
          <a:ln w="15875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1" name="Rounded Rectangle 17440"/>
          <p:cNvSpPr/>
          <p:nvPr/>
        </p:nvSpPr>
        <p:spPr>
          <a:xfrm>
            <a:off x="411480" y="4526280"/>
            <a:ext cx="3767328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2" name="Rectangle 17441"/>
          <p:cNvSpPr/>
          <p:nvPr/>
        </p:nvSpPr>
        <p:spPr>
          <a:xfrm>
            <a:off x="411480" y="4599432"/>
            <a:ext cx="54864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3" name="TextBox 17442"/>
          <p:cNvSpPr txBox="1"/>
          <p:nvPr/>
        </p:nvSpPr>
        <p:spPr>
          <a:xfrm>
            <a:off x="539496" y="4572000"/>
            <a:ext cx="3584448" cy="6217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01820"/>
                </a:solidFill>
                <a:latin typeface="Calibri"/>
              </a:rPr>
              <a:t>MANAGER CONSOLE  ·  React + TypeScript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trip → route review → conditions → decision → dispatch → reroute review; manager accounts only</a:t>
            </a:r>
          </a:p>
        </p:txBody>
      </p:sp>
      <p:sp>
        <p:nvSpPr>
          <p:cNvPr id="17444" name="Rounded Rectangle 17443"/>
          <p:cNvSpPr/>
          <p:nvPr/>
        </p:nvSpPr>
        <p:spPr>
          <a:xfrm>
            <a:off x="4453128" y="4526280"/>
            <a:ext cx="3767328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5" name="Rectangle 17444"/>
          <p:cNvSpPr/>
          <p:nvPr/>
        </p:nvSpPr>
        <p:spPr>
          <a:xfrm>
            <a:off x="4453128" y="4599432"/>
            <a:ext cx="54864" cy="56692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6" name="TextBox 17445"/>
          <p:cNvSpPr txBox="1"/>
          <p:nvPr/>
        </p:nvSpPr>
        <p:spPr>
          <a:xfrm>
            <a:off x="4581144" y="4572000"/>
            <a:ext cx="3584448" cy="6217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01820"/>
                </a:solidFill>
                <a:latin typeface="Calibri"/>
              </a:rPr>
              <a:t>DRIVER APP  ·  React Native / Expo (Android)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one login, server-decided role · truck check · GPS navigation · danger cards · 23 languages · offline package</a:t>
            </a:r>
          </a:p>
        </p:txBody>
      </p:sp>
      <p:sp>
        <p:nvSpPr>
          <p:cNvPr id="17447" name="TextBox 17446"/>
          <p:cNvSpPr txBox="1"/>
          <p:nvPr/>
        </p:nvSpPr>
        <p:spPr>
          <a:xfrm>
            <a:off x="411480" y="5413248"/>
            <a:ext cx="7808976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6B7280"/>
                </a:solidFill>
                <a:latin typeface="Calibri"/>
              </a:rPr>
              <a:t>STACK  </a:t>
            </a:r>
            <a:r>
              <a:rPr sz="1050" b="0">
                <a:solidFill>
                  <a:srgbClr val="101820"/>
                </a:solidFill>
                <a:latin typeface="Calibri"/>
              </a:rPr>
              <a:t>FastAPI · PostgreSQL / PostGIS (Supabase) · React · React Native / Expo · OSRM · OpenStreetMap · Gemini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6B7280"/>
                </a:solidFill>
                <a:latin typeface="Calibri"/>
              </a:rPr>
              <a:t>EVIDENCE  </a:t>
            </a:r>
            <a:r>
              <a:rPr sz="1050" b="0">
                <a:solidFill>
                  <a:srgbClr val="101820"/>
                </a:solidFill>
                <a:latin typeface="Calibri"/>
              </a:rPr>
              <a:t>Open-Meteo / MET Norway · NDMA SACHET · GloFAS · NASA historical landslides · OpenTopoData / Copernicus DEM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6B7280"/>
                </a:solidFill>
                <a:latin typeface="Calibri"/>
              </a:rPr>
              <a:t>METHOD  </a:t>
            </a:r>
            <a:r>
              <a:rPr sz="1050" b="0">
                <a:solidFill>
                  <a:srgbClr val="101820"/>
                </a:solidFill>
                <a:latin typeface="Calibri"/>
              </a:rPr>
              <a:t>plan → score evidence → decide → dispatch → track (60 s route-ahead worker) → reassess → human reroute → deliver</a:t>
            </a:r>
          </a:p>
        </p:txBody>
      </p:sp>
      <p:sp>
        <p:nvSpPr>
          <p:cNvPr id="17448" name="Rounded Rectangle 17447"/>
          <p:cNvSpPr/>
          <p:nvPr/>
        </p:nvSpPr>
        <p:spPr>
          <a:xfrm>
            <a:off x="8549640" y="1078992"/>
            <a:ext cx="3291840" cy="5138928"/>
          </a:xfrm>
          <a:prstGeom prst="roundRect">
            <a:avLst>
              <a:gd name="adj" fmla="val 12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9" name="TextBox 17448"/>
          <p:cNvSpPr txBox="1"/>
          <p:nvPr/>
        </p:nvSpPr>
        <p:spPr>
          <a:xfrm>
            <a:off x="8686800" y="1170432"/>
            <a:ext cx="3017520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6B7280"/>
                </a:solidFill>
                <a:latin typeface="Calibri"/>
              </a:rPr>
              <a:t>AI ARCHITECTURE — WHO DECIDES</a:t>
            </a:r>
          </a:p>
        </p:txBody>
      </p:sp>
      <p:sp>
        <p:nvSpPr>
          <p:cNvPr id="17450" name="Rectangle 17449"/>
          <p:cNvSpPr/>
          <p:nvPr/>
        </p:nvSpPr>
        <p:spPr>
          <a:xfrm>
            <a:off x="8686800" y="1508760"/>
            <a:ext cx="64008" cy="65836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1" name="TextBox 17450"/>
          <p:cNvSpPr txBox="1"/>
          <p:nvPr/>
        </p:nvSpPr>
        <p:spPr>
          <a:xfrm>
            <a:off x="8842248" y="1490472"/>
            <a:ext cx="283464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01820"/>
                </a:solidFill>
                <a:latin typeface="Calibri"/>
              </a:rPr>
              <a:t>DETERMINISTIC SAFETY ENGINE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Calibri"/>
              </a:rPr>
              <a:t>makes every operational decision</a:t>
            </a:r>
          </a:p>
        </p:txBody>
      </p:sp>
      <p:sp>
        <p:nvSpPr>
          <p:cNvPr id="17452" name="Rectangle 17451"/>
          <p:cNvSpPr/>
          <p:nvPr/>
        </p:nvSpPr>
        <p:spPr>
          <a:xfrm>
            <a:off x="8686800" y="2350008"/>
            <a:ext cx="64008" cy="65836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3" name="TextBox 17452"/>
          <p:cNvSpPr txBox="1"/>
          <p:nvPr/>
        </p:nvSpPr>
        <p:spPr>
          <a:xfrm>
            <a:off x="8842248" y="2331720"/>
            <a:ext cx="283464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01820"/>
                </a:solidFill>
                <a:latin typeface="Calibri"/>
              </a:rPr>
              <a:t>AI / LLM  (Gemini, OpenRouter fallback)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Calibri"/>
              </a:rPr>
              <a:t>explains and assists in the driver's language — never decides</a:t>
            </a:r>
          </a:p>
        </p:txBody>
      </p:sp>
      <p:sp>
        <p:nvSpPr>
          <p:cNvPr id="17454" name="Rectangle 17453"/>
          <p:cNvSpPr/>
          <p:nvPr/>
        </p:nvSpPr>
        <p:spPr>
          <a:xfrm>
            <a:off x="8686800" y="3191256"/>
            <a:ext cx="64008" cy="658368"/>
          </a:xfrm>
          <a:prstGeom prst="rect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5" name="TextBox 17454"/>
          <p:cNvSpPr txBox="1"/>
          <p:nvPr/>
        </p:nvSpPr>
        <p:spPr>
          <a:xfrm>
            <a:off x="8842248" y="3172968"/>
            <a:ext cx="283464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01820"/>
                </a:solidFill>
                <a:latin typeface="Calibri"/>
              </a:rPr>
              <a:t>EXPERIMENTAL ML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Calibri"/>
              </a:rPr>
              <a:t>research channel only; held out of routing by a validation gate</a:t>
            </a:r>
          </a:p>
        </p:txBody>
      </p:sp>
      <p:cxnSp>
        <p:nvCxnSpPr>
          <p:cNvPr id="17456" name="Connector 17455"/>
          <p:cNvCxnSpPr/>
          <p:nvPr/>
        </p:nvCxnSpPr>
        <p:spPr>
          <a:xfrm>
            <a:off x="8686800" y="4023360"/>
            <a:ext cx="3017520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7" name="TextBox 17456"/>
          <p:cNvSpPr txBox="1"/>
          <p:nvPr/>
        </p:nvSpPr>
        <p:spPr>
          <a:xfrm>
            <a:off x="8686800" y="4096512"/>
            <a:ext cx="3017520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6B7280"/>
                </a:solidFill>
                <a:latin typeface="Calibri"/>
              </a:rPr>
              <a:t>GOVERNANCE CHAIN</a:t>
            </a:r>
          </a:p>
        </p:txBody>
      </p:sp>
      <p:sp>
        <p:nvSpPr>
          <p:cNvPr id="17458" name="Rounded Rectangle 17457"/>
          <p:cNvSpPr/>
          <p:nvPr/>
        </p:nvSpPr>
        <p:spPr>
          <a:xfrm>
            <a:off x="8686800" y="4389120"/>
            <a:ext cx="30175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101820"/>
                </a:solidFill>
                <a:latin typeface="Calibri"/>
              </a:rPr>
              <a:t>Verified evidence</a:t>
            </a:r>
          </a:p>
        </p:txBody>
      </p:sp>
      <p:cxnSp>
        <p:nvCxnSpPr>
          <p:cNvPr id="17459" name="Connector 17458"/>
          <p:cNvCxnSpPr/>
          <p:nvPr/>
        </p:nvCxnSpPr>
        <p:spPr>
          <a:xfrm>
            <a:off x="10195560" y="4718304"/>
            <a:ext cx="0" cy="128016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60" name="Rounded Rectangle 17459"/>
          <p:cNvSpPr/>
          <p:nvPr/>
        </p:nvSpPr>
        <p:spPr>
          <a:xfrm>
            <a:off x="8686800" y="4864608"/>
            <a:ext cx="30175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101820"/>
                </a:solidFill>
                <a:latin typeface="Calibri"/>
              </a:rPr>
              <a:t>Deterministic safety policy</a:t>
            </a:r>
          </a:p>
        </p:txBody>
      </p:sp>
      <p:cxnSp>
        <p:nvCxnSpPr>
          <p:cNvPr id="17461" name="Connector 17460"/>
          <p:cNvCxnSpPr/>
          <p:nvPr/>
        </p:nvCxnSpPr>
        <p:spPr>
          <a:xfrm>
            <a:off x="10195560" y="5193792"/>
            <a:ext cx="0" cy="128016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62" name="Rounded Rectangle 17461"/>
          <p:cNvSpPr/>
          <p:nvPr/>
        </p:nvSpPr>
        <p:spPr>
          <a:xfrm>
            <a:off x="8686800" y="5340096"/>
            <a:ext cx="30175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101820"/>
                </a:solidFill>
                <a:latin typeface="Calibri"/>
              </a:rPr>
              <a:t>Manager review</a:t>
            </a:r>
          </a:p>
        </p:txBody>
      </p:sp>
      <p:cxnSp>
        <p:nvCxnSpPr>
          <p:cNvPr id="17463" name="Connector 17462"/>
          <p:cNvCxnSpPr/>
          <p:nvPr/>
        </p:nvCxnSpPr>
        <p:spPr>
          <a:xfrm>
            <a:off x="10195560" y="5669280"/>
            <a:ext cx="0" cy="128016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64" name="Rounded Rectangle 17463"/>
          <p:cNvSpPr/>
          <p:nvPr/>
        </p:nvSpPr>
        <p:spPr>
          <a:xfrm>
            <a:off x="8686800" y="5815583"/>
            <a:ext cx="30175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101820"/>
                </a:solidFill>
                <a:latin typeface="Calibri"/>
              </a:rPr>
              <a:t>Driver action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274320" y="274320"/>
            <a:ext cx="1554480" cy="73152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 lIns="36576" rIns="36576"/>
          <a:lstStyle/>
          <a:p>
            <a:pPr algn="ctr"/>
            <a:r>
              <a:rPr sz="1000" b="1">
                <a:solidFill>
                  <a:srgbClr val="101820"/>
                </a:solidFill>
                <a:latin typeface="Calibri"/>
              </a:rPr>
              <a:t>NER-AI LOGISTICS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57200" y="1051560"/>
            <a:ext cx="777240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1">
                <a:solidFill>
                  <a:srgbClr val="101820"/>
                </a:solidFill>
                <a:latin typeface="Calibri"/>
              </a:rPr>
              <a:t>NOT A CONCEPT — AN END-TO-END WORKING PROTOTYPE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457200" y="1536192"/>
            <a:ext cx="77724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Hosted backend, manager console and the Android app on a physical phone, on real roads.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429768" y="1984248"/>
            <a:ext cx="2789491" cy="4032503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13" name="Picture 17412" descr="mgr-rou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011680"/>
            <a:ext cx="2734627" cy="3977639"/>
          </a:xfrm>
          <a:prstGeom prst="rect">
            <a:avLst/>
          </a:prstGeom>
        </p:spPr>
      </p:pic>
      <p:sp>
        <p:nvSpPr>
          <p:cNvPr id="17414" name="Rounded Rectangle 17413"/>
          <p:cNvSpPr/>
          <p:nvPr/>
        </p:nvSpPr>
        <p:spPr>
          <a:xfrm>
            <a:off x="3392995" y="1984248"/>
            <a:ext cx="1930885" cy="4032503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15" name="Picture 17414" descr="phone-tri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20427" y="2011680"/>
            <a:ext cx="1876021" cy="3977639"/>
          </a:xfrm>
          <a:prstGeom prst="rect">
            <a:avLst/>
          </a:prstGeom>
        </p:spPr>
      </p:pic>
      <p:sp>
        <p:nvSpPr>
          <p:cNvPr id="17416" name="Rounded Rectangle 17415"/>
          <p:cNvSpPr/>
          <p:nvPr/>
        </p:nvSpPr>
        <p:spPr>
          <a:xfrm>
            <a:off x="457200" y="6053328"/>
            <a:ext cx="4839248" cy="256032"/>
          </a:xfrm>
          <a:prstGeom prst="roundRect">
            <a:avLst>
              <a:gd name="adj" fmla="val 50000"/>
            </a:avLst>
          </a:prstGeom>
          <a:solidFill>
            <a:srgbClr val="10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Real screens · manager route review · driver trip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5616488" y="1938528"/>
            <a:ext cx="2743200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6B7280"/>
                </a:solidFill>
                <a:latin typeface="Calibri"/>
              </a:rPr>
              <a:t>WORKING TODAY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5616488" y="2212848"/>
            <a:ext cx="27432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059669"/>
                </a:solidFill>
                <a:latin typeface="Calibri"/>
              </a:rPr>
              <a:t>✓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5872520" y="2212848"/>
            <a:ext cx="2743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101820"/>
                </a:solidFill>
                <a:latin typeface="Calibri"/>
              </a:rPr>
              <a:t>Manager login (manager-only console)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5616488" y="2514600"/>
            <a:ext cx="27432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059669"/>
                </a:solidFill>
                <a:latin typeface="Calibri"/>
              </a:rPr>
              <a:t>✓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5872520" y="2514600"/>
            <a:ext cx="2743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101820"/>
                </a:solidFill>
                <a:latin typeface="Calibri"/>
              </a:rPr>
              <a:t>Driver login · role-aware mobile UI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5616488" y="2816352"/>
            <a:ext cx="27432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059669"/>
                </a:solidFill>
                <a:latin typeface="Calibri"/>
              </a:rPr>
              <a:t>✓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5872520" y="2816352"/>
            <a:ext cx="2743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101820"/>
                </a:solidFill>
                <a:latin typeface="Calibri"/>
              </a:rPr>
              <a:t>Real OSRM route + alternatives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5616488" y="3118104"/>
            <a:ext cx="27432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059669"/>
                </a:solidFill>
                <a:latin typeface="Calibri"/>
              </a:rPr>
              <a:t>✓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5872520" y="3118104"/>
            <a:ext cx="2743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101820"/>
                </a:solidFill>
                <a:latin typeface="Calibri"/>
              </a:rPr>
              <a:t>Terrain, weather, flood, landslide evidence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5616488" y="3419856"/>
            <a:ext cx="27432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059669"/>
                </a:solidFill>
                <a:latin typeface="Calibri"/>
              </a:rPr>
              <a:t>✓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5872520" y="3419856"/>
            <a:ext cx="2743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101820"/>
                </a:solidFill>
                <a:latin typeface="Calibri"/>
              </a:rPr>
              <a:t>Truck photo verification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5616488" y="3721608"/>
            <a:ext cx="27432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059669"/>
                </a:solidFill>
                <a:latin typeface="Calibri"/>
              </a:rPr>
              <a:t>✓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5872520" y="3721608"/>
            <a:ext cx="2743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101820"/>
                </a:solidFill>
                <a:latin typeface="Calibri"/>
              </a:rPr>
              <a:t>Physical GPS navigation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5616488" y="4023360"/>
            <a:ext cx="27432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059669"/>
                </a:solidFill>
                <a:latin typeface="Calibri"/>
              </a:rPr>
              <a:t>✓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5872520" y="4023360"/>
            <a:ext cx="2743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101820"/>
                </a:solidFill>
                <a:latin typeface="Calibri"/>
              </a:rPr>
              <a:t>Off-route detection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5616488" y="4325112"/>
            <a:ext cx="27432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059669"/>
                </a:solidFill>
                <a:latin typeface="Calibri"/>
              </a:rPr>
              <a:t>✓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5872520" y="4325112"/>
            <a:ext cx="2743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101820"/>
                </a:solidFill>
                <a:latin typeface="Calibri"/>
              </a:rPr>
              <a:t>Manager-approved reroute</a:t>
            </a:r>
          </a:p>
        </p:txBody>
      </p:sp>
      <p:sp>
        <p:nvSpPr>
          <p:cNvPr id="17434" name="TextBox 17433"/>
          <p:cNvSpPr txBox="1"/>
          <p:nvPr/>
        </p:nvSpPr>
        <p:spPr>
          <a:xfrm>
            <a:off x="5616488" y="4626864"/>
            <a:ext cx="27432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059669"/>
                </a:solidFill>
                <a:latin typeface="Calibri"/>
              </a:rPr>
              <a:t>✓</a:t>
            </a:r>
          </a:p>
        </p:txBody>
      </p:sp>
      <p:sp>
        <p:nvSpPr>
          <p:cNvPr id="17435" name="TextBox 17434"/>
          <p:cNvSpPr txBox="1"/>
          <p:nvPr/>
        </p:nvSpPr>
        <p:spPr>
          <a:xfrm>
            <a:off x="5872520" y="4626864"/>
            <a:ext cx="2743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101820"/>
                </a:solidFill>
                <a:latin typeface="Calibri"/>
              </a:rPr>
              <a:t>Offline / degraded operation</a:t>
            </a:r>
          </a:p>
        </p:txBody>
      </p:sp>
      <p:sp>
        <p:nvSpPr>
          <p:cNvPr id="17436" name="TextBox 17435"/>
          <p:cNvSpPr txBox="1"/>
          <p:nvPr/>
        </p:nvSpPr>
        <p:spPr>
          <a:xfrm>
            <a:off x="5616488" y="4928616"/>
            <a:ext cx="27432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059669"/>
                </a:solidFill>
                <a:latin typeface="Calibri"/>
              </a:rPr>
              <a:t>✓</a:t>
            </a:r>
          </a:p>
        </p:txBody>
      </p:sp>
      <p:sp>
        <p:nvSpPr>
          <p:cNvPr id="17437" name="TextBox 17436"/>
          <p:cNvSpPr txBox="1"/>
          <p:nvPr/>
        </p:nvSpPr>
        <p:spPr>
          <a:xfrm>
            <a:off x="5872520" y="4928616"/>
            <a:ext cx="2743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101820"/>
                </a:solidFill>
                <a:latin typeface="Calibri"/>
              </a:rPr>
              <a:t>Stops → delivery → fleet available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8771168" y="1938528"/>
            <a:ext cx="2743200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6B7280"/>
                </a:solidFill>
                <a:latin typeface="Calibri"/>
              </a:rPr>
              <a:t>VALIDATION</a:t>
            </a:r>
          </a:p>
        </p:txBody>
      </p:sp>
      <p:sp>
        <p:nvSpPr>
          <p:cNvPr id="17439" name="TextBox 17438"/>
          <p:cNvSpPr txBox="1"/>
          <p:nvPr/>
        </p:nvSpPr>
        <p:spPr>
          <a:xfrm>
            <a:off x="8771168" y="2212848"/>
            <a:ext cx="128016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2563EB"/>
                </a:solidFill>
                <a:latin typeface="Calibri"/>
              </a:rPr>
              <a:t>1138+</a:t>
            </a:r>
          </a:p>
        </p:txBody>
      </p:sp>
      <p:sp>
        <p:nvSpPr>
          <p:cNvPr id="17440" name="TextBox 17439"/>
          <p:cNvSpPr txBox="1"/>
          <p:nvPr/>
        </p:nvSpPr>
        <p:spPr>
          <a:xfrm>
            <a:off x="10005608" y="2212848"/>
            <a:ext cx="173736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101820"/>
                </a:solidFill>
                <a:latin typeface="Calibri"/>
              </a:rPr>
              <a:t>backend tests</a:t>
            </a:r>
          </a:p>
        </p:txBody>
      </p:sp>
      <p:sp>
        <p:nvSpPr>
          <p:cNvPr id="17441" name="TextBox 17440"/>
          <p:cNvSpPr txBox="1"/>
          <p:nvPr/>
        </p:nvSpPr>
        <p:spPr>
          <a:xfrm>
            <a:off x="8771168" y="2743200"/>
            <a:ext cx="128016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2563EB"/>
                </a:solidFill>
                <a:latin typeface="Calibri"/>
              </a:rPr>
              <a:t>621+</a:t>
            </a:r>
          </a:p>
        </p:txBody>
      </p:sp>
      <p:sp>
        <p:nvSpPr>
          <p:cNvPr id="17442" name="TextBox 17441"/>
          <p:cNvSpPr txBox="1"/>
          <p:nvPr/>
        </p:nvSpPr>
        <p:spPr>
          <a:xfrm>
            <a:off x="10005608" y="2743200"/>
            <a:ext cx="173736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101820"/>
                </a:solidFill>
                <a:latin typeface="Calibri"/>
              </a:rPr>
              <a:t>driver-app tests</a:t>
            </a:r>
          </a:p>
        </p:txBody>
      </p:sp>
      <p:sp>
        <p:nvSpPr>
          <p:cNvPr id="17443" name="TextBox 17442"/>
          <p:cNvSpPr txBox="1"/>
          <p:nvPr/>
        </p:nvSpPr>
        <p:spPr>
          <a:xfrm>
            <a:off x="8771168" y="3273552"/>
            <a:ext cx="128016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2563EB"/>
                </a:solidFill>
                <a:latin typeface="Calibri"/>
              </a:rPr>
              <a:t>170+</a:t>
            </a:r>
          </a:p>
        </p:txBody>
      </p:sp>
      <p:sp>
        <p:nvSpPr>
          <p:cNvPr id="17444" name="TextBox 17443"/>
          <p:cNvSpPr txBox="1"/>
          <p:nvPr/>
        </p:nvSpPr>
        <p:spPr>
          <a:xfrm>
            <a:off x="10005608" y="3273552"/>
            <a:ext cx="173736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101820"/>
                </a:solidFill>
                <a:latin typeface="Calibri"/>
              </a:rPr>
              <a:t>manager-web tests</a:t>
            </a:r>
          </a:p>
        </p:txBody>
      </p:sp>
      <p:sp>
        <p:nvSpPr>
          <p:cNvPr id="17445" name="Rounded Rectangle 17444"/>
          <p:cNvSpPr/>
          <p:nvPr/>
        </p:nvSpPr>
        <p:spPr>
          <a:xfrm>
            <a:off x="8771168" y="3849624"/>
            <a:ext cx="2880360" cy="347472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PHYSICAL ANDROID · CERTIFIED</a:t>
            </a:r>
          </a:p>
        </p:txBody>
      </p:sp>
      <p:sp>
        <p:nvSpPr>
          <p:cNvPr id="17446" name="TextBox 17445"/>
          <p:cNvSpPr txBox="1"/>
          <p:nvPr/>
        </p:nvSpPr>
        <p:spPr>
          <a:xfrm>
            <a:off x="8771168" y="4261104"/>
            <a:ext cx="292608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6B7280"/>
                </a:solidFill>
                <a:latin typeface="Calibri"/>
              </a:rPr>
              <a:t>Canonical demo  </a:t>
            </a:r>
            <a:r>
              <a:rPr sz="1200" b="1">
                <a:solidFill>
                  <a:srgbClr val="101820"/>
                </a:solidFill>
                <a:latin typeface="Calibri"/>
              </a:rPr>
              <a:t>Guwahati → Shillong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Calibri"/>
              </a:rPr>
              <a:t>≈ 98.8 km real route · 9/9 role steps · 12/12 judge-flow steps on the phone</a:t>
            </a:r>
          </a:p>
        </p:txBody>
      </p:sp>
      <p:cxnSp>
        <p:nvCxnSpPr>
          <p:cNvPr id="17447" name="Connector 17446"/>
          <p:cNvCxnSpPr/>
          <p:nvPr/>
        </p:nvCxnSpPr>
        <p:spPr>
          <a:xfrm>
            <a:off x="5616488" y="5175504"/>
            <a:ext cx="6133552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8" name="TextBox 17447"/>
          <p:cNvSpPr txBox="1"/>
          <p:nvPr/>
        </p:nvSpPr>
        <p:spPr>
          <a:xfrm>
            <a:off x="5616488" y="5230368"/>
            <a:ext cx="3657600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6B7280"/>
                </a:solidFill>
                <a:latin typeface="Calibri"/>
              </a:rPr>
              <a:t>KNOWN LIMITS → MITIGATION</a:t>
            </a:r>
          </a:p>
        </p:txBody>
      </p:sp>
      <p:sp>
        <p:nvSpPr>
          <p:cNvPr id="17449" name="TextBox 17448"/>
          <p:cNvSpPr txBox="1"/>
          <p:nvPr/>
        </p:nvSpPr>
        <p:spPr>
          <a:xfrm>
            <a:off x="5616488" y="5504688"/>
            <a:ext cx="29718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01820"/>
                </a:solidFill>
                <a:latin typeface="Calibri"/>
              </a:rPr>
              <a:t>Render cold start</a:t>
            </a:r>
            <a:r>
              <a:rPr sz="1000" b="0">
                <a:solidFill>
                  <a:srgbClr val="6B7280"/>
                </a:solidFill>
                <a:latin typeface="Calibri"/>
              </a:rPr>
              <a:t>  →  warm /health before the demo</a:t>
            </a:r>
          </a:p>
        </p:txBody>
      </p:sp>
      <p:sp>
        <p:nvSpPr>
          <p:cNvPr id="17450" name="TextBox 17449"/>
          <p:cNvSpPr txBox="1"/>
          <p:nvPr/>
        </p:nvSpPr>
        <p:spPr>
          <a:xfrm>
            <a:off x="5616488" y="5870448"/>
            <a:ext cx="29718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01820"/>
                </a:solidFill>
                <a:latin typeface="Calibri"/>
              </a:rPr>
              <a:t>Provider rate limits</a:t>
            </a:r>
            <a:r>
              <a:rPr sz="1000" b="0">
                <a:solidFill>
                  <a:srgbClr val="6B7280"/>
                </a:solidFill>
                <a:latin typeface="Calibri"/>
              </a:rPr>
              <a:t>  →  cached evidence + explicit UNKNOWN</a:t>
            </a:r>
          </a:p>
        </p:txBody>
      </p:sp>
      <p:sp>
        <p:nvSpPr>
          <p:cNvPr id="17451" name="TextBox 17450"/>
          <p:cNvSpPr txBox="1"/>
          <p:nvPr/>
        </p:nvSpPr>
        <p:spPr>
          <a:xfrm>
            <a:off x="8634008" y="5504688"/>
            <a:ext cx="29718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01820"/>
                </a:solidFill>
                <a:latin typeface="Calibri"/>
              </a:rPr>
              <a:t>Push needs Firebase config</a:t>
            </a:r>
            <a:r>
              <a:rPr sz="1000" b="0">
                <a:solidFill>
                  <a:srgbClr val="6B7280"/>
                </a:solidFill>
                <a:latin typeface="Calibri"/>
              </a:rPr>
              <a:t>  →  in-app safety alerts already work</a:t>
            </a:r>
          </a:p>
        </p:txBody>
      </p:sp>
      <p:sp>
        <p:nvSpPr>
          <p:cNvPr id="17452" name="TextBox 17451"/>
          <p:cNvSpPr txBox="1"/>
          <p:nvPr/>
        </p:nvSpPr>
        <p:spPr>
          <a:xfrm>
            <a:off x="8634008" y="5870448"/>
            <a:ext cx="29718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01820"/>
                </a:solidFill>
                <a:latin typeface="Calibri"/>
              </a:rPr>
              <a:t>Experimental ML</a:t>
            </a:r>
            <a:r>
              <a:rPr sz="1000" b="0">
                <a:solidFill>
                  <a:srgbClr val="6B7280"/>
                </a:solidFill>
                <a:latin typeface="Calibri"/>
              </a:rPr>
              <a:t>  →  outside routing until the gate passes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274320" y="274320"/>
            <a:ext cx="1554480" cy="73152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 lIns="36576" rIns="36576"/>
          <a:lstStyle/>
          <a:p>
            <a:pPr algn="ctr"/>
            <a:r>
              <a:rPr sz="1000" b="1">
                <a:solidFill>
                  <a:srgbClr val="101820"/>
                </a:solidFill>
                <a:latin typeface="Calibri"/>
              </a:rPr>
              <a:t>NER-AI LOGISTICS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57200" y="1051560"/>
            <a:ext cx="7955279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0">
                <a:solidFill>
                  <a:srgbClr val="6B7280"/>
                </a:solidFill>
                <a:latin typeface="Calibri"/>
              </a:rPr>
              <a:t>RASTA AI does not ask only </a:t>
            </a:r>
            <a:r>
              <a:rPr sz="1900" b="1">
                <a:solidFill>
                  <a:srgbClr val="101820"/>
                </a:solidFill>
                <a:latin typeface="Calibri"/>
              </a:rPr>
              <a:t>“Which road is shortest?”</a:t>
            </a:r>
            <a:r>
              <a:rPr sz="1900" b="0">
                <a:solidFill>
                  <a:srgbClr val="6B7280"/>
                </a:solidFill>
                <a:latin typeface="Calibri"/>
              </a:rPr>
              <a:t>  It asks </a:t>
            </a:r>
            <a:r>
              <a:rPr sz="1900" b="1">
                <a:solidFill>
                  <a:srgbClr val="2563EB"/>
                </a:solidFill>
                <a:latin typeface="Calibri"/>
              </a:rPr>
              <a:t>“Can this truck reliably use this corridor now?”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457200" y="2011680"/>
            <a:ext cx="3657600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6B7280"/>
                </a:solidFill>
                <a:latin typeface="Calibri"/>
              </a:rPr>
              <a:t>WHO BENEFITS</a:t>
            </a:r>
          </a:p>
        </p:txBody>
      </p:sp>
      <p:cxnSp>
        <p:nvCxnSpPr>
          <p:cNvPr id="17412" name="Connector 17411"/>
          <p:cNvCxnSpPr/>
          <p:nvPr/>
        </p:nvCxnSpPr>
        <p:spPr>
          <a:xfrm>
            <a:off x="457200" y="2286000"/>
            <a:ext cx="1920240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3" name="TextBox 17412"/>
          <p:cNvSpPr txBox="1"/>
          <p:nvPr/>
        </p:nvSpPr>
        <p:spPr>
          <a:xfrm>
            <a:off x="457200" y="2340864"/>
            <a:ext cx="1920240" cy="11887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1">
                <a:solidFill>
                  <a:srgbClr val="2563EB"/>
                </a:solidFill>
                <a:latin typeface="Calibri"/>
              </a:rPr>
              <a:t>FLEET MANAGERS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50" b="0">
                <a:solidFill>
                  <a:srgbClr val="101820"/>
                </a:solidFill>
                <a:latin typeface="Calibri"/>
              </a:rPr>
              <a:t>Route usability and uncertainty visible before dispatch; auditable decisions.</a:t>
            </a:r>
          </a:p>
        </p:txBody>
      </p:sp>
      <p:cxnSp>
        <p:nvCxnSpPr>
          <p:cNvPr id="17414" name="Connector 17413"/>
          <p:cNvCxnSpPr/>
          <p:nvPr/>
        </p:nvCxnSpPr>
        <p:spPr>
          <a:xfrm>
            <a:off x="2496312" y="2286000"/>
            <a:ext cx="1920240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5" name="TextBox 17414"/>
          <p:cNvSpPr txBox="1"/>
          <p:nvPr/>
        </p:nvSpPr>
        <p:spPr>
          <a:xfrm>
            <a:off x="2496312" y="2340864"/>
            <a:ext cx="1920240" cy="11887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1">
                <a:solidFill>
                  <a:srgbClr val="2563EB"/>
                </a:solidFill>
                <a:latin typeface="Calibri"/>
              </a:rPr>
              <a:t>DRIVERS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50" b="0">
                <a:solidFill>
                  <a:srgbClr val="101820"/>
                </a:solidFill>
                <a:latin typeface="Calibri"/>
              </a:rPr>
              <a:t>Safer navigation, danger context, emergency support, 23 languages.</a:t>
            </a:r>
          </a:p>
        </p:txBody>
      </p:sp>
      <p:cxnSp>
        <p:nvCxnSpPr>
          <p:cNvPr id="17416" name="Connector 17415"/>
          <p:cNvCxnSpPr/>
          <p:nvPr/>
        </p:nvCxnSpPr>
        <p:spPr>
          <a:xfrm>
            <a:off x="4535424" y="2286000"/>
            <a:ext cx="1920240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7" name="TextBox 17416"/>
          <p:cNvSpPr txBox="1"/>
          <p:nvPr/>
        </p:nvSpPr>
        <p:spPr>
          <a:xfrm>
            <a:off x="4535424" y="2340864"/>
            <a:ext cx="1920240" cy="11887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1">
                <a:solidFill>
                  <a:srgbClr val="2563EB"/>
                </a:solidFill>
                <a:latin typeface="Calibri"/>
              </a:rPr>
              <a:t>REMOTE COMMUNITIES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50" b="0">
                <a:solidFill>
                  <a:srgbClr val="101820"/>
                </a:solidFill>
                <a:latin typeface="Calibri"/>
              </a:rPr>
              <a:t>More resilient access to food, medicine, fuel and relief supplies.</a:t>
            </a:r>
          </a:p>
        </p:txBody>
      </p:sp>
      <p:cxnSp>
        <p:nvCxnSpPr>
          <p:cNvPr id="17418" name="Connector 17417"/>
          <p:cNvCxnSpPr/>
          <p:nvPr/>
        </p:nvCxnSpPr>
        <p:spPr>
          <a:xfrm>
            <a:off x="6574536" y="2286000"/>
            <a:ext cx="1920240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9" name="TextBox 17418"/>
          <p:cNvSpPr txBox="1"/>
          <p:nvPr/>
        </p:nvSpPr>
        <p:spPr>
          <a:xfrm>
            <a:off x="6574536" y="2340864"/>
            <a:ext cx="1920240" cy="11887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1">
                <a:solidFill>
                  <a:srgbClr val="2563EB"/>
                </a:solidFill>
                <a:latin typeface="Calibri"/>
              </a:rPr>
              <a:t>GOVERNMENT / OPERATIONS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50" b="0">
                <a:solidFill>
                  <a:srgbClr val="101820"/>
                </a:solidFill>
                <a:latin typeface="Calibri"/>
              </a:rPr>
              <a:t>Auditable route evidence and disruption visibility per corridor.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457200" y="3611880"/>
            <a:ext cx="3657600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6B7280"/>
                </a:solidFill>
                <a:latin typeface="Calibri"/>
              </a:rPr>
              <a:t>DEMONSTRATED TODAY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457200" y="3886200"/>
            <a:ext cx="9144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2563EB"/>
                </a:solidFill>
                <a:latin typeface="Calibri"/>
              </a:rPr>
              <a:t>23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1463040" y="3886200"/>
            <a:ext cx="292608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101820"/>
                </a:solidFill>
                <a:latin typeface="Calibri"/>
              </a:rPr>
              <a:t>selectable languages, explicit fallback status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457200" y="4389120"/>
            <a:ext cx="9144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2563EB"/>
                </a:solidFill>
                <a:latin typeface="Calibri"/>
              </a:rPr>
              <a:t>11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1463040" y="4389120"/>
            <a:ext cx="292608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101820"/>
                </a:solidFill>
                <a:latin typeface="Calibri"/>
              </a:rPr>
              <a:t>factor route-risk assessment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457200" y="4892040"/>
            <a:ext cx="9144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2563EB"/>
                </a:solidFill>
                <a:latin typeface="Calibri"/>
              </a:rPr>
              <a:t>60 s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1463040" y="4892040"/>
            <a:ext cx="292608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101820"/>
                </a:solidFill>
                <a:latin typeface="Calibri"/>
              </a:rPr>
              <a:t>route-ahead coordinator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4480560" y="3886200"/>
            <a:ext cx="9144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2563EB"/>
                </a:solidFill>
                <a:latin typeface="Calibri"/>
              </a:rPr>
              <a:t>12/12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5486400" y="3886200"/>
            <a:ext cx="292608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101820"/>
                </a:solidFill>
                <a:latin typeface="Calibri"/>
              </a:rPr>
              <a:t>judge-flow steps certified on a physical phone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4480560" y="4389120"/>
            <a:ext cx="9144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2563EB"/>
                </a:solidFill>
                <a:latin typeface="Calibri"/>
              </a:rPr>
              <a:t>100 %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5486400" y="4389120"/>
            <a:ext cx="292608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101820"/>
                </a:solidFill>
                <a:latin typeface="Calibri"/>
              </a:rPr>
              <a:t>of reroutes reviewed by a human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4480560" y="4892040"/>
            <a:ext cx="9144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2563EB"/>
                </a:solidFill>
                <a:latin typeface="Calibri"/>
              </a:rPr>
              <a:t>0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5486400" y="4892040"/>
            <a:ext cx="292608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101820"/>
                </a:solidFill>
                <a:latin typeface="Calibri"/>
              </a:rPr>
              <a:t>unknown factors counted as safe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457200" y="5468112"/>
            <a:ext cx="4572000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6B7280"/>
                </a:solidFill>
                <a:latin typeface="Calibri"/>
              </a:rPr>
              <a:t>HUMAN GOVERNANCE — AI HAS NO UNCONTROLLED AUTHORITY</a:t>
            </a:r>
          </a:p>
        </p:txBody>
      </p:sp>
      <p:sp>
        <p:nvSpPr>
          <p:cNvPr id="17434" name="Rounded Rectangle 17433"/>
          <p:cNvSpPr/>
          <p:nvPr/>
        </p:nvSpPr>
        <p:spPr>
          <a:xfrm>
            <a:off x="457200" y="5742432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101820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Verified evidence</a:t>
            </a:r>
          </a:p>
        </p:txBody>
      </p:sp>
      <p:cxnSp>
        <p:nvCxnSpPr>
          <p:cNvPr id="17435" name="Connector 17434"/>
          <p:cNvCxnSpPr/>
          <p:nvPr/>
        </p:nvCxnSpPr>
        <p:spPr>
          <a:xfrm>
            <a:off x="2313432" y="5916168"/>
            <a:ext cx="155448" cy="0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6" name="Rounded Rectangle 17435"/>
          <p:cNvSpPr/>
          <p:nvPr/>
        </p:nvSpPr>
        <p:spPr>
          <a:xfrm>
            <a:off x="2505456" y="5742432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101820"/>
                </a:solidFill>
                <a:latin typeface="Calibri"/>
              </a:rPr>
              <a:t>Deterministic safety policy</a:t>
            </a:r>
          </a:p>
        </p:txBody>
      </p:sp>
      <p:cxnSp>
        <p:nvCxnSpPr>
          <p:cNvPr id="17437" name="Connector 17436"/>
          <p:cNvCxnSpPr/>
          <p:nvPr/>
        </p:nvCxnSpPr>
        <p:spPr>
          <a:xfrm>
            <a:off x="4361688" y="5916168"/>
            <a:ext cx="155448" cy="0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8" name="Rounded Rectangle 17437"/>
          <p:cNvSpPr/>
          <p:nvPr/>
        </p:nvSpPr>
        <p:spPr>
          <a:xfrm>
            <a:off x="4553712" y="5742432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101820"/>
                </a:solidFill>
                <a:latin typeface="Calibri"/>
              </a:rPr>
              <a:t>Manager governance</a:t>
            </a:r>
          </a:p>
        </p:txBody>
      </p:sp>
      <p:cxnSp>
        <p:nvCxnSpPr>
          <p:cNvPr id="17439" name="Connector 17438"/>
          <p:cNvCxnSpPr/>
          <p:nvPr/>
        </p:nvCxnSpPr>
        <p:spPr>
          <a:xfrm>
            <a:off x="6409944" y="5916168"/>
            <a:ext cx="155448" cy="0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0" name="Rounded Rectangle 17439"/>
          <p:cNvSpPr/>
          <p:nvPr/>
        </p:nvSpPr>
        <p:spPr>
          <a:xfrm>
            <a:off x="6601968" y="5742432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101820"/>
                </a:solidFill>
                <a:latin typeface="Calibri"/>
              </a:rPr>
              <a:t>Driver action</a:t>
            </a:r>
          </a:p>
        </p:txBody>
      </p:sp>
      <p:sp>
        <p:nvSpPr>
          <p:cNvPr id="17441" name="TextBox 17440"/>
          <p:cNvSpPr txBox="1"/>
          <p:nvPr/>
        </p:nvSpPr>
        <p:spPr>
          <a:xfrm>
            <a:off x="457200" y="6126480"/>
            <a:ext cx="7955279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Impact is framed on essential logistics — food, medicine, fuel, relief — and on evidence, not on unmeasured savings.</a:t>
            </a:r>
          </a:p>
        </p:txBody>
      </p:sp>
      <p:sp>
        <p:nvSpPr>
          <p:cNvPr id="17442" name="Rounded Rectangle 17441"/>
          <p:cNvSpPr/>
          <p:nvPr/>
        </p:nvSpPr>
        <p:spPr>
          <a:xfrm>
            <a:off x="8887968" y="1115568"/>
            <a:ext cx="2846968" cy="3986783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3" name="Picture 17442" descr="phone-la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5400" y="1143000"/>
            <a:ext cx="2792104" cy="3931920"/>
          </a:xfrm>
          <a:prstGeom prst="rect">
            <a:avLst/>
          </a:prstGeom>
        </p:spPr>
      </p:pic>
      <p:sp>
        <p:nvSpPr>
          <p:cNvPr id="17444" name="Rounded Rectangle 17443"/>
          <p:cNvSpPr/>
          <p:nvPr/>
        </p:nvSpPr>
        <p:spPr>
          <a:xfrm>
            <a:off x="8915400" y="5184648"/>
            <a:ext cx="2792104" cy="256032"/>
          </a:xfrm>
          <a:prstGeom prst="roundRect">
            <a:avLst>
              <a:gd name="adj" fmla="val 50000"/>
            </a:avLst>
          </a:prstGeom>
          <a:solidFill>
            <a:srgbClr val="10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Driver · language selector (real screen)</a:t>
            </a:r>
          </a:p>
        </p:txBody>
      </p:sp>
      <p:sp>
        <p:nvSpPr>
          <p:cNvPr id="17445" name="TextBox 17444"/>
          <p:cNvSpPr txBox="1"/>
          <p:nvPr/>
        </p:nvSpPr>
        <p:spPr>
          <a:xfrm>
            <a:off x="8915400" y="5513831"/>
            <a:ext cx="2792104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23 languages in the selector; each shows its status — Verified, Draft or English fallback — so a driver is never misled.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274320" y="274320"/>
            <a:ext cx="1554480" cy="73152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 lIns="36576" rIns="36576"/>
          <a:lstStyle/>
          <a:p>
            <a:pPr algn="ctr"/>
            <a:r>
              <a:rPr sz="1000" b="1">
                <a:solidFill>
                  <a:srgbClr val="101820"/>
                </a:solidFill>
                <a:latin typeface="Calibri"/>
              </a:rPr>
              <a:t>NER-AI LOGISTICS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57200" y="1078992"/>
            <a:ext cx="4572000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6B7280"/>
                </a:solidFill>
                <a:latin typeface="Calibri"/>
              </a:rPr>
              <a:t>RESEARCH / EVIDENCE SOURCES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457200" y="1371600"/>
            <a:ext cx="5394960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01820"/>
                </a:solidFill>
                <a:latin typeface="Calibri"/>
              </a:rPr>
              <a:t>NASA Global Landslide Catalog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Calibri"/>
              </a:rPr>
              <a:t>historical landslide exposure; inventory 2007–2017, ≤5 km accuracy filter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457200" y="1920240"/>
            <a:ext cx="5394960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01820"/>
                </a:solidFill>
                <a:latin typeface="Calibri"/>
              </a:rPr>
              <a:t>NDMA SACHET (CAP feed)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Calibri"/>
              </a:rPr>
              <a:t>official warnings, polled with freshness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457200" y="2468880"/>
            <a:ext cx="5394960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01820"/>
                </a:solidFill>
                <a:latin typeface="Calibri"/>
              </a:rPr>
              <a:t>GloFAS — Copernicus Emergency Management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Calibri"/>
              </a:rPr>
              <a:t>flood context: river discharge vs 30-day mean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457200" y="3017520"/>
            <a:ext cx="5394960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01820"/>
                </a:solidFill>
                <a:latin typeface="Calibri"/>
              </a:rPr>
              <a:t>Open-Meteo · MET Norway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Calibri"/>
              </a:rPr>
              <a:t>weather forecast along the corridor; ERA5-Land archive for research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457200" y="3566160"/>
            <a:ext cx="5394960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01820"/>
                </a:solidFill>
                <a:latin typeface="Calibri"/>
              </a:rPr>
              <a:t>Copernicus DEM GLO-90 · OpenTopoData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Calibri"/>
              </a:rPr>
              <a:t>terrain profile, climb, steep segments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457200" y="4114800"/>
            <a:ext cx="5394960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01820"/>
                </a:solidFill>
                <a:latin typeface="Calibri"/>
              </a:rPr>
              <a:t>OpenStreetMap · OSRM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Calibri"/>
              </a:rPr>
              <a:t>roads, route alternatives, turn steps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457200" y="4663440"/>
            <a:ext cx="5394960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01820"/>
                </a:solidFill>
                <a:latin typeface="Calibri"/>
              </a:rPr>
              <a:t>MDoNER problem statement SIH26002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Calibri"/>
              </a:rPr>
              <a:t>AI-based smart logistics and accessibility intelligence for the NER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6263640" y="1078992"/>
            <a:ext cx="5486400" cy="3886200"/>
          </a:xfrm>
          <a:prstGeom prst="roundRect">
            <a:avLst>
              <a:gd name="adj" fmla="val 12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9" name="TextBox 17418"/>
          <p:cNvSpPr txBox="1"/>
          <p:nvPr/>
        </p:nvSpPr>
        <p:spPr>
          <a:xfrm>
            <a:off x="6446520" y="1170432"/>
            <a:ext cx="4572000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6B7280"/>
                </a:solidFill>
                <a:latin typeface="Calibri"/>
              </a:rPr>
              <a:t>MODEL VALIDATION — EXPERIMENTAL LANDSLIDE MODEL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6446520" y="1444752"/>
            <a:ext cx="5120640" cy="56692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101820"/>
                </a:solidFill>
                <a:latin typeface="Calibri"/>
              </a:rPr>
              <a:t>Logistic regression on NASA GLC events + ERA5-Land rain + DEM slope. </a:t>
            </a:r>
            <a:r>
              <a:rPr sz="1100" b="0">
                <a:solidFill>
                  <a:srgbClr val="6B7280"/>
                </a:solidFill>
                <a:latin typeface="Calibri"/>
              </a:rPr>
              <a:t>India-wide training (605 events, 3,025 rows) · NER geographic holdout (770 days, 154 events) · temporal split ≤2014 / 2015–17 · threshold chosen on train only.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6446520" y="2103120"/>
            <a:ext cx="100584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101820"/>
                </a:solidFill>
                <a:latin typeface="Calibri"/>
              </a:rPr>
              <a:t>0.95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6446520" y="2542032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Calibri"/>
              </a:rPr>
              <a:t>Recall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7470648" y="2103120"/>
            <a:ext cx="100584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101820"/>
                </a:solidFill>
                <a:latin typeface="Calibri"/>
              </a:rPr>
              <a:t>0.32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7470648" y="2542032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Calibri"/>
              </a:rPr>
              <a:t>Precision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8494776" y="2103120"/>
            <a:ext cx="100584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101820"/>
                </a:solidFill>
                <a:latin typeface="Calibri"/>
              </a:rPr>
              <a:t>0.55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8494776" y="2542032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Calibri"/>
              </a:rPr>
              <a:t>PR-AUC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9518904" y="2103120"/>
            <a:ext cx="100584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101820"/>
                </a:solidFill>
                <a:latin typeface="Calibri"/>
              </a:rPr>
              <a:t>0.83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9518904" y="2542032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Calibri"/>
              </a:rPr>
              <a:t>ROC-AUC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10543032" y="2103120"/>
            <a:ext cx="100584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101820"/>
                </a:solidFill>
                <a:latin typeface="Calibri"/>
              </a:rPr>
              <a:t>0.50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10543032" y="2542032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Calibri"/>
              </a:rPr>
              <a:t>FPR</a:t>
            </a:r>
          </a:p>
        </p:txBody>
      </p:sp>
      <p:sp>
        <p:nvSpPr>
          <p:cNvPr id="17431" name="Rounded Rectangle 17430"/>
          <p:cNvSpPr/>
          <p:nvPr/>
        </p:nvSpPr>
        <p:spPr>
          <a:xfrm>
            <a:off x="6446520" y="2926080"/>
            <a:ext cx="2743200" cy="347472"/>
          </a:xfrm>
          <a:prstGeom prst="roundRect">
            <a:avLst>
              <a:gd name="adj" fmla="val 50000"/>
            </a:avLst>
          </a:prstGeom>
          <a:solidFill>
            <a:srgbClr val="10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EXPERIMENTAL — NOT DEPLOYED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9326880" y="2926080"/>
            <a:ext cx="2286000" cy="34747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rule baseline: recall 0.25 @ FPR 0.03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6446520" y="3401568"/>
            <a:ext cx="5120640" cy="1737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Validation before automation. </a:t>
            </a:r>
            <a:r>
              <a:rPr sz="1300" b="0">
                <a:solidFill>
                  <a:srgbClr val="101820"/>
                </a:solidFill>
                <a:latin typeface="Calibri"/>
              </a:rPr>
              <a:t>Experimental ML stays outside production until it meets the required geographic reliability and false-positive thresholds.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0">
                <a:solidFill>
                  <a:srgbClr val="6B7280"/>
                </a:solidFill>
                <a:latin typeface="Calibri"/>
              </a:rPr>
              <a:t>The false-positive floor is a data-design limit (same-site quiet-day negatives; false positives are wet monsoon days), measured in a full error analysis. Next data: sub-daily rain intensity, soil moisture, cross-site negatives.</a:t>
            </a:r>
          </a:p>
        </p:txBody>
      </p:sp>
      <p:cxnSp>
        <p:nvCxnSpPr>
          <p:cNvPr id="17434" name="Connector 17433"/>
          <p:cNvCxnSpPr/>
          <p:nvPr/>
        </p:nvCxnSpPr>
        <p:spPr>
          <a:xfrm>
            <a:off x="457200" y="5413248"/>
            <a:ext cx="11292840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5" name="TextBox 17434"/>
          <p:cNvSpPr txBox="1"/>
          <p:nvPr/>
        </p:nvSpPr>
        <p:spPr>
          <a:xfrm>
            <a:off x="457200" y="5468112"/>
            <a:ext cx="2743200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6B7280"/>
                </a:solidFill>
                <a:latin typeface="Calibri"/>
              </a:rPr>
              <a:t>REFERENCES</a:t>
            </a:r>
          </a:p>
        </p:txBody>
      </p:sp>
      <p:sp>
        <p:nvSpPr>
          <p:cNvPr id="17436" name="TextBox 17435"/>
          <p:cNvSpPr txBox="1"/>
          <p:nvPr/>
        </p:nvSpPr>
        <p:spPr>
          <a:xfrm>
            <a:off x="457200" y="5715000"/>
            <a:ext cx="112928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gpm.nasa.gov/landslides (NASA GLC)  ·  sachet.ndma.gov.in  ·  global-flood.emergency.copernicus.eu (GloFAS)  ·  open-meteo.com · api.met.no  ·  opentopodata.org · Copernicus DEM  ·  project-osrm.org · openstreetmap.org  ·  github.com/nxtlucifer/ner-ai-logistics (repository, tests, model registry, error analysis)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