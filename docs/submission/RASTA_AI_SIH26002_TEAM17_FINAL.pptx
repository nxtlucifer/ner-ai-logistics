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Judge answer on ML: We trained and evaluated a landslide-hazard model, but deliberately keep it outside production routing because its geographic false-positive rate is still too high (recall 0.95 at FPR 0.50 on the NER holdout). This prevents unreliable ML from making safety-critical decisions. Tests: backend 1138 passed / 5 skipped, driver 621, manager 170 (14 Sep 2026, commit 0b89ddf). Physical certification: docs/terrain/HANDOFF.md section 9; judge flow 12/12, role flow 9/9 on APK 1.0.18.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Full references:</a:t>
            </a:r>
          </a:p>
          <a:p>
            <a:r>
              <a:t>NASA Global Landslide Catalog — https://gpm.nasa.gov/landslides/ (data via https://data.nasa.gov)</a:t>
            </a:r>
          </a:p>
          <a:p>
            <a:r>
              <a:t>NDMA SACHET CAP alerts — https://sachet.ndma.gov.in</a:t>
            </a:r>
          </a:p>
          <a:p>
            <a:r>
              <a:t>GloFAS (Copernicus Emergency Management Service) — https://global-flood.emergency.copernicus.eu ; flood API via https://open-meteo.com/en/docs/flood-api</a:t>
            </a:r>
          </a:p>
          <a:p>
            <a:r>
              <a:t>Open-Meteo forecast / ERA5-Land archive — https://open-meteo.com ; MET Norway Locationforecast — https://api.met.no</a:t>
            </a:r>
          </a:p>
          <a:p>
            <a:r>
              <a:t>OpenTopoData — https://www.opentopodata.org ; Copernicus DEM GLO-90 — https://spacedata.copernicus.eu</a:t>
            </a:r>
          </a:p>
          <a:p>
            <a:r>
              <a:t>OSRM — https://project-osrm.org ; OpenStreetMap — https://www.openstreetmap.org</a:t>
            </a:r>
          </a:p>
          <a:p>
            <a:r>
              <a:t>Repository — https://github.com/nxtlucifer/ner-ai-logistics (docs/MODEL_REGISTRY.md, docs/HAZARD_ERROR_ANALYSIS.md, docs/AI_INVENTORY.md)</a:t>
            </a:r>
          </a:p>
          <a:p>
            <a:r>
              <a:t>Model metrics (experimental, not deployed): NER holdout n=770, 154 events; recall 0.95, precision 0.32, F1 0.48, PR-AUC 0.55, ROC-AUC 0.83, FPR 0.50, Brier 0.12; temporal split recall 0.90 @ FPR 0.38.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7" name="Picture 36" descr="bran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7008"/>
            <a:ext cx="868680" cy="8686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463040" y="1170432"/>
            <a:ext cx="54864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101820"/>
                </a:solidFill>
                <a:latin typeface="Calibri"/>
              </a:rPr>
              <a:t>RASTA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1328" y="1755648"/>
            <a:ext cx="585216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Route Intelligence for Essential-Supply Logistics in North Eastern India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2468880"/>
            <a:ext cx="2148840" cy="640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SIH26002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2487168"/>
            <a:ext cx="3657600" cy="6035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Problem Statement 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01820"/>
                </a:solidFill>
                <a:latin typeface="Calibri"/>
              </a:rPr>
              <a:t>MDoNER · Smart Automation · Software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3364992"/>
            <a:ext cx="20116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PROBLEM STATEMENT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3337560"/>
            <a:ext cx="402336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01820"/>
                </a:solidFill>
                <a:latin typeface="Calibri"/>
              </a:rPr>
              <a:t>SIH26002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3685031"/>
            <a:ext cx="6035039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2920" y="3739896"/>
            <a:ext cx="201168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PROBLEM STATEMENT TITLE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3712463"/>
            <a:ext cx="402336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01820"/>
                </a:solidFill>
                <a:latin typeface="Calibri"/>
              </a:rPr>
              <a:t>AI-Based Smart Logistics and Accessibility Intelligence Platform for North Eastern Region (NER)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4288536"/>
            <a:ext cx="6035039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4343400"/>
            <a:ext cx="20116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THEME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4315968"/>
            <a:ext cx="402336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01820"/>
                </a:solidFill>
                <a:latin typeface="Calibri"/>
              </a:rPr>
              <a:t>Smart Automation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4663440"/>
            <a:ext cx="6035039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4718304"/>
            <a:ext cx="20116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PS CATEGORY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14600" y="4690872"/>
            <a:ext cx="402336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101820"/>
                </a:solidFill>
                <a:latin typeface="Calibri"/>
              </a:rPr>
              <a:t>Software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5038344"/>
            <a:ext cx="6035039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5093208"/>
            <a:ext cx="20116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TEAM 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5065776"/>
            <a:ext cx="402336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01820"/>
                </a:solidFill>
                <a:latin typeface="Calibri"/>
              </a:rPr>
              <a:t>17  (internal group no.)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2920" y="5413248"/>
            <a:ext cx="6035039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2920" y="5468112"/>
            <a:ext cx="20116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TEAM NAME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14600" y="5440680"/>
            <a:ext cx="402336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01820"/>
                </a:solidFill>
                <a:latin typeface="Calibri"/>
              </a:rPr>
              <a:t>NER-AI LOGISTICS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02920" y="5788152"/>
            <a:ext cx="6035039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02920" y="5943600"/>
            <a:ext cx="6126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059669"/>
                </a:solidFill>
                <a:latin typeface="Calibri"/>
              </a:rPr>
              <a:t>End-to-end working prototype · physical-phone validated · live demo corridor Guwahati → Shillong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93407" y="2487168"/>
            <a:ext cx="2380869" cy="3438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2" name="Picture 61" descr="mgr-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3" y="2514600"/>
            <a:ext cx="2326005" cy="354787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9299448" y="1161288"/>
            <a:ext cx="2319378" cy="5084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4" name="Picture 63" descr="07-navig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188720"/>
            <a:ext cx="2264514" cy="5029200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6720840" y="6254496"/>
            <a:ext cx="4937760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route review · Driver navigation — real screens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RASTA AI — ROUTE INTELLIGENCE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rIns="36576" rtlCol="0" anchor="ctr"/>
          <a:lstStyle/>
          <a:p>
            <a:pPr algn="ctr"/>
            <a:r>
              <a:rPr sz="1000" b="1">
                <a:solidFill>
                  <a:srgbClr val="1018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097280"/>
            <a:ext cx="36576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PROPOSED SOLUTION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57200" y="1325880"/>
            <a:ext cx="7955279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01820"/>
                </a:solidFill>
                <a:latin typeface="Calibri"/>
              </a:rPr>
              <a:t>NOT THE SHORTEST ROAD. </a:t>
            </a:r>
            <a:r>
              <a:rPr sz="2400" b="1">
                <a:solidFill>
                  <a:srgbClr val="2563EB"/>
                </a:solidFill>
                <a:latin typeface="Calibri"/>
              </a:rPr>
              <a:t>THE ROAD THAT IS OPERATIONALLY USABLE NOW.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2157984"/>
            <a:ext cx="7955279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NER corridors: mountain terrain · monsoon · landslides · floods · road disruption · weak connectivity · stale evidence. </a:t>
            </a:r>
            <a:r>
              <a:rPr sz="1150" b="1">
                <a:solidFill>
                  <a:srgbClr val="DC2626"/>
                </a:solidFill>
                <a:latin typeface="Calibri"/>
              </a:rPr>
              <a:t>A shortest-path router still sends the truck.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57200" y="2606040"/>
            <a:ext cx="23774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A NORMAL ROUTER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57200" y="28803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Origin</a:t>
            </a:r>
          </a:p>
        </p:txBody>
      </p:sp>
      <p:cxnSp>
        <p:nvCxnSpPr>
          <p:cNvPr id="15367" name="Connector 15366"/>
          <p:cNvCxnSpPr/>
          <p:nvPr/>
        </p:nvCxnSpPr>
        <p:spPr>
          <a:xfrm>
            <a:off x="1554480" y="3182111"/>
            <a:ext cx="0" cy="256033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8" name="Rounded Rectangle 15367"/>
          <p:cNvSpPr/>
          <p:nvPr/>
        </p:nvSpPr>
        <p:spPr>
          <a:xfrm>
            <a:off x="457200" y="3447288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Shortest / fastest road</a:t>
            </a:r>
          </a:p>
        </p:txBody>
      </p:sp>
      <p:cxnSp>
        <p:nvCxnSpPr>
          <p:cNvPr id="15369" name="Connector 15368"/>
          <p:cNvCxnSpPr/>
          <p:nvPr/>
        </p:nvCxnSpPr>
        <p:spPr>
          <a:xfrm>
            <a:off x="1554480" y="3749039"/>
            <a:ext cx="0" cy="256033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0" name="Rounded Rectangle 15369"/>
          <p:cNvSpPr/>
          <p:nvPr/>
        </p:nvSpPr>
        <p:spPr>
          <a:xfrm>
            <a:off x="457200" y="4014215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Truck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457200" y="4626864"/>
            <a:ext cx="228600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No terrain, weather, hazard or freshness check.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No governance. No answer when data is missing.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3108960" y="26060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Calibri"/>
              </a:rPr>
              <a:t>RASTA AI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3108960" y="2880360"/>
            <a:ext cx="52578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Origin</a:t>
            </a:r>
          </a:p>
        </p:txBody>
      </p:sp>
      <p:cxnSp>
        <p:nvCxnSpPr>
          <p:cNvPr id="15374" name="Connector 15373"/>
          <p:cNvCxnSpPr/>
          <p:nvPr/>
        </p:nvCxnSpPr>
        <p:spPr>
          <a:xfrm>
            <a:off x="5737860" y="3163823"/>
            <a:ext cx="0" cy="100585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5" name="Rounded Rectangle 15374"/>
          <p:cNvSpPr/>
          <p:nvPr/>
        </p:nvSpPr>
        <p:spPr>
          <a:xfrm>
            <a:off x="3108960" y="3273552"/>
            <a:ext cx="52578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Real route  ·  OSRM road, alternatives, turn steps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3108960" y="3666744"/>
            <a:ext cx="5257800" cy="896112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77" name="TextBox 15376"/>
          <p:cNvSpPr txBox="1"/>
          <p:nvPr/>
        </p:nvSpPr>
        <p:spPr>
          <a:xfrm>
            <a:off x="3218688" y="3712463"/>
            <a:ext cx="5074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01820"/>
                </a:solidFill>
                <a:latin typeface="Calibri"/>
              </a:rPr>
              <a:t>ROUTE-SPECIFIC EVIDENCE  </a:t>
            </a:r>
            <a:r>
              <a:rPr sz="950" b="0">
                <a:solidFill>
                  <a:srgbClr val="6B7280"/>
                </a:solidFill>
                <a:latin typeface="Calibri"/>
              </a:rPr>
              <a:t>sampled along the selected road, each factor with its freshness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3218688" y="3995928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Terrain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4069080" y="3995928"/>
            <a:ext cx="77724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Weather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4919472" y="3995928"/>
            <a:ext cx="123444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Landslide exposure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6227064" y="3995928"/>
            <a:ext cx="100584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Flood context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3218688" y="4270248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Official warnings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4434840" y="4270248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Fleet traffic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5422392" y="4270248"/>
            <a:ext cx="123444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Evidence freshness</a:t>
            </a:r>
          </a:p>
        </p:txBody>
      </p:sp>
      <p:cxnSp>
        <p:nvCxnSpPr>
          <p:cNvPr id="15385" name="Connector 15384"/>
          <p:cNvCxnSpPr/>
          <p:nvPr/>
        </p:nvCxnSpPr>
        <p:spPr>
          <a:xfrm>
            <a:off x="5737860" y="4572000"/>
            <a:ext cx="0" cy="100584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6" name="Rounded Rectangle 15385"/>
          <p:cNvSpPr/>
          <p:nvPr/>
        </p:nvSpPr>
        <p:spPr>
          <a:xfrm>
            <a:off x="3108960" y="4681728"/>
            <a:ext cx="525780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OPERATIONAL DECISION  ·  CONTINUE / CAUTION / HOLD / REROUTE</a:t>
            </a:r>
          </a:p>
        </p:txBody>
      </p:sp>
      <p:cxnSp>
        <p:nvCxnSpPr>
          <p:cNvPr id="15387" name="Connector 15386"/>
          <p:cNvCxnSpPr/>
          <p:nvPr/>
        </p:nvCxnSpPr>
        <p:spPr>
          <a:xfrm>
            <a:off x="5737860" y="4965192"/>
            <a:ext cx="0" cy="100584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8" name="Rounded Rectangle 15387"/>
          <p:cNvSpPr/>
          <p:nvPr/>
        </p:nvSpPr>
        <p:spPr>
          <a:xfrm>
            <a:off x="3108960" y="5074920"/>
            <a:ext cx="52578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Manager governance  ·  reviews evidence, authorises, dispatches, approves reroutes</a:t>
            </a:r>
          </a:p>
        </p:txBody>
      </p:sp>
      <p:cxnSp>
        <p:nvCxnSpPr>
          <p:cNvPr id="15389" name="Connector 15388"/>
          <p:cNvCxnSpPr/>
          <p:nvPr/>
        </p:nvCxnSpPr>
        <p:spPr>
          <a:xfrm>
            <a:off x="5737860" y="5358383"/>
            <a:ext cx="0" cy="100585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0" name="Rounded Rectangle 15389"/>
          <p:cNvSpPr/>
          <p:nvPr/>
        </p:nvSpPr>
        <p:spPr>
          <a:xfrm>
            <a:off x="3108960" y="5468112"/>
            <a:ext cx="52578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Driver  ·  navigation, danger context, 23 languages, offline package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457200" y="5797296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UNKNOWN  ≠  SAFE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2834640" y="5760720"/>
            <a:ext cx="5577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01820"/>
                </a:solidFill>
                <a:latin typeface="Calibri"/>
              </a:rPr>
              <a:t>The system refuses to fabricate certainty: </a:t>
            </a:r>
            <a:r>
              <a:rPr sz="1100" b="0">
                <a:solidFill>
                  <a:srgbClr val="101820"/>
                </a:solidFill>
                <a:latin typeface="Calibri"/>
              </a:rPr>
              <a:t>missing or stale evidence is marked UNKNOWN, never counted as safe, and the route goes to an authorised reviewer.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8613648" y="1161288"/>
            <a:ext cx="3256372" cy="50383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394" name="Picture 15393" descr="mgr-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1188720"/>
            <a:ext cx="3201508" cy="4983480"/>
          </a:xfrm>
          <a:prstGeom prst="rect">
            <a:avLst/>
          </a:prstGeom>
        </p:spPr>
      </p:pic>
      <p:sp>
        <p:nvSpPr>
          <p:cNvPr id="15395" name="Rounded Rectangle 15394"/>
          <p:cNvSpPr/>
          <p:nvPr/>
        </p:nvSpPr>
        <p:spPr>
          <a:xfrm>
            <a:off x="8641080" y="5943600"/>
            <a:ext cx="3201508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· Check conditions (real screen)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rIns="36576" rtlCol="0" anchor="ctr"/>
          <a:lstStyle/>
          <a:p>
            <a:pPr algn="ctr"/>
            <a:r>
              <a:rPr sz="1000" b="1">
                <a:solidFill>
                  <a:srgbClr val="1018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060704"/>
            <a:ext cx="77724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VERIFIED DATA  ·  provider adapters with health + freshness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335024"/>
            <a:ext cx="1225296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380744"/>
            <a:ext cx="1042416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1820"/>
                </a:solidFill>
                <a:latin typeface="Calibri"/>
              </a:rPr>
              <a:t>WEATHER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Calibri"/>
              </a:rPr>
              <a:t>Open-Meteo · MET Norway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1024128" y="1938528"/>
            <a:ext cx="0" cy="182880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1728216" y="1335024"/>
            <a:ext cx="1225296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1819656" y="1380744"/>
            <a:ext cx="1042416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1820"/>
                </a:solidFill>
                <a:latin typeface="Calibri"/>
              </a:rPr>
              <a:t>TERRAIN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Calibri"/>
              </a:rPr>
              <a:t>Copernicus DEM · OpenTopoData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2340864" y="1938528"/>
            <a:ext cx="0" cy="182880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3044952" y="1335024"/>
            <a:ext cx="1225296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3136392" y="1380744"/>
            <a:ext cx="1042416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1820"/>
                </a:solidFill>
                <a:latin typeface="Calibri"/>
              </a:rPr>
              <a:t>WARNINGS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Calibri"/>
              </a:rPr>
              <a:t>NDMA SACHET (CAP)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3657600" y="1938528"/>
            <a:ext cx="0" cy="182880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4361688" y="1335024"/>
            <a:ext cx="1225296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4453128" y="1380744"/>
            <a:ext cx="1042416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1820"/>
                </a:solidFill>
                <a:latin typeface="Calibri"/>
              </a:rPr>
              <a:t>FLOOD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Calibri"/>
              </a:rPr>
              <a:t>GloFAS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4974336" y="1938528"/>
            <a:ext cx="0" cy="182880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5678424" y="1335024"/>
            <a:ext cx="1225296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5769864" y="1380744"/>
            <a:ext cx="1042416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1820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Calibri"/>
              </a:rPr>
              <a:t>NASA GLC 2007–17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6291072" y="1938528"/>
            <a:ext cx="0" cy="182880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Rounded Rectangle 17425"/>
          <p:cNvSpPr/>
          <p:nvPr/>
        </p:nvSpPr>
        <p:spPr>
          <a:xfrm>
            <a:off x="6995160" y="1335024"/>
            <a:ext cx="1225296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7086600" y="1380744"/>
            <a:ext cx="1042416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1820"/>
                </a:solidFill>
                <a:latin typeface="Calibri"/>
              </a:rPr>
              <a:t>TRAFFIC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Calibri"/>
              </a:rPr>
              <a:t>fleet GPS fixes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7607808" y="1938528"/>
            <a:ext cx="0" cy="182880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Rounded Rectangle 17428"/>
          <p:cNvSpPr/>
          <p:nvPr/>
        </p:nvSpPr>
        <p:spPr>
          <a:xfrm>
            <a:off x="411480" y="2139696"/>
            <a:ext cx="7808976" cy="530352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502920" y="2185415"/>
            <a:ext cx="7626096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01820"/>
                </a:solidFill>
                <a:latin typeface="Calibri"/>
              </a:rPr>
              <a:t>ROUTE-SPECIFIC EVIDENCE  ·  FastAPI backend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every factor sampled along the selected road · PostgreSQL + PostGIS (Supabase) · OSRM routes, alternatives, turn steps · freshness per factor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4315968" y="2688336"/>
            <a:ext cx="0" cy="182880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411480" y="2889504"/>
            <a:ext cx="7808976" cy="53035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502920" y="2935224"/>
            <a:ext cx="7626096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DETERMINISTIC SAFETY POLICY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11 factors · reason codes · UNKNOWN ≠ SAFE · reviewer authorisation when hazard data is missing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4315968" y="3438144"/>
            <a:ext cx="0" cy="182880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411480" y="3639312"/>
            <a:ext cx="1849374" cy="3474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2398014" y="3639312"/>
            <a:ext cx="1849374" cy="3474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CAUTION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384548" y="3639312"/>
            <a:ext cx="1849374" cy="3474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371082" y="3639312"/>
            <a:ext cx="1849374" cy="34747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REROUTE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4315968" y="4005072"/>
            <a:ext cx="0" cy="182880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ounded Rectangle 17439"/>
          <p:cNvSpPr/>
          <p:nvPr/>
        </p:nvSpPr>
        <p:spPr>
          <a:xfrm>
            <a:off x="411480" y="420624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REVIEW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1755648" y="4379976"/>
            <a:ext cx="7315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Rounded Rectangle 17441"/>
          <p:cNvSpPr/>
          <p:nvPr/>
        </p:nvSpPr>
        <p:spPr>
          <a:xfrm>
            <a:off x="1837944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DRIVER NAVIGATION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3319272" y="4379976"/>
            <a:ext cx="7315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3401568" y="42062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ROUTE-AHEAD MONITOR (60 s)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5248656" y="4379976"/>
            <a:ext cx="7315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Rounded Rectangle 17445"/>
          <p:cNvSpPr/>
          <p:nvPr/>
        </p:nvSpPr>
        <p:spPr>
          <a:xfrm>
            <a:off x="5330952" y="420624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CONDITIONS CHANGE?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6766559" y="4379976"/>
            <a:ext cx="73153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Rounded Rectangle 17447"/>
          <p:cNvSpPr/>
          <p:nvPr/>
        </p:nvSpPr>
        <p:spPr>
          <a:xfrm>
            <a:off x="6848856" y="42062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REASSESS / REROUTE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8238744" y="4379976"/>
            <a:ext cx="91439" cy="0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0" name="Connector 17449"/>
          <p:cNvCxnSpPr/>
          <p:nvPr/>
        </p:nvCxnSpPr>
        <p:spPr>
          <a:xfrm flipV="1">
            <a:off x="8330183" y="3154680"/>
            <a:ext cx="0" cy="1225296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1" name="Connector 17450"/>
          <p:cNvCxnSpPr/>
          <p:nvPr/>
        </p:nvCxnSpPr>
        <p:spPr>
          <a:xfrm flipH="1">
            <a:off x="8238744" y="3154680"/>
            <a:ext cx="91439" cy="0"/>
          </a:xfrm>
          <a:prstGeom prst="line">
            <a:avLst/>
          </a:prstGeom>
          <a:ln w="1587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TextBox 17451"/>
          <p:cNvSpPr txBox="1"/>
          <p:nvPr/>
        </p:nvSpPr>
        <p:spPr>
          <a:xfrm>
            <a:off x="411480" y="4626864"/>
            <a:ext cx="7808976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Decision loop: conditions are re-scored every 60 s along the road ahead; a material change goes back through the policy, and a reroute is proposed to the manager — never applied silently.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411480" y="5029200"/>
            <a:ext cx="7808976" cy="11887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CLIENTS  </a:t>
            </a:r>
            <a:r>
              <a:rPr sz="1050" b="0">
                <a:solidFill>
                  <a:srgbClr val="101820"/>
                </a:solidFill>
                <a:latin typeface="Calibri"/>
              </a:rPr>
              <a:t>Manager console — React + TypeScript, manager accounts only · Driver app — React Native / Expo, Android; one login, server-decided role, offline trip package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STACK  </a:t>
            </a:r>
            <a:r>
              <a:rPr sz="1050" b="0">
                <a:solidFill>
                  <a:srgbClr val="101820"/>
                </a:solidFill>
                <a:latin typeface="Calibri"/>
              </a:rPr>
              <a:t>FastAPI · PostgreSQL / PostGIS (Supabase) · React · React Native / Expo · OSRM · OpenStreetMap · Gemini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EVIDENCE  </a:t>
            </a:r>
            <a:r>
              <a:rPr sz="1050" b="0">
                <a:solidFill>
                  <a:srgbClr val="101820"/>
                </a:solidFill>
                <a:latin typeface="Calibri"/>
              </a:rPr>
              <a:t>Open-Meteo / MET Norway · NDMA SACHET · GloFAS · NASA historical landslides · OpenTopoData / Copernicus DEM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8549640" y="1078992"/>
            <a:ext cx="3291840" cy="5138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55" name="TextBox 17454"/>
          <p:cNvSpPr txBox="1"/>
          <p:nvPr/>
        </p:nvSpPr>
        <p:spPr>
          <a:xfrm>
            <a:off x="8686800" y="1170432"/>
            <a:ext cx="301752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WHO DECIDES — AI IS SUPPORTING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8686800" y="1508760"/>
            <a:ext cx="64008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57" name="TextBox 17456"/>
          <p:cNvSpPr txBox="1"/>
          <p:nvPr/>
        </p:nvSpPr>
        <p:spPr>
          <a:xfrm>
            <a:off x="8842248" y="1490472"/>
            <a:ext cx="283464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01820"/>
                </a:solidFill>
                <a:latin typeface="Calibri"/>
              </a:rPr>
              <a:t>DETERMINISTIC SAFETY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makes every operational decision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8686800" y="2350008"/>
            <a:ext cx="64008" cy="65836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59" name="TextBox 17458"/>
          <p:cNvSpPr txBox="1"/>
          <p:nvPr/>
        </p:nvSpPr>
        <p:spPr>
          <a:xfrm>
            <a:off x="8842248" y="2331720"/>
            <a:ext cx="283464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01820"/>
                </a:solidFill>
                <a:latin typeface="Calibri"/>
              </a:rPr>
              <a:t>GEMINI / OPENROUTER (LLM)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explains the decision and assists in the driver's language — never decides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8686800" y="3191256"/>
            <a:ext cx="64008" cy="658368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61" name="TextBox 17460"/>
          <p:cNvSpPr txBox="1"/>
          <p:nvPr/>
        </p:nvSpPr>
        <p:spPr>
          <a:xfrm>
            <a:off x="8842248" y="3172968"/>
            <a:ext cx="283464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01820"/>
                </a:solidFill>
                <a:latin typeface="Calibri"/>
              </a:rPr>
              <a:t>EXPERIMENTAL 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research channel only; kept outside routing by the safety-validation gate</a:t>
            </a:r>
          </a:p>
        </p:txBody>
      </p:sp>
      <p:cxnSp>
        <p:nvCxnSpPr>
          <p:cNvPr id="17462" name="Connector 17461"/>
          <p:cNvCxnSpPr/>
          <p:nvPr/>
        </p:nvCxnSpPr>
        <p:spPr>
          <a:xfrm>
            <a:off x="8686800" y="4023360"/>
            <a:ext cx="30175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3" name="TextBox 17462"/>
          <p:cNvSpPr txBox="1"/>
          <p:nvPr/>
        </p:nvSpPr>
        <p:spPr>
          <a:xfrm>
            <a:off x="8686800" y="4096512"/>
            <a:ext cx="301752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GOVERNANCE CHAIN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8686800" y="438912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65" name="Connector 17464"/>
          <p:cNvCxnSpPr/>
          <p:nvPr/>
        </p:nvCxnSpPr>
        <p:spPr>
          <a:xfrm>
            <a:off x="10195560" y="4718304"/>
            <a:ext cx="0" cy="128016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6" name="Rounded Rectangle 17465"/>
          <p:cNvSpPr/>
          <p:nvPr/>
        </p:nvSpPr>
        <p:spPr>
          <a:xfrm>
            <a:off x="8686800" y="4864608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67" name="Connector 17466"/>
          <p:cNvCxnSpPr/>
          <p:nvPr/>
        </p:nvCxnSpPr>
        <p:spPr>
          <a:xfrm>
            <a:off x="10195560" y="5193792"/>
            <a:ext cx="0" cy="128016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8" name="Rounded Rectangle 17467"/>
          <p:cNvSpPr/>
          <p:nvPr/>
        </p:nvSpPr>
        <p:spPr>
          <a:xfrm>
            <a:off x="8686800" y="5340096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Manager review</a:t>
            </a:r>
          </a:p>
        </p:txBody>
      </p:sp>
      <p:cxnSp>
        <p:nvCxnSpPr>
          <p:cNvPr id="17469" name="Connector 17468"/>
          <p:cNvCxnSpPr/>
          <p:nvPr/>
        </p:nvCxnSpPr>
        <p:spPr>
          <a:xfrm>
            <a:off x="10195560" y="5669280"/>
            <a:ext cx="0" cy="128016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0" name="Rounded Rectangle 17469"/>
          <p:cNvSpPr/>
          <p:nvPr/>
        </p:nvSpPr>
        <p:spPr>
          <a:xfrm>
            <a:off x="8686800" y="5815583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Driver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rIns="36576" rtlCol="0" anchor="ctr"/>
          <a:lstStyle/>
          <a:p>
            <a:pPr algn="ctr"/>
            <a:r>
              <a:rPr sz="1000" b="1">
                <a:solidFill>
                  <a:srgbClr val="1018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01820"/>
                </a:solidFill>
                <a:latin typeface="Calibri"/>
              </a:rPr>
              <a:t>NOT A CONCEPT — A PHYSICAL, END-TO-END WORKING PROTOTYPE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5727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ROUTE REVIEW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2075688" y="1728216"/>
            <a:ext cx="7315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Rounded Rectangle 17412"/>
          <p:cNvSpPr/>
          <p:nvPr/>
        </p:nvSpPr>
        <p:spPr>
          <a:xfrm>
            <a:off x="2167128" y="157276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DISPATCH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3099816" y="1728216"/>
            <a:ext cx="7315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ounded Rectangle 17414"/>
          <p:cNvSpPr/>
          <p:nvPr/>
        </p:nvSpPr>
        <p:spPr>
          <a:xfrm>
            <a:off x="3191256" y="157276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DRIVER ACCEPT + TRUCK CHECK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5129783" y="1728216"/>
            <a:ext cx="73153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5221224" y="157276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NAVIGATION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6336792" y="1728216"/>
            <a:ext cx="7315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6428232" y="157276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OFF-ROUTE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7406640" y="1728216"/>
            <a:ext cx="7315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7498080" y="157276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REROUTE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8430768" y="1728216"/>
            <a:ext cx="7315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8522208" y="157276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APPROVAL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10003536" y="1728216"/>
            <a:ext cx="7315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10094976" y="157276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29768" y="2093976"/>
            <a:ext cx="2286571" cy="3300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427" name="Picture 17426" descr="mgr-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21408"/>
            <a:ext cx="2231707" cy="3246120"/>
          </a:xfrm>
          <a:prstGeom prst="rect">
            <a:avLst/>
          </a:prstGeom>
        </p:spPr>
      </p:pic>
      <p:sp>
        <p:nvSpPr>
          <p:cNvPr id="17428" name="Rounded Rectangle 17427"/>
          <p:cNvSpPr/>
          <p:nvPr/>
        </p:nvSpPr>
        <p:spPr>
          <a:xfrm>
            <a:off x="2862643" y="2093976"/>
            <a:ext cx="1516504" cy="3300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429" name="Picture 17428" descr="truck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0075" y="2121408"/>
            <a:ext cx="1461640" cy="3246120"/>
          </a:xfrm>
          <a:prstGeom prst="rect">
            <a:avLst/>
          </a:prstGeom>
        </p:spPr>
      </p:pic>
      <p:sp>
        <p:nvSpPr>
          <p:cNvPr id="17430" name="Rounded Rectangle 17429"/>
          <p:cNvSpPr/>
          <p:nvPr/>
        </p:nvSpPr>
        <p:spPr>
          <a:xfrm>
            <a:off x="4525452" y="2093976"/>
            <a:ext cx="1516504" cy="3300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431" name="Picture 17430" descr="07-navig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884" y="2121408"/>
            <a:ext cx="1461640" cy="3246120"/>
          </a:xfrm>
          <a:prstGeom prst="rect">
            <a:avLst/>
          </a:prstGeom>
        </p:spPr>
      </p:pic>
      <p:sp>
        <p:nvSpPr>
          <p:cNvPr id="17432" name="Rounded Rectangle 17431"/>
          <p:cNvSpPr/>
          <p:nvPr/>
        </p:nvSpPr>
        <p:spPr>
          <a:xfrm>
            <a:off x="457200" y="5458967"/>
            <a:ext cx="2231707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· route review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2890075" y="5458967"/>
            <a:ext cx="1461640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Driver · truck check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552884" y="5458967"/>
            <a:ext cx="1461640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Driver · navigation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297989" y="2057400"/>
            <a:ext cx="545205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PROOF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297989" y="2331720"/>
            <a:ext cx="545205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01820"/>
                </a:solidFill>
                <a:latin typeface="Calibri"/>
              </a:rPr>
              <a:t>Physical Android phone · hosted backend · real roads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297989" y="2697480"/>
            <a:ext cx="10515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Calibri"/>
              </a:rPr>
              <a:t>12/12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349549" y="2606040"/>
            <a:ext cx="440049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01820"/>
                </a:solidFill>
                <a:latin typeface="Calibri"/>
              </a:rPr>
              <a:t>judge-flow steps on the phone: dispatch → accept → truck check → GPS navigation → real off-route → reroute → manager approval → stops → delivery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297989" y="3410712"/>
            <a:ext cx="10515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Calibri"/>
              </a:rPr>
              <a:t>9/9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7349549" y="3319272"/>
            <a:ext cx="440049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01820"/>
                </a:solidFill>
                <a:latin typeface="Calibri"/>
              </a:rPr>
              <a:t>role steps: driver ↔ manager sign-in on one APK, no data leak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297989" y="4123944"/>
            <a:ext cx="10515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Calibri"/>
              </a:rPr>
              <a:t>1138+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349549" y="4032504"/>
            <a:ext cx="4400490" cy="6583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01820"/>
                </a:solidFill>
                <a:latin typeface="Calibri"/>
              </a:rPr>
              <a:t>backend tests  ·  621+ driver tests  ·  170+ manager tests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297989" y="4818888"/>
            <a:ext cx="5452050" cy="32918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PHYSICAL ANDROID · CERTIFIED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297989" y="5221224"/>
            <a:ext cx="545205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Canonical demo  </a:t>
            </a:r>
            <a:r>
              <a:rPr sz="1100" b="1">
                <a:solidFill>
                  <a:srgbClr val="101820"/>
                </a:solidFill>
                <a:latin typeface="Calibri"/>
              </a:rPr>
              <a:t>Guwahati → Shillong · ≈ 98.8 km real route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457200" y="5769864"/>
            <a:ext cx="1129284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TextBox 17445"/>
          <p:cNvSpPr txBox="1"/>
          <p:nvPr/>
        </p:nvSpPr>
        <p:spPr>
          <a:xfrm>
            <a:off x="457200" y="5815584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KNOWN LIMITS → MITIGATION   </a:t>
            </a:r>
            <a:r>
              <a:rPr sz="1000" b="0">
                <a:solidFill>
                  <a:srgbClr val="101820"/>
                </a:solidFill>
                <a:latin typeface="Calibri"/>
              </a:rPr>
              <a:t>Render cold start → warm /health before the demo  ·  provider rate limits → cached evidence + explicit UNKNOWN  ·  background push needs Firebase config → in-app alerts already work  ·  experimental ML → outside routing until the gate passes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rIns="36576" rtlCol="0" anchor="ctr"/>
          <a:lstStyle/>
          <a:p>
            <a:pPr algn="ctr"/>
            <a:r>
              <a:rPr sz="1000" b="1">
                <a:solidFill>
                  <a:srgbClr val="1018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24128"/>
            <a:ext cx="7955279" cy="8229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6B7280"/>
                </a:solidFill>
                <a:latin typeface="Calibri"/>
              </a:rPr>
              <a:t>RASTA AI does not ask only </a:t>
            </a:r>
            <a:r>
              <a:rPr sz="1900" b="1">
                <a:solidFill>
                  <a:srgbClr val="101820"/>
                </a:solidFill>
                <a:latin typeface="Calibri"/>
              </a:rPr>
              <a:t>“Which road is shortest?”</a:t>
            </a:r>
            <a:r>
              <a:rPr sz="1900" b="0">
                <a:solidFill>
                  <a:srgbClr val="6B7280"/>
                </a:solidFill>
                <a:latin typeface="Calibri"/>
              </a:rPr>
              <a:t>  It asks </a:t>
            </a:r>
            <a:r>
              <a:rPr sz="1900" b="1">
                <a:solidFill>
                  <a:srgbClr val="2563EB"/>
                </a:solidFill>
                <a:latin typeface="Calibri"/>
              </a:rPr>
              <a:t>“Can this truck reliably use this corridor now?”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847088"/>
            <a:ext cx="7955279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059669"/>
                </a:solidFill>
                <a:latin typeface="Calibri"/>
              </a:rPr>
              <a:t>FOOD  ·  MEDICINE  ·  FUEL  ·  RELIEF SUPPLIES</a:t>
            </a:r>
            <a:r>
              <a:rPr sz="1150" b="0">
                <a:solidFill>
                  <a:srgbClr val="6B7280"/>
                </a:solidFill>
                <a:latin typeface="Calibri"/>
              </a:rPr>
              <a:t>   — essential logistics for hill communities, decided on evidence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2212848"/>
            <a:ext cx="36576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WHO BENEFITS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457200" y="2487168"/>
            <a:ext cx="19202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TextBox 17413"/>
          <p:cNvSpPr txBox="1"/>
          <p:nvPr/>
        </p:nvSpPr>
        <p:spPr>
          <a:xfrm>
            <a:off x="457200" y="2542032"/>
            <a:ext cx="192024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FLEET MANAGERS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Route usability and uncertainty visible before dispatch; auditable decisions.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2496312" y="2487168"/>
            <a:ext cx="19202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TextBox 17415"/>
          <p:cNvSpPr txBox="1"/>
          <p:nvPr/>
        </p:nvSpPr>
        <p:spPr>
          <a:xfrm>
            <a:off x="2496312" y="2542032"/>
            <a:ext cx="192024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DRIVERS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Safer navigation, danger context, emergency support, 23 languages.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4535424" y="2487168"/>
            <a:ext cx="19202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4535424" y="2542032"/>
            <a:ext cx="192024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REMOTE COMMUNITIES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More resilient access to food, medicine, fuel and relief supplies.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6574536" y="2487168"/>
            <a:ext cx="19202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TextBox 17419"/>
          <p:cNvSpPr txBox="1"/>
          <p:nvPr/>
        </p:nvSpPr>
        <p:spPr>
          <a:xfrm>
            <a:off x="6574536" y="2542032"/>
            <a:ext cx="192024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GOVERNMENT / OPERATIONS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Auditable route evidence and disruption visibility per corridor.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57200" y="3703320"/>
            <a:ext cx="36576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DEMONSTRATED TODAY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57200" y="3977639"/>
            <a:ext cx="91440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Calibri"/>
              </a:rPr>
              <a:t>23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463040" y="3977639"/>
            <a:ext cx="292608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selectable languages, explicit fallback status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57200" y="4434840"/>
            <a:ext cx="91440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Calibri"/>
              </a:rPr>
              <a:t>11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463040" y="4434840"/>
            <a:ext cx="292608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route factors in every decision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57200" y="4892040"/>
            <a:ext cx="91440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Calibri"/>
              </a:rPr>
              <a:t>60 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463040" y="4892040"/>
            <a:ext cx="292608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route-ahead monitor while driving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480560" y="3977639"/>
            <a:ext cx="91440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Calibri"/>
              </a:rPr>
              <a:t>12/12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486400" y="3977639"/>
            <a:ext cx="292608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judge-flow steps certified on a physical phone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480560" y="4434840"/>
            <a:ext cx="91440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Calibri"/>
              </a:rPr>
              <a:t>100 %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486400" y="4434840"/>
            <a:ext cx="292608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of reroutes reviewed by a human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480560" y="4892040"/>
            <a:ext cx="91440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Calibri"/>
              </a:rPr>
              <a:t>0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5486400" y="4892040"/>
            <a:ext cx="292608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unknown factors counted as safe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57200" y="5440680"/>
            <a:ext cx="4572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HUMAN GOVERNANCE — AI HAS NO UNCONTROLLED AUTHORITY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457200" y="57150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2313432" y="5888736"/>
            <a:ext cx="155448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2505456" y="57150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4361688" y="5888736"/>
            <a:ext cx="155448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ounded Rectangle 17438"/>
          <p:cNvSpPr/>
          <p:nvPr/>
        </p:nvSpPr>
        <p:spPr>
          <a:xfrm>
            <a:off x="4553712" y="57150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6409944" y="5888736"/>
            <a:ext cx="155448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6601968" y="57150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Driver action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57200" y="6099048"/>
            <a:ext cx="7955279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No invented percentages: impact is stated as who gains what, backed by the working system.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567928" y="1069848"/>
            <a:ext cx="1872978" cy="2615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444" name="Picture 17443" descr="phone-l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097280"/>
            <a:ext cx="1818114" cy="2560320"/>
          </a:xfrm>
          <a:prstGeom prst="rect">
            <a:avLst/>
          </a:prstGeom>
        </p:spPr>
      </p:pic>
      <p:sp>
        <p:nvSpPr>
          <p:cNvPr id="17445" name="Rounded Rectangle 17444"/>
          <p:cNvSpPr/>
          <p:nvPr/>
        </p:nvSpPr>
        <p:spPr>
          <a:xfrm>
            <a:off x="8595360" y="3749039"/>
            <a:ext cx="1818114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Driver · 23 languages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10523202" y="1069848"/>
            <a:ext cx="1262417" cy="2615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447" name="Picture 17446" descr="phone-mana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0634" y="1097280"/>
            <a:ext cx="1207553" cy="2560320"/>
          </a:xfrm>
          <a:prstGeom prst="rect">
            <a:avLst/>
          </a:prstGeom>
        </p:spPr>
      </p:pic>
      <p:sp>
        <p:nvSpPr>
          <p:cNvPr id="17448" name="Rounded Rectangle 17447"/>
          <p:cNvSpPr/>
          <p:nvPr/>
        </p:nvSpPr>
        <p:spPr>
          <a:xfrm>
            <a:off x="10550634" y="3749039"/>
            <a:ext cx="1207553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· mobile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8595360" y="4114800"/>
            <a:ext cx="3154679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Real screens, APK 1.0.18. One login, server-decided role: a manager gets a mobile fleet view, a driver gets navigation. Each language shows its status — Verified, Draft or English fallback — so nobody is misled.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36576" rIns="36576" rtlCol="0" anchor="ctr"/>
          <a:lstStyle/>
          <a:p>
            <a:pPr algn="ctr"/>
            <a:r>
              <a:rPr sz="1000" b="1">
                <a:solidFill>
                  <a:srgbClr val="1018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78992"/>
            <a:ext cx="45720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RESEARCH / EVIDENCE SOURCES BEHIND THE ROUTE DECISION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01820"/>
                </a:solidFill>
                <a:latin typeface="Calibri"/>
              </a:rPr>
              <a:t>NASA Global Landslide Catalog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historical landslide exposure; inventory 2007–2017, ≤5 km accuracy filter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1920240"/>
            <a:ext cx="5486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01820"/>
                </a:solidFill>
                <a:latin typeface="Calibri"/>
              </a:rPr>
              <a:t>NDMA SACHET (CAP feed)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official warnings, polled with freshness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2468880"/>
            <a:ext cx="5486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01820"/>
                </a:solidFill>
                <a:latin typeface="Calibri"/>
              </a:rPr>
              <a:t>GloFAS — Copernicus Emergency Management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flood context: river discharge vs 30-day mean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3017520"/>
            <a:ext cx="5486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01820"/>
                </a:solidFill>
                <a:latin typeface="Calibri"/>
              </a:rPr>
              <a:t>Open-Meteo · MET Norway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weather forecast along the corridor; ERA5-Land archive for research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3566160"/>
            <a:ext cx="5486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01820"/>
                </a:solidFill>
                <a:latin typeface="Calibri"/>
              </a:rPr>
              <a:t>Copernicus DEM GLO-90 · OpenTopoData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terrain profile, climb, steep segments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4114800"/>
            <a:ext cx="5486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01820"/>
                </a:solidFill>
                <a:latin typeface="Calibri"/>
              </a:rPr>
              <a:t>OpenStreetMap · OSRM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roads, route alternatives, turn steps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57200" y="4663440"/>
            <a:ext cx="54864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01820"/>
                </a:solidFill>
                <a:latin typeface="Calibri"/>
              </a:rPr>
              <a:t>MDoNER problem statement SIH26002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AI-based smart logistics and accessibility intelligence for the NER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6400800" y="1143000"/>
            <a:ext cx="5349240" cy="0"/>
          </a:xfrm>
          <a:prstGeom prst="line">
            <a:avLst/>
          </a:prstGeom>
          <a:ln w="12700">
            <a:solidFill>
              <a:srgbClr val="1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TextBox 17418"/>
          <p:cNvSpPr txBox="1"/>
          <p:nvPr/>
        </p:nvSpPr>
        <p:spPr>
          <a:xfrm>
            <a:off x="6400800" y="1207008"/>
            <a:ext cx="53492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EXPERIMENTAL LANDSLIDE RESEARCH  ·  ML-ready architecture, model not in production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400800" y="1572768"/>
            <a:ext cx="11430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01820"/>
                </a:solidFill>
                <a:latin typeface="Calibri"/>
              </a:rPr>
              <a:t>95 %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589520" y="1572768"/>
            <a:ext cx="178308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RECALL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NER geographic holdout (154 events)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509760" y="1572768"/>
            <a:ext cx="105156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DC2626"/>
                </a:solidFill>
                <a:latin typeface="Calibri"/>
              </a:rPr>
              <a:t>50 %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0607040" y="1572768"/>
            <a:ext cx="11430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Calibri"/>
              </a:rPr>
              <a:t>FALSE-POSITIVE RATE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too high for production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400800" y="233172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SAFETY GATE  ·  NOT DEPLOYED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052560" y="2331720"/>
            <a:ext cx="269747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trained India-wide, validated on the untouched NER holdout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400800" y="283464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50" b="1">
                <a:solidFill>
                  <a:srgbClr val="101820"/>
                </a:solidFill>
                <a:latin typeface="Calibri"/>
              </a:rPr>
              <a:t>TRAIN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7050024" y="2980944"/>
            <a:ext cx="5029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7109460" y="283464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50" b="1">
                <a:solidFill>
                  <a:srgbClr val="101820"/>
                </a:solidFill>
                <a:latin typeface="Calibri"/>
              </a:rPr>
              <a:t>HELD-OUT TEST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8170164" y="2980944"/>
            <a:ext cx="5029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Rounded Rectangle 17429"/>
          <p:cNvSpPr/>
          <p:nvPr/>
        </p:nvSpPr>
        <p:spPr>
          <a:xfrm>
            <a:off x="8229600" y="28346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50" b="1">
                <a:solidFill>
                  <a:srgbClr val="101820"/>
                </a:solidFill>
                <a:latin typeface="Calibri"/>
              </a:rPr>
              <a:t>FALSE POSITIVES TOO HIGH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9793224" y="2980944"/>
            <a:ext cx="50291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9852660" y="2834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50" b="1">
                <a:solidFill>
                  <a:srgbClr val="101820"/>
                </a:solidFill>
                <a:latin typeface="Calibri"/>
              </a:rPr>
              <a:t>SAFETY GATE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10730484" y="2980944"/>
            <a:ext cx="5029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Rounded Rectangle 17433"/>
          <p:cNvSpPr/>
          <p:nvPr/>
        </p:nvSpPr>
        <p:spPr>
          <a:xfrm>
            <a:off x="10789920" y="283464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NOT DEPLOYED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400800" y="3246120"/>
            <a:ext cx="534924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Calibri"/>
              </a:rPr>
              <a:t>VALIDATION BEFORE AUTOMATION. </a:t>
            </a:r>
            <a:r>
              <a:rPr sz="1100" b="0">
                <a:solidFill>
                  <a:srgbClr val="101820"/>
                </a:solidFill>
                <a:latin typeface="Calibri"/>
              </a:rPr>
              <a:t>The model is trained and geographically validated, but the safety-validation gate keeps it outside production until it meets the required geographic reliability and false-positive thresholds. Route decisions today use verified evidence and deterministic policy only.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400800" y="4114800"/>
            <a:ext cx="5349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Technical: precision 0.32 · PR-AUC 0.55 · ROC-AUC 0.83 · Brier 0.12 · rule baseline recall 0.25 @ FPR 0.03 · logistic regression on NASA GLC events + ERA5-Land rain + DEM slope · full error analysis in docs/HAZARD_ERROR_ANALYSIS.md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457200" y="5413248"/>
            <a:ext cx="1129284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TextBox 17437"/>
          <p:cNvSpPr txBox="1"/>
          <p:nvPr/>
        </p:nvSpPr>
        <p:spPr>
          <a:xfrm>
            <a:off x="457200" y="5468112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REFERENCES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57200" y="5715000"/>
            <a:ext cx="11292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gpm.nasa.gov/landslides (NASA GLC)  ·  sachet.ndma.gov.in  ·  global-flood.emergency.copernicus.eu (GloFAS)  ·  open-meteo.com · api.met.no  ·  opentopodata.org · Copernicus DEM  ·  project-osrm.org · openstreetmap.org  ·  github.com/nxtlucifer/ner-ai-logistics (repository, tests, model registry, error analysis)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1623</Words>
  <Application>Microsoft Office PowerPoint</Application>
  <PresentationFormat>Widescreen</PresentationFormat>
  <Paragraphs>212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RASTA AI — ROUTE INTELLIGENCE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pranay patel</cp:lastModifiedBy>
  <cp:revision>149</cp:revision>
  <dcterms:created xsi:type="dcterms:W3CDTF">2013-12-12T18:46:50Z</dcterms:created>
  <dcterms:modified xsi:type="dcterms:W3CDTF">2026-09-14T15:30:14Z</dcterms:modified>
  <cp:category/>
</cp:coreProperties>
</file>