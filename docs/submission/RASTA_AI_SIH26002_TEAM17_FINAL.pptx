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Judge answer on ML: We trained and evaluated a landslide-hazard model, but deliberately keep it outside production routing because its geographic false-positive rate is still too high (recall 0.95 at FPR 0.50 on the NER holdout). This prevents unreliable ML from making safety-critical decisions. Tests: backend 1138 passed / 5 skipped, driver 621, manager 170 (14 Sep 2026, commit 0b89ddf). Physical certification: docs/terrain/HANDOFF.md section 9; judge flow 12/12, role flow 9/9 on APK 1.0.18.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Full references:</a:t>
            </a:r>
          </a:p>
          <a:p>
            <a:r>
              <a:t>NASA Global Landslide Catalog — https://gpm.nasa.gov/landslides/ (data via https://data.nasa.gov)</a:t>
            </a:r>
          </a:p>
          <a:p>
            <a:r>
              <a:t>NDMA SACHET CAP alerts — https://sachet.ndma.gov.in</a:t>
            </a:r>
          </a:p>
          <a:p>
            <a:r>
              <a:t>GloFAS (Copernicus Emergency Management Service) — https://global-flood.emergency.copernicus.eu ; flood API via https://open-meteo.com/en/docs/flood-api</a:t>
            </a:r>
          </a:p>
          <a:p>
            <a:r>
              <a:t>Open-Meteo forecast / ERA5-Land archive — https://open-meteo.com ; MET Norway Locationforecast — https://api.met.no</a:t>
            </a:r>
          </a:p>
          <a:p>
            <a:r>
              <a:t>OpenTopoData — https://www.opentopodata.org ; Copernicus DEM GLO-90 — https://spacedata.copernicus.eu</a:t>
            </a:r>
          </a:p>
          <a:p>
            <a:r>
              <a:t>OSRM — https://project-osrm.org ; OpenStreetMap — https://www.openstreetmap.org</a:t>
            </a:r>
          </a:p>
          <a:p>
            <a:r>
              <a:t>Repository — https://github.com/nxtlucifer/ner-ai-logistics (docs/MODEL_REGISTRY.md, docs/HAZARD_ERROR_ANALYSIS.md, docs/AI_INVENTORY.md)</a:t>
            </a:r>
          </a:p>
          <a:p>
            <a:r>
              <a:t>Model metrics (experimental, not deployed): NER holdout n=770, 154 events; recall 0.95, precision 0.32, F1 0.48, PR-AUC 0.55, ROC-AUC 0.83, FPR 0.50, Brier 0.12; temporal split recall 0.90 @ FPR 0.38.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11480" y="1097280"/>
            <a:ext cx="6263640" cy="5321808"/>
          </a:xfrm>
          <a:prstGeom prst="roundRect">
            <a:avLst>
              <a:gd name="adj" fmla="val 1718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brand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280160"/>
            <a:ext cx="749808" cy="7498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481328" y="1243584"/>
            <a:ext cx="49377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300" b="1">
                <a:solidFill>
                  <a:srgbClr val="101820"/>
                </a:solidFill>
                <a:latin typeface="Calibri"/>
              </a:rPr>
              <a:t>RASTA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99616" y="17373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" y="2212848"/>
            <a:ext cx="1874519" cy="5486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3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2231136"/>
            <a:ext cx="384048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290779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PROBLEM STATEMENT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87752" y="2880360"/>
            <a:ext cx="3913632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01820"/>
                </a:solidFill>
                <a:latin typeface="Calibri"/>
              </a:rPr>
              <a:t>SIH26002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21792" y="3182112"/>
            <a:ext cx="5852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21792" y="3218688"/>
            <a:ext cx="196596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PROBLEM STATEMENT TITLE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87752" y="3191256"/>
            <a:ext cx="3913632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01820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21792" y="3675887"/>
            <a:ext cx="5852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21792" y="3712464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THEME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87752" y="3685032"/>
            <a:ext cx="3913632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01820"/>
                </a:solidFill>
                <a:latin typeface="Calibri"/>
              </a:rPr>
              <a:t>Smart Automation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21792" y="3986784"/>
            <a:ext cx="5852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21792" y="4023360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PS CATEGORY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87752" y="3995928"/>
            <a:ext cx="3913632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01820"/>
                </a:solidFill>
                <a:latin typeface="Calibri"/>
              </a:rPr>
              <a:t>Software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1792" y="4297680"/>
            <a:ext cx="5852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1792" y="4334256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TEAM 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87752" y="4306824"/>
            <a:ext cx="3913632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01820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21792" y="4608576"/>
            <a:ext cx="5852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21792" y="4645152"/>
            <a:ext cx="19659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TEAM NAME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4617720"/>
            <a:ext cx="3913632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01820"/>
                </a:solidFill>
                <a:latin typeface="Calibri"/>
              </a:rPr>
              <a:t>NER-AI LOGISTICS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1792" y="4919472"/>
            <a:ext cx="5852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21792" y="5047488"/>
            <a:ext cx="58521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01820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" y="5458968"/>
            <a:ext cx="585216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2563EB"/>
                </a:solidFill>
                <a:latin typeface="Calibri"/>
              </a:rPr>
              <a:t>“Can this essential-supply truck reliably use this corridor now?”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" y="5833872"/>
            <a:ext cx="58521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58000" y="1097280"/>
            <a:ext cx="4937760" cy="5321808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004304" y="1170432"/>
            <a:ext cx="46451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Calibri"/>
              </a:rPr>
              <a:t>LIVE WORKING SYSTEM</a:t>
            </a:r>
            <a:r>
              <a:rPr sz="1000" b="0">
                <a:solidFill>
                  <a:srgbClr val="6B7280"/>
                </a:solidFill>
                <a:latin typeface="Calibri"/>
              </a:rPr>
              <a:t>   manager console + Android driver app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995159" y="2221992"/>
            <a:ext cx="2494026" cy="3602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mgr-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2" y="2249424"/>
            <a:ext cx="2439162" cy="3547872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573768" y="1545336"/>
            <a:ext cx="1957055" cy="4279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9" name="Picture 68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572768"/>
            <a:ext cx="1902191" cy="4224528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7004304" y="5925312"/>
            <a:ext cx="4645152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route review · Driver navigation — real screens, real road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280160"/>
            <a:ext cx="7955279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NOT THE SHORTEST ROAD. </a:t>
            </a:r>
            <a:r>
              <a:rPr sz="2400" b="1">
                <a:solidFill>
                  <a:srgbClr val="2563EB"/>
                </a:solidFill>
                <a:latin typeface="Calibri"/>
              </a:rPr>
              <a:t>THE ROAD THAT IS OPERATIONALLY USABLE NOW.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084831"/>
            <a:ext cx="8065008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NER corridors: mountain terrain · monsoon · landslides · floods · weak signal · stale evidence. </a:t>
            </a:r>
            <a:r>
              <a:rPr sz="1150" b="1">
                <a:solidFill>
                  <a:srgbClr val="DC2626"/>
                </a:solidFill>
                <a:latin typeface="Calibri"/>
              </a:rPr>
              <a:t>A shortest-path router still sends the truck.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11480" y="2633472"/>
            <a:ext cx="2395728" cy="3108960"/>
          </a:xfrm>
          <a:prstGeom prst="roundRect">
            <a:avLst>
              <a:gd name="adj" fmla="val 3816"/>
            </a:avLst>
          </a:prstGeom>
          <a:solidFill>
            <a:srgbClr val="FFFFFF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557784" y="2706624"/>
            <a:ext cx="21031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6B7280"/>
                </a:solidFill>
                <a:latin typeface="Calibri"/>
              </a:rPr>
              <a:t>A NORMAL ROUTER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548640" y="3072384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Origin</a:t>
            </a:r>
          </a:p>
        </p:txBody>
      </p:sp>
      <p:cxnSp>
        <p:nvCxnSpPr>
          <p:cNvPr id="15368" name="Connector 15367"/>
          <p:cNvCxnSpPr/>
          <p:nvPr/>
        </p:nvCxnSpPr>
        <p:spPr>
          <a:xfrm>
            <a:off x="1609343" y="3355847"/>
            <a:ext cx="0" cy="219457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Rounded Rectangle 15368"/>
          <p:cNvSpPr/>
          <p:nvPr/>
        </p:nvSpPr>
        <p:spPr>
          <a:xfrm>
            <a:off x="548640" y="3584448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70" name="Connector 15369"/>
          <p:cNvCxnSpPr/>
          <p:nvPr/>
        </p:nvCxnSpPr>
        <p:spPr>
          <a:xfrm>
            <a:off x="1609343" y="3867911"/>
            <a:ext cx="0" cy="219457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1" name="Rounded Rectangle 15370"/>
          <p:cNvSpPr/>
          <p:nvPr/>
        </p:nvSpPr>
        <p:spPr>
          <a:xfrm>
            <a:off x="548640" y="4096512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Truck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548640" y="4663440"/>
            <a:ext cx="2121408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No terrain, weather, hazard or freshness check.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2926080" y="2633472"/>
            <a:ext cx="559612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4" name="TextBox 15373"/>
          <p:cNvSpPr txBox="1"/>
          <p:nvPr/>
        </p:nvSpPr>
        <p:spPr>
          <a:xfrm>
            <a:off x="3072384" y="2706624"/>
            <a:ext cx="5303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Calibri"/>
              </a:rPr>
              <a:t>RASTA AI</a:t>
            </a:r>
            <a:r>
              <a:rPr sz="1000" b="0">
                <a:solidFill>
                  <a:srgbClr val="6B7280"/>
                </a:solidFill>
                <a:latin typeface="Calibri"/>
              </a:rPr>
              <a:t>   evidence before the road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3063240" y="3017520"/>
            <a:ext cx="53218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Origin</a:t>
            </a:r>
          </a:p>
        </p:txBody>
      </p:sp>
      <p:cxnSp>
        <p:nvCxnSpPr>
          <p:cNvPr id="15376" name="Connector 15375"/>
          <p:cNvCxnSpPr/>
          <p:nvPr/>
        </p:nvCxnSpPr>
        <p:spPr>
          <a:xfrm>
            <a:off x="5724144" y="3282696"/>
            <a:ext cx="0" cy="73152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7" name="Rounded Rectangle 15376"/>
          <p:cNvSpPr/>
          <p:nvPr/>
        </p:nvSpPr>
        <p:spPr>
          <a:xfrm>
            <a:off x="3063240" y="3364991"/>
            <a:ext cx="53218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Real route  ·  OSRM road, alternatives, turn steps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063240" y="3712463"/>
            <a:ext cx="5321808" cy="8412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3172968" y="3749039"/>
            <a:ext cx="5138928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01820"/>
                </a:solidFill>
                <a:latin typeface="Calibri"/>
              </a:rPr>
              <a:t>ROUTE-SPECIFIC EVIDENCE  </a:t>
            </a:r>
            <a:r>
              <a:rPr sz="950" b="0">
                <a:solidFill>
                  <a:srgbClr val="6B7280"/>
                </a:solidFill>
                <a:latin typeface="Calibri"/>
              </a:rPr>
              <a:t>sampled along the selected road, each factor with its freshness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172968" y="4005072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Terrain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4023360" y="4005072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Weather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4873752" y="400507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Landslide exposure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6181344" y="400507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Flood context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172968" y="4261104"/>
            <a:ext cx="11430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Official warnings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4389120" y="426110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Fleet traffic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5376672" y="4261104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Evidence freshness</a:t>
            </a:r>
          </a:p>
        </p:txBody>
      </p:sp>
      <p:cxnSp>
        <p:nvCxnSpPr>
          <p:cNvPr id="15387" name="Connector 15386"/>
          <p:cNvCxnSpPr/>
          <p:nvPr/>
        </p:nvCxnSpPr>
        <p:spPr>
          <a:xfrm>
            <a:off x="5724144" y="4562855"/>
            <a:ext cx="0" cy="73152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8" name="Rounded Rectangle 15387"/>
          <p:cNvSpPr/>
          <p:nvPr/>
        </p:nvSpPr>
        <p:spPr>
          <a:xfrm>
            <a:off x="3063240" y="4645151"/>
            <a:ext cx="5321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OPERATIONAL DECISION  ·  CONTINUE / CAUTION / HOLD / REROUTE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5724144" y="4910327"/>
            <a:ext cx="0" cy="73152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3063240" y="4992623"/>
            <a:ext cx="53218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  ·  reviews evidence, authorises, dispatches, approves reroutes</a:t>
            </a:r>
          </a:p>
        </p:txBody>
      </p:sp>
      <p:cxnSp>
        <p:nvCxnSpPr>
          <p:cNvPr id="15391" name="Connector 15390"/>
          <p:cNvCxnSpPr/>
          <p:nvPr/>
        </p:nvCxnSpPr>
        <p:spPr>
          <a:xfrm>
            <a:off x="5724144" y="5257799"/>
            <a:ext cx="0" cy="73152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2" name="Rounded Rectangle 15391"/>
          <p:cNvSpPr/>
          <p:nvPr/>
        </p:nvSpPr>
        <p:spPr>
          <a:xfrm>
            <a:off x="3063240" y="5340095"/>
            <a:ext cx="53218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 ·  navigation, danger context, 23 languages, offline package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411480" y="5815584"/>
            <a:ext cx="8110727" cy="54864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Rounded Rectangle 15393"/>
          <p:cNvSpPr/>
          <p:nvPr/>
        </p:nvSpPr>
        <p:spPr>
          <a:xfrm>
            <a:off x="548640" y="590702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UNKNOWN  ≠  SAFE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2761488" y="5879592"/>
            <a:ext cx="5650992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01820"/>
                </a:solidFill>
                <a:latin typeface="Calibri"/>
              </a:rPr>
              <a:t>The system refuses to fabricate certainty: </a:t>
            </a:r>
            <a:r>
              <a:rPr sz="1050" b="0">
                <a:solidFill>
                  <a:srgbClr val="101820"/>
                </a:solidFill>
                <a:latin typeface="Calibri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8613648" y="1097280"/>
            <a:ext cx="3163824" cy="5248656"/>
          </a:xfrm>
          <a:prstGeom prst="roundRect">
            <a:avLst>
              <a:gd name="adj" fmla="val 289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8759952" y="1170432"/>
            <a:ext cx="2871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Calibri"/>
              </a:rPr>
              <a:t>MANAGER · CHECK CONDITIONS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8787384" y="1490472"/>
            <a:ext cx="2768803" cy="4279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9" name="Picture 15398" descr="mgr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16" y="1517904"/>
            <a:ext cx="2713939" cy="4224528"/>
          </a:xfrm>
          <a:prstGeom prst="rect">
            <a:avLst/>
          </a:prstGeom>
        </p:spPr>
      </p:pic>
      <p:sp>
        <p:nvSpPr>
          <p:cNvPr id="15400" name="Rounded Rectangle 15399"/>
          <p:cNvSpPr/>
          <p:nvPr/>
        </p:nvSpPr>
        <p:spPr>
          <a:xfrm>
            <a:off x="8750808" y="5925312"/>
            <a:ext cx="288950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47472" y="1024128"/>
            <a:ext cx="8119872" cy="3602736"/>
          </a:xfrm>
          <a:prstGeom prst="roundRect">
            <a:avLst>
              <a:gd name="adj" fmla="val 2538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93776" y="1097280"/>
            <a:ext cx="78272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Calibri"/>
              </a:rPr>
              <a:t>VERIFIED DATA → DECISION → DRIVER</a:t>
            </a:r>
            <a:r>
              <a:rPr sz="1000" b="0">
                <a:solidFill>
                  <a:srgbClr val="6B7280"/>
                </a:solidFill>
                <a:latin typeface="Calibri"/>
              </a:rPr>
              <a:t>   provider adapters with health + freshness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44752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502920" y="1490472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Open-Meteo · MET Norway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024128" y="2048256"/>
            <a:ext cx="0" cy="128016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1728216" y="1444752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1819656" y="1490472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Copernicus DEM · OpenTopoData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2340864" y="2048256"/>
            <a:ext cx="0" cy="128016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3044952" y="1444752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136392" y="1490472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NDMA SACHET (CAP)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3657600" y="2048256"/>
            <a:ext cx="0" cy="128016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4361688" y="1444752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453128" y="1490472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GloFAS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4974336" y="2048256"/>
            <a:ext cx="0" cy="128016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5678424" y="1444752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5769864" y="1490472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NASA GLC 2007–17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6291072" y="2048256"/>
            <a:ext cx="0" cy="128016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6995160" y="1444752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086600" y="1490472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fleet GPS fixes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7607808" y="2048256"/>
            <a:ext cx="0" cy="128016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411480" y="2194560"/>
            <a:ext cx="7808976" cy="51206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502920" y="2240279"/>
            <a:ext cx="7626096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ROUTE-SPECIFIC EVIDENCE  · 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every factor sampled along the selected road · PostgreSQL + PostGIS (Supabase) · OSRM routes, alternatives, turn steps · freshness per factor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4315968" y="2724912"/>
            <a:ext cx="0" cy="109728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411480" y="2852928"/>
            <a:ext cx="7808976" cy="512064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502920" y="2898648"/>
            <a:ext cx="7626096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4315968" y="3383280"/>
            <a:ext cx="0" cy="109728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411480" y="3511296"/>
            <a:ext cx="1849374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398014" y="3511296"/>
            <a:ext cx="1849374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384548" y="3511296"/>
            <a:ext cx="1849374" cy="32918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371082" y="3511296"/>
            <a:ext cx="1849374" cy="329184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4315968" y="3858768"/>
            <a:ext cx="0" cy="109728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411480" y="3986784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1755648" y="4160520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1837944" y="3986784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3319272" y="4160520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3401568" y="3986784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ROUTE-AHEAD MONITOR (60 s)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5248656" y="4160520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Rounded Rectangle 17446"/>
          <p:cNvSpPr/>
          <p:nvPr/>
        </p:nvSpPr>
        <p:spPr>
          <a:xfrm>
            <a:off x="5330952" y="398678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6766559" y="4160520"/>
            <a:ext cx="73153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6848856" y="398678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REASSESS / REROUTE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8238744" y="4151376"/>
            <a:ext cx="91439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 flipV="1">
            <a:off x="8330183" y="3108960"/>
            <a:ext cx="0" cy="1042416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2" name="Connector 17451"/>
          <p:cNvCxnSpPr/>
          <p:nvPr/>
        </p:nvCxnSpPr>
        <p:spPr>
          <a:xfrm flipH="1">
            <a:off x="8238744" y="3108960"/>
            <a:ext cx="91439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TextBox 17452"/>
          <p:cNvSpPr txBox="1"/>
          <p:nvPr/>
        </p:nvSpPr>
        <p:spPr>
          <a:xfrm>
            <a:off x="411480" y="4626864"/>
            <a:ext cx="7808976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Decision loop: conditions are re-scored every 60 s along the road ahead; a material change goes back through the policy, and a reroute is proposed to the manager — never applied silently.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347472" y="4992624"/>
            <a:ext cx="8119872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493776" y="5065776"/>
            <a:ext cx="78272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Calibri"/>
              </a:rPr>
              <a:t>BUILT WITH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493776" y="5376672"/>
            <a:ext cx="7626096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CLIENTS  </a:t>
            </a:r>
            <a:r>
              <a:rPr sz="1050" b="0">
                <a:solidFill>
                  <a:srgbClr val="101820"/>
                </a:solidFill>
                <a:latin typeface="Calibri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STACK  </a:t>
            </a:r>
            <a:r>
              <a:rPr sz="1050" b="0">
                <a:solidFill>
                  <a:srgbClr val="101820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EVIDENCE  </a:t>
            </a:r>
            <a:r>
              <a:rPr sz="1050" b="0">
                <a:solidFill>
                  <a:srgbClr val="101820"/>
                </a:solidFill>
                <a:latin typeface="Calibri"/>
              </a:rPr>
              <a:t>Open-Meteo / MET Norway · NDMA SACHET · GloFAS · NASA historical landslides · OpenTopoData / Copernicus DEM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613648" y="1024128"/>
            <a:ext cx="3163824" cy="5230368"/>
          </a:xfrm>
          <a:prstGeom prst="roundRect">
            <a:avLst>
              <a:gd name="adj" fmla="val 289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8759952" y="1097280"/>
            <a:ext cx="2871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WHO DECIDES</a:t>
            </a:r>
            <a:r>
              <a:rPr sz="950" b="0">
                <a:solidFill>
                  <a:srgbClr val="6B7280"/>
                </a:solidFill>
                <a:latin typeface="Calibri"/>
              </a:rPr>
              <a:t>   AI is supporting</a:t>
            </a:r>
          </a:p>
        </p:txBody>
      </p:sp>
      <p:sp>
        <p:nvSpPr>
          <p:cNvPr id="17459" name="Rectangle 17458"/>
          <p:cNvSpPr/>
          <p:nvPr/>
        </p:nvSpPr>
        <p:spPr>
          <a:xfrm>
            <a:off x="8750808" y="1481328"/>
            <a:ext cx="64008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8887968" y="1463040"/>
            <a:ext cx="274320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8750808" y="2322576"/>
            <a:ext cx="64008" cy="67665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8887968" y="2304288"/>
            <a:ext cx="274320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explains the decision and assists in the driver's language — never decides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8750808" y="3163824"/>
            <a:ext cx="64008" cy="676656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8887968" y="3145536"/>
            <a:ext cx="274320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research channel only; kept outside routing by the safety-validation gate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8750808" y="4041648"/>
            <a:ext cx="288950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TextBox 17465"/>
          <p:cNvSpPr txBox="1"/>
          <p:nvPr/>
        </p:nvSpPr>
        <p:spPr>
          <a:xfrm>
            <a:off x="8750808" y="4114800"/>
            <a:ext cx="28346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GOVERNANCE CHAIN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8750808" y="4425696"/>
            <a:ext cx="2889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10195560" y="4754880"/>
            <a:ext cx="0" cy="9144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8750808" y="4864608"/>
            <a:ext cx="2889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70" name="Connector 17469"/>
          <p:cNvCxnSpPr/>
          <p:nvPr/>
        </p:nvCxnSpPr>
        <p:spPr>
          <a:xfrm>
            <a:off x="10195560" y="5193792"/>
            <a:ext cx="0" cy="9144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1" name="Rounded Rectangle 17470"/>
          <p:cNvSpPr/>
          <p:nvPr/>
        </p:nvSpPr>
        <p:spPr>
          <a:xfrm>
            <a:off x="8750808" y="5303520"/>
            <a:ext cx="2889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review</a:t>
            </a:r>
          </a:p>
        </p:txBody>
      </p:sp>
      <p:cxnSp>
        <p:nvCxnSpPr>
          <p:cNvPr id="17472" name="Connector 17471"/>
          <p:cNvCxnSpPr/>
          <p:nvPr/>
        </p:nvCxnSpPr>
        <p:spPr>
          <a:xfrm>
            <a:off x="10195560" y="5632704"/>
            <a:ext cx="0" cy="9144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3" name="Rounded Rectangle 17472"/>
          <p:cNvSpPr/>
          <p:nvPr/>
        </p:nvSpPr>
        <p:spPr>
          <a:xfrm>
            <a:off x="8750808" y="5742432"/>
            <a:ext cx="2889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969264"/>
            <a:ext cx="8229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01820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48132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1207008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1289304" y="148132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176272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258568" y="14813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DISPATCH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3282696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364992" y="14813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ACCEPT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297680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4379976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TRUCK VERIFY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5632704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5715000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NAVIGATE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784848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6867144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OFF-ROUTE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7936992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8019288" y="1481328"/>
            <a:ext cx="20574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10094976" y="1636776"/>
            <a:ext cx="6400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10177272" y="14813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65760" y="1938528"/>
            <a:ext cx="5660136" cy="3931920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512064" y="2011680"/>
            <a:ext cx="536752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REAL SCREENS FROM THE CERTIFIED RUN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84632" y="2331720"/>
            <a:ext cx="221742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mgr-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2359152"/>
            <a:ext cx="2162556" cy="3145536"/>
          </a:xfrm>
          <a:prstGeom prst="rect">
            <a:avLst/>
          </a:prstGeom>
        </p:spPr>
      </p:pic>
      <p:sp>
        <p:nvSpPr>
          <p:cNvPr id="17432" name="Rounded Rectangle 17431"/>
          <p:cNvSpPr/>
          <p:nvPr/>
        </p:nvSpPr>
        <p:spPr>
          <a:xfrm>
            <a:off x="2830068" y="2331720"/>
            <a:ext cx="1471214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truck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0" y="2359152"/>
            <a:ext cx="1416350" cy="3145536"/>
          </a:xfrm>
          <a:prstGeom prst="rect">
            <a:avLst/>
          </a:prstGeom>
        </p:spPr>
      </p:pic>
      <p:sp>
        <p:nvSpPr>
          <p:cNvPr id="17434" name="Rounded Rectangle 17433"/>
          <p:cNvSpPr/>
          <p:nvPr/>
        </p:nvSpPr>
        <p:spPr>
          <a:xfrm>
            <a:off x="4429298" y="2331720"/>
            <a:ext cx="1471214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6730" y="2359152"/>
            <a:ext cx="1416350" cy="3145536"/>
          </a:xfrm>
          <a:prstGeom prst="rect">
            <a:avLst/>
          </a:prstGeom>
        </p:spPr>
      </p:pic>
      <p:sp>
        <p:nvSpPr>
          <p:cNvPr id="17436" name="Rounded Rectangle 17435"/>
          <p:cNvSpPr/>
          <p:nvPr/>
        </p:nvSpPr>
        <p:spPr>
          <a:xfrm>
            <a:off x="512064" y="5577840"/>
            <a:ext cx="2162556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857500" y="5577840"/>
            <a:ext cx="141635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truck check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456730" y="5577840"/>
            <a:ext cx="141635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navigation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172200" y="1938528"/>
            <a:ext cx="5605272" cy="3931920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6318504" y="2011680"/>
            <a:ext cx="53126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PROOF</a:t>
            </a:r>
            <a:r>
              <a:rPr sz="950" b="0">
                <a:solidFill>
                  <a:srgbClr val="6B7280"/>
                </a:solidFill>
                <a:latin typeface="Calibri"/>
              </a:rPr>
              <a:t>   physical Android phone · hosted backend · real road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318504" y="2395728"/>
            <a:ext cx="5312664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The whole lifecycle above was run end to end on a physical Android phone against the hosted backend, on the real Guwahati → Shillong road.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318504" y="3035808"/>
            <a:ext cx="8686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232904" y="3035808"/>
            <a:ext cx="4398264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01820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6318504" y="3401568"/>
            <a:ext cx="8686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9/9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7232904" y="3401568"/>
            <a:ext cx="4398264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01820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6318504" y="3785615"/>
            <a:ext cx="5312664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1138+ </a:t>
            </a:r>
            <a:r>
              <a:rPr sz="1050" b="0">
                <a:solidFill>
                  <a:srgbClr val="101820"/>
                </a:solidFill>
                <a:latin typeface="Calibri"/>
              </a:rPr>
              <a:t>backend  ·  </a:t>
            </a:r>
            <a:r>
              <a:rPr sz="1300" b="1">
                <a:solidFill>
                  <a:srgbClr val="2563EB"/>
                </a:solidFill>
                <a:latin typeface="Calibri"/>
              </a:rPr>
              <a:t>621+ </a:t>
            </a:r>
            <a:r>
              <a:rPr sz="1050" b="0">
                <a:solidFill>
                  <a:srgbClr val="101820"/>
                </a:solidFill>
                <a:latin typeface="Calibri"/>
              </a:rPr>
              <a:t>driver  ·  </a:t>
            </a:r>
            <a:r>
              <a:rPr sz="1300" b="1">
                <a:solidFill>
                  <a:srgbClr val="2563EB"/>
                </a:solidFill>
                <a:latin typeface="Calibri"/>
              </a:rPr>
              <a:t>170+ </a:t>
            </a:r>
            <a:r>
              <a:rPr sz="1050" b="0">
                <a:solidFill>
                  <a:srgbClr val="101820"/>
                </a:solidFill>
                <a:latin typeface="Calibri"/>
              </a:rPr>
              <a:t>manager tests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6318504" y="4242816"/>
            <a:ext cx="5312664" cy="34747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6318504" y="4681728"/>
            <a:ext cx="53126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101820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318504" y="5029200"/>
            <a:ext cx="5312664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Every reroute on that run was approved by a manager before the phone followed it.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457200" y="5943600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TextBox 17450"/>
          <p:cNvSpPr txBox="1"/>
          <p:nvPr/>
        </p:nvSpPr>
        <p:spPr>
          <a:xfrm>
            <a:off x="457200" y="5989320"/>
            <a:ext cx="112928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KNOWN LIMITS → MITIGATION   </a:t>
            </a:r>
            <a:r>
              <a:rPr sz="1000" b="0">
                <a:solidFill>
                  <a:srgbClr val="101820"/>
                </a:solidFill>
                <a:latin typeface="Calibri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24128"/>
            <a:ext cx="7955279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Calibri"/>
              </a:rPr>
              <a:t>RASTA AI does not ask only </a:t>
            </a:r>
            <a:r>
              <a:rPr sz="1900" b="1">
                <a:solidFill>
                  <a:srgbClr val="101820"/>
                </a:solidFill>
                <a:latin typeface="Calibri"/>
              </a:rPr>
              <a:t>“Which road is shortest?”</a:t>
            </a:r>
            <a:r>
              <a:rPr sz="1900" b="0">
                <a:solidFill>
                  <a:srgbClr val="6B7280"/>
                </a:solidFill>
                <a:latin typeface="Calibri"/>
              </a:rPr>
              <a:t>  It asks </a:t>
            </a:r>
            <a:r>
              <a:rPr sz="1900" b="1">
                <a:solidFill>
                  <a:srgbClr val="2563EB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847088"/>
            <a:ext cx="7955279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FOOD  ·  MEDICINE  ·  FUEL  ·  RELIEF SUPPLIES</a:t>
            </a:r>
            <a:r>
              <a:rPr sz="1150" b="0">
                <a:solidFill>
                  <a:srgbClr val="6B7280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157984"/>
            <a:ext cx="8183879" cy="1499616"/>
          </a:xfrm>
          <a:prstGeom prst="roundRect">
            <a:avLst>
              <a:gd name="adj" fmla="val 6097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530352" y="2231136"/>
            <a:ext cx="789127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WHO BENEFITS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530352" y="2615184"/>
            <a:ext cx="1865376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530352" y="2670048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2542032" y="2615184"/>
            <a:ext cx="1865376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2542032" y="2670048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Safer navigation, danger context, emergency support, 23 languages.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4553712" y="2615184"/>
            <a:ext cx="1865376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4553712" y="2670048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More resilient access to food, medicine, fuel and relief supplies.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6565392" y="2615184"/>
            <a:ext cx="1865376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6565392" y="2670048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Auditable route evidence and disruption visibility per corridor.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3730752"/>
            <a:ext cx="8183879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530352" y="3803904"/>
            <a:ext cx="789127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DEMONSTRATED TODAY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66928" y="4133087"/>
            <a:ext cx="914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23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554480" y="4133087"/>
            <a:ext cx="28895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66928" y="4517136"/>
            <a:ext cx="914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11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554480" y="4517136"/>
            <a:ext cx="28895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66928" y="4901183"/>
            <a:ext cx="914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60 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554480" y="4901183"/>
            <a:ext cx="28895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544568" y="4133087"/>
            <a:ext cx="914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532120" y="4133087"/>
            <a:ext cx="28895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544568" y="4517136"/>
            <a:ext cx="914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100 %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532120" y="4517136"/>
            <a:ext cx="28895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544568" y="4901183"/>
            <a:ext cx="914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0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532120" y="4901183"/>
            <a:ext cx="288950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84048" y="5358384"/>
            <a:ext cx="8183879" cy="96926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5431536"/>
            <a:ext cx="7891271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HUMAN GOVERNANCE</a:t>
            </a:r>
            <a:r>
              <a:rPr sz="950" b="0">
                <a:solidFill>
                  <a:srgbClr val="6B7280"/>
                </a:solidFill>
                <a:latin typeface="Calibri"/>
              </a:rPr>
              <a:t>   AI has no uncontrolled authority · no invented percentages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548640" y="579729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2359151" y="5971032"/>
            <a:ext cx="155449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2569464" y="579729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4379976" y="5971032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4590288" y="579729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6400800" y="5971032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6611112" y="579729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8641080" y="1097280"/>
            <a:ext cx="3136392" cy="5230368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787384" y="1170432"/>
            <a:ext cx="284378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Calibri"/>
              </a:rPr>
              <a:t>REAL SCREENS · APK 1.0.18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8759952" y="1508760"/>
            <a:ext cx="1678180" cy="23408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8" name="Picture 17447" descr="phone-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7384" y="1536192"/>
            <a:ext cx="1623316" cy="2286000"/>
          </a:xfrm>
          <a:prstGeom prst="rect">
            <a:avLst/>
          </a:prstGeom>
        </p:spPr>
      </p:pic>
      <p:sp>
        <p:nvSpPr>
          <p:cNvPr id="17449" name="Rounded Rectangle 17448"/>
          <p:cNvSpPr/>
          <p:nvPr/>
        </p:nvSpPr>
        <p:spPr>
          <a:xfrm>
            <a:off x="8787384" y="3895344"/>
            <a:ext cx="1623316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10529572" y="1508760"/>
            <a:ext cx="1133037" cy="23408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phone-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7004" y="1536192"/>
            <a:ext cx="1078173" cy="2286000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10557004" y="3895344"/>
            <a:ext cx="1078173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mobile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787384" y="4279392"/>
            <a:ext cx="2843784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24128"/>
            <a:ext cx="6766560" cy="4480560"/>
          </a:xfrm>
          <a:prstGeom prst="roundRect">
            <a:avLst>
              <a:gd name="adj" fmla="val 204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30352" y="1097280"/>
            <a:ext cx="647395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Calibri"/>
              </a:rPr>
              <a:t>RESEARCH / EVIDENCE SOURCES BEHIND THE ROUTE DECISION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530352" y="1481328"/>
            <a:ext cx="310896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530352" y="1536192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real road geometry, alternatives and turn steps; place search on the corridor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3858768" y="1481328"/>
            <a:ext cx="310895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3858768" y="1536192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forecast sampled along the road; climb, gradient and steep segments (GLO-90)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530352" y="2798064"/>
            <a:ext cx="310896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530352" y="2852928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official warnings polled with freshness; river discharge against its 30-day mean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858768" y="2798064"/>
            <a:ext cx="310895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3858768" y="2852928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historical exposure; inventory 2007–2017, ≤5 km location-accuracy filter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530352" y="4114800"/>
            <a:ext cx="310896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530352" y="4169663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explains the decision in the driver's language — never safety authority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3858768" y="4114800"/>
            <a:ext cx="310895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3858768" y="4169663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AI-based smart logistics and accessibility intelligence for the NER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7379208" y="1024128"/>
            <a:ext cx="4535424" cy="4480560"/>
          </a:xfrm>
          <a:prstGeom prst="roundRect">
            <a:avLst>
              <a:gd name="adj" fmla="val 2040"/>
            </a:avLst>
          </a:prstGeom>
          <a:solidFill>
            <a:srgbClr val="F7F8FA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7543800" y="1152144"/>
            <a:ext cx="42062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EXPERIMENTAL LANDSLIDE RESEARCH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543800" y="1389888"/>
            <a:ext cx="169164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101820"/>
                </a:solidFill>
                <a:latin typeface="Calibri"/>
              </a:rPr>
              <a:t>95 %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235440" y="1426464"/>
            <a:ext cx="2514599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on the NER geographic holdout — 154 catalogued events, no NER row used in training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7543800" y="2395728"/>
            <a:ext cx="4206240" cy="749808"/>
          </a:xfrm>
          <a:prstGeom prst="roundRect">
            <a:avLst>
              <a:gd name="adj" fmla="val 12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7543800" y="2450592"/>
            <a:ext cx="420624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CA3AF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543800" y="3218688"/>
            <a:ext cx="42062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FPR 50 %</a:t>
            </a:r>
            <a:r>
              <a:rPr sz="1000" b="0">
                <a:solidFill>
                  <a:srgbClr val="6B7280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543800" y="3602736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TRAIN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266175" y="3730752"/>
            <a:ext cx="59436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8334756" y="3602736"/>
            <a:ext cx="148132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9825228" y="3730752"/>
            <a:ext cx="5943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9893808" y="3602736"/>
            <a:ext cx="162763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USEFUL SIGNAL FOUND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11530584" y="3730752"/>
            <a:ext cx="5943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7543800" y="3968496"/>
            <a:ext cx="181051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9363456" y="4096511"/>
            <a:ext cx="59436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9432036" y="3968496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01820"/>
                </a:solidFill>
                <a:latin typeface="Calibri"/>
              </a:rPr>
              <a:t>SAFETY GATE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10428732" y="4096511"/>
            <a:ext cx="5943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10497312" y="3968496"/>
            <a:ext cx="115214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543800" y="4352544"/>
            <a:ext cx="42062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Calibri"/>
              </a:rPr>
              <a:t>VALIDATION BEFORE AUTOMATION. </a:t>
            </a:r>
            <a:r>
              <a:rPr sz="1050" b="0">
                <a:solidFill>
                  <a:srgbClr val="101820"/>
                </a:solidFill>
                <a:latin typeface="Calibri"/>
              </a:rPr>
              <a:t>Strong recall was not enough. Held-out testing exposed the false-positive rate, so the gate keeps the model out of routing.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543800" y="4992624"/>
            <a:ext cx="4206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Precision 0.32 · F1 0.48 · PR-AUC 0.55 · ROC-AUC 0.83 · Brier 0.12 · calibrated logistic regression on NASA GLC + ERA5-Land rain + DEM slope · docs/HAZARD_ERROR_ANALYSIS.md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457200" y="5632704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TextBox 17444"/>
          <p:cNvSpPr txBox="1"/>
          <p:nvPr/>
        </p:nvSpPr>
        <p:spPr>
          <a:xfrm>
            <a:off x="457200" y="5687568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REFERENCES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57200" y="5897880"/>
            <a:ext cx="112928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registry, error analysis)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>Built by docs/submission/build_final_deck.py from docs/PPT_SOURCE_OF_TRUTH.md.</dc:description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