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1.png"/><Relationship Id="rId9" Type="http://schemas.openxmlformats.org/officeDocument/2006/relationships/image" Target="../media/image5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4.png"/><Relationship Id="rId1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Problem Statement ID - </a:t>
            </a:r>
            <a:r>
              <a:rPr sz="1550">
                <a:solidFill>
                  <a:srgbClr val="253243"/>
                </a:solidFill>
                <a:latin typeface="Aptos"/>
              </a:rPr>
              <a:t>SIH26002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Problem Statement Title - </a:t>
            </a:r>
            <a:r>
              <a:rPr sz="1350">
                <a:solidFill>
                  <a:srgbClr val="253243"/>
                </a:solidFill>
                <a:latin typeface="Aptos"/>
              </a:rPr>
              <a:t>AI-Based Smart Logistics and Accessibility Intelligence Platform for North Eastern Region (NER)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Theme - </a:t>
            </a:r>
            <a:r>
              <a:rPr sz="1550">
                <a:solidFill>
                  <a:srgbClr val="253243"/>
                </a:solidFill>
                <a:latin typeface="Aptos"/>
              </a:rPr>
              <a:t>Smart Automation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PS Category - </a:t>
            </a:r>
            <a:r>
              <a:rPr sz="1550">
                <a:solidFill>
                  <a:srgbClr val="253243"/>
                </a:solidFill>
                <a:latin typeface="Aptos"/>
              </a:rPr>
              <a:t>Software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Team ID - </a:t>
            </a:r>
            <a:r>
              <a:rPr sz="1550">
                <a:solidFill>
                  <a:srgbClr val="253243"/>
                </a:solidFill>
                <a:latin typeface="Aptos"/>
              </a:rPr>
              <a:t>[REGISTERED TEAM ID]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Team Name - </a:t>
            </a:r>
            <a:r>
              <a:rPr sz="1550">
                <a:solidFill>
                  <a:srgbClr val="253243"/>
                </a:solidFill>
                <a:latin typeface="Aptos"/>
              </a:rPr>
              <a:t>NER-AI Logistics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583680" y="2537460"/>
            <a:ext cx="4632960" cy="2743200"/>
          </a:xfrm>
          <a:prstGeom prst="roundRect">
            <a:avLst/>
          </a:prstGeom>
          <a:solidFill>
            <a:srgbClr val="F5F9FC"/>
          </a:solidFill>
          <a:ln w="16510"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49440" y="2743200"/>
            <a:ext cx="1584960" cy="288036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WORKING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086100"/>
            <a:ext cx="3779520" cy="6172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1A4667"/>
                </a:solidFill>
                <a:latin typeface="Aptos"/>
              </a:rPr>
              <a:t>RASTA-AI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634740"/>
            <a:ext cx="3779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48B97"/>
                </a:solidFill>
                <a:latin typeface="Aptos"/>
              </a:rPr>
              <a:t>Route Accessibility, Safety, Terrain &amp;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183380"/>
            <a:ext cx="37795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253243"/>
                </a:solidFill>
                <a:latin typeface="Aptos"/>
              </a:rPr>
              <a:t>Resilient logistics intelligence for North East India - designed to scale across India.</a:t>
            </a:r>
          </a:p>
        </p:txBody>
      </p:sp>
      <p:sp>
        <p:nvSpPr>
          <p:cNvPr id="43" name="Oval 42"/>
          <p:cNvSpPr/>
          <p:nvPr/>
        </p:nvSpPr>
        <p:spPr>
          <a:xfrm>
            <a:off x="9997440" y="2811780"/>
            <a:ext cx="514350" cy="514350"/>
          </a:xfrm>
          <a:prstGeom prst="ellipse">
            <a:avLst/>
          </a:prstGeom>
          <a:solidFill>
            <a:srgbClr val="E8F4F8"/>
          </a:solidFill>
          <a:ln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597" y="2924937"/>
            <a:ext cx="288036" cy="288036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9997440" y="3566160"/>
            <a:ext cx="514350" cy="514350"/>
          </a:xfrm>
          <a:prstGeom prst="ellipse">
            <a:avLst/>
          </a:prstGeom>
          <a:solidFill>
            <a:srgbClr val="F8F0E2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un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597" y="3679317"/>
            <a:ext cx="288036" cy="288036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9997440" y="4320540"/>
            <a:ext cx="514350" cy="514350"/>
          </a:xfrm>
          <a:prstGeom prst="ellipse">
            <a:avLst/>
          </a:prstGeom>
          <a:solidFill>
            <a:srgbClr val="ECEEFA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597" y="4433697"/>
            <a:ext cx="288036" cy="288036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949440" y="4972050"/>
            <a:ext cx="3779520" cy="308610"/>
          </a:xfrm>
          <a:prstGeom prst="roundRect">
            <a:avLst/>
          </a:prstGeom>
          <a:solidFill>
            <a:srgbClr val="1A4667"/>
          </a:solidFill>
          <a:ln w="10160">
            <a:solidFill>
              <a:srgbClr val="1A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NER-FIRST PILOT  |  PAN-INDIA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731520" y="1028700"/>
            <a:ext cx="8290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A4667"/>
                </a:solidFill>
                <a:latin typeface="Aptos"/>
              </a:rPr>
              <a:t>RASTA-AI: Resilient Logistics Intelligence Platform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9144000" y="1097280"/>
            <a:ext cx="1950720" cy="3429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NER-FIRST • INDIA-SCALE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960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609600" y="1714500"/>
            <a:ext cx="59253" cy="3017520"/>
          </a:xfrm>
          <a:prstGeom prst="rect">
            <a:avLst/>
          </a:prstGeom>
          <a:solidFill>
            <a:srgbClr val="D2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6" name="Picture 15365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51" y="2016252"/>
            <a:ext cx="603504" cy="603504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202131" y="1955901"/>
            <a:ext cx="2567636" cy="7242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D24D49"/>
                </a:solidFill>
                <a:latin typeface="Aptos"/>
              </a:rPr>
              <a:t>PROBLEM WE SOLVE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90651" y="2710281"/>
            <a:ext cx="2962656" cy="1840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Monsoon, landslides and road disruptions can invalidate a planned route.
• Weak connectivity makes phone-only navigation fragile.
• Generic fleet tools track location, but do not explain operational route risk.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38912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4389120" y="1714500"/>
            <a:ext cx="59253" cy="30175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1" name="Picture 15370" descr="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171" y="2016252"/>
            <a:ext cx="603504" cy="603504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4981651" y="1955901"/>
            <a:ext cx="2567636" cy="7242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148B97"/>
                </a:solidFill>
                <a:latin typeface="Aptos"/>
              </a:rPr>
              <a:t>PROPOSED SOLUTION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570171" y="2710281"/>
            <a:ext cx="2962656" cy="1840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Manager + Driver applications on one shared backend.
• Real routing + weather-aware Route Risk V1.
• Explainable route recommendation and human-approved rerouting.
• Live GPS freshness + offline-resilience foundations.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816864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ectangle 15374"/>
          <p:cNvSpPr/>
          <p:nvPr/>
        </p:nvSpPr>
        <p:spPr>
          <a:xfrm>
            <a:off x="8168640" y="1714500"/>
            <a:ext cx="59253" cy="3017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6" name="Picture 15375" descr="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691" y="2016252"/>
            <a:ext cx="603504" cy="603504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8761171" y="1955901"/>
            <a:ext cx="2567636" cy="7242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6C5CE7"/>
                </a:solidFill>
                <a:latin typeface="Aptos"/>
              </a:rPr>
              <a:t>WHAT MAKES IT UNIQUE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349691" y="2710281"/>
            <a:ext cx="2962656" cy="18406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NER Road Memory concept: recurrence, closure, repair evidence and verified-open status.
• Evidence-first design: no fake route, no fake ETA, no fake AI.
• Deterministic intelligence today; ML only after labelled ground truth exists.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09600" y="4937760"/>
            <a:ext cx="2682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PROTOTYPE TODAY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09600" y="5280660"/>
            <a:ext cx="1926336" cy="30861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Live GPS + freshness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2657856" y="5280660"/>
            <a:ext cx="1926336" cy="308610"/>
          </a:xfrm>
          <a:prstGeom prst="roundRect">
            <a:avLst/>
          </a:prstGeom>
          <a:solidFill>
            <a:srgbClr val="1F4F91"/>
          </a:solidFill>
          <a:ln w="10160"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Real route + backup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706112" y="5280660"/>
            <a:ext cx="1645920" cy="308610"/>
          </a:xfrm>
          <a:prstGeom prst="roundRect">
            <a:avLst/>
          </a:prstGeom>
          <a:solidFill>
            <a:srgbClr val="32AFC4"/>
          </a:solidFill>
          <a:ln w="10160"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Weather risk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473952" y="5280660"/>
            <a:ext cx="1645920" cy="30861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Human reroute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241791" y="5280660"/>
            <a:ext cx="1926336" cy="30861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Driver progress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10290047" y="5280660"/>
            <a:ext cx="1926336" cy="308610"/>
          </a:xfrm>
          <a:prstGeom prst="roundRect">
            <a:avLst/>
          </a:prstGeom>
          <a:solidFill>
            <a:srgbClr val="F28E2B"/>
          </a:solidFill>
          <a:ln w="1016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en/hi/as catalogue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028700"/>
            <a:ext cx="2682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1. CLIENTS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09600" y="1371600"/>
            <a:ext cx="1706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609600" y="1371600"/>
            <a:ext cx="30723" cy="96012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" y="1467612"/>
            <a:ext cx="192024" cy="1920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16838" y="1448409"/>
            <a:ext cx="1331367" cy="2304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1F4F91"/>
                </a:solidFill>
                <a:latin typeface="Aptos"/>
              </a:rPr>
              <a:t>Manager Web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3478" y="1688439"/>
            <a:ext cx="1536192" cy="58567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React + TypeScript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682240" y="1371600"/>
            <a:ext cx="1706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2682240" y="1371600"/>
            <a:ext cx="30723" cy="9601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118" y="1467612"/>
            <a:ext cx="192024" cy="19202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989478" y="1448409"/>
            <a:ext cx="1331367" cy="2304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148B97"/>
                </a:solidFill>
                <a:latin typeface="Aptos"/>
              </a:rPr>
              <a:t>Driver App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776118" y="1688439"/>
            <a:ext cx="1536192" cy="58567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React Native + Expo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54880" y="10287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2. CORE PLATFORM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632960" y="1371600"/>
            <a:ext cx="3901440" cy="2606040"/>
          </a:xfrm>
          <a:prstGeom prst="roundRect">
            <a:avLst/>
          </a:prstGeom>
          <a:solidFill>
            <a:srgbClr val="F3F8FC"/>
          </a:solidFill>
          <a:ln w="19050">
            <a:solidFill>
              <a:srgbClr val="B4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998720" y="1508760"/>
            <a:ext cx="316992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1A4667"/>
                </a:solidFill>
                <a:latin typeface="Aptos"/>
              </a:rPr>
              <a:t>FastAPI / Python Services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4998720" y="205740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175" y="2135855"/>
            <a:ext cx="199704" cy="19970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522976" y="205740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Auth + RBAC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6705600" y="205740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055" y="2135855"/>
            <a:ext cx="199704" cy="19970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229856" y="205740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Trip State + Dispatch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4998720" y="267462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g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7175" y="2753075"/>
            <a:ext cx="199704" cy="19970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5522976" y="267462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GPS Ingest + Freshness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6705600" y="267462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Picture 17433" descr="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055" y="2753075"/>
            <a:ext cx="199704" cy="19970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7229856" y="267462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Routing + Recommendation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4998720" y="329184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7175" y="3370295"/>
            <a:ext cx="199704" cy="199704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522976" y="329184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Weather + Route Risk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705600" y="329184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rerou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055" y="3370295"/>
            <a:ext cx="199704" cy="19970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229856" y="3291840"/>
            <a:ext cx="109728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Reroute + Offline Package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900160" y="1028700"/>
            <a:ext cx="2438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3. DATA / PROVIDERS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778240" y="137160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8778240" y="1371600"/>
            <a:ext cx="46085" cy="72009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ro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9057" y="1443609"/>
            <a:ext cx="144018" cy="14401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9239097" y="1429207"/>
            <a:ext cx="1997051" cy="17282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1F4F91"/>
                </a:solidFill>
                <a:latin typeface="Aptos"/>
              </a:rPr>
              <a:t>OSRM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919057" y="1609229"/>
            <a:ext cx="2304288" cy="4392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69" b="0" i="0">
                <a:solidFill>
                  <a:srgbClr val="253243"/>
                </a:solidFill>
                <a:latin typeface="Aptos"/>
              </a:rPr>
              <a:t>Routing + alternatives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778240" y="226314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8778240" y="2263140"/>
            <a:ext cx="46085" cy="72009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9057" y="2335149"/>
            <a:ext cx="144018" cy="144018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239097" y="2320747"/>
            <a:ext cx="1997051" cy="17282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148B97"/>
                </a:solidFill>
                <a:latin typeface="Aptos"/>
              </a:rPr>
              <a:t>Open-Meteo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919057" y="2500769"/>
            <a:ext cx="2304288" cy="4392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69" b="0" i="0">
                <a:solidFill>
                  <a:srgbClr val="253243"/>
                </a:solidFill>
                <a:latin typeface="Aptos"/>
              </a:rPr>
              <a:t>Weather along corridor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778240" y="315468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8778240" y="3154680"/>
            <a:ext cx="46085" cy="72009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mount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9057" y="3226689"/>
            <a:ext cx="144018" cy="144018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9239097" y="3212287"/>
            <a:ext cx="1997051" cy="17282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F28E2B"/>
                </a:solidFill>
                <a:latin typeface="Aptos"/>
              </a:rPr>
              <a:t>Future: GSI + road authorities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919057" y="3392309"/>
            <a:ext cx="2304288" cy="4392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69" b="0" i="0">
                <a:solidFill>
                  <a:srgbClr val="253243"/>
                </a:solidFill>
                <a:latin typeface="Aptos"/>
              </a:rPr>
              <a:t>Landslide / reopen evidence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4389120" y="2125980"/>
            <a:ext cx="243840" cy="0"/>
          </a:xfrm>
          <a:prstGeom prst="line">
            <a:avLst/>
          </a:prstGeom>
          <a:ln w="25400">
            <a:solidFill>
              <a:srgbClr val="1F4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Isosceles Triangle 17458"/>
          <p:cNvSpPr/>
          <p:nvPr/>
        </p:nvSpPr>
        <p:spPr>
          <a:xfrm rot="5400000">
            <a:off x="4578096" y="2071116"/>
            <a:ext cx="109728" cy="109728"/>
          </a:xfrm>
          <a:prstGeom prst="triangl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60" name="Connector 17459"/>
          <p:cNvCxnSpPr/>
          <p:nvPr/>
        </p:nvCxnSpPr>
        <p:spPr>
          <a:xfrm>
            <a:off x="8534400" y="2674620"/>
            <a:ext cx="243840" cy="0"/>
          </a:xfrm>
          <a:prstGeom prst="line">
            <a:avLst/>
          </a:prstGeom>
          <a:ln w="25400">
            <a:solidFill>
              <a:srgbClr val="1F4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Isosceles Triangle 17460"/>
          <p:cNvSpPr/>
          <p:nvPr/>
        </p:nvSpPr>
        <p:spPr>
          <a:xfrm rot="5400000">
            <a:off x="8723376" y="2619756"/>
            <a:ext cx="109728" cy="109728"/>
          </a:xfrm>
          <a:prstGeom prst="triangl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731520" y="4251960"/>
            <a:ext cx="10607040" cy="617220"/>
          </a:xfrm>
          <a:prstGeom prst="roundRect">
            <a:avLst/>
          </a:prstGeom>
          <a:solidFill>
            <a:srgbClr val="E9F3F8"/>
          </a:solidFill>
          <a:ln w="12700">
            <a:solidFill>
              <a:srgbClr val="B1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data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360" y="4354830"/>
            <a:ext cx="342900" cy="342900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1463040" y="4320540"/>
            <a:ext cx="95097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40" b="1" i="0">
                <a:solidFill>
                  <a:srgbClr val="1A4667"/>
                </a:solidFill>
                <a:latin typeface="Aptos"/>
              </a:rPr>
              <a:t>Supabase PostgreSQL + PostGIS  |  trip_routes  |  gps_points  |  assignments  |  audit_logs  |  geospatial indexes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609600" y="5074920"/>
            <a:ext cx="2438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80" b="1" i="0">
                <a:solidFill>
                  <a:srgbClr val="1A4667"/>
                </a:solidFill>
                <a:latin typeface="Aptos"/>
              </a:rPr>
              <a:t>WORKING METHODOLOGY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609600" y="5486400"/>
            <a:ext cx="1219200" cy="342900"/>
          </a:xfrm>
          <a:prstGeom prst="roundRect">
            <a:avLst/>
          </a:prstGeom>
          <a:solidFill>
            <a:srgbClr val="1F4F91"/>
          </a:solidFill>
          <a:ln w="10160"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86537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Isosceles Triangle 17467"/>
          <p:cNvSpPr/>
          <p:nvPr/>
        </p:nvSpPr>
        <p:spPr>
          <a:xfrm rot="5400000">
            <a:off x="198120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2072640" y="5486400"/>
            <a:ext cx="1219200" cy="3429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332841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Isosceles Triangle 17470"/>
          <p:cNvSpPr/>
          <p:nvPr/>
        </p:nvSpPr>
        <p:spPr>
          <a:xfrm rot="5400000">
            <a:off x="344424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ounded Rectangle 17471"/>
          <p:cNvSpPr/>
          <p:nvPr/>
        </p:nvSpPr>
        <p:spPr>
          <a:xfrm>
            <a:off x="3535680" y="5486400"/>
            <a:ext cx="1219200" cy="342900"/>
          </a:xfrm>
          <a:prstGeom prst="roundRect">
            <a:avLst/>
          </a:prstGeom>
          <a:solidFill>
            <a:srgbClr val="32AFC4"/>
          </a:solidFill>
          <a:ln w="10160"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DISPATCH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4791455" y="5657850"/>
            <a:ext cx="170689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4" name="Isosceles Triangle 17473"/>
          <p:cNvSpPr/>
          <p:nvPr/>
        </p:nvSpPr>
        <p:spPr>
          <a:xfrm rot="5400000">
            <a:off x="490728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ounded Rectangle 17474"/>
          <p:cNvSpPr/>
          <p:nvPr/>
        </p:nvSpPr>
        <p:spPr>
          <a:xfrm>
            <a:off x="4998720" y="5486400"/>
            <a:ext cx="1219200" cy="34290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625449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Isosceles Triangle 17476"/>
          <p:cNvSpPr/>
          <p:nvPr/>
        </p:nvSpPr>
        <p:spPr>
          <a:xfrm rot="5400000">
            <a:off x="637032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Rounded Rectangle 17477"/>
          <p:cNvSpPr/>
          <p:nvPr/>
        </p:nvSpPr>
        <p:spPr>
          <a:xfrm>
            <a:off x="6461760" y="5486400"/>
            <a:ext cx="1219200" cy="342900"/>
          </a:xfrm>
          <a:prstGeom prst="roundRect">
            <a:avLst/>
          </a:prstGeom>
          <a:solidFill>
            <a:srgbClr val="F28E2B"/>
          </a:solidFill>
          <a:ln w="1016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REASSESS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771753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0" name="Isosceles Triangle 17479"/>
          <p:cNvSpPr/>
          <p:nvPr/>
        </p:nvSpPr>
        <p:spPr>
          <a:xfrm rot="5400000">
            <a:off x="783336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Rounded Rectangle 17480"/>
          <p:cNvSpPr/>
          <p:nvPr/>
        </p:nvSpPr>
        <p:spPr>
          <a:xfrm>
            <a:off x="7924800" y="5486400"/>
            <a:ext cx="1828800" cy="34290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HUMAN REROUTE</a:t>
            </a:r>
          </a:p>
        </p:txBody>
      </p:sp>
      <p:cxnSp>
        <p:nvCxnSpPr>
          <p:cNvPr id="17482" name="Connector 17481"/>
          <p:cNvCxnSpPr/>
          <p:nvPr/>
        </p:nvCxnSpPr>
        <p:spPr>
          <a:xfrm>
            <a:off x="979017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3" name="Isosceles Triangle 17482"/>
          <p:cNvSpPr/>
          <p:nvPr/>
        </p:nvSpPr>
        <p:spPr>
          <a:xfrm rot="5400000">
            <a:off x="990600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4" name="Rounded Rectangle 17483"/>
          <p:cNvSpPr/>
          <p:nvPr/>
        </p:nvSpPr>
        <p:spPr>
          <a:xfrm>
            <a:off x="9997440" y="5486400"/>
            <a:ext cx="1219200" cy="342900"/>
          </a:xfrm>
          <a:prstGeom prst="roundRect">
            <a:avLst/>
          </a:prstGeom>
          <a:solidFill>
            <a:srgbClr val="1A4667"/>
          </a:solidFill>
          <a:ln w="10160">
            <a:solidFill>
              <a:srgbClr val="1A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9600" y="1097280"/>
            <a:ext cx="3413760" cy="2880360"/>
          </a:xfrm>
          <a:prstGeom prst="roundRect">
            <a:avLst/>
          </a:prstGeom>
          <a:solidFill>
            <a:srgbClr val="F6FBF8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609600" y="1097280"/>
            <a:ext cx="61447" cy="288036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" y="1385316"/>
            <a:ext cx="576072" cy="57607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224076" y="1327708"/>
            <a:ext cx="2662734" cy="69128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349A67"/>
                </a:solidFill>
                <a:latin typeface="Aptos"/>
              </a:rPr>
              <a:t>WHY IT IS FEASIBLE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97356" y="2047798"/>
            <a:ext cx="3072384" cy="17570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Software-first MVP: phone GPS + existing web/mobile clients.
• Provider abstraction avoids hard vendor lock-in.
• PostGIS fits routes, tracks and future hazard layers.
• Deterministic risk/recommendation works before ML.
• Existing prototype already exercises the full trip lifecycle.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89120" y="1097280"/>
            <a:ext cx="3413760" cy="2880360"/>
          </a:xfrm>
          <a:prstGeom prst="roundRect">
            <a:avLst/>
          </a:prstGeom>
          <a:solidFill>
            <a:srgbClr val="FDF9F4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389120" y="1097280"/>
            <a:ext cx="61447" cy="28803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7" name="Picture 17416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876" y="1385316"/>
            <a:ext cx="576072" cy="57607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5003596" y="1327708"/>
            <a:ext cx="2662734" cy="69128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28E2B"/>
                </a:solidFill>
                <a:latin typeface="Aptos"/>
              </a:rPr>
              <a:t>CHALLENGES / RISKS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6876" y="2047798"/>
            <a:ext cx="3072384" cy="17570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External routing/weather services have uptime limits.
• Road-reopen truth is fragmented across authorities.
• Dead zones require legal offline map packaging.
• Risk thresholds are not yet statistically calibrated.
• Physical Android + language quality still require field validation.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68640" y="1097280"/>
            <a:ext cx="3413760" cy="2880360"/>
          </a:xfrm>
          <a:prstGeom prst="roundRect">
            <a:avLst/>
          </a:prstGeom>
          <a:solidFill>
            <a:srgbClr val="F7F9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8168640" y="1097280"/>
            <a:ext cx="61447" cy="288036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96" y="1385316"/>
            <a:ext cx="576072" cy="57607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8783116" y="1327708"/>
            <a:ext cx="2662734" cy="69128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F91"/>
                </a:solidFill>
                <a:latin typeface="Aptos"/>
              </a:rPr>
              <a:t>MITIGATION STRATEGY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356396" y="2047798"/>
            <a:ext cx="3072384" cy="17570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Graceful provider failure + explicit stale / unavailable states.
• Human-in-the-loop reroute; no silent route changes.
• CLOSED → REPAIR REPORTED → VERIFY → VERIFIED OPEN.
• Offline package + store-and-forward telemetry design.
• Separate deterministic logic from future ML; keep audit trail.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09600" y="42519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A4667"/>
                </a:solidFill>
                <a:latin typeface="Aptos"/>
              </a:rPr>
              <a:t>FUTURE UPGRADE ROADMAP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0960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609600" y="4732020"/>
            <a:ext cx="61447" cy="11658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mount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" y="4848606"/>
            <a:ext cx="233172" cy="233172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224076" y="4825288"/>
            <a:ext cx="2662734" cy="27980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F28E2B"/>
                </a:solidFill>
                <a:latin typeface="Aptos"/>
              </a:rPr>
              <a:t>PHASE A • ROAD MEMORY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97356" y="5116753"/>
            <a:ext cx="3072384" cy="71117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Apply reviewed schema → ingest GSI / authority evidence → recurrence + verified-open history.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2816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4328160" y="4732020"/>
            <a:ext cx="61447" cy="116586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down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5916" y="4848606"/>
            <a:ext cx="233172" cy="23317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942636" y="4825288"/>
            <a:ext cx="2662734" cy="27980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148B97"/>
                </a:solidFill>
                <a:latin typeface="Aptos"/>
              </a:rPr>
              <a:t>PHASE B • OFFLINE &amp; SAFETY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15916" y="5116753"/>
            <a:ext cx="3072384" cy="71117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Licensed offline basemap + durable queue + TTS + SOS + optional truck GNSS backup.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04672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8046720" y="4732020"/>
            <a:ext cx="61447" cy="1165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476" y="4848606"/>
            <a:ext cx="233172" cy="233172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661196" y="4825288"/>
            <a:ext cx="2662734" cy="27980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6C5CE7"/>
                </a:solidFill>
                <a:latin typeface="Aptos"/>
              </a:rPr>
              <a:t>PHASE C • PREDICTIVE + INDIA SCALE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234476" y="5116753"/>
            <a:ext cx="3072384" cy="71117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Labelled dataset → calibrated ML risk model → truck constraints / terrain → state-specific expansion.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267200" y="1165860"/>
            <a:ext cx="3657600" cy="960120"/>
          </a:xfrm>
          <a:prstGeom prst="roundRect">
            <a:avLst/>
          </a:prstGeom>
          <a:solidFill>
            <a:srgbClr val="EFF7FB"/>
          </a:solidFill>
          <a:ln w="1778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632960" y="13030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148B97"/>
                </a:solidFill>
                <a:latin typeface="Aptos"/>
              </a:rPr>
              <a:t>NOT JUST A FLEET TRACKER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632960" y="1577340"/>
            <a:ext cx="29260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1A4667"/>
                </a:solidFill>
                <a:latin typeface="Aptos"/>
              </a:rPr>
              <a:t>A resilient decision layer for when roads, weather and connectivity cannot be assumed.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09600" y="12344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609600" y="1234440"/>
            <a:ext cx="61447" cy="16459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" y="1399032"/>
            <a:ext cx="329184" cy="32918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224076" y="1366113"/>
            <a:ext cx="2662734" cy="3950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148B97"/>
                </a:solidFill>
                <a:latin typeface="Aptos"/>
              </a:rPr>
              <a:t>DRIVERS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97356" y="1777593"/>
            <a:ext cx="3072384" cy="10040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Safer, explainable route guidance
• Dead-zone resilience foundations
• Multilingual alerts + route progress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68640" y="12344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8168640" y="1234440"/>
            <a:ext cx="61447" cy="164592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96" y="1399032"/>
            <a:ext cx="329184" cy="32918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8783116" y="1366113"/>
            <a:ext cx="2662734" cy="3950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1F4F91"/>
                </a:solidFill>
                <a:latin typeface="Aptos"/>
              </a:rPr>
              <a:t>FLEET MANAGERS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356396" y="1777593"/>
            <a:ext cx="3072384" cy="10040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Live operational visibility
• Route trade-offs + human reroute
• Clear LIVE / STALE / NO CONTACT states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09600" y="32918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609600" y="3291840"/>
            <a:ext cx="61447" cy="16459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" y="3456432"/>
            <a:ext cx="329184" cy="32918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224076" y="3423513"/>
            <a:ext cx="2662734" cy="3950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F28E2B"/>
                </a:solidFill>
                <a:latin typeface="Aptos"/>
              </a:rPr>
              <a:t>GOVERNMENT / REGION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97356" y="3834993"/>
            <a:ext cx="3072384" cy="10040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Road-event evidence foundation
• Accessibility intelligence for NER corridors
• Scalable district/state deployment model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168640" y="32918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8168640" y="3291840"/>
            <a:ext cx="61447" cy="164592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96" y="3456432"/>
            <a:ext cx="329184" cy="32918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8783116" y="3423513"/>
            <a:ext cx="2662734" cy="3950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349A67"/>
                </a:solidFill>
                <a:latin typeface="Aptos"/>
              </a:rPr>
              <a:t>BUSINESS / COMMUNITY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356396" y="3834993"/>
            <a:ext cx="3072384" cy="10040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More reliable deliveries
• Less manual coordination during disruption
• Better route transparency for essential logistics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267200" y="253746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A4667"/>
                </a:solidFill>
                <a:latin typeface="Aptos"/>
              </a:rPr>
              <a:t>BENEFIT LENS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89120" y="288036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4511040" y="2976372"/>
            <a:ext cx="853440" cy="274320"/>
          </a:xfrm>
          <a:prstGeom prst="roundRect">
            <a:avLst/>
          </a:prstGeom>
          <a:solidFill>
            <a:srgbClr val="D24D49"/>
          </a:solidFill>
          <a:ln w="10160">
            <a:solidFill>
              <a:srgbClr val="D2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SOCIAL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86400" y="2962656"/>
            <a:ext cx="219456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Driver safety &amp; accessibility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89120" y="349758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4511040" y="3593592"/>
            <a:ext cx="853440" cy="27432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ECONOMIC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486400" y="3579876"/>
            <a:ext cx="219456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Fewer avoidable disruptions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389120" y="411480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511040" y="4210812"/>
            <a:ext cx="853440" cy="27432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ENVIRONMENTAL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486400" y="4197096"/>
            <a:ext cx="219456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Reduce needless detours / idling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389120" y="473202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4511040" y="4828032"/>
            <a:ext cx="853440" cy="27432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STRATEGIC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486400" y="4814316"/>
            <a:ext cx="219456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NER-first, pan-India reusable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028700"/>
            <a:ext cx="512064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A4667"/>
                </a:solidFill>
                <a:latin typeface="Aptos"/>
              </a:rPr>
              <a:t>RESEARCH BASIS / DATA AVAILABILITY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09600" y="1440180"/>
            <a:ext cx="5120640" cy="10287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609600" y="1440180"/>
            <a:ext cx="92171" cy="102870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mount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35" y="1543050"/>
            <a:ext cx="205740" cy="20574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531315" y="1522476"/>
            <a:ext cx="399410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F28E2B"/>
                </a:solidFill>
                <a:latin typeface="Aptos"/>
              </a:rPr>
              <a:t>GSI - NATIONAL LANDSLIDE FORECASTING CENTRE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91235" y="1779651"/>
            <a:ext cx="4608576" cy="6275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40" b="0" i="0">
                <a:solidFill>
                  <a:srgbClr val="253243"/>
                </a:solidFill>
                <a:latin typeface="Aptos"/>
              </a:rPr>
              <a:t>Bhusanket exposes susceptibility maps, forecast bulletins and a field-validated landslide inventory. 36,072 inventory entries were shown on the portal (accessed 02 Sep 2026).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9600" y="2606040"/>
            <a:ext cx="5120640" cy="1028700"/>
          </a:xfrm>
          <a:prstGeom prst="roundRect">
            <a:avLst/>
          </a:prstGeom>
          <a:solidFill>
            <a:srgbClr val="F7FBF9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609600" y="2606040"/>
            <a:ext cx="92171" cy="102870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5" y="2708910"/>
            <a:ext cx="205740" cy="20574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1531315" y="2688336"/>
            <a:ext cx="399410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349A67"/>
                </a:solidFill>
                <a:latin typeface="Aptos"/>
              </a:rPr>
              <a:t>MDoNER - LOGISTICS MODERNISATION ALIGNMENT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91235" y="2945511"/>
            <a:ext cx="4608576" cy="6275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40" b="0" i="0">
                <a:solidFill>
                  <a:srgbClr val="253243"/>
                </a:solidFill>
                <a:latin typeface="Aptos"/>
              </a:rPr>
              <a:t>MDoNER reports an Industry 4.0 + Logistics Roadmap for NER, approved in May 2025 and under implementation. Our platform directly targets digital logistics decision support.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09600" y="3771900"/>
            <a:ext cx="5120640" cy="116586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609600" y="3771900"/>
            <a:ext cx="92171" cy="116586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35" y="3888486"/>
            <a:ext cx="233172" cy="23317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531315" y="3865168"/>
            <a:ext cx="3994100" cy="27980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1F4F91"/>
                </a:solidFill>
                <a:latin typeface="Aptos"/>
              </a:rPr>
              <a:t>TECHNICAL RESEARCH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91235" y="4156633"/>
            <a:ext cx="4608576" cy="71117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OSRM: alternative routes + turn instructions.
Open-Meteo: coordinate-based forecast variables.
MapLibre + PostGIS: interactive geospatial rendering and spatial persistence.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217920" y="1028700"/>
            <a:ext cx="5120640" cy="3429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A4667"/>
                </a:solidFill>
                <a:latin typeface="Aptos"/>
              </a:rPr>
              <a:t>PRIMARY REFERENCES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6339840" y="144018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827520" y="1426464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GSI Bhusanket / NLFC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27520" y="159105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https://bhusanket.gsi.gov.in/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6339840" y="198882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827520" y="1975104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MDoNER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27520" y="213969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https://www.mdoner.gov.in/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6339840" y="253746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827520" y="2523743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OSRM API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827520" y="268833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https://project-osrm.org/docs/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339840" y="308610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827520" y="3072384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Open-Meteo Forecast API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827520" y="323697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https://open-meteo.com/en/docs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339840" y="363474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827520" y="3621024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MapLibre GL JS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827520" y="378561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https://maplibre.org/maplibre-gl-js/docs/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6339840" y="418338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827520" y="4169664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OpenStreetMap Attribution / Usage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827520" y="4334256"/>
            <a:ext cx="4267200" cy="17145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https://www.openstreetmap.org/copyright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217920" y="4800600"/>
            <a:ext cx="5120640" cy="1097280"/>
          </a:xfrm>
          <a:prstGeom prst="roundRect">
            <a:avLst/>
          </a:prstGeom>
          <a:solidFill>
            <a:srgbClr val="FCF8F1"/>
          </a:solidFill>
          <a:ln w="15240">
            <a:solidFill>
              <a:srgbClr val="ECC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461760" y="4869180"/>
            <a:ext cx="4632960" cy="24003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40" b="1" i="0">
                <a:solidFill>
                  <a:srgbClr val="F28E2B"/>
                </a:solidFill>
                <a:latin typeface="Aptos"/>
              </a:rPr>
              <a:t>EVIDENCE POLICY FOR FUTURE ROAD MEMORY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461760" y="5143500"/>
            <a:ext cx="4632960" cy="6172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No news ≠ road reopened.  CLOSED → REPAIR REPORTED → AWAITING VERIFICATION → VERIFIED OPEN.
Future sources: GSI + BRO / NHIDCL / NHAI / State PWD / district authority + trusted fleet evidence.
ML is introduced only after labelled ground truth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