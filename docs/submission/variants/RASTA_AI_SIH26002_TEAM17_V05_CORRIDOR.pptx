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4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2920" y="1188720"/>
            <a:ext cx="6035040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C2A24"/>
                </a:solidFill>
                <a:latin typeface="Calibri"/>
              </a:rPr>
              <a:t>RASTA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1810512"/>
            <a:ext cx="603504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B6B63"/>
                </a:solidFill>
                <a:latin typeface="Calibri"/>
              </a:rPr>
              <a:t>Route Intelligence for Essential-Supply Logistics in North Eastern India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592324"/>
            <a:ext cx="5943600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48640" y="25557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-228600" y="223113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C2A24"/>
                </a:solidFill>
                <a:latin typeface="Calibri"/>
              </a:rPr>
              <a:t>GUWAHATI DEPOT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61004" y="25557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683764" y="223113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C2A24"/>
                </a:solidFill>
                <a:latin typeface="Calibri"/>
              </a:rPr>
              <a:t>NER CORRIDOR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73368" y="25557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596128" y="223113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C2A24"/>
                </a:solidFill>
                <a:latin typeface="Calibri"/>
              </a:rPr>
              <a:t>SHILLONG DEPOT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2743200"/>
            <a:ext cx="5943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B6B63"/>
                </a:solidFill>
                <a:latin typeface="Calibri"/>
              </a:rPr>
              <a:t>≈ 98.8 km of real OSRM road · plain to plateau · the live demo corridor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3163824"/>
            <a:ext cx="1874519" cy="53035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SIH26002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42032" y="3182112"/>
            <a:ext cx="3977639" cy="4937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A8A0"/>
                </a:solidFill>
                <a:latin typeface="Calibri"/>
              </a:rPr>
              <a:t>PROBLEM STATEMENT 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C2A24"/>
                </a:solidFill>
                <a:latin typeface="Calibri"/>
              </a:rPr>
              <a:t>MDoNER · Smart Automation · Software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3840480"/>
            <a:ext cx="182880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AA8A0"/>
                </a:solidFill>
                <a:latin typeface="Calibri"/>
              </a:rPr>
              <a:t>PROBLEM STATEMENT TITLE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3813048"/>
            <a:ext cx="416052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C2A24"/>
                </a:solidFill>
                <a:latin typeface="Calibri"/>
              </a:rPr>
              <a:t>AI-Based Smart Logistics and Accessibility Intelligence Platform for North Eastern Region (NER)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02920" y="4251960"/>
            <a:ext cx="6035039" cy="0"/>
          </a:xfrm>
          <a:prstGeom prst="line">
            <a:avLst/>
          </a:prstGeom>
          <a:ln w="9525">
            <a:solidFill>
              <a:srgbClr val="DC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02920" y="4288536"/>
            <a:ext cx="182880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AA8A0"/>
                </a:solidFill>
                <a:latin typeface="Calibri"/>
              </a:rPr>
              <a:t>THEME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77440" y="4261104"/>
            <a:ext cx="416052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C2A24"/>
                </a:solidFill>
                <a:latin typeface="Calibri"/>
              </a:rPr>
              <a:t>Smart Automation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02920" y="4544568"/>
            <a:ext cx="6035039" cy="0"/>
          </a:xfrm>
          <a:prstGeom prst="line">
            <a:avLst/>
          </a:prstGeom>
          <a:ln w="9525">
            <a:solidFill>
              <a:srgbClr val="DC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2920" y="4581144"/>
            <a:ext cx="182880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AA8A0"/>
                </a:solidFill>
                <a:latin typeface="Calibri"/>
              </a:rPr>
              <a:t>PS CATEGORY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77440" y="4553712"/>
            <a:ext cx="416052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C2A24"/>
                </a:solidFill>
                <a:latin typeface="Calibri"/>
              </a:rPr>
              <a:t>Software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4837176"/>
            <a:ext cx="6035039" cy="0"/>
          </a:xfrm>
          <a:prstGeom prst="line">
            <a:avLst/>
          </a:prstGeom>
          <a:ln w="9525">
            <a:solidFill>
              <a:srgbClr val="DC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2920" y="4873752"/>
            <a:ext cx="182880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AA8A0"/>
                </a:solidFill>
                <a:latin typeface="Calibri"/>
              </a:rPr>
              <a:t>TEAM 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77440" y="4846320"/>
            <a:ext cx="416052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C2A24"/>
                </a:solidFill>
                <a:latin typeface="Calibri"/>
              </a:rPr>
              <a:t>17  (internal group no.)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02920" y="5129784"/>
            <a:ext cx="6035039" cy="0"/>
          </a:xfrm>
          <a:prstGeom prst="line">
            <a:avLst/>
          </a:prstGeom>
          <a:ln w="9525">
            <a:solidFill>
              <a:srgbClr val="DC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2920" y="5166360"/>
            <a:ext cx="182880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AA8A0"/>
                </a:solidFill>
                <a:latin typeface="Calibri"/>
              </a:rPr>
              <a:t>TEAM NAME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77440" y="5138928"/>
            <a:ext cx="416052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C2A24"/>
                </a:solidFill>
                <a:latin typeface="Calibri"/>
              </a:rPr>
              <a:t>NER-AI LOGISTICS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02920" y="5422392"/>
            <a:ext cx="6035039" cy="0"/>
          </a:xfrm>
          <a:prstGeom prst="line">
            <a:avLst/>
          </a:prstGeom>
          <a:ln w="9525">
            <a:solidFill>
              <a:srgbClr val="DC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02920" y="5449824"/>
            <a:ext cx="603504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C2A24"/>
                </a:solidFill>
                <a:latin typeface="Calibri"/>
              </a:rPr>
              <a:t>SHORTEST IS NOT ALWAYS USABLE.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5852160"/>
            <a:ext cx="603504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5803D"/>
                </a:solidFill>
                <a:latin typeface="Calibri"/>
              </a:rPr>
              <a:t>“Can this essential-supply truck reliably use this corridor now?”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181344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5803D"/>
                </a:solidFill>
                <a:latin typeface="Calibri"/>
              </a:rPr>
              <a:t>End-to-end working prototype · physical-phone validated · live demo corridor Guwahati → Shillong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1152144"/>
            <a:ext cx="4892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5803D"/>
                </a:solidFill>
                <a:latin typeface="Calibri"/>
              </a:rPr>
              <a:t>LIVE WORKING SYSTEM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71716" y="2253996"/>
            <a:ext cx="2515743" cy="3630168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9" name="Picture 68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286000"/>
            <a:ext cx="2451735" cy="3566160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9514332" y="1540764"/>
            <a:ext cx="1990903" cy="4343400"/>
          </a:xfrm>
          <a:prstGeom prst="roundRect">
            <a:avLst>
              <a:gd name="adj" fmla="val 2755"/>
            </a:avLst>
          </a:prstGeom>
          <a:solidFill>
            <a:srgbClr val="FFFFFF"/>
          </a:solidFill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1" name="Picture 70" descr="na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36" y="1572768"/>
            <a:ext cx="1926895" cy="427939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858000" y="5943600"/>
            <a:ext cx="4892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B6B63"/>
                </a:solidFill>
                <a:latin typeface="Calibri"/>
              </a:rPr>
              <a:t>Manager route review · Driver navigation — real screens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RASTA AI — ROUTE INTELLIGENCE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C2A24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097280"/>
            <a:ext cx="36576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AA8A0"/>
                </a:solidFill>
                <a:latin typeface="Calibri"/>
              </a:rPr>
              <a:t>PROPOSED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57200" y="1335024"/>
            <a:ext cx="8046720" cy="8412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C2A24"/>
                </a:solidFill>
                <a:latin typeface="Calibri"/>
              </a:rPr>
              <a:t>Not the shortest road. </a:t>
            </a:r>
            <a:r>
              <a:rPr sz="2400" b="1">
                <a:solidFill>
                  <a:srgbClr val="15803D"/>
                </a:solidFill>
                <a:latin typeface="Calibri"/>
              </a:rPr>
              <a:t>The road that is usable now.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2176272"/>
            <a:ext cx="80650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5B6B63"/>
                </a:solidFill>
                <a:latin typeface="Calibri"/>
              </a:rPr>
              <a:t>Monsoon · landslides · floods · official warnings · single-lane hill roads · no signal.  </a:t>
            </a:r>
            <a:r>
              <a:rPr sz="1050" b="1">
                <a:solidFill>
                  <a:srgbClr val="B91C1C"/>
                </a:solidFill>
                <a:latin typeface="Calibri"/>
              </a:rPr>
              <a:t>A shortest-path router still sends the truck.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11480" y="2596896"/>
            <a:ext cx="8110727" cy="84124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6" name="Rectangle 15365"/>
          <p:cNvSpPr/>
          <p:nvPr/>
        </p:nvSpPr>
        <p:spPr>
          <a:xfrm>
            <a:off x="411480" y="2596896"/>
            <a:ext cx="8110727" cy="45720"/>
          </a:xfrm>
          <a:prstGeom prst="rect">
            <a:avLst/>
          </a:prstGeom>
          <a:solidFill>
            <a:srgbClr val="9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7" name="TextBox 15366"/>
          <p:cNvSpPr txBox="1"/>
          <p:nvPr/>
        </p:nvSpPr>
        <p:spPr>
          <a:xfrm>
            <a:off x="557784" y="2688336"/>
            <a:ext cx="781811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9AA8A0"/>
                </a:solidFill>
                <a:latin typeface="Calibri"/>
              </a:rPr>
              <a:t>A NORMAL ROUTER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566928" y="2962656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A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5B6B63"/>
                </a:solidFill>
                <a:latin typeface="Calibri"/>
              </a:rPr>
              <a:t>Origin</a:t>
            </a:r>
          </a:p>
        </p:txBody>
      </p:sp>
      <p:cxnSp>
        <p:nvCxnSpPr>
          <p:cNvPr id="15369" name="Connector 15368"/>
          <p:cNvCxnSpPr/>
          <p:nvPr/>
        </p:nvCxnSpPr>
        <p:spPr>
          <a:xfrm>
            <a:off x="1773936" y="3099815"/>
            <a:ext cx="109728" cy="0"/>
          </a:xfrm>
          <a:prstGeom prst="line">
            <a:avLst/>
          </a:prstGeom>
          <a:ln w="15875">
            <a:solidFill>
              <a:srgbClr val="1C2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0" name="Rounded Rectangle 15369"/>
          <p:cNvSpPr/>
          <p:nvPr/>
        </p:nvSpPr>
        <p:spPr>
          <a:xfrm>
            <a:off x="1901952" y="2962656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A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5B6B63"/>
                </a:solidFill>
                <a:latin typeface="Calibri"/>
              </a:rPr>
              <a:t>Shortest / fastest road</a:t>
            </a:r>
          </a:p>
        </p:txBody>
      </p:sp>
      <p:cxnSp>
        <p:nvCxnSpPr>
          <p:cNvPr id="15371" name="Connector 15370"/>
          <p:cNvCxnSpPr/>
          <p:nvPr/>
        </p:nvCxnSpPr>
        <p:spPr>
          <a:xfrm>
            <a:off x="4114800" y="3099815"/>
            <a:ext cx="109728" cy="0"/>
          </a:xfrm>
          <a:prstGeom prst="line">
            <a:avLst/>
          </a:prstGeom>
          <a:ln w="15875">
            <a:solidFill>
              <a:srgbClr val="1C2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2" name="Rounded Rectangle 15371"/>
          <p:cNvSpPr/>
          <p:nvPr/>
        </p:nvSpPr>
        <p:spPr>
          <a:xfrm>
            <a:off x="4242816" y="2962656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A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5B6B63"/>
                </a:solidFill>
                <a:latin typeface="Calibri"/>
              </a:rPr>
              <a:t>Truck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5532120" y="2944368"/>
            <a:ext cx="283464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9AA8A0"/>
                </a:solidFill>
                <a:latin typeface="Calibri"/>
              </a:rPr>
              <a:t>No terrain, weather or hazard check.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11480" y="3566160"/>
            <a:ext cx="8110727" cy="2084831"/>
          </a:xfrm>
          <a:prstGeom prst="roundRect">
            <a:avLst>
              <a:gd name="adj" fmla="val 3508"/>
            </a:avLst>
          </a:prstGeom>
          <a:solidFill>
            <a:srgbClr val="FFFFFF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5" name="Rectangle 15374"/>
          <p:cNvSpPr/>
          <p:nvPr/>
        </p:nvSpPr>
        <p:spPr>
          <a:xfrm>
            <a:off x="411480" y="3566160"/>
            <a:ext cx="8110727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6" name="TextBox 15375"/>
          <p:cNvSpPr txBox="1"/>
          <p:nvPr/>
        </p:nvSpPr>
        <p:spPr>
          <a:xfrm>
            <a:off x="557784" y="3657600"/>
            <a:ext cx="781811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Calibri"/>
              </a:rPr>
              <a:t>RASTA AI · THE SAME ROAD, DECIDED ON EVIDENCE</a:t>
            </a:r>
          </a:p>
        </p:txBody>
      </p:sp>
      <p:sp>
        <p:nvSpPr>
          <p:cNvPr id="15377" name="Rectangle 15376"/>
          <p:cNvSpPr/>
          <p:nvPr/>
        </p:nvSpPr>
        <p:spPr>
          <a:xfrm>
            <a:off x="777240" y="4329683"/>
            <a:ext cx="7406640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8" name="Rounded Rectangle 15377"/>
          <p:cNvSpPr/>
          <p:nvPr/>
        </p:nvSpPr>
        <p:spPr>
          <a:xfrm>
            <a:off x="777240" y="429310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TextBox 15378"/>
          <p:cNvSpPr txBox="1"/>
          <p:nvPr/>
        </p:nvSpPr>
        <p:spPr>
          <a:xfrm>
            <a:off x="0" y="396849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ORIGIN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1991868" y="429310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1" name="TextBox 15380"/>
          <p:cNvSpPr txBox="1"/>
          <p:nvPr/>
        </p:nvSpPr>
        <p:spPr>
          <a:xfrm>
            <a:off x="1214627" y="396849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REAL ROUTE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3206496" y="429310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3" name="TextBox 15382"/>
          <p:cNvSpPr txBox="1"/>
          <p:nvPr/>
        </p:nvSpPr>
        <p:spPr>
          <a:xfrm>
            <a:off x="2429256" y="396849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EVIDENCE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4421124" y="429310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5" name="TextBox 15384"/>
          <p:cNvSpPr txBox="1"/>
          <p:nvPr/>
        </p:nvSpPr>
        <p:spPr>
          <a:xfrm>
            <a:off x="3643884" y="396849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POLICY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5635752" y="429310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7" name="TextBox 15386"/>
          <p:cNvSpPr txBox="1"/>
          <p:nvPr/>
        </p:nvSpPr>
        <p:spPr>
          <a:xfrm>
            <a:off x="4858512" y="396849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DECISION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6850380" y="429310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9" name="TextBox 15388"/>
          <p:cNvSpPr txBox="1"/>
          <p:nvPr/>
        </p:nvSpPr>
        <p:spPr>
          <a:xfrm>
            <a:off x="6073140" y="396849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MANAGER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8065008" y="429310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1" name="TextBox 15390"/>
          <p:cNvSpPr txBox="1"/>
          <p:nvPr/>
        </p:nvSpPr>
        <p:spPr>
          <a:xfrm>
            <a:off x="7287768" y="396849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DRIVER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566928" y="4626864"/>
            <a:ext cx="804672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C2A24"/>
                </a:solidFill>
                <a:latin typeface="Calibri"/>
              </a:rPr>
              <a:t>Terrain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1444752" y="4626864"/>
            <a:ext cx="804672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C2A24"/>
                </a:solidFill>
                <a:latin typeface="Calibri"/>
              </a:rPr>
              <a:t>Weather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2322576" y="4626864"/>
            <a:ext cx="128016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C2A24"/>
                </a:solidFill>
                <a:latin typeface="Calibri"/>
              </a:rPr>
              <a:t>Landslide exposure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3675887" y="4626864"/>
            <a:ext cx="1042415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C2A24"/>
                </a:solidFill>
                <a:latin typeface="Calibri"/>
              </a:rPr>
              <a:t>Flood context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4791455" y="4626864"/>
            <a:ext cx="11887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C2A24"/>
                </a:solidFill>
                <a:latin typeface="Calibri"/>
              </a:rPr>
              <a:t>Official warnings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6053327" y="4626864"/>
            <a:ext cx="95097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C2A24"/>
                </a:solidFill>
                <a:latin typeface="Calibri"/>
              </a:rPr>
              <a:t>Fleet traffic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7077455" y="4626864"/>
            <a:ext cx="128016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C2A24"/>
                </a:solidFill>
                <a:latin typeface="Calibri"/>
              </a:rPr>
              <a:t>Evidence freshness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566928" y="4974336"/>
            <a:ext cx="1872234" cy="310896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2548890" y="4974336"/>
            <a:ext cx="1872234" cy="3108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5401" name="Rounded Rectangle 15400"/>
          <p:cNvSpPr/>
          <p:nvPr/>
        </p:nvSpPr>
        <p:spPr>
          <a:xfrm>
            <a:off x="4530852" y="4974336"/>
            <a:ext cx="1872234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6512814" y="4974336"/>
            <a:ext cx="1872234" cy="310896"/>
          </a:xfrm>
          <a:prstGeom prst="roundRect">
            <a:avLst>
              <a:gd name="adj" fmla="val 50000"/>
            </a:avLst>
          </a:prstGeom>
          <a:solidFill>
            <a:srgbClr val="1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sp>
        <p:nvSpPr>
          <p:cNvPr id="15403" name="Rounded Rectangle 15402"/>
          <p:cNvSpPr/>
          <p:nvPr/>
        </p:nvSpPr>
        <p:spPr>
          <a:xfrm>
            <a:off x="411480" y="5760720"/>
            <a:ext cx="811072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4" name="TextBox 15403"/>
          <p:cNvSpPr txBox="1"/>
          <p:nvPr/>
        </p:nvSpPr>
        <p:spPr>
          <a:xfrm>
            <a:off x="566928" y="5797296"/>
            <a:ext cx="224028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B91C1C"/>
                </a:solidFill>
                <a:latin typeface="Calibri"/>
              </a:rPr>
              <a:t>UNKNOWN ≠ SAFE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2788920" y="5815584"/>
            <a:ext cx="557784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C2A24"/>
                </a:solidFill>
                <a:latin typeface="Calibri"/>
              </a:rPr>
              <a:t>Missing or stale evidence is marked UNKNOWN — never safe — and goes to an authorised reviewer.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8686800" y="1097280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5803D"/>
                </a:solidFill>
                <a:latin typeface="Calibri"/>
              </a:rPr>
              <a:t>MANAGER · CHECK CONDITIONS</a:t>
            </a:r>
          </a:p>
        </p:txBody>
      </p:sp>
      <p:sp>
        <p:nvSpPr>
          <p:cNvPr id="15407" name="Rounded Rectangle 15406"/>
          <p:cNvSpPr/>
          <p:nvPr/>
        </p:nvSpPr>
        <p:spPr>
          <a:xfrm>
            <a:off x="8654796" y="1412748"/>
            <a:ext cx="2930679" cy="4526280"/>
          </a:xfrm>
          <a:prstGeom prst="roundRect">
            <a:avLst>
              <a:gd name="adj" fmla="val 1872"/>
            </a:avLst>
          </a:prstGeom>
          <a:solidFill>
            <a:srgbClr val="FFFFFF"/>
          </a:solidFill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8" name="Picture 15407" descr="e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44752"/>
            <a:ext cx="2866671" cy="4462272"/>
          </a:xfrm>
          <a:prstGeom prst="rect">
            <a:avLst/>
          </a:prstGeom>
        </p:spPr>
      </p:pic>
      <p:sp>
        <p:nvSpPr>
          <p:cNvPr id="15409" name="TextBox 15408"/>
          <p:cNvSpPr txBox="1"/>
          <p:nvPr/>
        </p:nvSpPr>
        <p:spPr>
          <a:xfrm>
            <a:off x="8686800" y="5961888"/>
            <a:ext cx="3063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B63"/>
                </a:solidFill>
                <a:latin typeface="Calibri"/>
              </a:rPr>
              <a:t>Real screen · evidence · freshness ·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C2A24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097280"/>
            <a:ext cx="8138160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ectangle 17410"/>
          <p:cNvSpPr/>
          <p:nvPr/>
        </p:nvSpPr>
        <p:spPr>
          <a:xfrm>
            <a:off x="384048" y="1097280"/>
            <a:ext cx="8138160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530352" y="1188720"/>
            <a:ext cx="784555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Calibri"/>
              </a:rPr>
              <a:t>VERIFIED DATA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48640" y="1481328"/>
            <a:ext cx="1280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C2A24"/>
                </a:solidFill>
                <a:latin typeface="Calibri"/>
              </a:rPr>
              <a:t>WEATHER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63"/>
                </a:solidFill>
                <a:latin typeface="Calibri"/>
              </a:rPr>
              <a:t>Open-Meteo · MET Norway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901952" y="1481328"/>
            <a:ext cx="1280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C2A24"/>
                </a:solidFill>
                <a:latin typeface="Calibri"/>
              </a:rPr>
              <a:t>TERRAIN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63"/>
                </a:solidFill>
                <a:latin typeface="Calibri"/>
              </a:rPr>
              <a:t>Copernicus DEM · OpenTopoData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255264" y="1481328"/>
            <a:ext cx="1280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C2A24"/>
                </a:solidFill>
                <a:latin typeface="Calibri"/>
              </a:rPr>
              <a:t>WARNINGS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63"/>
                </a:solidFill>
                <a:latin typeface="Calibri"/>
              </a:rPr>
              <a:t>NDMA SACHET (CAP)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608576" y="1481328"/>
            <a:ext cx="1280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C2A24"/>
                </a:solidFill>
                <a:latin typeface="Calibri"/>
              </a:rPr>
              <a:t>FLOOD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63"/>
                </a:solidFill>
                <a:latin typeface="Calibri"/>
              </a:rPr>
              <a:t>GloFAS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961888" y="1481328"/>
            <a:ext cx="1280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C2A24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63"/>
                </a:solidFill>
                <a:latin typeface="Calibri"/>
              </a:rPr>
              <a:t>NASA GLC 2007–17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315200" y="1481328"/>
            <a:ext cx="1280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C2A24"/>
                </a:solidFill>
                <a:latin typeface="Calibri"/>
              </a:rPr>
              <a:t>TRAFFIC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63"/>
                </a:solidFill>
                <a:latin typeface="Calibri"/>
              </a:rPr>
              <a:t>fleet GPS fixes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777240" y="2464308"/>
            <a:ext cx="7406640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Rounded Rectangle 17419"/>
          <p:cNvSpPr/>
          <p:nvPr/>
        </p:nvSpPr>
        <p:spPr>
          <a:xfrm>
            <a:off x="777240" y="24277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0" y="2596896"/>
            <a:ext cx="16733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EVIDENCE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1991868" y="24277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1214627" y="2596896"/>
            <a:ext cx="16733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POLICY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206496" y="24277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2429256" y="2596896"/>
            <a:ext cx="16733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DECISION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421124" y="24277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3643884" y="2596896"/>
            <a:ext cx="16733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MANAGER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635752" y="24277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4858512" y="2596896"/>
            <a:ext cx="16733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DRIVER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850380" y="24277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6073140" y="2596896"/>
            <a:ext cx="16733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60 s WATCH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065008" y="24277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7287768" y="2596896"/>
            <a:ext cx="16733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REASSESS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84048" y="2834640"/>
            <a:ext cx="8138160" cy="512064"/>
          </a:xfrm>
          <a:prstGeom prst="roundRect">
            <a:avLst>
              <a:gd name="adj" fmla="val 10714"/>
            </a:avLst>
          </a:prstGeom>
          <a:solidFill>
            <a:srgbClr val="F4F7F5"/>
          </a:solidFill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548640" y="2871216"/>
            <a:ext cx="7808975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C2A24"/>
                </a:solidFill>
                <a:latin typeface="Calibri"/>
              </a:rPr>
              <a:t>ROUTE-SPECIFIC EVIDENCE · FastAPI 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63"/>
                </a:solidFill>
                <a:latin typeface="Calibri"/>
              </a:rPr>
              <a:t>every factor sampled along the selected road · PostgreSQL + PostGIS (Supabase) · OSRM routes, alternatives, turn steps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84048" y="3438144"/>
            <a:ext cx="8138160" cy="512064"/>
          </a:xfrm>
          <a:prstGeom prst="roundRect">
            <a:avLst>
              <a:gd name="adj" fmla="val 10714"/>
            </a:avLst>
          </a:prstGeom>
          <a:solidFill>
            <a:srgbClr val="15803D"/>
          </a:solidFill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548640" y="3474720"/>
            <a:ext cx="7808975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DETERMINISTIC SAFETY 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DCEFE2"/>
                </a:solidFill>
                <a:latin typeface="Calibri"/>
              </a:rPr>
              <a:t>11 factors · reason codes · UNKNOWN ≠ SAFE · reviewer authorisation when hazard data is missing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84048" y="4041648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2450592" y="4041648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517136" y="4041648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6583680" y="4041648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1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84048" y="44988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C2A24"/>
          </a:solidFill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REVIEW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1773936" y="4654296"/>
            <a:ext cx="54864" cy="0"/>
          </a:xfrm>
          <a:prstGeom prst="line">
            <a:avLst/>
          </a:prstGeom>
          <a:ln w="15875">
            <a:solidFill>
              <a:srgbClr val="1C2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1847088" y="44988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C2A24"/>
                </a:solidFill>
                <a:latin typeface="Calibri"/>
              </a:rPr>
              <a:t>DRIVER NAVIGATION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3346704" y="4654296"/>
            <a:ext cx="54864" cy="0"/>
          </a:xfrm>
          <a:prstGeom prst="line">
            <a:avLst/>
          </a:prstGeom>
          <a:ln w="15875">
            <a:solidFill>
              <a:srgbClr val="1C2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Rounded Rectangle 17445"/>
          <p:cNvSpPr/>
          <p:nvPr/>
        </p:nvSpPr>
        <p:spPr>
          <a:xfrm>
            <a:off x="3419856" y="4498848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C2A24"/>
                </a:solidFill>
                <a:latin typeface="Calibri"/>
              </a:rPr>
              <a:t>ROUTE-AHEAD MONITOR (60 s)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5303520" y="4654296"/>
            <a:ext cx="54864" cy="0"/>
          </a:xfrm>
          <a:prstGeom prst="line">
            <a:avLst/>
          </a:prstGeom>
          <a:ln w="15875">
            <a:solidFill>
              <a:srgbClr val="1C2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ounded Rectangle 17447"/>
          <p:cNvSpPr/>
          <p:nvPr/>
        </p:nvSpPr>
        <p:spPr>
          <a:xfrm>
            <a:off x="5376672" y="44988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C2A24"/>
                </a:solidFill>
                <a:latin typeface="Calibri"/>
              </a:rPr>
              <a:t>CONDITIONS CHANGE?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6858000" y="4654296"/>
            <a:ext cx="54864" cy="0"/>
          </a:xfrm>
          <a:prstGeom prst="line">
            <a:avLst/>
          </a:prstGeom>
          <a:ln w="15875">
            <a:solidFill>
              <a:srgbClr val="1C2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6931152" y="449884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C2A24"/>
                </a:solidFill>
                <a:latin typeface="Calibri"/>
              </a:rPr>
              <a:t>REASSESS / REROUTE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384048" y="4974336"/>
            <a:ext cx="8138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530352" y="5065775"/>
            <a:ext cx="784555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Calibri"/>
              </a:rPr>
              <a:t>BUILT WITH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548640" y="5376672"/>
            <a:ext cx="7808975" cy="8595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9AA8A0"/>
                </a:solidFill>
                <a:latin typeface="Calibri"/>
              </a:rPr>
              <a:t>CLIENTS  </a:t>
            </a:r>
            <a:r>
              <a:rPr sz="1000" b="0">
                <a:solidFill>
                  <a:srgbClr val="1C2A24"/>
                </a:solidFill>
                <a:latin typeface="Calibri"/>
              </a:rPr>
              <a:t>Manager console (React + TS) · Driver app (React Native / Expo, Android) · one login, server-decided role, offline package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9AA8A0"/>
                </a:solidFill>
                <a:latin typeface="Calibri"/>
              </a:rPr>
              <a:t>STACK  </a:t>
            </a:r>
            <a:r>
              <a:rPr sz="1000" b="0">
                <a:solidFill>
                  <a:srgbClr val="1C2A24"/>
                </a:solidFill>
                <a:latin typeface="Calibri"/>
              </a:rPr>
              <a:t>FastAPI · PostgreSQL / PostGIS (Supabase) · React · React Native / Expo · OSRM · OpenStreetMap · Gemini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8613648" y="1097280"/>
            <a:ext cx="3163824" cy="5193792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Rectangle 17454"/>
          <p:cNvSpPr/>
          <p:nvPr/>
        </p:nvSpPr>
        <p:spPr>
          <a:xfrm>
            <a:off x="8613648" y="1097280"/>
            <a:ext cx="3163824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8759952" y="1188720"/>
            <a:ext cx="287121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Calibri"/>
              </a:rPr>
              <a:t>WHO DECIDES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8759952" y="1517904"/>
            <a:ext cx="45720" cy="6217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8906256" y="1499616"/>
            <a:ext cx="274320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C2A24"/>
                </a:solidFill>
                <a:latin typeface="Calibri"/>
              </a:rPr>
              <a:t>DETERMINISTIC SAFETY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B63"/>
                </a:solidFill>
                <a:latin typeface="Calibri"/>
              </a:rPr>
              <a:t>makes every operational decision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8759952" y="2359152"/>
            <a:ext cx="45720" cy="6217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8906256" y="2340864"/>
            <a:ext cx="274320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C2A24"/>
                </a:solidFill>
                <a:latin typeface="Calibri"/>
              </a:rPr>
              <a:t>GEMINI / OPENROUTER (LLM)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B63"/>
                </a:solidFill>
                <a:latin typeface="Calibri"/>
              </a:rPr>
              <a:t>explains the decision in the driver's language — never decides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8759952" y="3200400"/>
            <a:ext cx="45720" cy="621792"/>
          </a:xfrm>
          <a:prstGeom prst="rect">
            <a:avLst/>
          </a:prstGeom>
          <a:solidFill>
            <a:srgbClr val="9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2" name="TextBox 17461"/>
          <p:cNvSpPr txBox="1"/>
          <p:nvPr/>
        </p:nvSpPr>
        <p:spPr>
          <a:xfrm>
            <a:off x="8906256" y="3182112"/>
            <a:ext cx="274320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C2A24"/>
                </a:solidFill>
                <a:latin typeface="Calibri"/>
              </a:rPr>
              <a:t>EXPERIMENTAL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B63"/>
                </a:solidFill>
                <a:latin typeface="Calibri"/>
              </a:rPr>
              <a:t>research channel only; held outside routing by the safety gate</a:t>
            </a:r>
          </a:p>
        </p:txBody>
      </p:sp>
      <p:cxnSp>
        <p:nvCxnSpPr>
          <p:cNvPr id="17463" name="Connector 17462"/>
          <p:cNvCxnSpPr/>
          <p:nvPr/>
        </p:nvCxnSpPr>
        <p:spPr>
          <a:xfrm>
            <a:off x="8759952" y="4041648"/>
            <a:ext cx="2871216" cy="0"/>
          </a:xfrm>
          <a:prstGeom prst="line">
            <a:avLst/>
          </a:prstGeom>
          <a:ln w="9525">
            <a:solidFill>
              <a:srgbClr val="DC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4" name="TextBox 17463"/>
          <p:cNvSpPr txBox="1"/>
          <p:nvPr/>
        </p:nvSpPr>
        <p:spPr>
          <a:xfrm>
            <a:off x="8759952" y="4114800"/>
            <a:ext cx="2871216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A8A0"/>
                </a:solidFill>
                <a:latin typeface="Calibri"/>
              </a:rPr>
              <a:t>GOVERNANCE CHAIN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8759952" y="4425696"/>
            <a:ext cx="287121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C2A24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66" name="Connector 17465"/>
          <p:cNvCxnSpPr/>
          <p:nvPr/>
        </p:nvCxnSpPr>
        <p:spPr>
          <a:xfrm>
            <a:off x="10195560" y="4727448"/>
            <a:ext cx="0" cy="100584"/>
          </a:xfrm>
          <a:prstGeom prst="line">
            <a:avLst/>
          </a:prstGeom>
          <a:ln w="15875">
            <a:solidFill>
              <a:srgbClr val="1C2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7" name="Rounded Rectangle 17466"/>
          <p:cNvSpPr/>
          <p:nvPr/>
        </p:nvSpPr>
        <p:spPr>
          <a:xfrm>
            <a:off x="8759952" y="4846320"/>
            <a:ext cx="287121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C2A24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68" name="Connector 17467"/>
          <p:cNvCxnSpPr/>
          <p:nvPr/>
        </p:nvCxnSpPr>
        <p:spPr>
          <a:xfrm>
            <a:off x="10195560" y="5148072"/>
            <a:ext cx="0" cy="100584"/>
          </a:xfrm>
          <a:prstGeom prst="line">
            <a:avLst/>
          </a:prstGeom>
          <a:ln w="15875">
            <a:solidFill>
              <a:srgbClr val="1C2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9" name="Rounded Rectangle 17468"/>
          <p:cNvSpPr/>
          <p:nvPr/>
        </p:nvSpPr>
        <p:spPr>
          <a:xfrm>
            <a:off x="8759952" y="5266944"/>
            <a:ext cx="287121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C2A24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70" name="Connector 17469"/>
          <p:cNvCxnSpPr/>
          <p:nvPr/>
        </p:nvCxnSpPr>
        <p:spPr>
          <a:xfrm>
            <a:off x="10195560" y="5568696"/>
            <a:ext cx="0" cy="100584"/>
          </a:xfrm>
          <a:prstGeom prst="line">
            <a:avLst/>
          </a:prstGeom>
          <a:ln w="15875">
            <a:solidFill>
              <a:srgbClr val="1C2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1" name="Rounded Rectangle 17470"/>
          <p:cNvSpPr/>
          <p:nvPr/>
        </p:nvSpPr>
        <p:spPr>
          <a:xfrm>
            <a:off x="8759952" y="5687568"/>
            <a:ext cx="287121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C2A24"/>
                </a:solidFill>
                <a:latin typeface="Calibri"/>
              </a:rPr>
              <a:t>Driver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C2A24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05840"/>
            <a:ext cx="8686800" cy="4023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C2A24"/>
                </a:solidFill>
                <a:latin typeface="Calibri"/>
              </a:rPr>
              <a:t>Not a concept. A working end-to-end prototype.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868680" y="1805940"/>
            <a:ext cx="10515600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868680" y="17693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320040" y="1938528"/>
            <a:ext cx="12161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PLAN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168271" y="17693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1619630" y="1938528"/>
            <a:ext cx="12161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REVIEW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467861" y="17693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2919221" y="1938528"/>
            <a:ext cx="12161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DISPATCH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767453" y="17693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4218813" y="1938528"/>
            <a:ext cx="12161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ACCEPT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067044" y="17693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5518404" y="1938528"/>
            <a:ext cx="12161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VERIFY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7366634" y="17693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6817994" y="1938528"/>
            <a:ext cx="12161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NAVIGATE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666226" y="17693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8117586" y="1938528"/>
            <a:ext cx="12161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OFF-ROUTE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9965816" y="17693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9417176" y="1938528"/>
            <a:ext cx="12161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APPROVAL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11265407" y="17693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10716767" y="1938528"/>
            <a:ext cx="121615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C2A24"/>
                </a:solidFill>
                <a:latin typeface="Calibri"/>
              </a:rPr>
              <a:t>DELIVERY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65760" y="2011680"/>
            <a:ext cx="5852160" cy="3840480"/>
          </a:xfrm>
          <a:prstGeom prst="roundRect">
            <a:avLst>
              <a:gd name="adj" fmla="val 1904"/>
            </a:avLst>
          </a:prstGeom>
          <a:solidFill>
            <a:srgbClr val="FFFFFF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512064" y="2103120"/>
            <a:ext cx="555955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Calibri"/>
              </a:rPr>
              <a:t>REAL SCREENS FROM THE CERTIFIED RUN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98347" y="2382012"/>
            <a:ext cx="2226564" cy="3209544"/>
          </a:xfrm>
          <a:prstGeom prst="roundRect">
            <a:avLst>
              <a:gd name="adj" fmla="val 2464"/>
            </a:avLst>
          </a:prstGeom>
          <a:solidFill>
            <a:srgbClr val="FFFFFF"/>
          </a:solidFill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3" name="Picture 17432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414016"/>
            <a:ext cx="2162556" cy="3145536"/>
          </a:xfrm>
          <a:prstGeom prst="rect">
            <a:avLst/>
          </a:prstGeom>
        </p:spPr>
      </p:pic>
      <p:sp>
        <p:nvSpPr>
          <p:cNvPr id="17434" name="Rounded Rectangle 17433"/>
          <p:cNvSpPr/>
          <p:nvPr/>
        </p:nvSpPr>
        <p:spPr>
          <a:xfrm>
            <a:off x="2843784" y="2382012"/>
            <a:ext cx="1480358" cy="3209544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5" name="Picture 17434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788" y="2414016"/>
            <a:ext cx="1416350" cy="3145536"/>
          </a:xfrm>
          <a:prstGeom prst="rect">
            <a:avLst/>
          </a:prstGeom>
        </p:spPr>
      </p:pic>
      <p:sp>
        <p:nvSpPr>
          <p:cNvPr id="17436" name="Rounded Rectangle 17435"/>
          <p:cNvSpPr/>
          <p:nvPr/>
        </p:nvSpPr>
        <p:spPr>
          <a:xfrm>
            <a:off x="4443014" y="2382012"/>
            <a:ext cx="1480358" cy="3209544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7" name="Picture 17436" descr="na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018" y="2414016"/>
            <a:ext cx="1416350" cy="3145536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530352" y="5614416"/>
            <a:ext cx="2162556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B63"/>
                </a:solidFill>
                <a:latin typeface="Calibri"/>
              </a:rPr>
              <a:t>Manager · route review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2875788" y="5614416"/>
            <a:ext cx="141635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B63"/>
                </a:solidFill>
                <a:latin typeface="Calibri"/>
              </a:rPr>
              <a:t>Driver · truck check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475018" y="5614416"/>
            <a:ext cx="141635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B63"/>
                </a:solidFill>
                <a:latin typeface="Calibri"/>
              </a:rPr>
              <a:t>Driver · navigation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6355080" y="2011680"/>
            <a:ext cx="5422392" cy="3840480"/>
          </a:xfrm>
          <a:prstGeom prst="roundRect">
            <a:avLst>
              <a:gd name="adj" fmla="val 1904"/>
            </a:avLst>
          </a:prstGeom>
          <a:solidFill>
            <a:srgbClr val="FFFFFF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Rectangle 17441"/>
          <p:cNvSpPr/>
          <p:nvPr/>
        </p:nvSpPr>
        <p:spPr>
          <a:xfrm>
            <a:off x="6355080" y="2011680"/>
            <a:ext cx="5422392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6501384" y="2103120"/>
            <a:ext cx="512978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Calibri"/>
              </a:rPr>
              <a:t>PROOF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519672" y="2468880"/>
            <a:ext cx="509320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C2A24"/>
                </a:solidFill>
                <a:latin typeface="Calibri"/>
              </a:rPr>
              <a:t>Run end to end on a physical Android phone, hosted backend, real road.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519672" y="3108960"/>
            <a:ext cx="85953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5803D"/>
                </a:solidFill>
                <a:latin typeface="Calibri"/>
              </a:rPr>
              <a:t>12/12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7452360" y="3108960"/>
            <a:ext cx="4160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C2A24"/>
                </a:solidFill>
                <a:latin typeface="Calibri"/>
              </a:rPr>
              <a:t>physical judge-flow steps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519672" y="3511296"/>
            <a:ext cx="85953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5803D"/>
                </a:solidFill>
                <a:latin typeface="Calibri"/>
              </a:rPr>
              <a:t>9/9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7452360" y="3511296"/>
            <a:ext cx="4160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C2A24"/>
                </a:solidFill>
                <a:latin typeface="Calibri"/>
              </a:rPr>
              <a:t>physical role-flow steps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519672" y="3931920"/>
            <a:ext cx="509320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Calibri"/>
              </a:rPr>
              <a:t>1138+ </a:t>
            </a:r>
            <a:r>
              <a:rPr sz="1050" b="0">
                <a:solidFill>
                  <a:srgbClr val="1C2A24"/>
                </a:solidFill>
                <a:latin typeface="Calibri"/>
              </a:rPr>
              <a:t>backend  ·  </a:t>
            </a:r>
            <a:r>
              <a:rPr sz="1300" b="1">
                <a:solidFill>
                  <a:srgbClr val="15803D"/>
                </a:solidFill>
                <a:latin typeface="Calibri"/>
              </a:rPr>
              <a:t>621+ </a:t>
            </a:r>
            <a:r>
              <a:rPr sz="1050" b="0">
                <a:solidFill>
                  <a:srgbClr val="1C2A24"/>
                </a:solidFill>
                <a:latin typeface="Calibri"/>
              </a:rPr>
              <a:t>driver  ·  </a:t>
            </a:r>
            <a:r>
              <a:rPr sz="1300" b="1">
                <a:solidFill>
                  <a:srgbClr val="15803D"/>
                </a:solidFill>
                <a:latin typeface="Calibri"/>
              </a:rPr>
              <a:t>170+ </a:t>
            </a:r>
            <a:r>
              <a:rPr sz="1050" b="0">
                <a:solidFill>
                  <a:srgbClr val="1C2A24"/>
                </a:solidFill>
                <a:latin typeface="Calibri"/>
              </a:rPr>
              <a:t>manager tests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6519672" y="4370832"/>
            <a:ext cx="5093208" cy="34747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PHYSICAL ANDROID · CERTIFIED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519672" y="4828032"/>
            <a:ext cx="509320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9AA8A0"/>
                </a:solidFill>
                <a:latin typeface="Calibri"/>
              </a:rPr>
              <a:t>Canonical demo  </a:t>
            </a:r>
            <a:r>
              <a:rPr sz="1100" b="1">
                <a:solidFill>
                  <a:srgbClr val="1C2A24"/>
                </a:solidFill>
                <a:latin typeface="Calibri"/>
              </a:rPr>
              <a:t>Guwahati → Shillong · ≈ 98.8 km real route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57200" y="5943600"/>
            <a:ext cx="1129284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AA8A0"/>
                </a:solidFill>
                <a:latin typeface="Calibri"/>
              </a:rPr>
              <a:t>KNOWN LIMITS → MITIGATION   </a:t>
            </a:r>
            <a:r>
              <a:rPr sz="900" b="0">
                <a:solidFill>
                  <a:srgbClr val="5B6B63"/>
                </a:solidFill>
                <a:latin typeface="Calibri"/>
              </a:rPr>
              <a:t>Cold start → warm /health first  ·  rate limits → cached evidence + explicit UNKNOWN  ·  push needs Firebase → in-app alerts work  ·  experimental ML → outside routing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C2A24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60704"/>
            <a:ext cx="804672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50" b="0">
                <a:solidFill>
                  <a:srgbClr val="5B6B63"/>
                </a:solidFill>
                <a:latin typeface="Calibri"/>
              </a:rPr>
              <a:t>RASTA AI does not ask only </a:t>
            </a:r>
            <a:r>
              <a:rPr sz="1750" b="1">
                <a:solidFill>
                  <a:srgbClr val="1C2A24"/>
                </a:solidFill>
                <a:latin typeface="Calibri"/>
              </a:rPr>
              <a:t>“Which road is shortest?”</a:t>
            </a:r>
            <a:r>
              <a:rPr sz="1750" b="0">
                <a:solidFill>
                  <a:srgbClr val="5B6B63"/>
                </a:solidFill>
                <a:latin typeface="Calibri"/>
              </a:rPr>
              <a:t>  It asks  </a:t>
            </a:r>
            <a:r>
              <a:rPr sz="1750" b="1">
                <a:solidFill>
                  <a:srgbClr val="15803D"/>
                </a:solidFill>
                <a:latin typeface="Calibri"/>
              </a:rPr>
              <a:t>“Can this truck reliably use this corridor now?”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847088"/>
            <a:ext cx="804672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5803D"/>
                </a:solidFill>
                <a:latin typeface="Calibri"/>
              </a:rPr>
              <a:t>FOOD  ·  MEDICINE  ·  FUEL  ·  RELIEF SUPPLIES</a:t>
            </a:r>
            <a:r>
              <a:rPr sz="1100" b="0">
                <a:solidFill>
                  <a:srgbClr val="5B6B63"/>
                </a:solidFill>
                <a:latin typeface="Calibri"/>
              </a:rPr>
              <a:t>   — essential logistics for hill communities, decided on evidence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822960" y="2592324"/>
            <a:ext cx="7223760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Rounded Rectangle 17412"/>
          <p:cNvSpPr/>
          <p:nvPr/>
        </p:nvSpPr>
        <p:spPr>
          <a:xfrm>
            <a:off x="822960" y="25557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45720" y="223113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C2A24"/>
                </a:solidFill>
                <a:latin typeface="Calibri"/>
              </a:rPr>
              <a:t>FLEET MANAGER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191256" y="25557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2414016" y="223113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C2A24"/>
                </a:solidFill>
                <a:latin typeface="Calibri"/>
              </a:rPr>
              <a:t>DRIVER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559552" y="25557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4782312" y="223113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C2A24"/>
                </a:solidFill>
                <a:latin typeface="Calibri"/>
              </a:rPr>
              <a:t>REMOTE COMMUNITY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927848" y="25557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7150608" y="2231136"/>
            <a:ext cx="1673352" cy="292608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C2A24"/>
                </a:solidFill>
                <a:latin typeface="Calibri"/>
              </a:rPr>
              <a:t>GOVERNMENT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57200" y="2761488"/>
            <a:ext cx="1901952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C2A24"/>
                </a:solidFill>
                <a:latin typeface="Calibri"/>
              </a:rPr>
              <a:t>Usability and uncertainty visible before dispatch. Auditable.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468880" y="2761488"/>
            <a:ext cx="1901952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C2A24"/>
                </a:solidFill>
                <a:latin typeface="Calibri"/>
              </a:rPr>
              <a:t>Danger context, emergency support, 23 languages.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480560" y="2761488"/>
            <a:ext cx="1901952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C2A24"/>
                </a:solidFill>
                <a:latin typeface="Calibri"/>
              </a:rPr>
              <a:t>Resilient access to food, medicine, fuel, relief.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492240" y="2761488"/>
            <a:ext cx="1901952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C2A24"/>
                </a:solidFill>
                <a:latin typeface="Calibri"/>
              </a:rPr>
              <a:t>Auditable evidence and disruption per corridor.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84048" y="3785615"/>
            <a:ext cx="813816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Rectangle 17425"/>
          <p:cNvSpPr/>
          <p:nvPr/>
        </p:nvSpPr>
        <p:spPr>
          <a:xfrm>
            <a:off x="384048" y="3785615"/>
            <a:ext cx="8138160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530352" y="3877055"/>
            <a:ext cx="784555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Calibri"/>
              </a:rPr>
              <a:t>DEMONSTRATED TODAY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66928" y="4206240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5803D"/>
                </a:solidFill>
                <a:latin typeface="Calibri"/>
              </a:rPr>
              <a:t>23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481328" y="4206240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C2A24"/>
                </a:solidFill>
                <a:latin typeface="Calibri"/>
              </a:rPr>
              <a:t>selectable languages, explicit fallback status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66928" y="4572000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5803D"/>
                </a:solidFill>
                <a:latin typeface="Calibri"/>
              </a:rPr>
              <a:t>11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481328" y="4572000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C2A24"/>
                </a:solidFill>
                <a:latin typeface="Calibri"/>
              </a:rPr>
              <a:t>route factors in every decision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66928" y="4937759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5803D"/>
                </a:solidFill>
                <a:latin typeface="Calibri"/>
              </a:rPr>
              <a:t>60 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481328" y="4937759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C2A24"/>
                </a:solidFill>
                <a:latin typeface="Calibri"/>
              </a:rPr>
              <a:t>route-ahead monitor while driving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517136" y="4206240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5803D"/>
                </a:solidFill>
                <a:latin typeface="Calibri"/>
              </a:rPr>
              <a:t>12/12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431536" y="4206240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C2A24"/>
                </a:solidFill>
                <a:latin typeface="Calibri"/>
              </a:rPr>
              <a:t>judge-flow steps certified on a physical phone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517136" y="4572000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5803D"/>
                </a:solidFill>
                <a:latin typeface="Calibri"/>
              </a:rPr>
              <a:t>100 %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431536" y="4572000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C2A24"/>
                </a:solidFill>
                <a:latin typeface="Calibri"/>
              </a:rPr>
              <a:t>of reroutes reviewed by a human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517136" y="4937759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5803D"/>
                </a:solidFill>
                <a:latin typeface="Calibri"/>
              </a:rPr>
              <a:t>0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431536" y="4937759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C2A24"/>
                </a:solidFill>
                <a:latin typeface="Calibri"/>
              </a:rPr>
              <a:t>unknown factors counted as safe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84048" y="5394960"/>
            <a:ext cx="8138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530352" y="5486400"/>
            <a:ext cx="784555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Calibri"/>
              </a:rPr>
              <a:t>HUMAN GOVERNANCE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548640" y="58521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C2A24"/>
          </a:solidFill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2350008" y="6007608"/>
            <a:ext cx="201167" cy="0"/>
          </a:xfrm>
          <a:prstGeom prst="line">
            <a:avLst/>
          </a:prstGeom>
          <a:ln w="15875">
            <a:solidFill>
              <a:srgbClr val="1C2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2569464" y="58521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C2A24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4370831" y="6007608"/>
            <a:ext cx="201169" cy="0"/>
          </a:xfrm>
          <a:prstGeom prst="line">
            <a:avLst/>
          </a:prstGeom>
          <a:ln w="15875">
            <a:solidFill>
              <a:srgbClr val="1C2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Rounded Rectangle 17445"/>
          <p:cNvSpPr/>
          <p:nvPr/>
        </p:nvSpPr>
        <p:spPr>
          <a:xfrm>
            <a:off x="4590288" y="58521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C2A24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6391655" y="6007608"/>
            <a:ext cx="201169" cy="0"/>
          </a:xfrm>
          <a:prstGeom prst="line">
            <a:avLst/>
          </a:prstGeom>
          <a:ln w="15875">
            <a:solidFill>
              <a:srgbClr val="1C2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ounded Rectangle 17447"/>
          <p:cNvSpPr/>
          <p:nvPr/>
        </p:nvSpPr>
        <p:spPr>
          <a:xfrm>
            <a:off x="6611112" y="58521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C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C2A24"/>
                </a:solidFill>
                <a:latin typeface="Calibri"/>
              </a:rPr>
              <a:t>Driver action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8613648" y="1097280"/>
            <a:ext cx="3163824" cy="5193792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8759952" y="1188720"/>
            <a:ext cx="287121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Calibri"/>
              </a:rPr>
              <a:t>REAL SCREENS · APK 1.0.18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8746236" y="1522476"/>
            <a:ext cx="1687324" cy="2350008"/>
          </a:xfrm>
          <a:prstGeom prst="roundRect">
            <a:avLst>
              <a:gd name="adj" fmla="val 3251"/>
            </a:avLst>
          </a:prstGeom>
          <a:solidFill>
            <a:srgbClr val="FFFFFF"/>
          </a:solidFill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2" name="Picture 17451" descr="l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1554480"/>
            <a:ext cx="1623316" cy="2286000"/>
          </a:xfrm>
          <a:prstGeom prst="rect">
            <a:avLst/>
          </a:prstGeom>
        </p:spPr>
      </p:pic>
      <p:sp>
        <p:nvSpPr>
          <p:cNvPr id="17453" name="Rounded Rectangle 17452"/>
          <p:cNvSpPr/>
          <p:nvPr/>
        </p:nvSpPr>
        <p:spPr>
          <a:xfrm>
            <a:off x="10515856" y="1522476"/>
            <a:ext cx="1142181" cy="2350008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4" name="Picture 17453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7860" y="1554480"/>
            <a:ext cx="1078173" cy="2286000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8778240" y="3895344"/>
            <a:ext cx="1623316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B63"/>
                </a:solidFill>
                <a:latin typeface="Calibri"/>
              </a:rPr>
              <a:t>Driver · 23 languages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10547860" y="3895344"/>
            <a:ext cx="1078173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B63"/>
                </a:solidFill>
                <a:latin typeface="Calibri"/>
              </a:rPr>
              <a:t>Manager · mobile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8778240" y="4224528"/>
            <a:ext cx="283464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B6B63"/>
                </a:solidFill>
                <a:latin typeface="Calibri"/>
              </a:rPr>
              <a:t>APK 1.0.18. One login, server-decided role. Every language shows its status — Verified, Draft or English fallback.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C2A24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097280"/>
            <a:ext cx="6766560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30352" y="1188720"/>
            <a:ext cx="647395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Calibri"/>
              </a:rPr>
              <a:t>RESEARCH / EVIDENCE SOURCES BEHIND THE ROUTE DECISION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530352" y="1554480"/>
            <a:ext cx="3108960" cy="0"/>
          </a:xfrm>
          <a:prstGeom prst="line">
            <a:avLst/>
          </a:prstGeom>
          <a:ln w="190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TextBox 17412"/>
          <p:cNvSpPr txBox="1"/>
          <p:nvPr/>
        </p:nvSpPr>
        <p:spPr>
          <a:xfrm>
            <a:off x="530352" y="1609344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5803D"/>
                </a:solidFill>
                <a:latin typeface="Calibri"/>
              </a:rPr>
              <a:t>ROUTING / PLACES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1C2A24"/>
                </a:solidFill>
                <a:latin typeface="Calibri"/>
              </a:rPr>
              <a:t>OSRM · OpenStreetMap · Nominatim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B6B63"/>
                </a:solidFill>
                <a:latin typeface="Calibri"/>
              </a:rPr>
              <a:t>Road geometry, alternatives, turn steps.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3858768" y="1554480"/>
            <a:ext cx="3108959" cy="0"/>
          </a:xfrm>
          <a:prstGeom prst="line">
            <a:avLst/>
          </a:prstGeom>
          <a:ln w="190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TextBox 17414"/>
          <p:cNvSpPr txBox="1"/>
          <p:nvPr/>
        </p:nvSpPr>
        <p:spPr>
          <a:xfrm>
            <a:off x="3858768" y="1609344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5803D"/>
                </a:solidFill>
                <a:latin typeface="Calibri"/>
              </a:rPr>
              <a:t>WEATHER / TERRAIN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1C2A24"/>
                </a:solidFill>
                <a:latin typeface="Calibri"/>
              </a:rPr>
              <a:t>Open-Meteo · MET Norway · Copernicus DEM · OpenTopoData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B6B63"/>
                </a:solidFill>
                <a:latin typeface="Calibri"/>
              </a:rPr>
              <a:t>Forecast along the road; climb, gradient, steep segments.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530352" y="2852928"/>
            <a:ext cx="3108960" cy="0"/>
          </a:xfrm>
          <a:prstGeom prst="line">
            <a:avLst/>
          </a:prstGeom>
          <a:ln w="190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TextBox 17416"/>
          <p:cNvSpPr txBox="1"/>
          <p:nvPr/>
        </p:nvSpPr>
        <p:spPr>
          <a:xfrm>
            <a:off x="530352" y="2907792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5803D"/>
                </a:solidFill>
                <a:latin typeface="Calibri"/>
              </a:rPr>
              <a:t>OFFICIAL / FLOOD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1C2A24"/>
                </a:solidFill>
                <a:latin typeface="Calibri"/>
              </a:rPr>
              <a:t>NDMA SACHET (CAP) · Copernicus GloFAS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B6B63"/>
                </a:solidFill>
                <a:latin typeface="Calibri"/>
              </a:rPr>
              <a:t>Official warnings with freshness; discharge vs 30-day mean.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3858768" y="2852928"/>
            <a:ext cx="3108959" cy="0"/>
          </a:xfrm>
          <a:prstGeom prst="line">
            <a:avLst/>
          </a:prstGeom>
          <a:ln w="190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3858768" y="2907792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5803D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1C2A24"/>
                </a:solidFill>
                <a:latin typeface="Calibri"/>
              </a:rPr>
              <a:t>NASA Global Landslide Catalog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B6B63"/>
                </a:solidFill>
                <a:latin typeface="Calibri"/>
              </a:rPr>
              <a:t>Historical exposure, 2007–2017, ≤5 km accuracy.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530352" y="4151376"/>
            <a:ext cx="3108960" cy="0"/>
          </a:xfrm>
          <a:prstGeom prst="line">
            <a:avLst/>
          </a:prstGeom>
          <a:ln w="190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530352" y="4206240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5803D"/>
                </a:solidFill>
                <a:latin typeface="Calibri"/>
              </a:rPr>
              <a:t>AI ASSISTANCE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1C2A24"/>
                </a:solidFill>
                <a:latin typeface="Calibri"/>
              </a:rPr>
              <a:t>Google Gemini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B6B63"/>
                </a:solidFill>
                <a:latin typeface="Calibri"/>
              </a:rPr>
              <a:t>Explains in the driver's language. Never safety authority.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3858768" y="4151376"/>
            <a:ext cx="3108959" cy="0"/>
          </a:xfrm>
          <a:prstGeom prst="line">
            <a:avLst/>
          </a:prstGeom>
          <a:ln w="190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TextBox 17422"/>
          <p:cNvSpPr txBox="1"/>
          <p:nvPr/>
        </p:nvSpPr>
        <p:spPr>
          <a:xfrm>
            <a:off x="3858768" y="4206240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5803D"/>
                </a:solidFill>
                <a:latin typeface="Calibri"/>
              </a:rPr>
              <a:t>PROBLEM STATEMENT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1C2A24"/>
                </a:solidFill>
                <a:latin typeface="Calibri"/>
              </a:rPr>
              <a:t>MDoNER · SIH26002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B6B63"/>
                </a:solidFill>
                <a:latin typeface="Calibri"/>
              </a:rPr>
              <a:t>Smart logistics and accessibility intelligence for the NER.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7360920" y="1097280"/>
            <a:ext cx="4416552" cy="446227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Rectangle 17424"/>
          <p:cNvSpPr/>
          <p:nvPr/>
        </p:nvSpPr>
        <p:spPr>
          <a:xfrm>
            <a:off x="7360920" y="1097280"/>
            <a:ext cx="4416552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7507224" y="1188720"/>
            <a:ext cx="4123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alibri"/>
              </a:rPr>
              <a:t>EXPERIMENTAL LANDSLIDE RESEARCH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516368" y="1517904"/>
            <a:ext cx="1691640" cy="8595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1C2A24"/>
                </a:solidFill>
                <a:latin typeface="Calibri"/>
              </a:rPr>
              <a:t>95 %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9208008" y="1554480"/>
            <a:ext cx="2423160" cy="8046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C2A24"/>
                </a:solidFill>
                <a:latin typeface="Calibri"/>
              </a:rPr>
              <a:t>RECALL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B6B63"/>
                </a:solidFill>
                <a:latin typeface="Calibri"/>
              </a:rPr>
              <a:t>NER geographic holdout · 154 events · no NER row in training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7516368" y="2505456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7516368" y="2560320"/>
            <a:ext cx="41148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AA8A0"/>
                </a:solidFill>
                <a:latin typeface="Calibri"/>
              </a:rPr>
              <a:t>SAFETY GATE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NOT DEPLOYED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516368" y="3310128"/>
            <a:ext cx="41148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Calibri"/>
              </a:rPr>
              <a:t>FPR 50 %</a:t>
            </a:r>
            <a:r>
              <a:rPr sz="1000" b="0">
                <a:solidFill>
                  <a:srgbClr val="5B6B63"/>
                </a:solidFill>
                <a:latin typeface="Calibri"/>
              </a:rPr>
              <a:t>   too high for production deployment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7836408" y="3927348"/>
            <a:ext cx="3474720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Rounded Rectangle 17432"/>
          <p:cNvSpPr/>
          <p:nvPr/>
        </p:nvSpPr>
        <p:spPr>
          <a:xfrm>
            <a:off x="7836408" y="38907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7443216" y="4059936"/>
            <a:ext cx="905256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C2A24"/>
                </a:solidFill>
                <a:latin typeface="Calibri"/>
              </a:rPr>
              <a:t>TRAIN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507577" y="38907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TextBox 17435"/>
          <p:cNvSpPr txBox="1"/>
          <p:nvPr/>
        </p:nvSpPr>
        <p:spPr>
          <a:xfrm>
            <a:off x="8114385" y="4059936"/>
            <a:ext cx="905256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C2A24"/>
                </a:solidFill>
                <a:latin typeface="Calibri"/>
              </a:rPr>
              <a:t>NER TEST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9178747" y="38907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TextBox 17437"/>
          <p:cNvSpPr txBox="1"/>
          <p:nvPr/>
        </p:nvSpPr>
        <p:spPr>
          <a:xfrm>
            <a:off x="8785555" y="4059936"/>
            <a:ext cx="905256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C2A24"/>
                </a:solidFill>
                <a:latin typeface="Calibri"/>
              </a:rPr>
              <a:t>SIGNAL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9849916" y="38907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9456724" y="4059936"/>
            <a:ext cx="905256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C2A24"/>
                </a:solidFill>
                <a:latin typeface="Calibri"/>
              </a:rPr>
              <a:t>FP HIGH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10521086" y="38907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TextBox 17441"/>
          <p:cNvSpPr txBox="1"/>
          <p:nvPr/>
        </p:nvSpPr>
        <p:spPr>
          <a:xfrm>
            <a:off x="10127894" y="4059936"/>
            <a:ext cx="905256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C2A24"/>
                </a:solidFill>
                <a:latin typeface="Calibri"/>
              </a:rPr>
              <a:t>GATE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11192256" y="38907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10799064" y="4059936"/>
            <a:ext cx="905256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C2A24"/>
                </a:solidFill>
                <a:latin typeface="Calibri"/>
              </a:rPr>
              <a:t>NOT DEPLOYED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7516368" y="4370832"/>
            <a:ext cx="4114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5803D"/>
                </a:solidFill>
                <a:latin typeface="Calibri"/>
              </a:rPr>
              <a:t>VALIDATION BEFORE AUTOMATION. </a:t>
            </a:r>
            <a:r>
              <a:rPr sz="1050" b="0">
                <a:solidFill>
                  <a:srgbClr val="1C2A24"/>
                </a:solidFill>
                <a:latin typeface="Calibri"/>
              </a:rPr>
              <a:t>Recall was not enough. Held-out testing exposed the false-positive rate. The gate keeps it out of routing.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7516368" y="5010912"/>
            <a:ext cx="4114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B63"/>
                </a:solidFill>
                <a:latin typeface="Calibri"/>
              </a:rPr>
              <a:t>Precision 0.32 · F1 0.48 · PR-AUC 0.55 · ROC-AUC 0.83 · Brier 0.12  —  calibrated logistic regression, NASA GLC + ERA5-Land rain + DEM slope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457200" y="5650992"/>
            <a:ext cx="11292840" cy="0"/>
          </a:xfrm>
          <a:prstGeom prst="line">
            <a:avLst/>
          </a:prstGeom>
          <a:ln w="9525">
            <a:solidFill>
              <a:srgbClr val="DC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TextBox 17447"/>
          <p:cNvSpPr txBox="1"/>
          <p:nvPr/>
        </p:nvSpPr>
        <p:spPr>
          <a:xfrm>
            <a:off x="457200" y="5705856"/>
            <a:ext cx="27432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A8A0"/>
                </a:solidFill>
                <a:latin typeface="Calibri"/>
              </a:rPr>
              <a:t>REFERENCES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57200" y="5907024"/>
            <a:ext cx="1129284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B63"/>
                </a:solidFill>
                <a:latin typeface="Calibri"/>
              </a:rPr>
              <a:t>gpm.nasa.gov/landslides  ·  sachet.ndma.gov.in  ·  global-flood.emergency.copernicus.eu  ·  open-meteo.com  ·  api.met.no  ·  opentopodata.org  ·  project-osrm.org  ·  openstreetmap.org  ·  github.com/nxtlucifer/ner-ai-logistics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RASTA AI — SIH26002 — Team NER-AI LOGISTICS (17)</dc:title>
  <dc:subject>AI-Based Smart Logistics and Accessibility Intelligence Platform for North Eastern Region (NER)</dc:subject>
  <dc:creator>NER-AI LOGISTICS</dc:creator>
  <cp:keywords>SIH26002, SIH 2026, RASTA AI, NER logistics, route intelligence</cp:keywords>
  <dc:description/>
  <cp:lastModifiedBy>NER-AI LOGISTICS</cp:lastModifiedBy>
  <cp:revision>148</cp:revision>
  <dcterms:created xsi:type="dcterms:W3CDTF">2013-12-12T18:46:50Z</dcterms:created>
  <dcterms:modified xsi:type="dcterms:W3CDTF">2026-06-02T09:29:39Z</dcterms:modified>
  <cp:category>Smart India Hackathon 2026 — Smart Automation — Software</cp:category>
</cp:coreProperties>
</file>