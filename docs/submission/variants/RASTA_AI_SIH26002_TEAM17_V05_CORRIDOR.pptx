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88720"/>
            <a:ext cx="6035040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1C2A24"/>
                </a:solidFill>
                <a:latin typeface="Calibri"/>
              </a:rPr>
              <a:t>RASTA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1810512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B6B63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592324"/>
            <a:ext cx="594360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48640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-228600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GUWAHATI DEPOT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61004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83764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NER CORRIDOR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596128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SHILLONG DEPOT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2743200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≈ 98.8 km of real OSRM road · plain to plateau · the live demo corridor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163824"/>
            <a:ext cx="1874519" cy="530352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42032" y="3182112"/>
            <a:ext cx="3977639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A8A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C2A24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3840480"/>
            <a:ext cx="182880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PROBLEM STATEMENT TITLE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3813048"/>
            <a:ext cx="416052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C2A24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4251960"/>
            <a:ext cx="6035039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4288536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THEME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4261104"/>
            <a:ext cx="416052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C2A24"/>
                </a:solidFill>
                <a:latin typeface="Calibri"/>
              </a:rPr>
              <a:t>Smart Automation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02920" y="4544568"/>
            <a:ext cx="6035039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2920" y="4581144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PS CATEGORY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7440" y="4553712"/>
            <a:ext cx="416052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C2A24"/>
                </a:solidFill>
                <a:latin typeface="Calibri"/>
              </a:rPr>
              <a:t>Software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2920" y="4837176"/>
            <a:ext cx="6035039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2920" y="4873752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TEAM 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4846320"/>
            <a:ext cx="416052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C2A24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02920" y="5129784"/>
            <a:ext cx="6035039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02920" y="5166360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TEAM NAME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5138928"/>
            <a:ext cx="416052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C2A24"/>
                </a:solidFill>
                <a:latin typeface="Calibri"/>
              </a:rPr>
              <a:t>NER-AI LOGISTICS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" y="5422392"/>
            <a:ext cx="6035039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02920" y="5449824"/>
            <a:ext cx="60350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C2A24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5852160"/>
            <a:ext cx="60350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5803D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6181344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1152144"/>
            <a:ext cx="4892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LIVE WORKING SYSTEM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871716" y="2253996"/>
            <a:ext cx="2515743" cy="363016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86000"/>
            <a:ext cx="2451735" cy="3566160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9514332" y="1540764"/>
            <a:ext cx="1990903" cy="4343400"/>
          </a:xfrm>
          <a:prstGeom prst="roundRect">
            <a:avLst>
              <a:gd name="adj" fmla="val 2755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1" name="Picture 70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572768"/>
            <a:ext cx="1926895" cy="427939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858000" y="5943600"/>
            <a:ext cx="4892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B6B63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9AA8A0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35024"/>
            <a:ext cx="80467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C2A24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15803D"/>
                </a:solidFill>
                <a:latin typeface="Calibri"/>
              </a:rPr>
              <a:t>The road that is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176272"/>
            <a:ext cx="8065008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5B6B63"/>
                </a:solidFill>
                <a:latin typeface="Calibri"/>
              </a:rPr>
              <a:t>NER corridors close without notice: monsoon rain, landslides, floods, official warnings, single-lane hill roads, no phone signal. A shortest-path router still sends the truck.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11480" y="2596896"/>
            <a:ext cx="8110727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Rectangle 15365"/>
          <p:cNvSpPr/>
          <p:nvPr/>
        </p:nvSpPr>
        <p:spPr>
          <a:xfrm>
            <a:off x="411480" y="2596896"/>
            <a:ext cx="8110727" cy="45720"/>
          </a:xfrm>
          <a:prstGeom prst="rect">
            <a:avLst/>
          </a:prstGeom>
          <a:solidFill>
            <a:srgbClr val="9A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TextBox 15366"/>
          <p:cNvSpPr txBox="1"/>
          <p:nvPr/>
        </p:nvSpPr>
        <p:spPr>
          <a:xfrm>
            <a:off x="557784" y="2688336"/>
            <a:ext cx="78181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9AA8A0"/>
                </a:solidFill>
                <a:latin typeface="Calibri"/>
              </a:rPr>
              <a:t>A NORMAL ROUTER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566928" y="2962656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AA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5B6B63"/>
                </a:solidFill>
                <a:latin typeface="Calibri"/>
              </a:rPr>
              <a:t>Origin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1773936" y="3099815"/>
            <a:ext cx="109728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1901952" y="2962656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AA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5B6B63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4114800" y="3099815"/>
            <a:ext cx="109728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4242816" y="2962656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AA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5B6B63"/>
                </a:solidFill>
                <a:latin typeface="Calibri"/>
              </a:rPr>
              <a:t>Truck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5532120" y="2944368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9AA8A0"/>
                </a:solidFill>
                <a:latin typeface="Calibri"/>
              </a:rPr>
              <a:t>No terrain, weather, hazard or freshness check.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411480" y="3566160"/>
            <a:ext cx="8110727" cy="2084831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Rectangle 15374"/>
          <p:cNvSpPr/>
          <p:nvPr/>
        </p:nvSpPr>
        <p:spPr>
          <a:xfrm>
            <a:off x="411480" y="3566160"/>
            <a:ext cx="8110727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6" name="TextBox 15375"/>
          <p:cNvSpPr txBox="1"/>
          <p:nvPr/>
        </p:nvSpPr>
        <p:spPr>
          <a:xfrm>
            <a:off x="557784" y="3657600"/>
            <a:ext cx="78181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RASTA AI · THE SAME ROAD, DECIDED ON EVIDENCE</a:t>
            </a:r>
          </a:p>
        </p:txBody>
      </p:sp>
      <p:sp>
        <p:nvSpPr>
          <p:cNvPr id="15377" name="Rectangle 15376"/>
          <p:cNvSpPr/>
          <p:nvPr/>
        </p:nvSpPr>
        <p:spPr>
          <a:xfrm>
            <a:off x="777240" y="4329683"/>
            <a:ext cx="740664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8" name="Rounded Rectangle 15377"/>
          <p:cNvSpPr/>
          <p:nvPr/>
        </p:nvSpPr>
        <p:spPr>
          <a:xfrm>
            <a:off x="777240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0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ORIGIN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1991868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TextBox 15380"/>
          <p:cNvSpPr txBox="1"/>
          <p:nvPr/>
        </p:nvSpPr>
        <p:spPr>
          <a:xfrm>
            <a:off x="1214627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REAL ROUTE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3206496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3" name="TextBox 15382"/>
          <p:cNvSpPr txBox="1"/>
          <p:nvPr/>
        </p:nvSpPr>
        <p:spPr>
          <a:xfrm>
            <a:off x="2429256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EVIDENCE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4421124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TextBox 15384"/>
          <p:cNvSpPr txBox="1"/>
          <p:nvPr/>
        </p:nvSpPr>
        <p:spPr>
          <a:xfrm>
            <a:off x="3643884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POLICY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5635752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TextBox 15386"/>
          <p:cNvSpPr txBox="1"/>
          <p:nvPr/>
        </p:nvSpPr>
        <p:spPr>
          <a:xfrm>
            <a:off x="4858512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DECISION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6850380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TextBox 15388"/>
          <p:cNvSpPr txBox="1"/>
          <p:nvPr/>
        </p:nvSpPr>
        <p:spPr>
          <a:xfrm>
            <a:off x="6073140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MANAGER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8065008" y="42931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TextBox 15390"/>
          <p:cNvSpPr txBox="1"/>
          <p:nvPr/>
        </p:nvSpPr>
        <p:spPr>
          <a:xfrm>
            <a:off x="7287768" y="396849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DRIVER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566928" y="4626864"/>
            <a:ext cx="804672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Terrain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1444752" y="4626864"/>
            <a:ext cx="804672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Weather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2322576" y="4626864"/>
            <a:ext cx="128016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Landslide exposure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3675887" y="4626864"/>
            <a:ext cx="1042415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Flood context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4791455" y="4626864"/>
            <a:ext cx="118872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Official warnings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6053327" y="4626864"/>
            <a:ext cx="950976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Fleet traffic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7077455" y="4626864"/>
            <a:ext cx="1280160" cy="23774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C2A24"/>
                </a:solidFill>
                <a:latin typeface="Calibri"/>
              </a:rPr>
              <a:t>Evidence freshness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566928" y="4974336"/>
            <a:ext cx="1872234" cy="3108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2548890" y="4974336"/>
            <a:ext cx="1872234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5401" name="Rounded Rectangle 15400"/>
          <p:cNvSpPr/>
          <p:nvPr/>
        </p:nvSpPr>
        <p:spPr>
          <a:xfrm>
            <a:off x="4530852" y="4974336"/>
            <a:ext cx="1872234" cy="3108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6512814" y="4974336"/>
            <a:ext cx="1872234" cy="310896"/>
          </a:xfrm>
          <a:prstGeom prst="roundRect">
            <a:avLst>
              <a:gd name="adj" fmla="val 50000"/>
            </a:avLst>
          </a:prstGeom>
          <a:solidFill>
            <a:srgbClr val="1C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5403" name="Rounded Rectangle 15402"/>
          <p:cNvSpPr/>
          <p:nvPr/>
        </p:nvSpPr>
        <p:spPr>
          <a:xfrm>
            <a:off x="411480" y="5760720"/>
            <a:ext cx="811072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4" name="TextBox 15403"/>
          <p:cNvSpPr txBox="1"/>
          <p:nvPr/>
        </p:nvSpPr>
        <p:spPr>
          <a:xfrm>
            <a:off x="566928" y="5797296"/>
            <a:ext cx="22402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B91C1C"/>
                </a:solidFill>
                <a:latin typeface="Calibri"/>
              </a:rPr>
              <a:t>UNKNOWN ≠ SAFE</a:t>
            </a:r>
          </a:p>
        </p:txBody>
      </p:sp>
      <p:sp>
        <p:nvSpPr>
          <p:cNvPr id="15405" name="TextBox 15404"/>
          <p:cNvSpPr txBox="1"/>
          <p:nvPr/>
        </p:nvSpPr>
        <p:spPr>
          <a:xfrm>
            <a:off x="2788920" y="5815584"/>
            <a:ext cx="557784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C2A24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8654796" y="1412748"/>
            <a:ext cx="2930679" cy="4526280"/>
          </a:xfrm>
          <a:prstGeom prst="roundRect">
            <a:avLst>
              <a:gd name="adj" fmla="val 1872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8" name="Picture 15407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44752"/>
            <a:ext cx="2866671" cy="4462272"/>
          </a:xfrm>
          <a:prstGeom prst="rect">
            <a:avLst/>
          </a:prstGeom>
        </p:spPr>
      </p:pic>
      <p:sp>
        <p:nvSpPr>
          <p:cNvPr id="15409" name="TextBox 15408"/>
          <p:cNvSpPr txBox="1"/>
          <p:nvPr/>
        </p:nvSpPr>
        <p:spPr>
          <a:xfrm>
            <a:off x="8686800" y="5961888"/>
            <a:ext cx="3063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97280"/>
            <a:ext cx="8138160" cy="1042415"/>
          </a:xfrm>
          <a:prstGeom prst="roundRect">
            <a:avLst>
              <a:gd name="adj" fmla="val 7017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ectangle 17410"/>
          <p:cNvSpPr/>
          <p:nvPr/>
        </p:nvSpPr>
        <p:spPr>
          <a:xfrm>
            <a:off x="384048" y="1097280"/>
            <a:ext cx="813816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30352" y="1188720"/>
            <a:ext cx="78455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VERIFIED DATA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Open-Meteo · MET Norway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901952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Copernicus DEM · OpenTopoData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55264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NDMA SACHET (CAP)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608576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GloFAS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961888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NASA GLC 2007–17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315200" y="1481328"/>
            <a:ext cx="12801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A24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fleet GPS fixes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777240" y="2464308"/>
            <a:ext cx="740664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Rounded Rectangle 17419"/>
          <p:cNvSpPr/>
          <p:nvPr/>
        </p:nvSpPr>
        <p:spPr>
          <a:xfrm>
            <a:off x="777240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0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EVIDENCE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1991868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1214627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POLICY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206496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2429256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DECISION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421124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3643884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MANAGER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635752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4858512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DRIVER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850380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6073140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60 s WATCH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065008" y="242773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7287768" y="2596896"/>
            <a:ext cx="16733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REASSESS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84048" y="2834640"/>
            <a:ext cx="8138160" cy="512064"/>
          </a:xfrm>
          <a:prstGeom prst="roundRect">
            <a:avLst>
              <a:gd name="adj" fmla="val 10714"/>
            </a:avLst>
          </a:prstGeom>
          <a:solidFill>
            <a:srgbClr val="F4F7F5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548640" y="2871216"/>
            <a:ext cx="7808975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A24"/>
                </a:solidFill>
                <a:latin typeface="Calibri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84048" y="3438144"/>
            <a:ext cx="8138160" cy="512064"/>
          </a:xfrm>
          <a:prstGeom prst="roundRect">
            <a:avLst>
              <a:gd name="adj" fmla="val 10714"/>
            </a:avLst>
          </a:prstGeom>
          <a:solidFill>
            <a:srgbClr val="15803D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48640" y="3474720"/>
            <a:ext cx="7808975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DCEFE2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84048" y="4041648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2450592" y="4041648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517136" y="4041648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6583680" y="4041648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1C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84048" y="44988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C2A24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1773936" y="4654296"/>
            <a:ext cx="54864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1847088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C2A24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3346704" y="4654296"/>
            <a:ext cx="54864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3419856" y="4498848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C2A24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303520" y="4654296"/>
            <a:ext cx="54864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5376672" y="449884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C2A24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6858000" y="4654296"/>
            <a:ext cx="54864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6931152" y="4498848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C2A24"/>
                </a:solidFill>
                <a:latin typeface="Calibri"/>
              </a:rPr>
              <a:t>REASSESS / REROUTE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384048" y="4974336"/>
            <a:ext cx="813816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530352" y="5065775"/>
            <a:ext cx="78455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BUILT WITH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548640" y="5376672"/>
            <a:ext cx="7808975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CLIENTS  </a:t>
            </a:r>
            <a:r>
              <a:rPr sz="1000" b="0">
                <a:solidFill>
                  <a:srgbClr val="1C2A24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STACK  </a:t>
            </a:r>
            <a:r>
              <a:rPr sz="1000" b="0">
                <a:solidFill>
                  <a:srgbClr val="1C2A24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8613648" y="1097280"/>
            <a:ext cx="3163824" cy="5193792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Rectangle 17454"/>
          <p:cNvSpPr/>
          <p:nvPr/>
        </p:nvSpPr>
        <p:spPr>
          <a:xfrm>
            <a:off x="8613648" y="1097280"/>
            <a:ext cx="3163824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8759952" y="1188720"/>
            <a:ext cx="2871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WHO DECIDES</a:t>
            </a:r>
          </a:p>
        </p:txBody>
      </p:sp>
      <p:sp>
        <p:nvSpPr>
          <p:cNvPr id="17457" name="Rectangle 17456"/>
          <p:cNvSpPr/>
          <p:nvPr/>
        </p:nvSpPr>
        <p:spPr>
          <a:xfrm>
            <a:off x="8759952" y="1517904"/>
            <a:ext cx="45720" cy="62179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8906256" y="1499616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A24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9" name="Rectangle 17458"/>
          <p:cNvSpPr/>
          <p:nvPr/>
        </p:nvSpPr>
        <p:spPr>
          <a:xfrm>
            <a:off x="8759952" y="2359152"/>
            <a:ext cx="45720" cy="62179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8906256" y="2340864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A24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8759952" y="3200400"/>
            <a:ext cx="45720" cy="621792"/>
          </a:xfrm>
          <a:prstGeom prst="rect">
            <a:avLst/>
          </a:prstGeom>
          <a:solidFill>
            <a:srgbClr val="9A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8906256" y="3182112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A24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8759952" y="4041648"/>
            <a:ext cx="2871216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TextBox 17463"/>
          <p:cNvSpPr txBox="1"/>
          <p:nvPr/>
        </p:nvSpPr>
        <p:spPr>
          <a:xfrm>
            <a:off x="8759952" y="4114800"/>
            <a:ext cx="2871216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A8A0"/>
                </a:solidFill>
                <a:latin typeface="Calibri"/>
              </a:rPr>
              <a:t>GOVERNANCE CHAIN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8759952" y="4425696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66" name="Connector 17465"/>
          <p:cNvCxnSpPr/>
          <p:nvPr/>
        </p:nvCxnSpPr>
        <p:spPr>
          <a:xfrm>
            <a:off x="10195560" y="4727448"/>
            <a:ext cx="0" cy="100584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7" name="Rounded Rectangle 17466"/>
          <p:cNvSpPr/>
          <p:nvPr/>
        </p:nvSpPr>
        <p:spPr>
          <a:xfrm>
            <a:off x="8759952" y="4846320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10195560" y="5148072"/>
            <a:ext cx="0" cy="100584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8759952" y="5266944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10195560" y="5568696"/>
            <a:ext cx="0" cy="100584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1" name="Rounded Rectangle 17470"/>
          <p:cNvSpPr/>
          <p:nvPr/>
        </p:nvSpPr>
        <p:spPr>
          <a:xfrm>
            <a:off x="8759952" y="5687568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05840"/>
            <a:ext cx="8686800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C2A24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868680" y="1805940"/>
            <a:ext cx="1051560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868680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320040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PLAN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168271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1619630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REVIEW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467861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2919221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DISPATCH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767453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218813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ACCEPT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067044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518404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VERIFY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7366634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6817994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NAVIGATE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666226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8117586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OFF-ROUTE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965816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9417176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APPROVAL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11265407" y="176936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10716767" y="1938528"/>
            <a:ext cx="121615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A24"/>
                </a:solidFill>
                <a:latin typeface="Calibri"/>
              </a:rPr>
              <a:t>DELIVERY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2011680"/>
            <a:ext cx="5852160" cy="3840480"/>
          </a:xfrm>
          <a:prstGeom prst="roundRect">
            <a:avLst>
              <a:gd name="adj" fmla="val 1904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512064" y="2103120"/>
            <a:ext cx="55595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REAL SCREENS FROM THE CERTIFIED RUN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98347" y="2382012"/>
            <a:ext cx="2226564" cy="3209544"/>
          </a:xfrm>
          <a:prstGeom prst="roundRect">
            <a:avLst>
              <a:gd name="adj" fmla="val 2464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414016"/>
            <a:ext cx="2162556" cy="3145536"/>
          </a:xfrm>
          <a:prstGeom prst="rect">
            <a:avLst/>
          </a:prstGeom>
        </p:spPr>
      </p:pic>
      <p:sp>
        <p:nvSpPr>
          <p:cNvPr id="17434" name="Rounded Rectangle 17433"/>
          <p:cNvSpPr/>
          <p:nvPr/>
        </p:nvSpPr>
        <p:spPr>
          <a:xfrm>
            <a:off x="2843784" y="2382012"/>
            <a:ext cx="1480358" cy="3209544"/>
          </a:xfrm>
          <a:prstGeom prst="roundRect">
            <a:avLst>
              <a:gd name="adj" fmla="val 3706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5788" y="2414016"/>
            <a:ext cx="1416350" cy="3145536"/>
          </a:xfrm>
          <a:prstGeom prst="rect">
            <a:avLst/>
          </a:prstGeom>
        </p:spPr>
      </p:pic>
      <p:sp>
        <p:nvSpPr>
          <p:cNvPr id="17436" name="Rounded Rectangle 17435"/>
          <p:cNvSpPr/>
          <p:nvPr/>
        </p:nvSpPr>
        <p:spPr>
          <a:xfrm>
            <a:off x="4443014" y="2382012"/>
            <a:ext cx="1480358" cy="3209544"/>
          </a:xfrm>
          <a:prstGeom prst="roundRect">
            <a:avLst>
              <a:gd name="adj" fmla="val 3706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018" y="2414016"/>
            <a:ext cx="1416350" cy="3145536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530352" y="5614416"/>
            <a:ext cx="2162556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2875788" y="5614416"/>
            <a:ext cx="141635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Driver · truck check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475018" y="5614416"/>
            <a:ext cx="141635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Driver · navigation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6355080" y="2011680"/>
            <a:ext cx="5422392" cy="3840480"/>
          </a:xfrm>
          <a:prstGeom prst="roundRect">
            <a:avLst>
              <a:gd name="adj" fmla="val 1904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Rectangle 17441"/>
          <p:cNvSpPr/>
          <p:nvPr/>
        </p:nvSpPr>
        <p:spPr>
          <a:xfrm>
            <a:off x="6355080" y="2011680"/>
            <a:ext cx="5422392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6501384" y="2103120"/>
            <a:ext cx="5129783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PROOF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519672" y="2468880"/>
            <a:ext cx="509320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C2A24"/>
                </a:solidFill>
                <a:latin typeface="Calibri"/>
              </a:rPr>
              <a:t>The whole lifecycle above was run end to end on a physical Android phone against the hosted backend, on the real road.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519672" y="3108960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12/12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452360" y="3108960"/>
            <a:ext cx="4160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C2A24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519672" y="3511296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9/9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452360" y="3511296"/>
            <a:ext cx="4160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C2A24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519672" y="3931920"/>
            <a:ext cx="509320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15803D"/>
                </a:solidFill>
                <a:latin typeface="Calibri"/>
              </a:rPr>
              <a:t>1138+ </a:t>
            </a:r>
            <a:r>
              <a:rPr sz="1050" b="0">
                <a:solidFill>
                  <a:srgbClr val="1C2A24"/>
                </a:solidFill>
                <a:latin typeface="Calibri"/>
              </a:rPr>
              <a:t>backend  ·  </a:t>
            </a:r>
            <a:r>
              <a:rPr sz="1300" b="1">
                <a:solidFill>
                  <a:srgbClr val="15803D"/>
                </a:solidFill>
                <a:latin typeface="Calibri"/>
              </a:rPr>
              <a:t>621+ </a:t>
            </a:r>
            <a:r>
              <a:rPr sz="1050" b="0">
                <a:solidFill>
                  <a:srgbClr val="1C2A24"/>
                </a:solidFill>
                <a:latin typeface="Calibri"/>
              </a:rPr>
              <a:t>driver  ·  </a:t>
            </a:r>
            <a:r>
              <a:rPr sz="1300" b="1">
                <a:solidFill>
                  <a:srgbClr val="15803D"/>
                </a:solidFill>
                <a:latin typeface="Calibri"/>
              </a:rPr>
              <a:t>170+ </a:t>
            </a:r>
            <a:r>
              <a:rPr sz="1050" b="0">
                <a:solidFill>
                  <a:srgbClr val="1C2A24"/>
                </a:solidFill>
                <a:latin typeface="Calibri"/>
              </a:rPr>
              <a:t>manager tests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6519672" y="4370832"/>
            <a:ext cx="5093208" cy="347472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519672" y="4828032"/>
            <a:ext cx="50932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9AA8A0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1C2A24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457200" y="5943600"/>
            <a:ext cx="1129284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A8A0"/>
                </a:solidFill>
                <a:latin typeface="Calibri"/>
              </a:rPr>
              <a:t>KNOWN LIMITS → MITIGATION   </a:t>
            </a:r>
            <a:r>
              <a:rPr sz="900" b="0">
                <a:solidFill>
                  <a:srgbClr val="5B6B63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60704"/>
            <a:ext cx="804672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50" b="0">
                <a:solidFill>
                  <a:srgbClr val="5B6B63"/>
                </a:solidFill>
                <a:latin typeface="Calibri"/>
              </a:rPr>
              <a:t>RASTA AI does not ask only </a:t>
            </a:r>
            <a:r>
              <a:rPr sz="1750" b="1">
                <a:solidFill>
                  <a:srgbClr val="1C2A24"/>
                </a:solidFill>
                <a:latin typeface="Calibri"/>
              </a:rPr>
              <a:t>“Which road is shortest?”</a:t>
            </a:r>
            <a:r>
              <a:rPr sz="1750" b="0">
                <a:solidFill>
                  <a:srgbClr val="5B6B63"/>
                </a:solidFill>
                <a:latin typeface="Calibri"/>
              </a:rPr>
              <a:t>  It asks  </a:t>
            </a:r>
            <a:r>
              <a:rPr sz="1750" b="1">
                <a:solidFill>
                  <a:srgbClr val="15803D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847088"/>
            <a:ext cx="80467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FOOD  ·  MEDICINE  ·  FUEL  ·  RELIEF SUPPLIES</a:t>
            </a:r>
            <a:r>
              <a:rPr sz="1100" b="0">
                <a:solidFill>
                  <a:srgbClr val="5B6B63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822960" y="2592324"/>
            <a:ext cx="722376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822960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5720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C2A24"/>
                </a:solidFill>
                <a:latin typeface="Calibri"/>
              </a:rPr>
              <a:t>FLEET MANAGER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191256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414016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C2A24"/>
                </a:solidFill>
                <a:latin typeface="Calibri"/>
              </a:rPr>
              <a:t>DRIVER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559552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782312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C2A24"/>
                </a:solidFill>
                <a:latin typeface="Calibri"/>
              </a:rPr>
              <a:t>REMOTE COMMUNITY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927848" y="25557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7150608" y="2231136"/>
            <a:ext cx="1673352" cy="292608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C2A24"/>
                </a:solidFill>
                <a:latin typeface="Calibri"/>
              </a:rPr>
              <a:t>GOVERNMENT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2761488"/>
            <a:ext cx="1901952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468880" y="2761488"/>
            <a:ext cx="1901952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Safer navigation, danger context, emergency support, 23 languages.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480560" y="2761488"/>
            <a:ext cx="1901952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More resilient access to food, medicine, fuel and relief supplies.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492240" y="2761488"/>
            <a:ext cx="1901952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3785615"/>
            <a:ext cx="813816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ectangle 17425"/>
          <p:cNvSpPr/>
          <p:nvPr/>
        </p:nvSpPr>
        <p:spPr>
          <a:xfrm>
            <a:off x="384048" y="3785615"/>
            <a:ext cx="8138160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30352" y="3877055"/>
            <a:ext cx="78455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DEMONSTRATED TODAY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66928" y="420624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23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481328" y="4206240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66928" y="457200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11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481328" y="4572000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66928" y="4937759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60 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481328" y="4937759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517136" y="420624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12/12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431536" y="4206240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517136" y="457200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100 %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431536" y="4572000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17136" y="4937759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803D"/>
                </a:solidFill>
                <a:latin typeface="Calibri"/>
              </a:rPr>
              <a:t>0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431536" y="4937759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C2A24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384048" y="539496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5486400"/>
            <a:ext cx="78455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HUMAN GOVERNANCE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48640" y="5852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A24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2350008" y="6007608"/>
            <a:ext cx="201167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2569464" y="5852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4370831" y="6007608"/>
            <a:ext cx="201169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4590288" y="5852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6391655" y="6007608"/>
            <a:ext cx="201169" cy="0"/>
          </a:xfrm>
          <a:prstGeom prst="line">
            <a:avLst/>
          </a:prstGeom>
          <a:ln w="15875">
            <a:solidFill>
              <a:srgbClr val="1C2A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6611112" y="58521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C2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Driver action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8613648" y="1097280"/>
            <a:ext cx="3163824" cy="5193792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8759952" y="1188720"/>
            <a:ext cx="2871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8746236" y="1522476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2" name="Picture 17451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554480"/>
            <a:ext cx="1623316" cy="2286000"/>
          </a:xfrm>
          <a:prstGeom prst="rect">
            <a:avLst/>
          </a:prstGeom>
        </p:spPr>
      </p:pic>
      <p:sp>
        <p:nvSpPr>
          <p:cNvPr id="17453" name="Rounded Rectangle 17452"/>
          <p:cNvSpPr/>
          <p:nvPr/>
        </p:nvSpPr>
        <p:spPr>
          <a:xfrm>
            <a:off x="10515856" y="1522476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7860" y="1554480"/>
            <a:ext cx="1078173" cy="2286000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8778240" y="3895344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10547860" y="3895344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Manager · mobile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8778240" y="4224528"/>
            <a:ext cx="283464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C2A24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97280"/>
            <a:ext cx="6766560" cy="4462272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30352" y="1188720"/>
            <a:ext cx="64739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803D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530352" y="1554480"/>
            <a:ext cx="3108960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530352" y="1609344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real road geometry, alternatives and turn steps; place search on the corridor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3858768" y="1554480"/>
            <a:ext cx="3108959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3858768" y="1609344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forecast sampled along the road; climb, gradient and steep segments (GLO-90)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530352" y="2852928"/>
            <a:ext cx="3108960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530352" y="290779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official warnings polled with freshness; river discharge against its 30-day mean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858768" y="2852928"/>
            <a:ext cx="3108959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3858768" y="290779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historical exposure; inventory 2007–2017, ≤5 km location-accuracy filter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30352" y="4151376"/>
            <a:ext cx="3108960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530352" y="4206240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explains the decision in the driver's language — never safety authority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3858768" y="4151376"/>
            <a:ext cx="3108959" cy="0"/>
          </a:xfrm>
          <a:prstGeom prst="line">
            <a:avLst/>
          </a:prstGeom>
          <a:ln w="19050">
            <a:solidFill>
              <a:srgbClr val="15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3858768" y="4206240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803D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1C2A24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5B6B63"/>
                </a:solidFill>
                <a:latin typeface="Calibri"/>
              </a:rPr>
              <a:t>AI-based smart logistics and accessibility intelligence for the NER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7360920" y="1097280"/>
            <a:ext cx="4416552" cy="4462272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DC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ectangle 17424"/>
          <p:cNvSpPr/>
          <p:nvPr/>
        </p:nvSpPr>
        <p:spPr>
          <a:xfrm>
            <a:off x="7360920" y="1097280"/>
            <a:ext cx="4416552" cy="45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7507224" y="1188720"/>
            <a:ext cx="412394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Calibri"/>
              </a:rPr>
              <a:t>EXPERIMENTAL LANDSLIDE RESEARCH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516368" y="1517904"/>
            <a:ext cx="1691640" cy="8595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C2A24"/>
                </a:solidFill>
                <a:latin typeface="Calibri"/>
              </a:rPr>
              <a:t>95 %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208008" y="1554480"/>
            <a:ext cx="242316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C2A24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B6B63"/>
                </a:solidFill>
                <a:latin typeface="Calibri"/>
              </a:rPr>
              <a:t>on the NER geographic holdout — 154 catalogued events, no NER row used in training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516368" y="2505456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C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7516368" y="2560320"/>
            <a:ext cx="41148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AA8A0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516368" y="3310128"/>
            <a:ext cx="41148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B91C1C"/>
                </a:solidFill>
                <a:latin typeface="Calibri"/>
              </a:rPr>
              <a:t>FPR 50 %</a:t>
            </a:r>
            <a:r>
              <a:rPr sz="1000" b="0">
                <a:solidFill>
                  <a:srgbClr val="5B6B63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7836408" y="3927348"/>
            <a:ext cx="3474720" cy="45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Rounded Rectangle 17432"/>
          <p:cNvSpPr/>
          <p:nvPr/>
        </p:nvSpPr>
        <p:spPr>
          <a:xfrm>
            <a:off x="7836408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7443216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TRAIN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507577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8114385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NER TEST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178747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785555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SIGNAL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849916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456724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FP HIGH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521086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127894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GATE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92256" y="38907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10799064" y="4059936"/>
            <a:ext cx="905256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A24"/>
                </a:solidFill>
                <a:latin typeface="Calibri"/>
              </a:rPr>
              <a:t>NOT DEPLOYED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7516368" y="4370832"/>
            <a:ext cx="4114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VALIDATION BEFORE AUTOMATION. </a:t>
            </a:r>
            <a:r>
              <a:rPr sz="1050" b="0">
                <a:solidFill>
                  <a:srgbClr val="1C2A24"/>
                </a:solidFill>
                <a:latin typeface="Calibri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516368" y="5010912"/>
            <a:ext cx="4114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B6B63"/>
                </a:solidFill>
                <a:latin typeface="Calibri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457200" y="5650992"/>
            <a:ext cx="11292840" cy="0"/>
          </a:xfrm>
          <a:prstGeom prst="line">
            <a:avLst/>
          </a:prstGeom>
          <a:ln w="9525">
            <a:solidFill>
              <a:srgbClr val="DC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457200" y="5705856"/>
            <a:ext cx="27432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A8A0"/>
                </a:solidFill>
                <a:latin typeface="Calibri"/>
              </a:rPr>
              <a:t>REFERENCES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57200" y="5907024"/>
            <a:ext cx="1129284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5B6B63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