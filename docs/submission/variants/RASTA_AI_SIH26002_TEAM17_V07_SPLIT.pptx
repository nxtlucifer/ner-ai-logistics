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1097280"/>
            <a:ext cx="6144768" cy="52578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2920" y="1298448"/>
            <a:ext cx="51206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RASTA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1920240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8892A6"/>
                </a:solidFill>
                <a:latin typeface="Arial"/>
              </a:rPr>
              <a:t>Route Intelligence for Essential-Supply Logistics in North Eastern India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395728"/>
            <a:ext cx="914400" cy="4114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2920" y="2542032"/>
            <a:ext cx="51206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SHORTEST IS NOT ALWAYS USABLE.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639312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2F6BFF"/>
                </a:solidFill>
                <a:latin typeface="Arial"/>
              </a:rPr>
              <a:t>“Can this essential-supply truck reliably use this corridor now?”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114800"/>
            <a:ext cx="1920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5A6478"/>
                </a:solidFill>
                <a:latin typeface="Arial"/>
              </a:rPr>
              <a:t>PROBLEM STATEMENT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096512"/>
            <a:ext cx="31546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F6BFF"/>
                </a:solidFill>
                <a:latin typeface="Arial"/>
              </a:rPr>
              <a:t>SIH26002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4370832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4443984"/>
            <a:ext cx="1920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5A6478"/>
                </a:solidFill>
                <a:latin typeface="Arial"/>
              </a:rPr>
              <a:t>THEME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4425696"/>
            <a:ext cx="31546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E8ECF4"/>
                </a:solidFill>
                <a:latin typeface="Arial"/>
              </a:rPr>
              <a:t>Smart Automation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4700016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4773168"/>
            <a:ext cx="1920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5A6478"/>
                </a:solidFill>
                <a:latin typeface="Arial"/>
              </a:rPr>
              <a:t>PS CATEGORY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4754880"/>
            <a:ext cx="31546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E8ECF4"/>
                </a:solidFill>
                <a:latin typeface="Arial"/>
              </a:rPr>
              <a:t>Software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02920" y="5029200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02920" y="5102352"/>
            <a:ext cx="1920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5A6478"/>
                </a:solidFill>
                <a:latin typeface="Arial"/>
              </a:rPr>
              <a:t>TEAM 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5084064"/>
            <a:ext cx="31546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E8ECF4"/>
                </a:solidFill>
                <a:latin typeface="Arial"/>
              </a:rPr>
              <a:t>17  (internal group no.)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02920" y="5358384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5431536"/>
            <a:ext cx="1920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5A6478"/>
                </a:solidFill>
                <a:latin typeface="Arial"/>
              </a:rPr>
              <a:t>TEAM NAME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68880" y="5413248"/>
            <a:ext cx="31546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E8ECF4"/>
                </a:solidFill>
                <a:latin typeface="Arial"/>
              </a:rPr>
              <a:t>NER-AI LOGISTICS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5687568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5797296"/>
            <a:ext cx="512064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8892A6"/>
                </a:solidFill>
                <a:latin typeface="Arial"/>
              </a:rPr>
              <a:t>AI-Based Smart Logistics and Accessibility Intelligence Platform for North Eastern Region (NER)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1188720"/>
            <a:ext cx="5349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5A6478"/>
                </a:solidFill>
                <a:latin typeface="Arial"/>
              </a:rPr>
              <a:t>LIVE WORKING SYSTEM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68796" y="2180844"/>
            <a:ext cx="2566035" cy="3703320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12848"/>
            <a:ext cx="2502027" cy="363931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9203436" y="1449324"/>
            <a:ext cx="2032076" cy="4434840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481328"/>
            <a:ext cx="1968068" cy="437083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400800" y="5961888"/>
            <a:ext cx="5349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Manager route review · Driver navigation — real screens, real road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F1C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0" y="1060704"/>
            <a:ext cx="6144768" cy="5294376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502920" y="1207008"/>
            <a:ext cx="51206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02920" y="1444752"/>
            <a:ext cx="51206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Not the shortest road. </a:t>
            </a:r>
            <a:r>
              <a:rPr sz="2300" b="1">
                <a:solidFill>
                  <a:srgbClr val="2F6BFF"/>
                </a:solidFill>
                <a:latin typeface="Arial"/>
              </a:rPr>
              <a:t>The road that is usable now.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02920" y="2578608"/>
            <a:ext cx="512064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8892A6"/>
                </a:solidFill>
                <a:latin typeface="Arial"/>
              </a:rPr>
              <a:t>NER corridors close without notice: monsoon rain, landslides, floods, official warnings, single-lane hill roads, no phone signal. A shortest-path router still sends the truck.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02920" y="3072384"/>
            <a:ext cx="51206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A NORMAL ROUTER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02920" y="3291840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8892A6"/>
                </a:solidFill>
                <a:latin typeface="Arial"/>
              </a:rPr>
              <a:t>Origin  →  Shortest / fastest road  →  Truck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02920" y="3566160"/>
            <a:ext cx="51206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No governance. No answer when data is missing.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02920" y="3931920"/>
            <a:ext cx="51206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RASTA AI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02920" y="4169663"/>
            <a:ext cx="7863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E8ECF4"/>
                </a:solidFill>
                <a:latin typeface="Arial"/>
              </a:rPr>
              <a:t>Terrain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1362456" y="4169663"/>
            <a:ext cx="7863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E8ECF4"/>
                </a:solidFill>
                <a:latin typeface="Arial"/>
              </a:rPr>
              <a:t>Weather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2221991" y="4169663"/>
            <a:ext cx="12435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E8ECF4"/>
                </a:solidFill>
                <a:latin typeface="Arial"/>
              </a:rPr>
              <a:t>Landslide exposure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3538728" y="4169663"/>
            <a:ext cx="100584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E8ECF4"/>
                </a:solidFill>
                <a:latin typeface="Arial"/>
              </a:rPr>
              <a:t>Flood context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502920" y="4443983"/>
            <a:ext cx="115214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E8ECF4"/>
                </a:solidFill>
                <a:latin typeface="Arial"/>
              </a:rPr>
              <a:t>Official warnings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1728216" y="4443983"/>
            <a:ext cx="91440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E8ECF4"/>
                </a:solidFill>
                <a:latin typeface="Arial"/>
              </a:rPr>
              <a:t>Fleet traffic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2715768" y="4443983"/>
            <a:ext cx="12435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E8ECF4"/>
                </a:solidFill>
                <a:latin typeface="Arial"/>
              </a:rPr>
              <a:t>Evidence freshness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502920" y="4809744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CONTINUE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1805940" y="4809744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CAUTION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3108960" y="4809744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HOLD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411980" y="4809744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REROUTE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502920" y="5193792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892A6"/>
                </a:solidFill>
                <a:latin typeface="Arial"/>
              </a:rPr>
              <a:t>Manager governance → driver navigation, 23 languages, offline package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502920" y="5705856"/>
            <a:ext cx="5120640" cy="3657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TextBox 15382"/>
          <p:cNvSpPr txBox="1"/>
          <p:nvPr/>
        </p:nvSpPr>
        <p:spPr>
          <a:xfrm>
            <a:off x="502920" y="5797296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B7185"/>
                </a:solidFill>
                <a:latin typeface="Arial"/>
              </a:rPr>
              <a:t>UNKNOWN ≠ SAFE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2651760" y="5797296"/>
            <a:ext cx="2971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892A6"/>
                </a:solidFill>
                <a:latin typeface="Arial"/>
              </a:rPr>
              <a:t>Missing or stale evidence is marked UNKNOWN, never counted as safe, and the route goes to an authorised reviewer.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6400800" y="1170432"/>
            <a:ext cx="5349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5A6478"/>
                </a:solidFill>
                <a:latin typeface="Arial"/>
              </a:rPr>
              <a:t>MANAGER · CHECK CONDITIONS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368796" y="1449324"/>
            <a:ext cx="2860187" cy="4416552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7" name="Picture 15386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81328"/>
            <a:ext cx="2796179" cy="4352544"/>
          </a:xfrm>
          <a:prstGeom prst="rect">
            <a:avLst/>
          </a:prstGeom>
        </p:spPr>
      </p:pic>
      <p:sp>
        <p:nvSpPr>
          <p:cNvPr id="15388" name="Rounded Rectangle 15387"/>
          <p:cNvSpPr/>
          <p:nvPr/>
        </p:nvSpPr>
        <p:spPr>
          <a:xfrm>
            <a:off x="9569196" y="1449324"/>
            <a:ext cx="2023842" cy="4416552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9" name="Picture 15388" descr="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481328"/>
            <a:ext cx="1959834" cy="4352544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6400800" y="5943600"/>
            <a:ext cx="5349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Manager evidence · Driver route AI — the same decision, both 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F1C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0" y="1060704"/>
            <a:ext cx="6144768" cy="5294376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1188720"/>
            <a:ext cx="51206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VERIFIED DATA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426464"/>
            <a:ext cx="841248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E8ECF4"/>
                </a:solidFill>
                <a:latin typeface="Arial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5A6478"/>
                </a:solidFill>
                <a:latin typeface="Arial"/>
              </a:rPr>
              <a:t>Open-Meteo · MET Norway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344168" y="1426464"/>
            <a:ext cx="841248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E8ECF4"/>
                </a:solidFill>
                <a:latin typeface="Arial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5A6478"/>
                </a:solidFill>
                <a:latin typeface="Arial"/>
              </a:rPr>
              <a:t>Copernicus DEM · OpenTopoData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185416" y="1426464"/>
            <a:ext cx="841248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E8ECF4"/>
                </a:solidFill>
                <a:latin typeface="Arial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5A6478"/>
                </a:solidFill>
                <a:latin typeface="Arial"/>
              </a:rPr>
              <a:t>NDMA SACHET (CAP)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026664" y="1426464"/>
            <a:ext cx="841248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E8ECF4"/>
                </a:solidFill>
                <a:latin typeface="Arial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5A6478"/>
                </a:solidFill>
                <a:latin typeface="Arial"/>
              </a:rPr>
              <a:t>GloFAS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67912" y="1426464"/>
            <a:ext cx="841248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E8ECF4"/>
                </a:solidFill>
                <a:latin typeface="Arial"/>
              </a:rPr>
              <a:t>LANDSLIDE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5A6478"/>
                </a:solidFill>
                <a:latin typeface="Arial"/>
              </a:rPr>
              <a:t>NASA GLC 2007–17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709160" y="1426464"/>
            <a:ext cx="841248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E8ECF4"/>
                </a:solidFill>
                <a:latin typeface="Arial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5A6478"/>
                </a:solidFill>
                <a:latin typeface="Arial"/>
              </a:rPr>
              <a:t>fleet GPS fixes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502920" y="2048256"/>
            <a:ext cx="5120640" cy="548640"/>
          </a:xfrm>
          <a:prstGeom prst="rect">
            <a:avLst/>
          </a:prstGeom>
          <a:solidFill>
            <a:srgbClr val="13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621792" y="2093976"/>
            <a:ext cx="4882896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892A6"/>
                </a:solidFill>
                <a:latin typeface="Arial"/>
              </a:rPr>
              <a:t>every factor sampled along the selected road · PostgreSQL + PostGIS (Supabase) · OSRM routes, turn steps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02920" y="2688336"/>
            <a:ext cx="5120640" cy="5486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621792" y="2734056"/>
            <a:ext cx="4882896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C6D0E2"/>
                </a:solidFill>
                <a:latin typeface="Arial"/>
              </a:rPr>
              <a:t>11 factors · reason codes · UNKNOWN ≠ SAFE · reviewer authorisation when hazard data is missing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3328416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CONTINUE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805940" y="3328416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CAUTION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108960" y="3328416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HOLD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411980" y="3328416"/>
            <a:ext cx="1211580" cy="292608"/>
          </a:xfrm>
          <a:prstGeom prst="roundRect">
            <a:avLst>
              <a:gd name="adj" fmla="val 50000"/>
            </a:avLst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A0F1C"/>
                </a:solidFill>
                <a:latin typeface="Arial"/>
              </a:rPr>
              <a:t>REROUTE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02920" y="373075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F1C"/>
                </a:solidFill>
                <a:latin typeface="Arial"/>
              </a:rPr>
              <a:t>MANAGER REVIEW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1709928" y="3867912"/>
            <a:ext cx="36576" cy="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1764792" y="3730752"/>
            <a:ext cx="96012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DRIVER NAV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2743200" y="3867912"/>
            <a:ext cx="36576" cy="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2798064" y="3730752"/>
            <a:ext cx="96012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60 s WATCH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3776472" y="3867912"/>
            <a:ext cx="36576" cy="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3831336" y="3730752"/>
            <a:ext cx="91440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REASSESS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02920" y="4114800"/>
            <a:ext cx="512064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6478"/>
                </a:solidFill>
                <a:latin typeface="Arial"/>
              </a:rPr>
              <a:t>Re-scored every 60 s along the road ahead; a reroute is proposed to the manager, never applied silently.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502920" y="4498848"/>
            <a:ext cx="45720" cy="4572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640080" y="4480560"/>
            <a:ext cx="498348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892A6"/>
                </a:solidFill>
                <a:latin typeface="Arial"/>
              </a:rPr>
              <a:t>makes every operational decision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502920" y="5047488"/>
            <a:ext cx="457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640080" y="5029200"/>
            <a:ext cx="498348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892A6"/>
                </a:solidFill>
                <a:latin typeface="Arial"/>
              </a:rPr>
              <a:t>explains the decision in the driver's language — never decides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502920" y="5596128"/>
            <a:ext cx="45720" cy="457200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640080" y="5577840"/>
            <a:ext cx="498348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892A6"/>
                </a:solidFill>
                <a:latin typeface="Arial"/>
              </a:rPr>
              <a:t>research channel only; held outside routing by the safety gate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400800" y="1170432"/>
            <a:ext cx="5349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5A6478"/>
                </a:solidFill>
                <a:latin typeface="Arial"/>
              </a:rPr>
              <a:t>STACK · CLIENTS · GOVERNANCE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6400800" y="1426464"/>
            <a:ext cx="5349240" cy="0"/>
          </a:xfrm>
          <a:prstGeom prst="line">
            <a:avLst/>
          </a:prstGeom>
          <a:ln w="19050">
            <a:solidFill>
              <a:srgbClr val="0A0F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TextBox 17441"/>
          <p:cNvSpPr txBox="1"/>
          <p:nvPr/>
        </p:nvSpPr>
        <p:spPr>
          <a:xfrm>
            <a:off x="6400800" y="1517904"/>
            <a:ext cx="534924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CLIENTS  </a:t>
            </a:r>
            <a:r>
              <a:rPr sz="1050" b="0">
                <a:solidFill>
                  <a:srgbClr val="0A0F1C"/>
                </a:solidFill>
                <a:latin typeface="Arial"/>
              </a:rPr>
              <a:t>Manager console — React + TypeScript, manager accounts only · Driver app — React Native / Expo, Android; one login, server-decided role, offline trip package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STACK  </a:t>
            </a:r>
            <a:r>
              <a:rPr sz="1050" b="0">
                <a:solidFill>
                  <a:srgbClr val="0A0F1C"/>
                </a:solidFill>
                <a:latin typeface="Arial"/>
              </a:rPr>
              <a:t>FastAPI · PostgreSQL / PostGIS (Supabase) · React · React Native / Expo · OSRM · OpenStreetMap · Gemini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400800" y="2779776"/>
            <a:ext cx="5349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GOVERNANCE CHAIN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400800" y="3054096"/>
            <a:ext cx="5349240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A0F1C"/>
                </a:solidFill>
                <a:latin typeface="Arial"/>
              </a:rPr>
              <a:t>Verified evidence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9075420" y="3410711"/>
            <a:ext cx="0" cy="146305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6400800" y="3566160"/>
            <a:ext cx="5349240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A0F1C"/>
                </a:solidFill>
                <a:latin typeface="Arial"/>
              </a:rPr>
              <a:t>Deterministic safety policy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9075420" y="3922776"/>
            <a:ext cx="0" cy="146304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6400800" y="4078224"/>
            <a:ext cx="5349240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A0F1C"/>
                </a:solidFill>
                <a:latin typeface="Arial"/>
              </a:rPr>
              <a:t>Manager governance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9075420" y="4434840"/>
            <a:ext cx="0" cy="146304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6400800" y="4590288"/>
            <a:ext cx="5349240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A0F1C"/>
                </a:solidFill>
                <a:latin typeface="Arial"/>
              </a:rPr>
              <a:t>Driver action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400800" y="5193792"/>
            <a:ext cx="53492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8892A6"/>
                </a:solidFill>
                <a:latin typeface="Arial"/>
              </a:rPr>
              <a:t>Diagnostics reports every provider's real state — healthy, degraded, fallback active or unknown — so a judge can see exactly what a decision rested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F1C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0" y="1060704"/>
            <a:ext cx="6144768" cy="5294376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1225296"/>
            <a:ext cx="51206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Not a concept. A working end-to-end prototype.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2011680"/>
            <a:ext cx="51206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CERTIFIED LIFECYCLE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2249424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F1C"/>
                </a:solidFill>
                <a:latin typeface="Arial"/>
              </a:rPr>
              <a:t>PLAN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2615184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F1C"/>
                </a:solidFill>
                <a:latin typeface="Arial"/>
              </a:rPr>
              <a:t>REVIEW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2980944"/>
            <a:ext cx="162763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DISPATCH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40280" y="2249424"/>
            <a:ext cx="162763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ACCEPT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240280" y="2615184"/>
            <a:ext cx="162763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TRUCK VERIFY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240280" y="2980944"/>
            <a:ext cx="162763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NAVIGATE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977639" y="2249424"/>
            <a:ext cx="162763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OFF-ROUTE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977639" y="2615184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F1C"/>
                </a:solidFill>
                <a:latin typeface="Arial"/>
              </a:rPr>
              <a:t>MANAGER REROUTE APPROVAL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977639" y="2980944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F1C"/>
                </a:solidFill>
                <a:latin typeface="Arial"/>
              </a:rPr>
              <a:t>DELIVERY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502920" y="3493008"/>
            <a:ext cx="5120640" cy="3657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502920" y="3639312"/>
            <a:ext cx="100584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6BFF"/>
                </a:solidFill>
                <a:latin typeface="Arial"/>
              </a:rPr>
              <a:t>12/12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572768" y="3639312"/>
            <a:ext cx="4050791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8ECF4"/>
                </a:solidFill>
                <a:latin typeface="Arial"/>
              </a:rPr>
              <a:t>physical judge-flow steps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4023360"/>
            <a:ext cx="100584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6BFF"/>
                </a:solidFill>
                <a:latin typeface="Arial"/>
              </a:rPr>
              <a:t>9/9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572768" y="4023360"/>
            <a:ext cx="4050791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8ECF4"/>
                </a:solidFill>
                <a:latin typeface="Arial"/>
              </a:rPr>
              <a:t>physical role-flow steps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02920" y="4407408"/>
            <a:ext cx="512064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F6BFF"/>
                </a:solidFill>
                <a:latin typeface="Arial"/>
              </a:rPr>
              <a:t>1138+ </a:t>
            </a:r>
            <a:r>
              <a:rPr sz="1000" b="0">
                <a:solidFill>
                  <a:srgbClr val="E8ECF4"/>
                </a:solidFill>
                <a:latin typeface="Arial"/>
              </a:rPr>
              <a:t>backend  ·  </a:t>
            </a:r>
            <a:r>
              <a:rPr sz="1200" b="1">
                <a:solidFill>
                  <a:srgbClr val="2F6BFF"/>
                </a:solidFill>
                <a:latin typeface="Arial"/>
              </a:rPr>
              <a:t>621+ </a:t>
            </a:r>
            <a:r>
              <a:rPr sz="1000" b="0">
                <a:solidFill>
                  <a:srgbClr val="E8ECF4"/>
                </a:solidFill>
                <a:latin typeface="Arial"/>
              </a:rPr>
              <a:t>driver  ·  </a:t>
            </a:r>
            <a:r>
              <a:rPr sz="1200" b="1">
                <a:solidFill>
                  <a:srgbClr val="2F6BFF"/>
                </a:solidFill>
                <a:latin typeface="Arial"/>
              </a:rPr>
              <a:t>170+ </a:t>
            </a:r>
            <a:r>
              <a:rPr sz="1000" b="0">
                <a:solidFill>
                  <a:srgbClr val="E8ECF4"/>
                </a:solidFill>
                <a:latin typeface="Arial"/>
              </a:rPr>
              <a:t>manager tests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2920" y="4809744"/>
            <a:ext cx="512064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A0F1C"/>
                </a:solidFill>
                <a:latin typeface="Arial"/>
              </a:rPr>
              <a:t>PHYSICAL ANDROID · CERTIFIED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02920" y="5193792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5A6478"/>
                </a:solidFill>
                <a:latin typeface="Arial"/>
              </a:rPr>
              <a:t>Canonical demo  </a:t>
            </a:r>
            <a:r>
              <a:rPr sz="1000" b="1">
                <a:solidFill>
                  <a:srgbClr val="E8ECF4"/>
                </a:solidFill>
                <a:latin typeface="Arial"/>
              </a:rPr>
              <a:t>Guwahati → Shillong · ≈ 98.8 km real route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400800" y="1170432"/>
            <a:ext cx="5349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5A6478"/>
                </a:solidFill>
                <a:latin typeface="Arial"/>
              </a:rPr>
              <a:t>REAL SCREENS FROM THE CERTIFIED RUN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368796" y="1449324"/>
            <a:ext cx="2239137" cy="3227832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2" name="Picture 17431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81328"/>
            <a:ext cx="2175129" cy="3163824"/>
          </a:xfrm>
          <a:prstGeom prst="rect">
            <a:avLst/>
          </a:prstGeom>
        </p:spPr>
      </p:pic>
      <p:sp>
        <p:nvSpPr>
          <p:cNvPr id="17433" name="Rounded Rectangle 17432"/>
          <p:cNvSpPr/>
          <p:nvPr/>
        </p:nvSpPr>
        <p:spPr>
          <a:xfrm>
            <a:off x="8690229" y="1449324"/>
            <a:ext cx="1488593" cy="3227832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4" name="Picture 17433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233" y="1481328"/>
            <a:ext cx="1424585" cy="3163824"/>
          </a:xfrm>
          <a:prstGeom prst="rect">
            <a:avLst/>
          </a:prstGeom>
        </p:spPr>
      </p:pic>
      <p:sp>
        <p:nvSpPr>
          <p:cNvPr id="17435" name="Rounded Rectangle 17434"/>
          <p:cNvSpPr/>
          <p:nvPr/>
        </p:nvSpPr>
        <p:spPr>
          <a:xfrm>
            <a:off x="10261118" y="1449324"/>
            <a:ext cx="1488593" cy="3227832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3122" y="1481328"/>
            <a:ext cx="1424585" cy="3163824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6400800" y="4700016"/>
            <a:ext cx="217512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6478"/>
                </a:solidFill>
                <a:latin typeface="Arial"/>
              </a:rPr>
              <a:t>Manager · route review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722233" y="4700016"/>
            <a:ext cx="142458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6478"/>
                </a:solidFill>
                <a:latin typeface="Arial"/>
              </a:rPr>
              <a:t>Driver · truck check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293122" y="4700016"/>
            <a:ext cx="1424585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6478"/>
                </a:solidFill>
                <a:latin typeface="Arial"/>
              </a:rPr>
              <a:t>Driver · navigation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502920" y="585216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A6478"/>
                </a:solidFill>
                <a:latin typeface="Arial"/>
              </a:rPr>
              <a:t>KNOWN LIMITS → MITIGATION   </a:t>
            </a:r>
            <a:r>
              <a:rPr sz="800" b="0">
                <a:solidFill>
                  <a:srgbClr val="8892A6"/>
                </a:solidFill>
                <a:latin typeface="Arial"/>
              </a:rPr>
              <a:t>Render cold start → warm /health before the demo  ·  provider rate limits → cached evidence + explicit UNKNOWN  ·  background push needs Firebase config → in-app alerts already work  ·  experimental ML → outside routing until the gate passes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F1C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0" y="1060704"/>
            <a:ext cx="6144768" cy="5294376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1188720"/>
            <a:ext cx="5120640" cy="8778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“Can this truck reliably use this corridor now?”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2121408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FOOD  ·  MEDICINE  ·  FUEL  ·  RELIEF SUPPLIES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2395728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892A6"/>
                </a:solidFill>
                <a:latin typeface="Arial"/>
              </a:rPr>
              <a:t>essential logistics for hill communities, decided on evidence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2798064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FLEET MANAGERS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249424" y="2798064"/>
            <a:ext cx="3374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E8ECF4"/>
                </a:solidFill>
                <a:latin typeface="Arial"/>
              </a:rPr>
              <a:t>Route usability and uncertainty visible before dispatch; auditable decisions.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02920" y="3273552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502920" y="3346704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DRIVERS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249424" y="3346704"/>
            <a:ext cx="3374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E8ECF4"/>
                </a:solidFill>
                <a:latin typeface="Arial"/>
              </a:rPr>
              <a:t>Safer navigation, danger context, emergency support, 23 languages.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502920" y="3822191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502920" y="3895344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REMOTE COMMUNITIES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249424" y="3895344"/>
            <a:ext cx="3374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E8ECF4"/>
                </a:solidFill>
                <a:latin typeface="Arial"/>
              </a:rPr>
              <a:t>More resilient access to food, medicine, fuel and relief supplies.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502920" y="4370831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502920" y="4443983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GOVERNMENT / OPERATIONS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249424" y="4443983"/>
            <a:ext cx="3374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E8ECF4"/>
                </a:solidFill>
                <a:latin typeface="Arial"/>
              </a:rPr>
              <a:t>Auditable route evidence and disruption visibility per corridor.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502920" y="4919471"/>
            <a:ext cx="5120639" cy="0"/>
          </a:xfrm>
          <a:prstGeom prst="line">
            <a:avLst/>
          </a:prstGeom>
          <a:ln w="9525">
            <a:solidFill>
              <a:srgbClr val="1C2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ectangle 17425"/>
          <p:cNvSpPr/>
          <p:nvPr/>
        </p:nvSpPr>
        <p:spPr>
          <a:xfrm>
            <a:off x="502920" y="5047487"/>
            <a:ext cx="5120640" cy="36576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502920" y="5175503"/>
            <a:ext cx="69494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F6BFF"/>
                </a:solidFill>
                <a:latin typeface="Arial"/>
              </a:rPr>
              <a:t>23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289304" y="5175503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C6D0E2"/>
                </a:solidFill>
                <a:latin typeface="Arial"/>
              </a:rPr>
              <a:t>selectable languages, explicit fallback status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081528" y="5175503"/>
            <a:ext cx="69494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F6BFF"/>
                </a:solidFill>
                <a:latin typeface="Arial"/>
              </a:rPr>
              <a:t>11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867912" y="5175503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C6D0E2"/>
                </a:solidFill>
                <a:latin typeface="Arial"/>
              </a:rPr>
              <a:t>route factors in every decision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02920" y="5504688"/>
            <a:ext cx="69494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F6BFF"/>
                </a:solidFill>
                <a:latin typeface="Arial"/>
              </a:rPr>
              <a:t>60 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289304" y="5504688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C6D0E2"/>
                </a:solidFill>
                <a:latin typeface="Arial"/>
              </a:rPr>
              <a:t>route-ahead monitor while driving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081528" y="5504688"/>
            <a:ext cx="69494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F6BFF"/>
                </a:solidFill>
                <a:latin typeface="Arial"/>
              </a:rPr>
              <a:t>12/12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867912" y="5504688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C6D0E2"/>
                </a:solidFill>
                <a:latin typeface="Arial"/>
              </a:rPr>
              <a:t>judge-flow steps certified on a physical phone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02920" y="5833871"/>
            <a:ext cx="69494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F6BFF"/>
                </a:solidFill>
                <a:latin typeface="Arial"/>
              </a:rPr>
              <a:t>100 %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1289304" y="5833871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C6D0E2"/>
                </a:solidFill>
                <a:latin typeface="Arial"/>
              </a:rPr>
              <a:t>of reroutes reviewed by a human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081528" y="5833871"/>
            <a:ext cx="694944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F6BFF"/>
                </a:solidFill>
                <a:latin typeface="Arial"/>
              </a:rPr>
              <a:t>0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867912" y="5833871"/>
            <a:ext cx="17373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C6D0E2"/>
                </a:solidFill>
                <a:latin typeface="Arial"/>
              </a:rPr>
              <a:t>unknown factors counted as safe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400800" y="1170432"/>
            <a:ext cx="5349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5A6478"/>
                </a:solidFill>
                <a:latin typeface="Arial"/>
              </a:rPr>
              <a:t>REAL SCREENS · APK 1.0.18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368796" y="1449324"/>
            <a:ext cx="2076920" cy="2898648"/>
          </a:xfrm>
          <a:prstGeom prst="roundRect">
            <a:avLst>
              <a:gd name="adj" fmla="val 2641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81328"/>
            <a:ext cx="2012912" cy="2834640"/>
          </a:xfrm>
          <a:prstGeom prst="rect">
            <a:avLst/>
          </a:prstGeom>
        </p:spPr>
      </p:pic>
      <p:sp>
        <p:nvSpPr>
          <p:cNvPr id="17442" name="Rounded Rectangle 17441"/>
          <p:cNvSpPr/>
          <p:nvPr/>
        </p:nvSpPr>
        <p:spPr>
          <a:xfrm>
            <a:off x="8546300" y="1449324"/>
            <a:ext cx="1400942" cy="289864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3" name="Picture 17442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304" y="1481328"/>
            <a:ext cx="1336934" cy="2834640"/>
          </a:xfrm>
          <a:prstGeom prst="rect">
            <a:avLst/>
          </a:prstGeom>
        </p:spPr>
      </p:pic>
      <p:sp>
        <p:nvSpPr>
          <p:cNvPr id="17444" name="Rounded Rectangle 17443"/>
          <p:cNvSpPr/>
          <p:nvPr/>
        </p:nvSpPr>
        <p:spPr>
          <a:xfrm>
            <a:off x="10047827" y="1449324"/>
            <a:ext cx="1569463" cy="2898648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9525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5" name="Picture 17444" descr="tr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9831" y="1481328"/>
            <a:ext cx="1505455" cy="2834640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6400800" y="4389120"/>
            <a:ext cx="201291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6478"/>
                </a:solidFill>
                <a:latin typeface="Arial"/>
              </a:rPr>
              <a:t>23 languages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578304" y="4389120"/>
            <a:ext cx="133693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6478"/>
                </a:solidFill>
                <a:latin typeface="Arial"/>
              </a:rPr>
              <a:t>Manager · mobile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10079831" y="4389120"/>
            <a:ext cx="150545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A6478"/>
                </a:solidFill>
                <a:latin typeface="Arial"/>
              </a:rPr>
              <a:t>Driver · assigned trip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400800" y="4736592"/>
            <a:ext cx="5349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HUMAN GOVERNANCE — AI HAS NO UNCONTROLLED AUTHORITY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400800" y="4992624"/>
            <a:ext cx="5349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A0F1C"/>
                </a:solidFill>
                <a:latin typeface="Arial"/>
              </a:rPr>
              <a:t>Verified evidence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9075420" y="5294376"/>
            <a:ext cx="0" cy="9144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6400800" y="5394960"/>
            <a:ext cx="5349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A0F1C"/>
                </a:solidFill>
                <a:latin typeface="Arial"/>
              </a:rPr>
              <a:t>Deterministic safety policy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9075420" y="5696712"/>
            <a:ext cx="0" cy="9144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6400800" y="5797296"/>
            <a:ext cx="5349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A0F1C"/>
                </a:solidFill>
                <a:latin typeface="Arial"/>
              </a:rPr>
              <a:t>Manager governance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F1C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0" y="1060704"/>
            <a:ext cx="6144768" cy="5294376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1188720"/>
            <a:ext cx="51206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A6478"/>
                </a:solidFill>
                <a:latin typeface="Arial"/>
              </a:rPr>
              <a:t>EXPERIMENTAL LANDSLIDE RESEARCH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426464"/>
            <a:ext cx="18288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95 %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377440" y="1463040"/>
            <a:ext cx="3246120" cy="8046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892A6"/>
                </a:solidFill>
                <a:latin typeface="Arial"/>
              </a:rPr>
              <a:t>on the NER geographic holdout — 154 catalogued events, no NER row used in training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02920" y="2432304"/>
            <a:ext cx="512064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502920" y="2487168"/>
            <a:ext cx="512064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A6478"/>
                </a:solidFill>
                <a:latin typeface="Arial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A0F1C"/>
                </a:solidFill>
                <a:latin typeface="Arial"/>
              </a:rPr>
              <a:t>NOT DEPLOYED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3310128"/>
            <a:ext cx="51206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B7185"/>
                </a:solidFill>
                <a:latin typeface="Arial"/>
              </a:rPr>
              <a:t>FPR 50 %</a:t>
            </a:r>
            <a:r>
              <a:rPr sz="950" b="0">
                <a:solidFill>
                  <a:srgbClr val="8892A6"/>
                </a:solidFill>
                <a:latin typeface="Arial"/>
              </a:rPr>
              <a:t>   too high for production deployment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3675887"/>
            <a:ext cx="804672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TRAIN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1325880" y="3803903"/>
            <a:ext cx="45720" cy="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1389888" y="3675887"/>
            <a:ext cx="173736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HELD-OUT NER TEST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3145536" y="3803903"/>
            <a:ext cx="45720" cy="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3209544" y="3675887"/>
            <a:ext cx="1847088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USEFUL SIGNAL FOUND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4023359"/>
            <a:ext cx="210312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FALSE POSITIVES TOO HIGH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2624327" y="4151375"/>
            <a:ext cx="45720" cy="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2688335" y="4023359"/>
            <a:ext cx="118872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SAFETY GATE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3895343" y="4151375"/>
            <a:ext cx="45720" cy="0"/>
          </a:xfrm>
          <a:prstGeom prst="line">
            <a:avLst/>
          </a:prstGeom>
          <a:ln w="15875">
            <a:solidFill>
              <a:srgbClr val="0A0F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3959352" y="4023359"/>
            <a:ext cx="137160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8ECF4"/>
                </a:solidFill>
                <a:latin typeface="Arial"/>
              </a:rPr>
              <a:t>NOT DEPLOYED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02920" y="4443984"/>
            <a:ext cx="51206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2F6BFF"/>
                </a:solidFill>
                <a:latin typeface="Arial"/>
              </a:rPr>
              <a:t>VALIDATION BEFORE AUTOMATION. </a:t>
            </a:r>
            <a:r>
              <a:rPr sz="950" b="0">
                <a:solidFill>
                  <a:srgbClr val="E8ECF4"/>
                </a:solidFill>
                <a:latin typeface="Arial"/>
              </a:rPr>
              <a:t>Strong recall was not enough. Held-out testing exposed the false-positive rate, so the gate keeps the model out of routing.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02920" y="5120640"/>
            <a:ext cx="5120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5A6478"/>
                </a:solidFill>
                <a:latin typeface="Arial"/>
              </a:rPr>
              <a:t>Precision 0.32 · F1 0.48 · PR-AUC 0.55 · ROC-AUC 0.83 · Brier 0.12 · calibrated logistic regression on NASA GLC + ERA5-Land rain + DEM slope · docs/HAZARD_ERROR_ANALYSIS.md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00800" y="1170432"/>
            <a:ext cx="5349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5A6478"/>
                </a:solidFill>
                <a:latin typeface="Arial"/>
              </a:rPr>
              <a:t>RESEARCH / EVIDENCE SOURCES BEHIND THE ROUTE DECISION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6400800" y="1426464"/>
            <a:ext cx="5349240" cy="0"/>
          </a:xfrm>
          <a:prstGeom prst="line">
            <a:avLst/>
          </a:prstGeom>
          <a:ln w="19050">
            <a:solidFill>
              <a:srgbClr val="0A0F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TextBox 17430"/>
          <p:cNvSpPr txBox="1"/>
          <p:nvPr/>
        </p:nvSpPr>
        <p:spPr>
          <a:xfrm>
            <a:off x="6400800" y="1517904"/>
            <a:ext cx="5349240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0A0F1C"/>
                </a:solidFill>
                <a:latin typeface="Arial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real road geometry, alternatives and turn steps; place search on the corridor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6400800" y="2121408"/>
            <a:ext cx="5349240" cy="0"/>
          </a:xfrm>
          <a:prstGeom prst="line">
            <a:avLst/>
          </a:prstGeom>
          <a:ln w="9525">
            <a:solidFill>
              <a:srgbClr val="E3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TextBox 17432"/>
          <p:cNvSpPr txBox="1"/>
          <p:nvPr/>
        </p:nvSpPr>
        <p:spPr>
          <a:xfrm>
            <a:off x="6400800" y="2194560"/>
            <a:ext cx="5349240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0A0F1C"/>
                </a:solidFill>
                <a:latin typeface="Arial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forecast sampled along the road; climb, gradient and steep segments (GLO-90)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6400800" y="2798064"/>
            <a:ext cx="5349240" cy="0"/>
          </a:xfrm>
          <a:prstGeom prst="line">
            <a:avLst/>
          </a:prstGeom>
          <a:ln w="9525">
            <a:solidFill>
              <a:srgbClr val="E3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TextBox 17434"/>
          <p:cNvSpPr txBox="1"/>
          <p:nvPr/>
        </p:nvSpPr>
        <p:spPr>
          <a:xfrm>
            <a:off x="6400800" y="2871215"/>
            <a:ext cx="5349240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0A0F1C"/>
                </a:solidFill>
                <a:latin typeface="Arial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official warnings polled with freshness; river discharge against its 30-day mean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6400800" y="3474720"/>
            <a:ext cx="5349240" cy="0"/>
          </a:xfrm>
          <a:prstGeom prst="line">
            <a:avLst/>
          </a:prstGeom>
          <a:ln w="9525">
            <a:solidFill>
              <a:srgbClr val="E3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TextBox 17436"/>
          <p:cNvSpPr txBox="1"/>
          <p:nvPr/>
        </p:nvSpPr>
        <p:spPr>
          <a:xfrm>
            <a:off x="6400800" y="3547872"/>
            <a:ext cx="5349240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0A0F1C"/>
                </a:solidFill>
                <a:latin typeface="Arial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historical exposure; inventory 2007–2017, ≤5 km location-accuracy filter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6400800" y="4151376"/>
            <a:ext cx="5349240" cy="0"/>
          </a:xfrm>
          <a:prstGeom prst="line">
            <a:avLst/>
          </a:prstGeom>
          <a:ln w="9525">
            <a:solidFill>
              <a:srgbClr val="E3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TextBox 17438"/>
          <p:cNvSpPr txBox="1"/>
          <p:nvPr/>
        </p:nvSpPr>
        <p:spPr>
          <a:xfrm>
            <a:off x="6400800" y="4224528"/>
            <a:ext cx="5349240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0A0F1C"/>
                </a:solidFill>
                <a:latin typeface="Arial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explains the decision in the driver's language — never safety authority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6400800" y="4828032"/>
            <a:ext cx="5349240" cy="0"/>
          </a:xfrm>
          <a:prstGeom prst="line">
            <a:avLst/>
          </a:prstGeom>
          <a:ln w="9525">
            <a:solidFill>
              <a:srgbClr val="E3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TextBox 17440"/>
          <p:cNvSpPr txBox="1"/>
          <p:nvPr/>
        </p:nvSpPr>
        <p:spPr>
          <a:xfrm>
            <a:off x="6400800" y="4901184"/>
            <a:ext cx="5349240" cy="585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2F6BFF"/>
                </a:solidFill>
                <a:latin typeface="Arial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0A0F1C"/>
                </a:solidFill>
                <a:latin typeface="Arial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0">
                <a:solidFill>
                  <a:srgbClr val="5A6478"/>
                </a:solidFill>
                <a:latin typeface="Arial"/>
              </a:rPr>
              <a:t>AI-based smart logistics and accessibility intelligence for the NER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6400800" y="5504688"/>
            <a:ext cx="5349240" cy="0"/>
          </a:xfrm>
          <a:prstGeom prst="line">
            <a:avLst/>
          </a:prstGeom>
          <a:ln w="9525">
            <a:solidFill>
              <a:srgbClr val="E3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TextBox 17442"/>
          <p:cNvSpPr txBox="1"/>
          <p:nvPr/>
        </p:nvSpPr>
        <p:spPr>
          <a:xfrm>
            <a:off x="6400800" y="5596128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5A6478"/>
                </a:solidFill>
                <a:latin typeface="Arial"/>
              </a:rPr>
              <a:t>REFERENCES   </a:t>
            </a:r>
            <a:r>
              <a:rPr sz="800" b="0">
                <a:solidFill>
                  <a:srgbClr val="5A6478"/>
                </a:solidFill>
                <a:latin typeface="Arial"/>
              </a:rPr>
              <a:t>gpm.nasa.gov/landslides (NASA GLC)  ·  sachet.ndma.gov.in  ·  global-flood.emergency.copernicus.eu (GloFAS)  ·  open-meteo.com · api.met.no  ·  opentopodata.org · Copernicus DEM  ·  project-osrm.org · openstreetmap.org  ·  github.com/nxtlucifer/ner-ai-logistics (repository, tests, model registry)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