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34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1097280"/>
            <a:ext cx="6144768" cy="52578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2920" y="1298448"/>
            <a:ext cx="5120640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RASTA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1920240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8892A6"/>
                </a:solidFill>
                <a:latin typeface="Arial"/>
              </a:rPr>
              <a:t>Route Intelligence for Essential-Supply Logistics in North Eastern India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2395728"/>
            <a:ext cx="914400" cy="4114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02920" y="2542032"/>
            <a:ext cx="51206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SHORTEST IS NOT ALWAYS USABLE.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3639312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2F6BFF"/>
                </a:solidFill>
                <a:latin typeface="Arial"/>
              </a:rPr>
              <a:t>“Can this essential-supply truck reliably use this corridor now?”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4114800"/>
            <a:ext cx="1920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5A6478"/>
                </a:solidFill>
                <a:latin typeface="Arial"/>
              </a:rPr>
              <a:t>PROBLEM STATEMENT 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4096512"/>
            <a:ext cx="315468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2F6BFF"/>
                </a:solidFill>
                <a:latin typeface="Arial"/>
              </a:rPr>
              <a:t>SIH26002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02920" y="4370832"/>
            <a:ext cx="5120639" cy="0"/>
          </a:xfrm>
          <a:prstGeom prst="line">
            <a:avLst/>
          </a:prstGeom>
          <a:ln w="9525">
            <a:solidFill>
              <a:srgbClr val="1C25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02920" y="4443984"/>
            <a:ext cx="1920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5A6478"/>
                </a:solidFill>
                <a:latin typeface="Arial"/>
              </a:rPr>
              <a:t>THEME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68880" y="4425696"/>
            <a:ext cx="315468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E8ECF4"/>
                </a:solidFill>
                <a:latin typeface="Arial"/>
              </a:rPr>
              <a:t>Smart Automation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02920" y="4700016"/>
            <a:ext cx="5120639" cy="0"/>
          </a:xfrm>
          <a:prstGeom prst="line">
            <a:avLst/>
          </a:prstGeom>
          <a:ln w="9525">
            <a:solidFill>
              <a:srgbClr val="1C25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02920" y="4773168"/>
            <a:ext cx="1920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5A6478"/>
                </a:solidFill>
                <a:latin typeface="Arial"/>
              </a:rPr>
              <a:t>PS CATEGORY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68880" y="4754880"/>
            <a:ext cx="315468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E8ECF4"/>
                </a:solidFill>
                <a:latin typeface="Arial"/>
              </a:rPr>
              <a:t>Software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02920" y="5029200"/>
            <a:ext cx="5120639" cy="0"/>
          </a:xfrm>
          <a:prstGeom prst="line">
            <a:avLst/>
          </a:prstGeom>
          <a:ln w="9525">
            <a:solidFill>
              <a:srgbClr val="1C25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02920" y="5102352"/>
            <a:ext cx="1920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5A6478"/>
                </a:solidFill>
                <a:latin typeface="Arial"/>
              </a:rPr>
              <a:t>TEAM 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68880" y="5084064"/>
            <a:ext cx="315468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E8ECF4"/>
                </a:solidFill>
                <a:latin typeface="Arial"/>
              </a:rPr>
              <a:t>17  (internal group no.)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02920" y="5358384"/>
            <a:ext cx="5120639" cy="0"/>
          </a:xfrm>
          <a:prstGeom prst="line">
            <a:avLst/>
          </a:prstGeom>
          <a:ln w="9525">
            <a:solidFill>
              <a:srgbClr val="1C25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2920" y="5431536"/>
            <a:ext cx="1920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5A6478"/>
                </a:solidFill>
                <a:latin typeface="Arial"/>
              </a:rPr>
              <a:t>TEAM NAME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68880" y="5413248"/>
            <a:ext cx="315468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E8ECF4"/>
                </a:solidFill>
                <a:latin typeface="Arial"/>
              </a:rPr>
              <a:t>NER-AI LOGISTICS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02920" y="5687568"/>
            <a:ext cx="5120639" cy="0"/>
          </a:xfrm>
          <a:prstGeom prst="line">
            <a:avLst/>
          </a:prstGeom>
          <a:ln w="9525">
            <a:solidFill>
              <a:srgbClr val="1C25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02920" y="5797296"/>
            <a:ext cx="5120640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8892A6"/>
                </a:solidFill>
                <a:latin typeface="Arial"/>
              </a:rPr>
              <a:t>AI-Based Smart Logistics and Accessibility Intelligence Platform for North Eastern Region (NER)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1188720"/>
            <a:ext cx="5349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5A6478"/>
                </a:solidFill>
                <a:latin typeface="Arial"/>
              </a:rPr>
              <a:t>LIVE WORKING SYSTEM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68796" y="2180844"/>
            <a:ext cx="2566035" cy="3703320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9525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212848"/>
            <a:ext cx="2502027" cy="3639312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9203436" y="1449324"/>
            <a:ext cx="2032076" cy="4434840"/>
          </a:xfrm>
          <a:prstGeom prst="roundRect">
            <a:avLst>
              <a:gd name="adj" fmla="val 2699"/>
            </a:avLst>
          </a:prstGeom>
          <a:solidFill>
            <a:srgbClr val="FFFFFF"/>
          </a:solidFill>
          <a:ln w="9525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3" name="Picture 62" descr="na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1481328"/>
            <a:ext cx="1968068" cy="437083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400800" y="5961888"/>
            <a:ext cx="53492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5A6478"/>
                </a:solidFill>
                <a:latin typeface="Arial"/>
              </a:rPr>
              <a:t>Manager route review · Driver navigation — real screens, real road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A0F1C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ectangle 15361"/>
          <p:cNvSpPr/>
          <p:nvPr/>
        </p:nvSpPr>
        <p:spPr>
          <a:xfrm>
            <a:off x="0" y="1060704"/>
            <a:ext cx="6144768" cy="5294376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3" name="TextBox 15362"/>
          <p:cNvSpPr txBox="1"/>
          <p:nvPr/>
        </p:nvSpPr>
        <p:spPr>
          <a:xfrm>
            <a:off x="502920" y="1207008"/>
            <a:ext cx="51206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5A6478"/>
                </a:solidFill>
                <a:latin typeface="Arial"/>
              </a:rPr>
              <a:t>PROPOSED SOLUTION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502920" y="1444752"/>
            <a:ext cx="51206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Not the shortest road. </a:t>
            </a:r>
            <a:r>
              <a:rPr sz="2300" b="1">
                <a:solidFill>
                  <a:srgbClr val="2F6BFF"/>
                </a:solidFill>
                <a:latin typeface="Arial"/>
              </a:rPr>
              <a:t>The road that is usable now.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502920" y="2578608"/>
            <a:ext cx="512064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8892A6"/>
                </a:solidFill>
                <a:latin typeface="Arial"/>
              </a:rPr>
              <a:t>Monsoon · landslides · floods · official warnings · single-lane hill roads · no signal.  </a:t>
            </a:r>
            <a:r>
              <a:rPr sz="1050" b="1">
                <a:solidFill>
                  <a:srgbClr val="FB7185"/>
                </a:solidFill>
                <a:latin typeface="Arial"/>
              </a:rPr>
              <a:t>A shortest-path router still sends the truck.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502920" y="3072384"/>
            <a:ext cx="51206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5A6478"/>
                </a:solidFill>
                <a:latin typeface="Arial"/>
              </a:rPr>
              <a:t>A NORMAL ROUTER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502920" y="3291840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8892A6"/>
                </a:solidFill>
                <a:latin typeface="Arial"/>
              </a:rPr>
              <a:t>Origin  →  Shortest / fastest road  →  Truck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502920" y="3566160"/>
            <a:ext cx="51206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A6478"/>
                </a:solidFill>
                <a:latin typeface="Arial"/>
              </a:rPr>
              <a:t>No governance. No answer when data is missing.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502920" y="3931920"/>
            <a:ext cx="51206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6BFF"/>
                </a:solidFill>
                <a:latin typeface="Arial"/>
              </a:rPr>
              <a:t>RASTA AI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502920" y="4169663"/>
            <a:ext cx="786384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E8ECF4"/>
                </a:solidFill>
                <a:latin typeface="Arial"/>
              </a:rPr>
              <a:t>Terrain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1362456" y="4169663"/>
            <a:ext cx="786384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E8ECF4"/>
                </a:solidFill>
                <a:latin typeface="Arial"/>
              </a:rPr>
              <a:t>Weather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2221991" y="4169663"/>
            <a:ext cx="1243584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E8ECF4"/>
                </a:solidFill>
                <a:latin typeface="Arial"/>
              </a:rPr>
              <a:t>Landslide exposure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3538728" y="4169663"/>
            <a:ext cx="1005840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E8ECF4"/>
                </a:solidFill>
                <a:latin typeface="Arial"/>
              </a:rPr>
              <a:t>Flood context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502920" y="4443983"/>
            <a:ext cx="1152144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E8ECF4"/>
                </a:solidFill>
                <a:latin typeface="Arial"/>
              </a:rPr>
              <a:t>Official warnings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1728216" y="4443983"/>
            <a:ext cx="914400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E8ECF4"/>
                </a:solidFill>
                <a:latin typeface="Arial"/>
              </a:rPr>
              <a:t>Fleet traffic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2715768" y="4443983"/>
            <a:ext cx="1243584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0">
                <a:solidFill>
                  <a:srgbClr val="E8ECF4"/>
                </a:solidFill>
                <a:latin typeface="Arial"/>
              </a:rPr>
              <a:t>Evidence freshness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502920" y="4809744"/>
            <a:ext cx="1211580" cy="29260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0A0F1C"/>
                </a:solidFill>
                <a:latin typeface="Arial"/>
              </a:rPr>
              <a:t>CONTINUE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1805940" y="4809744"/>
            <a:ext cx="1211580" cy="29260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0A0F1C"/>
                </a:solidFill>
                <a:latin typeface="Arial"/>
              </a:rPr>
              <a:t>CAUTION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3108960" y="4809744"/>
            <a:ext cx="12115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0A0F1C"/>
                </a:solidFill>
                <a:latin typeface="Arial"/>
              </a:rPr>
              <a:t>HOLD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4411980" y="4809744"/>
            <a:ext cx="1211580" cy="292608"/>
          </a:xfrm>
          <a:prstGeom prst="roundRect">
            <a:avLst>
              <a:gd name="adj" fmla="val 50000"/>
            </a:avLst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0A0F1C"/>
                </a:solidFill>
                <a:latin typeface="Arial"/>
              </a:rPr>
              <a:t>REROUTE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502920" y="5193792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8892A6"/>
                </a:solidFill>
                <a:latin typeface="Arial"/>
              </a:rPr>
              <a:t>Manager governance → driver navigation, 23 languages, offline package</a:t>
            </a:r>
          </a:p>
        </p:txBody>
      </p:sp>
      <p:sp>
        <p:nvSpPr>
          <p:cNvPr id="15382" name="Rectangle 15381"/>
          <p:cNvSpPr/>
          <p:nvPr/>
        </p:nvSpPr>
        <p:spPr>
          <a:xfrm>
            <a:off x="502920" y="5705856"/>
            <a:ext cx="5120640" cy="3657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3" name="TextBox 15382"/>
          <p:cNvSpPr txBox="1"/>
          <p:nvPr/>
        </p:nvSpPr>
        <p:spPr>
          <a:xfrm>
            <a:off x="502920" y="5797296"/>
            <a:ext cx="21031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B7185"/>
                </a:solidFill>
                <a:latin typeface="Arial"/>
              </a:rPr>
              <a:t>UNKNOWN ≠ SAFE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2651760" y="5797296"/>
            <a:ext cx="2971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892A6"/>
                </a:solidFill>
                <a:latin typeface="Arial"/>
              </a:rPr>
              <a:t>Missing or stale evidence is marked UNKNOWN — never safe — and goes to an authorised reviewer.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6400800" y="1170432"/>
            <a:ext cx="5349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5A6478"/>
                </a:solidFill>
                <a:latin typeface="Arial"/>
              </a:rPr>
              <a:t>MANAGER · CHECK CONDITIONS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6368796" y="1449324"/>
            <a:ext cx="2860187" cy="441655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9525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7" name="Picture 15386" descr="e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481328"/>
            <a:ext cx="2796179" cy="4352544"/>
          </a:xfrm>
          <a:prstGeom prst="rect">
            <a:avLst/>
          </a:prstGeom>
        </p:spPr>
      </p:pic>
      <p:sp>
        <p:nvSpPr>
          <p:cNvPr id="15388" name="Rounded Rectangle 15387"/>
          <p:cNvSpPr/>
          <p:nvPr/>
        </p:nvSpPr>
        <p:spPr>
          <a:xfrm>
            <a:off x="9569196" y="1449324"/>
            <a:ext cx="2023842" cy="4416552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9" name="Picture 15388" descr="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1481328"/>
            <a:ext cx="1959834" cy="4352544"/>
          </a:xfrm>
          <a:prstGeom prst="rect">
            <a:avLst/>
          </a:prstGeom>
        </p:spPr>
      </p:pic>
      <p:sp>
        <p:nvSpPr>
          <p:cNvPr id="15390" name="TextBox 15389"/>
          <p:cNvSpPr txBox="1"/>
          <p:nvPr/>
        </p:nvSpPr>
        <p:spPr>
          <a:xfrm>
            <a:off x="6400800" y="5943600"/>
            <a:ext cx="53492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5A6478"/>
                </a:solidFill>
                <a:latin typeface="Arial"/>
              </a:rPr>
              <a:t>Manager evidence · Driver route AI — the same decision, both ends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A0F1C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0" y="1060704"/>
            <a:ext cx="6144768" cy="5294376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02920" y="1188720"/>
            <a:ext cx="51206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5A6478"/>
                </a:solidFill>
                <a:latin typeface="Arial"/>
              </a:rPr>
              <a:t>VERIFIED DATA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426464"/>
            <a:ext cx="841248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E8ECF4"/>
                </a:solidFill>
                <a:latin typeface="Arial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5A6478"/>
                </a:solidFill>
                <a:latin typeface="Arial"/>
              </a:rPr>
              <a:t>Open-Meteo · MET Norway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1344168" y="1426464"/>
            <a:ext cx="841248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E8ECF4"/>
                </a:solidFill>
                <a:latin typeface="Arial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5A6478"/>
                </a:solidFill>
                <a:latin typeface="Arial"/>
              </a:rPr>
              <a:t>Copernicus DEM · OpenTopoData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2185416" y="1426464"/>
            <a:ext cx="841248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E8ECF4"/>
                </a:solidFill>
                <a:latin typeface="Arial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5A6478"/>
                </a:solidFill>
                <a:latin typeface="Arial"/>
              </a:rPr>
              <a:t>NDMA SACHET (CAP)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026664" y="1426464"/>
            <a:ext cx="841248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E8ECF4"/>
                </a:solidFill>
                <a:latin typeface="Arial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5A6478"/>
                </a:solidFill>
                <a:latin typeface="Arial"/>
              </a:rPr>
              <a:t>GloFAS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867912" y="1426464"/>
            <a:ext cx="841248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E8ECF4"/>
                </a:solidFill>
                <a:latin typeface="Arial"/>
              </a:rPr>
              <a:t>LANDSLIDE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5A6478"/>
                </a:solidFill>
                <a:latin typeface="Arial"/>
              </a:rPr>
              <a:t>NASA GLC 2007–17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709160" y="1426464"/>
            <a:ext cx="841248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E8ECF4"/>
                </a:solidFill>
                <a:latin typeface="Arial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5A6478"/>
                </a:solidFill>
                <a:latin typeface="Arial"/>
              </a:rPr>
              <a:t>fleet GPS fixes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502920" y="2048256"/>
            <a:ext cx="5120640" cy="548640"/>
          </a:xfrm>
          <a:prstGeom prst="rect">
            <a:avLst/>
          </a:prstGeom>
          <a:solidFill>
            <a:srgbClr val="131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621792" y="2093976"/>
            <a:ext cx="4882896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ROUTE-SPECIFIC EVIDENCE ·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8892A6"/>
                </a:solidFill>
                <a:latin typeface="Arial"/>
              </a:rPr>
              <a:t>every factor sampled along the selected road · PostgreSQL + PostGIS (Supabase) · OSRM routes, turn steps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502920" y="2688336"/>
            <a:ext cx="5120640" cy="5486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621792" y="2734056"/>
            <a:ext cx="4882896" cy="4754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C6D0E2"/>
                </a:solidFill>
                <a:latin typeface="Arial"/>
              </a:rPr>
              <a:t>11 factors · reason codes · UNKNOWN ≠ SAFE · reviewer authorisation when hazard data is missing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02920" y="3328416"/>
            <a:ext cx="1211580" cy="29260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0A0F1C"/>
                </a:solidFill>
                <a:latin typeface="Arial"/>
              </a:rPr>
              <a:t>CONTINUE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1805940" y="3328416"/>
            <a:ext cx="1211580" cy="29260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0A0F1C"/>
                </a:solidFill>
                <a:latin typeface="Arial"/>
              </a:rPr>
              <a:t>CAUTION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3108960" y="3328416"/>
            <a:ext cx="12115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0A0F1C"/>
                </a:solidFill>
                <a:latin typeface="Arial"/>
              </a:rPr>
              <a:t>HOLD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411980" y="3328416"/>
            <a:ext cx="1211580" cy="292608"/>
          </a:xfrm>
          <a:prstGeom prst="roundRect">
            <a:avLst>
              <a:gd name="adj" fmla="val 50000"/>
            </a:avLst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0A0F1C"/>
                </a:solidFill>
                <a:latin typeface="Arial"/>
              </a:rPr>
              <a:t>REROUTE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502920" y="3730752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 w="9525">
            <a:solidFill>
              <a:srgbClr val="0A0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F1C"/>
                </a:solidFill>
                <a:latin typeface="Arial"/>
              </a:rPr>
              <a:t>MANAGER REVIEW</a:t>
            </a:r>
          </a:p>
        </p:txBody>
      </p:sp>
      <p:cxnSp>
        <p:nvCxnSpPr>
          <p:cNvPr id="17427" name="Connector 17426"/>
          <p:cNvCxnSpPr/>
          <p:nvPr/>
        </p:nvCxnSpPr>
        <p:spPr>
          <a:xfrm>
            <a:off x="1709928" y="3867912"/>
            <a:ext cx="36576" cy="0"/>
          </a:xfrm>
          <a:prstGeom prst="line">
            <a:avLst/>
          </a:prstGeom>
          <a:ln w="15875">
            <a:solidFill>
              <a:srgbClr val="0A0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8" name="Rounded Rectangle 17427"/>
          <p:cNvSpPr/>
          <p:nvPr/>
        </p:nvSpPr>
        <p:spPr>
          <a:xfrm>
            <a:off x="1764792" y="3730752"/>
            <a:ext cx="960120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DRIVER NAV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2743200" y="3867912"/>
            <a:ext cx="36576" cy="0"/>
          </a:xfrm>
          <a:prstGeom prst="line">
            <a:avLst/>
          </a:prstGeom>
          <a:ln w="15875">
            <a:solidFill>
              <a:srgbClr val="0A0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2798064" y="3730752"/>
            <a:ext cx="960120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60 s WATCH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3776472" y="3867912"/>
            <a:ext cx="36576" cy="0"/>
          </a:xfrm>
          <a:prstGeom prst="line">
            <a:avLst/>
          </a:prstGeom>
          <a:ln w="15875">
            <a:solidFill>
              <a:srgbClr val="0A0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Rounded Rectangle 17431"/>
          <p:cNvSpPr/>
          <p:nvPr/>
        </p:nvSpPr>
        <p:spPr>
          <a:xfrm>
            <a:off x="3831336" y="3730752"/>
            <a:ext cx="914400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REASSESS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502920" y="4114800"/>
            <a:ext cx="51206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A6478"/>
                </a:solidFill>
                <a:latin typeface="Arial"/>
              </a:rPr>
              <a:t>Re-scored every 60 s on the road ahead. A reroute is proposed to the manager, never applied silently.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502920" y="4498848"/>
            <a:ext cx="45720" cy="45720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TextBox 17434"/>
          <p:cNvSpPr txBox="1"/>
          <p:nvPr/>
        </p:nvSpPr>
        <p:spPr>
          <a:xfrm>
            <a:off x="640080" y="4480560"/>
            <a:ext cx="498348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8892A6"/>
                </a:solidFill>
                <a:latin typeface="Arial"/>
              </a:rPr>
              <a:t>makes every operational decision</a:t>
            </a:r>
          </a:p>
        </p:txBody>
      </p:sp>
      <p:sp>
        <p:nvSpPr>
          <p:cNvPr id="17436" name="Rectangle 17435"/>
          <p:cNvSpPr/>
          <p:nvPr/>
        </p:nvSpPr>
        <p:spPr>
          <a:xfrm>
            <a:off x="502920" y="5047488"/>
            <a:ext cx="4572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640080" y="5029200"/>
            <a:ext cx="498348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8892A6"/>
                </a:solidFill>
                <a:latin typeface="Arial"/>
              </a:rPr>
              <a:t>explains the decision in the driver's language — never decides</a:t>
            </a:r>
          </a:p>
        </p:txBody>
      </p:sp>
      <p:sp>
        <p:nvSpPr>
          <p:cNvPr id="17438" name="Rectangle 17437"/>
          <p:cNvSpPr/>
          <p:nvPr/>
        </p:nvSpPr>
        <p:spPr>
          <a:xfrm>
            <a:off x="502920" y="5596128"/>
            <a:ext cx="45720" cy="457200"/>
          </a:xfrm>
          <a:prstGeom prst="rect">
            <a:avLst/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9" name="TextBox 17438"/>
          <p:cNvSpPr txBox="1"/>
          <p:nvPr/>
        </p:nvSpPr>
        <p:spPr>
          <a:xfrm>
            <a:off x="640080" y="5577840"/>
            <a:ext cx="498348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8892A6"/>
                </a:solidFill>
                <a:latin typeface="Arial"/>
              </a:rPr>
              <a:t>research channel only; held outside routing by the safety gate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6400800" y="1170432"/>
            <a:ext cx="5349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5A6478"/>
                </a:solidFill>
                <a:latin typeface="Arial"/>
              </a:rPr>
              <a:t>STACK · CLIENTS · GOVERNANCE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6400800" y="1426464"/>
            <a:ext cx="5349240" cy="0"/>
          </a:xfrm>
          <a:prstGeom prst="line">
            <a:avLst/>
          </a:prstGeom>
          <a:ln w="19050">
            <a:solidFill>
              <a:srgbClr val="0A0F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TextBox 17441"/>
          <p:cNvSpPr txBox="1"/>
          <p:nvPr/>
        </p:nvSpPr>
        <p:spPr>
          <a:xfrm>
            <a:off x="6400800" y="1517904"/>
            <a:ext cx="534924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5A6478"/>
                </a:solidFill>
                <a:latin typeface="Arial"/>
              </a:rPr>
              <a:t>CLIENTS  </a:t>
            </a:r>
            <a:r>
              <a:rPr sz="1050" b="0">
                <a:solidFill>
                  <a:srgbClr val="0A0F1C"/>
                </a:solidFill>
                <a:latin typeface="Arial"/>
              </a:rPr>
              <a:t>Manager console (React + TS) · Driver app (React Native / Expo, Android) · one login, server-decided role, offline package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5A6478"/>
                </a:solidFill>
                <a:latin typeface="Arial"/>
              </a:rPr>
              <a:t>STACK  </a:t>
            </a:r>
            <a:r>
              <a:rPr sz="1050" b="0">
                <a:solidFill>
                  <a:srgbClr val="0A0F1C"/>
                </a:solidFill>
                <a:latin typeface="Arial"/>
              </a:rPr>
              <a:t>FastAPI · PostgreSQL / PostGIS (Supabase) · React · React Native / Expo · OSRM · OpenStreetMap · Gemini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6400800" y="2779776"/>
            <a:ext cx="5349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5A6478"/>
                </a:solidFill>
                <a:latin typeface="Arial"/>
              </a:rPr>
              <a:t>GOVERNANCE CHAIN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6400800" y="3054096"/>
            <a:ext cx="5349240" cy="34747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A0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0A0F1C"/>
                </a:solidFill>
                <a:latin typeface="Arial"/>
              </a:rPr>
              <a:t>Verified evidence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9075420" y="3410711"/>
            <a:ext cx="0" cy="146305"/>
          </a:xfrm>
          <a:prstGeom prst="line">
            <a:avLst/>
          </a:prstGeom>
          <a:ln w="15875">
            <a:solidFill>
              <a:srgbClr val="0A0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Rounded Rectangle 17445"/>
          <p:cNvSpPr/>
          <p:nvPr/>
        </p:nvSpPr>
        <p:spPr>
          <a:xfrm>
            <a:off x="6400800" y="3566160"/>
            <a:ext cx="5349240" cy="34747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A0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0A0F1C"/>
                </a:solidFill>
                <a:latin typeface="Arial"/>
              </a:rPr>
              <a:t>Deterministic safety policy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9075420" y="3922776"/>
            <a:ext cx="0" cy="146304"/>
          </a:xfrm>
          <a:prstGeom prst="line">
            <a:avLst/>
          </a:prstGeom>
          <a:ln w="15875">
            <a:solidFill>
              <a:srgbClr val="0A0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Rounded Rectangle 17447"/>
          <p:cNvSpPr/>
          <p:nvPr/>
        </p:nvSpPr>
        <p:spPr>
          <a:xfrm>
            <a:off x="6400800" y="4078224"/>
            <a:ext cx="5349240" cy="34747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A0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0A0F1C"/>
                </a:solidFill>
                <a:latin typeface="Arial"/>
              </a:rPr>
              <a:t>Manager governance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9075420" y="4434840"/>
            <a:ext cx="0" cy="146304"/>
          </a:xfrm>
          <a:prstGeom prst="line">
            <a:avLst/>
          </a:prstGeom>
          <a:ln w="15875">
            <a:solidFill>
              <a:srgbClr val="0A0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Rounded Rectangle 17449"/>
          <p:cNvSpPr/>
          <p:nvPr/>
        </p:nvSpPr>
        <p:spPr>
          <a:xfrm>
            <a:off x="6400800" y="4590288"/>
            <a:ext cx="5349240" cy="34747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A0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0A0F1C"/>
                </a:solidFill>
                <a:latin typeface="Arial"/>
              </a:rPr>
              <a:t>Driver action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400800" y="5193792"/>
            <a:ext cx="534924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8892A6"/>
                </a:solidFill>
                <a:latin typeface="Arial"/>
              </a:rPr>
              <a:t>Diagnostics reports every provider's real state — healthy, degraded, fallback active or unknown — so a judge can see exactly what a decision rested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A0F1C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0" y="1060704"/>
            <a:ext cx="6144768" cy="5294376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02920" y="1225296"/>
            <a:ext cx="5120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Not a concept. A working end-to-end prototype.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2011680"/>
            <a:ext cx="51206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5A6478"/>
                </a:solidFill>
                <a:latin typeface="Arial"/>
              </a:rPr>
              <a:t>CERTIFIED LIFECYCLE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02920" y="2249424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F1C"/>
                </a:solidFill>
                <a:latin typeface="Arial"/>
              </a:rPr>
              <a:t>PLAN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02920" y="2615184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F1C"/>
                </a:solidFill>
                <a:latin typeface="Arial"/>
              </a:rPr>
              <a:t>REVIEW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02920" y="2980944"/>
            <a:ext cx="1627632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DISPATCH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240280" y="2249424"/>
            <a:ext cx="1627632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ACCEPT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240280" y="2615184"/>
            <a:ext cx="1627632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TRUCK VERIFY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240280" y="2980944"/>
            <a:ext cx="1627632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NAVIGATE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977639" y="2249424"/>
            <a:ext cx="1627632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OFF-ROUTE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977639" y="2615184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F1C"/>
                </a:solidFill>
                <a:latin typeface="Arial"/>
              </a:rPr>
              <a:t>MANAGER REROUTE APPROVAL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977639" y="2980944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F1C"/>
                </a:solidFill>
                <a:latin typeface="Arial"/>
              </a:rPr>
              <a:t>DELIVERY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502920" y="3493008"/>
            <a:ext cx="5120640" cy="36576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TextBox 17422"/>
          <p:cNvSpPr txBox="1"/>
          <p:nvPr/>
        </p:nvSpPr>
        <p:spPr>
          <a:xfrm>
            <a:off x="502920" y="3639312"/>
            <a:ext cx="100584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F6BFF"/>
                </a:solidFill>
                <a:latin typeface="Arial"/>
              </a:rPr>
              <a:t>12/12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572768" y="3639312"/>
            <a:ext cx="4050791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E8ECF4"/>
                </a:solidFill>
                <a:latin typeface="Arial"/>
              </a:rPr>
              <a:t>physical judge-flow steps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02920" y="4023360"/>
            <a:ext cx="100584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F6BFF"/>
                </a:solidFill>
                <a:latin typeface="Arial"/>
              </a:rPr>
              <a:t>9/9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572768" y="4023360"/>
            <a:ext cx="4050791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E8ECF4"/>
                </a:solidFill>
                <a:latin typeface="Arial"/>
              </a:rPr>
              <a:t>physical role-flow steps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02920" y="4407408"/>
            <a:ext cx="512064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F6BFF"/>
                </a:solidFill>
                <a:latin typeface="Arial"/>
              </a:rPr>
              <a:t>1138+ </a:t>
            </a:r>
            <a:r>
              <a:rPr sz="1000" b="0">
                <a:solidFill>
                  <a:srgbClr val="E8ECF4"/>
                </a:solidFill>
                <a:latin typeface="Arial"/>
              </a:rPr>
              <a:t>backend  ·  </a:t>
            </a:r>
            <a:r>
              <a:rPr sz="1200" b="1">
                <a:solidFill>
                  <a:srgbClr val="2F6BFF"/>
                </a:solidFill>
                <a:latin typeface="Arial"/>
              </a:rPr>
              <a:t>621+ </a:t>
            </a:r>
            <a:r>
              <a:rPr sz="1000" b="0">
                <a:solidFill>
                  <a:srgbClr val="E8ECF4"/>
                </a:solidFill>
                <a:latin typeface="Arial"/>
              </a:rPr>
              <a:t>driver  ·  </a:t>
            </a:r>
            <a:r>
              <a:rPr sz="1200" b="1">
                <a:solidFill>
                  <a:srgbClr val="2F6BFF"/>
                </a:solidFill>
                <a:latin typeface="Arial"/>
              </a:rPr>
              <a:t>170+ </a:t>
            </a:r>
            <a:r>
              <a:rPr sz="1000" b="0">
                <a:solidFill>
                  <a:srgbClr val="E8ECF4"/>
                </a:solidFill>
                <a:latin typeface="Arial"/>
              </a:rPr>
              <a:t>manager tests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502920" y="4809744"/>
            <a:ext cx="5120640" cy="31089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A0F1C"/>
                </a:solidFill>
                <a:latin typeface="Arial"/>
              </a:rPr>
              <a:t>PHYSICAL ANDROID · CERTIFIED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02920" y="5193792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5A6478"/>
                </a:solidFill>
                <a:latin typeface="Arial"/>
              </a:rPr>
              <a:t>Canonical demo  </a:t>
            </a:r>
            <a:r>
              <a:rPr sz="1000" b="1">
                <a:solidFill>
                  <a:srgbClr val="E8ECF4"/>
                </a:solidFill>
                <a:latin typeface="Arial"/>
              </a:rPr>
              <a:t>Guwahati → Shillong · ≈ 98.8 km real route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400800" y="1170432"/>
            <a:ext cx="5349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5A6478"/>
                </a:solidFill>
                <a:latin typeface="Arial"/>
              </a:rPr>
              <a:t>REAL SCREENS FROM THE CERTIFIED RUN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368796" y="1449324"/>
            <a:ext cx="2239137" cy="3227832"/>
          </a:xfrm>
          <a:prstGeom prst="roundRect">
            <a:avLst>
              <a:gd name="adj" fmla="val 2450"/>
            </a:avLst>
          </a:prstGeom>
          <a:solidFill>
            <a:srgbClr val="FFFFFF"/>
          </a:solidFill>
          <a:ln w="9525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2" name="Picture 17431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481328"/>
            <a:ext cx="2175129" cy="3163824"/>
          </a:xfrm>
          <a:prstGeom prst="rect">
            <a:avLst/>
          </a:prstGeom>
        </p:spPr>
      </p:pic>
      <p:sp>
        <p:nvSpPr>
          <p:cNvPr id="17433" name="Rounded Rectangle 17432"/>
          <p:cNvSpPr/>
          <p:nvPr/>
        </p:nvSpPr>
        <p:spPr>
          <a:xfrm>
            <a:off x="8690229" y="1449324"/>
            <a:ext cx="1488593" cy="3227832"/>
          </a:xfrm>
          <a:prstGeom prst="roundRect">
            <a:avLst>
              <a:gd name="adj" fmla="val 3685"/>
            </a:avLst>
          </a:prstGeom>
          <a:solidFill>
            <a:srgbClr val="FFFFFF"/>
          </a:solidFill>
          <a:ln w="9525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4" name="Picture 17433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2233" y="1481328"/>
            <a:ext cx="1424585" cy="3163824"/>
          </a:xfrm>
          <a:prstGeom prst="rect">
            <a:avLst/>
          </a:prstGeom>
        </p:spPr>
      </p:pic>
      <p:sp>
        <p:nvSpPr>
          <p:cNvPr id="17435" name="Rounded Rectangle 17434"/>
          <p:cNvSpPr/>
          <p:nvPr/>
        </p:nvSpPr>
        <p:spPr>
          <a:xfrm>
            <a:off x="10261118" y="1449324"/>
            <a:ext cx="1488593" cy="3227832"/>
          </a:xfrm>
          <a:prstGeom prst="roundRect">
            <a:avLst>
              <a:gd name="adj" fmla="val 3685"/>
            </a:avLst>
          </a:prstGeom>
          <a:solidFill>
            <a:srgbClr val="FFFFFF"/>
          </a:solidFill>
          <a:ln w="9525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6" name="Picture 17435" descr="na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93122" y="1481328"/>
            <a:ext cx="1424585" cy="3163824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6400800" y="4700016"/>
            <a:ext cx="217512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A6478"/>
                </a:solidFill>
                <a:latin typeface="Arial"/>
              </a:rPr>
              <a:t>Manager · route review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8722233" y="4700016"/>
            <a:ext cx="1424585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A6478"/>
                </a:solidFill>
                <a:latin typeface="Arial"/>
              </a:rPr>
              <a:t>Driver · truck check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10293122" y="4700016"/>
            <a:ext cx="1424585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A6478"/>
                </a:solidFill>
                <a:latin typeface="Arial"/>
              </a:rPr>
              <a:t>Driver · navigation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502920" y="5852160"/>
            <a:ext cx="51206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5A6478"/>
                </a:solidFill>
                <a:latin typeface="Arial"/>
              </a:rPr>
              <a:t>KNOWN LIMITS → MITIGATION   </a:t>
            </a:r>
            <a:r>
              <a:rPr sz="800" b="0">
                <a:solidFill>
                  <a:srgbClr val="8892A6"/>
                </a:solidFill>
                <a:latin typeface="Arial"/>
              </a:rPr>
              <a:t>Cold start → warm /health first  ·  rate limits → cached evidence + explicit UNKNOWN  ·  push needs Firebase → in-app alerts work  ·  experimental ML → outside routing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A0F1C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0" y="1060704"/>
            <a:ext cx="6144768" cy="5294376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02920" y="1188720"/>
            <a:ext cx="5120640" cy="8778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“Can this truck reliably use this corridor now?”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2121408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FOOD  ·  MEDICINE  ·  FUEL  ·  RELIEF SUPPLIES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02920" y="2395728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8892A6"/>
                </a:solidFill>
                <a:latin typeface="Arial"/>
              </a:rPr>
              <a:t>essential logistics for hill communities, decided on evidence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02920" y="2798064"/>
            <a:ext cx="16916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6BFF"/>
                </a:solidFill>
                <a:latin typeface="Arial"/>
              </a:rPr>
              <a:t>FLEET MANAGERS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249424" y="2798064"/>
            <a:ext cx="3374136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E8ECF4"/>
                </a:solidFill>
                <a:latin typeface="Arial"/>
              </a:rPr>
              <a:t>Usability and uncertainty visible before dispatch. Auditable.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502920" y="3273552"/>
            <a:ext cx="5120639" cy="0"/>
          </a:xfrm>
          <a:prstGeom prst="line">
            <a:avLst/>
          </a:prstGeom>
          <a:ln w="9525">
            <a:solidFill>
              <a:srgbClr val="1C25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TextBox 17416"/>
          <p:cNvSpPr txBox="1"/>
          <p:nvPr/>
        </p:nvSpPr>
        <p:spPr>
          <a:xfrm>
            <a:off x="502920" y="3346704"/>
            <a:ext cx="16916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6BFF"/>
                </a:solidFill>
                <a:latin typeface="Arial"/>
              </a:rPr>
              <a:t>DRIVERS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249424" y="3346704"/>
            <a:ext cx="3374136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E8ECF4"/>
                </a:solidFill>
                <a:latin typeface="Arial"/>
              </a:rPr>
              <a:t>Danger context, emergency support, 23 languages.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502920" y="3822191"/>
            <a:ext cx="5120639" cy="0"/>
          </a:xfrm>
          <a:prstGeom prst="line">
            <a:avLst/>
          </a:prstGeom>
          <a:ln w="9525">
            <a:solidFill>
              <a:srgbClr val="1C25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TextBox 17419"/>
          <p:cNvSpPr txBox="1"/>
          <p:nvPr/>
        </p:nvSpPr>
        <p:spPr>
          <a:xfrm>
            <a:off x="502920" y="3895344"/>
            <a:ext cx="16916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6BFF"/>
                </a:solidFill>
                <a:latin typeface="Arial"/>
              </a:rPr>
              <a:t>REMOTE COMMUNITIES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249424" y="3895344"/>
            <a:ext cx="3374136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E8ECF4"/>
                </a:solidFill>
                <a:latin typeface="Arial"/>
              </a:rPr>
              <a:t>Resilient access to food, medicine, fuel, relief.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502920" y="4370831"/>
            <a:ext cx="5120639" cy="0"/>
          </a:xfrm>
          <a:prstGeom prst="line">
            <a:avLst/>
          </a:prstGeom>
          <a:ln w="9525">
            <a:solidFill>
              <a:srgbClr val="1C25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TextBox 17422"/>
          <p:cNvSpPr txBox="1"/>
          <p:nvPr/>
        </p:nvSpPr>
        <p:spPr>
          <a:xfrm>
            <a:off x="502920" y="4443983"/>
            <a:ext cx="16916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6BFF"/>
                </a:solidFill>
                <a:latin typeface="Arial"/>
              </a:rPr>
              <a:t>GOVERNMENT / OPS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249424" y="4443983"/>
            <a:ext cx="3374136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E8ECF4"/>
                </a:solidFill>
                <a:latin typeface="Arial"/>
              </a:rPr>
              <a:t>Auditable evidence and disruption per corridor.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502920" y="4919471"/>
            <a:ext cx="5120639" cy="0"/>
          </a:xfrm>
          <a:prstGeom prst="line">
            <a:avLst/>
          </a:prstGeom>
          <a:ln w="9525">
            <a:solidFill>
              <a:srgbClr val="1C25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Rectangle 17425"/>
          <p:cNvSpPr/>
          <p:nvPr/>
        </p:nvSpPr>
        <p:spPr>
          <a:xfrm>
            <a:off x="502920" y="5047487"/>
            <a:ext cx="5120640" cy="36576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502920" y="5175503"/>
            <a:ext cx="694944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F6BFF"/>
                </a:solidFill>
                <a:latin typeface="Arial"/>
              </a:rPr>
              <a:t>23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289304" y="5175503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C6D0E2"/>
                </a:solidFill>
                <a:latin typeface="Arial"/>
              </a:rPr>
              <a:t>selectable languages, explicit fallback status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081528" y="5175503"/>
            <a:ext cx="694944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F6BFF"/>
                </a:solidFill>
                <a:latin typeface="Arial"/>
              </a:rPr>
              <a:t>11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3867912" y="5175503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C6D0E2"/>
                </a:solidFill>
                <a:latin typeface="Arial"/>
              </a:rPr>
              <a:t>route factors in every decision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02920" y="5504688"/>
            <a:ext cx="694944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F6BFF"/>
                </a:solidFill>
                <a:latin typeface="Arial"/>
              </a:rPr>
              <a:t>60 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289304" y="5504688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C6D0E2"/>
                </a:solidFill>
                <a:latin typeface="Arial"/>
              </a:rPr>
              <a:t>route-ahead monitor while driving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3081528" y="5504688"/>
            <a:ext cx="694944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F6BFF"/>
                </a:solidFill>
                <a:latin typeface="Arial"/>
              </a:rPr>
              <a:t>12/12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3867912" y="5504688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C6D0E2"/>
                </a:solidFill>
                <a:latin typeface="Arial"/>
              </a:rPr>
              <a:t>judge-flow steps certified on a physical phone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502920" y="5833871"/>
            <a:ext cx="694944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F6BFF"/>
                </a:solidFill>
                <a:latin typeface="Arial"/>
              </a:rPr>
              <a:t>100 %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1289304" y="5833871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C6D0E2"/>
                </a:solidFill>
                <a:latin typeface="Arial"/>
              </a:rPr>
              <a:t>of reroutes reviewed by a human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3081528" y="5833871"/>
            <a:ext cx="694944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F6BFF"/>
                </a:solidFill>
                <a:latin typeface="Arial"/>
              </a:rPr>
              <a:t>0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3867912" y="5833871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C6D0E2"/>
                </a:solidFill>
                <a:latin typeface="Arial"/>
              </a:rPr>
              <a:t>unknown factors counted as safe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400800" y="1170432"/>
            <a:ext cx="5349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5A6478"/>
                </a:solidFill>
                <a:latin typeface="Arial"/>
              </a:rPr>
              <a:t>REAL SCREENS · APK 1.0.18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6368796" y="1449324"/>
            <a:ext cx="2076920" cy="2898648"/>
          </a:xfrm>
          <a:prstGeom prst="roundRect">
            <a:avLst>
              <a:gd name="adj" fmla="val 2641"/>
            </a:avLst>
          </a:prstGeom>
          <a:solidFill>
            <a:srgbClr val="FFFFFF"/>
          </a:solidFill>
          <a:ln w="9525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481328"/>
            <a:ext cx="2012912" cy="2834640"/>
          </a:xfrm>
          <a:prstGeom prst="rect">
            <a:avLst/>
          </a:prstGeom>
        </p:spPr>
      </p:pic>
      <p:sp>
        <p:nvSpPr>
          <p:cNvPr id="17442" name="Rounded Rectangle 17441"/>
          <p:cNvSpPr/>
          <p:nvPr/>
        </p:nvSpPr>
        <p:spPr>
          <a:xfrm>
            <a:off x="8546300" y="1449324"/>
            <a:ext cx="1400942" cy="2898648"/>
          </a:xfrm>
          <a:prstGeom prst="roundRect">
            <a:avLst>
              <a:gd name="adj" fmla="val 3916"/>
            </a:avLst>
          </a:prstGeom>
          <a:solidFill>
            <a:srgbClr val="FFFFFF"/>
          </a:solidFill>
          <a:ln w="9525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3" name="Picture 17442" descr="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8304" y="1481328"/>
            <a:ext cx="1336934" cy="2834640"/>
          </a:xfrm>
          <a:prstGeom prst="rect">
            <a:avLst/>
          </a:prstGeom>
        </p:spPr>
      </p:pic>
      <p:sp>
        <p:nvSpPr>
          <p:cNvPr id="17444" name="Rounded Rectangle 17443"/>
          <p:cNvSpPr/>
          <p:nvPr/>
        </p:nvSpPr>
        <p:spPr>
          <a:xfrm>
            <a:off x="10047827" y="1449324"/>
            <a:ext cx="1569463" cy="2898648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 w="9525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5" name="Picture 17444" descr="tri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79831" y="1481328"/>
            <a:ext cx="1505455" cy="2834640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6400800" y="4389120"/>
            <a:ext cx="2012912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A6478"/>
                </a:solidFill>
                <a:latin typeface="Arial"/>
              </a:rPr>
              <a:t>23 languages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8578304" y="4389120"/>
            <a:ext cx="1336934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A6478"/>
                </a:solidFill>
                <a:latin typeface="Arial"/>
              </a:rPr>
              <a:t>Manager · mobile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10079831" y="4389120"/>
            <a:ext cx="1505455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A6478"/>
                </a:solidFill>
                <a:latin typeface="Arial"/>
              </a:rPr>
              <a:t>Driver · assigned trip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400800" y="4736592"/>
            <a:ext cx="5349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5A6478"/>
                </a:solidFill>
                <a:latin typeface="Arial"/>
              </a:rPr>
              <a:t>HUMAN GOVERNANCE — AI HAS NO UNCONTROLLED AUTHORITY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6400800" y="4992624"/>
            <a:ext cx="5349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A0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A0F1C"/>
                </a:solidFill>
                <a:latin typeface="Arial"/>
              </a:rPr>
              <a:t>Verified evidence</a:t>
            </a:r>
          </a:p>
        </p:txBody>
      </p:sp>
      <p:cxnSp>
        <p:nvCxnSpPr>
          <p:cNvPr id="17451" name="Connector 17450"/>
          <p:cNvCxnSpPr/>
          <p:nvPr/>
        </p:nvCxnSpPr>
        <p:spPr>
          <a:xfrm>
            <a:off x="9075420" y="5294376"/>
            <a:ext cx="0" cy="91440"/>
          </a:xfrm>
          <a:prstGeom prst="line">
            <a:avLst/>
          </a:prstGeom>
          <a:ln w="15875">
            <a:solidFill>
              <a:srgbClr val="0A0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Rounded Rectangle 17451"/>
          <p:cNvSpPr/>
          <p:nvPr/>
        </p:nvSpPr>
        <p:spPr>
          <a:xfrm>
            <a:off x="6400800" y="5394960"/>
            <a:ext cx="5349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A0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A0F1C"/>
                </a:solidFill>
                <a:latin typeface="Arial"/>
              </a:rPr>
              <a:t>Deterministic safety policy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9075420" y="5696712"/>
            <a:ext cx="0" cy="91440"/>
          </a:xfrm>
          <a:prstGeom prst="line">
            <a:avLst/>
          </a:prstGeom>
          <a:ln w="15875">
            <a:solidFill>
              <a:srgbClr val="0A0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4" name="Rounded Rectangle 17453"/>
          <p:cNvSpPr/>
          <p:nvPr/>
        </p:nvSpPr>
        <p:spPr>
          <a:xfrm>
            <a:off x="6400800" y="5797296"/>
            <a:ext cx="5349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A0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A0F1C"/>
                </a:solidFill>
                <a:latin typeface="Arial"/>
              </a:rPr>
              <a:t>Manager governance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A0F1C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0" y="1060704"/>
            <a:ext cx="6144768" cy="5294376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02920" y="1188720"/>
            <a:ext cx="51206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5A6478"/>
                </a:solidFill>
                <a:latin typeface="Arial"/>
              </a:rPr>
              <a:t>EXPERIMENTAL LANDSLIDE RESEARCH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426464"/>
            <a:ext cx="18288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Arial"/>
              </a:rPr>
              <a:t>95 %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377440" y="1463040"/>
            <a:ext cx="3246120" cy="8046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RECALL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892A6"/>
                </a:solidFill>
                <a:latin typeface="Arial"/>
              </a:rPr>
              <a:t>NER geographic holdout · 154 events · no NER row in training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502920" y="2432304"/>
            <a:ext cx="5120640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502920" y="2487168"/>
            <a:ext cx="5120640" cy="6949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5A6478"/>
                </a:solidFill>
                <a:latin typeface="Arial"/>
              </a:rPr>
              <a:t>SAFETY 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A0F1C"/>
                </a:solidFill>
                <a:latin typeface="Arial"/>
              </a:rPr>
              <a:t>NOT DEPLOYED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02920" y="3310128"/>
            <a:ext cx="51206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B7185"/>
                </a:solidFill>
                <a:latin typeface="Arial"/>
              </a:rPr>
              <a:t>FPR 50 %</a:t>
            </a:r>
            <a:r>
              <a:rPr sz="950" b="0">
                <a:solidFill>
                  <a:srgbClr val="8892A6"/>
                </a:solidFill>
                <a:latin typeface="Arial"/>
              </a:rPr>
              <a:t>   too high for production deployment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02920" y="3675887"/>
            <a:ext cx="804672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TRAIN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1325880" y="3803903"/>
            <a:ext cx="45720" cy="0"/>
          </a:xfrm>
          <a:prstGeom prst="line">
            <a:avLst/>
          </a:prstGeom>
          <a:ln w="15875">
            <a:solidFill>
              <a:srgbClr val="0A0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1389888" y="3675887"/>
            <a:ext cx="1737360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HELD-OUT NER TEST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3145536" y="3803903"/>
            <a:ext cx="45720" cy="0"/>
          </a:xfrm>
          <a:prstGeom prst="line">
            <a:avLst/>
          </a:prstGeom>
          <a:ln w="15875">
            <a:solidFill>
              <a:srgbClr val="0A0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3209544" y="3675887"/>
            <a:ext cx="1847088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USEFUL SIGNAL FOUND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02920" y="4023359"/>
            <a:ext cx="2103120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FALSE POSITIVES TOO HIGH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2624327" y="4151375"/>
            <a:ext cx="45720" cy="0"/>
          </a:xfrm>
          <a:prstGeom prst="line">
            <a:avLst/>
          </a:prstGeom>
          <a:ln w="15875">
            <a:solidFill>
              <a:srgbClr val="0A0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2688335" y="4023359"/>
            <a:ext cx="1188720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SAFETY GATE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3895343" y="4151375"/>
            <a:ext cx="45720" cy="0"/>
          </a:xfrm>
          <a:prstGeom prst="line">
            <a:avLst/>
          </a:prstGeom>
          <a:ln w="15875">
            <a:solidFill>
              <a:srgbClr val="0A0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Rounded Rectangle 17425"/>
          <p:cNvSpPr/>
          <p:nvPr/>
        </p:nvSpPr>
        <p:spPr>
          <a:xfrm>
            <a:off x="3959352" y="4023359"/>
            <a:ext cx="1371600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A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8ECF4"/>
                </a:solidFill>
                <a:latin typeface="Arial"/>
              </a:rPr>
              <a:t>NOT DEPLOYED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02920" y="4443984"/>
            <a:ext cx="51206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F6BFF"/>
                </a:solidFill>
                <a:latin typeface="Arial"/>
              </a:rPr>
              <a:t>VALIDATION BEFORE AUTOMATION. </a:t>
            </a:r>
            <a:r>
              <a:rPr sz="950" b="0">
                <a:solidFill>
                  <a:srgbClr val="E8ECF4"/>
                </a:solidFill>
                <a:latin typeface="Arial"/>
              </a:rPr>
              <a:t>Recall was not enough. Held-out testing exposed the false-positive rate. The gate keeps it out of routing.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02920" y="5120640"/>
            <a:ext cx="51206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50" b="0">
                <a:solidFill>
                  <a:srgbClr val="5A6478"/>
                </a:solidFill>
                <a:latin typeface="Arial"/>
              </a:rPr>
              <a:t>Precision 0.32 · F1 0.48 · PR-AUC 0.55 · ROC-AUC 0.83 · Brier 0.12  —  calibrated logistic regression, NASA GLC + ERA5-Land rain + DEM slope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400800" y="1170432"/>
            <a:ext cx="5349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5A6478"/>
                </a:solidFill>
                <a:latin typeface="Arial"/>
              </a:rPr>
              <a:t>RESEARCH / EVIDENCE SOURCES BEHIND THE ROUTE DECISION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6400800" y="1426464"/>
            <a:ext cx="5349240" cy="0"/>
          </a:xfrm>
          <a:prstGeom prst="line">
            <a:avLst/>
          </a:prstGeom>
          <a:ln w="19050">
            <a:solidFill>
              <a:srgbClr val="0A0F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TextBox 17430"/>
          <p:cNvSpPr txBox="1"/>
          <p:nvPr/>
        </p:nvSpPr>
        <p:spPr>
          <a:xfrm>
            <a:off x="6400800" y="1517904"/>
            <a:ext cx="5349240" cy="58521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2F6BFF"/>
                </a:solidFill>
                <a:latin typeface="Arial"/>
              </a:rPr>
              <a:t>ROUTING / PLACES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0A0F1C"/>
                </a:solidFill>
                <a:latin typeface="Arial"/>
              </a:rPr>
              <a:t>OSRM · OpenStreetMap · Nominatim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5A6478"/>
                </a:solidFill>
                <a:latin typeface="Arial"/>
              </a:rPr>
              <a:t>Road geometry, alternatives, turn steps.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6400800" y="2121408"/>
            <a:ext cx="5349240" cy="0"/>
          </a:xfrm>
          <a:prstGeom prst="line">
            <a:avLst/>
          </a:prstGeom>
          <a:ln w="9525">
            <a:solidFill>
              <a:srgbClr val="E3E7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TextBox 17432"/>
          <p:cNvSpPr txBox="1"/>
          <p:nvPr/>
        </p:nvSpPr>
        <p:spPr>
          <a:xfrm>
            <a:off x="6400800" y="2194560"/>
            <a:ext cx="5349240" cy="58521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2F6BFF"/>
                </a:solidFill>
                <a:latin typeface="Arial"/>
              </a:rPr>
              <a:t>WEATHER / TERRAIN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0A0F1C"/>
                </a:solidFill>
                <a:latin typeface="Arial"/>
              </a:rPr>
              <a:t>Open-Meteo · MET Norway · Copernicus DEM · OpenTopoData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5A6478"/>
                </a:solidFill>
                <a:latin typeface="Arial"/>
              </a:rPr>
              <a:t>Forecast along the road; climb, gradient, steep segments.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6400800" y="2798064"/>
            <a:ext cx="5349240" cy="0"/>
          </a:xfrm>
          <a:prstGeom prst="line">
            <a:avLst/>
          </a:prstGeom>
          <a:ln w="9525">
            <a:solidFill>
              <a:srgbClr val="E3E7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TextBox 17434"/>
          <p:cNvSpPr txBox="1"/>
          <p:nvPr/>
        </p:nvSpPr>
        <p:spPr>
          <a:xfrm>
            <a:off x="6400800" y="2871215"/>
            <a:ext cx="5349240" cy="58521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2F6BFF"/>
                </a:solidFill>
                <a:latin typeface="Arial"/>
              </a:rPr>
              <a:t>OFFICIAL / FLOOD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0A0F1C"/>
                </a:solidFill>
                <a:latin typeface="Arial"/>
              </a:rPr>
              <a:t>NDMA SACHET (CAP) · Copernicus GloFAS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5A6478"/>
                </a:solidFill>
                <a:latin typeface="Arial"/>
              </a:rPr>
              <a:t>Official warnings with freshness; discharge vs 30-day mean.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6400800" y="3474720"/>
            <a:ext cx="5349240" cy="0"/>
          </a:xfrm>
          <a:prstGeom prst="line">
            <a:avLst/>
          </a:prstGeom>
          <a:ln w="9525">
            <a:solidFill>
              <a:srgbClr val="E3E7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TextBox 17436"/>
          <p:cNvSpPr txBox="1"/>
          <p:nvPr/>
        </p:nvSpPr>
        <p:spPr>
          <a:xfrm>
            <a:off x="6400800" y="3547872"/>
            <a:ext cx="5349240" cy="58521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2F6BFF"/>
                </a:solidFill>
                <a:latin typeface="Arial"/>
              </a:rPr>
              <a:t>LANDSLIDE HISTORY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0A0F1C"/>
                </a:solidFill>
                <a:latin typeface="Arial"/>
              </a:rPr>
              <a:t>NASA Global Landslide Catalog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5A6478"/>
                </a:solidFill>
                <a:latin typeface="Arial"/>
              </a:rPr>
              <a:t>Historical exposure, 2007–2017, ≤5 km accuracy.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6400800" y="4151376"/>
            <a:ext cx="5349240" cy="0"/>
          </a:xfrm>
          <a:prstGeom prst="line">
            <a:avLst/>
          </a:prstGeom>
          <a:ln w="9525">
            <a:solidFill>
              <a:srgbClr val="E3E7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TextBox 17438"/>
          <p:cNvSpPr txBox="1"/>
          <p:nvPr/>
        </p:nvSpPr>
        <p:spPr>
          <a:xfrm>
            <a:off x="6400800" y="4224528"/>
            <a:ext cx="5349240" cy="58521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2F6BFF"/>
                </a:solidFill>
                <a:latin typeface="Arial"/>
              </a:rPr>
              <a:t>AI ASSISTANCE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0A0F1C"/>
                </a:solidFill>
                <a:latin typeface="Arial"/>
              </a:rPr>
              <a:t>Google Gemini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5A6478"/>
                </a:solidFill>
                <a:latin typeface="Arial"/>
              </a:rPr>
              <a:t>Explains in the driver's language. Never safety authority.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6400800" y="4828032"/>
            <a:ext cx="5349240" cy="0"/>
          </a:xfrm>
          <a:prstGeom prst="line">
            <a:avLst/>
          </a:prstGeom>
          <a:ln w="9525">
            <a:solidFill>
              <a:srgbClr val="E3E7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TextBox 17440"/>
          <p:cNvSpPr txBox="1"/>
          <p:nvPr/>
        </p:nvSpPr>
        <p:spPr>
          <a:xfrm>
            <a:off x="6400800" y="4901184"/>
            <a:ext cx="5349240" cy="58521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2F6BFF"/>
                </a:solidFill>
                <a:latin typeface="Arial"/>
              </a:rPr>
              <a:t>PROBLEM STATEMENT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0A0F1C"/>
                </a:solidFill>
                <a:latin typeface="Arial"/>
              </a:rPr>
              <a:t>MDoNER · SIH26002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5A6478"/>
                </a:solidFill>
                <a:latin typeface="Arial"/>
              </a:rPr>
              <a:t>Smart logistics and accessibility intelligence for the NER.</a:t>
            </a:r>
          </a:p>
        </p:txBody>
      </p:sp>
      <p:cxnSp>
        <p:nvCxnSpPr>
          <p:cNvPr id="17442" name="Connector 17441"/>
          <p:cNvCxnSpPr/>
          <p:nvPr/>
        </p:nvCxnSpPr>
        <p:spPr>
          <a:xfrm>
            <a:off x="6400800" y="5504688"/>
            <a:ext cx="5349240" cy="0"/>
          </a:xfrm>
          <a:prstGeom prst="line">
            <a:avLst/>
          </a:prstGeom>
          <a:ln w="9525">
            <a:solidFill>
              <a:srgbClr val="E3E7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3" name="TextBox 17442"/>
          <p:cNvSpPr txBox="1"/>
          <p:nvPr/>
        </p:nvSpPr>
        <p:spPr>
          <a:xfrm>
            <a:off x="6400800" y="5596128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5A6478"/>
                </a:solidFill>
                <a:latin typeface="Arial"/>
              </a:rPr>
              <a:t>REFERENCES   </a:t>
            </a:r>
            <a:r>
              <a:rPr sz="800" b="0">
                <a:solidFill>
                  <a:srgbClr val="5A6478"/>
                </a:solidFill>
                <a:latin typeface="Arial"/>
              </a:rPr>
              <a:t>gpm.nasa.gov/landslides  ·  sachet.ndma.gov.in  ·  global-flood.emergency.copernicus.eu  ·  open-meteo.com  ·  api.met.no  ·  opentopodata.org  ·  project-osrm.org  ·  openstreetmap.org  ·  github.com/nxtlucifer/ner-ai-logistics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RASTA AI — SIH26002 — Team NER-AI LOGISTICS (17)</dc:title>
  <dc:subject>AI-Based Smart Logistics and Accessibility Intelligence Platform for North Eastern Region (NER)</dc:subject>
  <dc:creator>NER-AI LOGISTICS</dc:creator>
  <cp:keywords>SIH26002, SIH 2026, RASTA AI, NER logistics, route intelligence</cp:keywords>
  <dc:description/>
  <cp:lastModifiedBy>NER-AI LOGISTICS</cp:lastModifiedBy>
  <cp:revision>148</cp:revision>
  <dcterms:created xsi:type="dcterms:W3CDTF">2013-12-12T18:46:50Z</dcterms:created>
  <dcterms:modified xsi:type="dcterms:W3CDTF">2026-06-02T09:29:39Z</dcterms:modified>
  <cp:category>Smart India Hackathon 2026 — Smart Automation — Software</cp:category>
</cp:coreProperties>
</file>