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28116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34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2920" y="1170432"/>
            <a:ext cx="6035040" cy="60350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>
                <a:solidFill>
                  <a:srgbClr val="0F1020"/>
                </a:solidFill>
                <a:latin typeface="Calibri"/>
              </a:rPr>
              <a:t>RASTA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1773936"/>
            <a:ext cx="603504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2526B"/>
                </a:solidFill>
                <a:latin typeface="Calibri"/>
              </a:rPr>
              <a:t>Route Intelligence for Essential-Supply Logistics in North Eastern India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2212848"/>
            <a:ext cx="6035039" cy="0"/>
          </a:xfrm>
          <a:prstGeom prst="line">
            <a:avLst/>
          </a:prstGeom>
          <a:ln w="25400">
            <a:solidFill>
              <a:srgbClr val="0F1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2322576"/>
            <a:ext cx="6035040" cy="11155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300" b="1">
                <a:solidFill>
                  <a:srgbClr val="0F1020"/>
                </a:solidFill>
                <a:latin typeface="Calibri"/>
              </a:rPr>
              <a:t>SHORTEST IS NOT ALWAYS USABLE.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3419856"/>
            <a:ext cx="603504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4338CA"/>
                </a:solidFill>
                <a:latin typeface="Calibri"/>
              </a:rPr>
              <a:t>“Can this essential-supply truck reliably use this corridor now?”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3822191"/>
            <a:ext cx="6035039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02920" y="3913632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SIH26002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3931920"/>
            <a:ext cx="402336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A9AB2"/>
                </a:solidFill>
                <a:latin typeface="Calibri"/>
              </a:rPr>
              <a:t>PROBLEM STATEMENT ID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0F1020"/>
                </a:solidFill>
                <a:latin typeface="Calibri"/>
              </a:rPr>
              <a:t>MDoNER · Smart Automation · Software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572000"/>
            <a:ext cx="1828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A9AB2"/>
                </a:solidFill>
                <a:latin typeface="Calibri"/>
              </a:rPr>
              <a:t>PROBLEM STATEMENT TITLE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7440" y="4544568"/>
            <a:ext cx="416052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0F1020"/>
                </a:solidFill>
                <a:latin typeface="Calibri"/>
              </a:rPr>
              <a:t>AI-Based Smart Logistics and Accessibility Intelligence Platform for North Eastern Region (NER)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4965192"/>
            <a:ext cx="6035039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5001768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A9AB2"/>
                </a:solidFill>
                <a:latin typeface="Calibri"/>
              </a:rPr>
              <a:t>THEME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7440" y="4974336"/>
            <a:ext cx="416052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0F1020"/>
                </a:solidFill>
                <a:latin typeface="Calibri"/>
              </a:rPr>
              <a:t>Smart Automation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5248655"/>
            <a:ext cx="6035039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5285231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A9AB2"/>
                </a:solidFill>
                <a:latin typeface="Calibri"/>
              </a:rPr>
              <a:t>PS CATEGORY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77440" y="5257799"/>
            <a:ext cx="416052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0F1020"/>
                </a:solidFill>
                <a:latin typeface="Calibri"/>
              </a:rPr>
              <a:t>Software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02920" y="5532119"/>
            <a:ext cx="6035039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02920" y="5568695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A9AB2"/>
                </a:solidFill>
                <a:latin typeface="Calibri"/>
              </a:rPr>
              <a:t>TEAM 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5541263"/>
            <a:ext cx="416052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F1020"/>
                </a:solidFill>
                <a:latin typeface="Calibri"/>
              </a:rPr>
              <a:t>17  (internal group no.)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02920" y="5815583"/>
            <a:ext cx="6035039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02920" y="5852159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A9AB2"/>
                </a:solidFill>
                <a:latin typeface="Calibri"/>
              </a:rPr>
              <a:t>TEAM NAME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77440" y="5824727"/>
            <a:ext cx="416052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F1020"/>
                </a:solidFill>
                <a:latin typeface="Calibri"/>
              </a:rPr>
              <a:t>NER-AI LOGISTICS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02920" y="6099047"/>
            <a:ext cx="6035039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02920" y="6144768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47857"/>
                </a:solidFill>
                <a:latin typeface="Calibri"/>
              </a:rPr>
              <a:t>End-to-end working prototype · physical-phone validated · live demo corridor Guwahati → Shillong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1152144"/>
            <a:ext cx="48920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A9AB2"/>
                </a:solidFill>
                <a:latin typeface="Calibri"/>
              </a:rPr>
              <a:t>LIVE WORKING SYSTEM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71716" y="2253996"/>
            <a:ext cx="2515743" cy="3630168"/>
          </a:xfrm>
          <a:prstGeom prst="roundRect">
            <a:avLst>
              <a:gd name="adj" fmla="val 2180"/>
            </a:avLst>
          </a:prstGeom>
          <a:solidFill>
            <a:srgbClr val="FFFFFF"/>
          </a:solidFill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3" name="Picture 62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286000"/>
            <a:ext cx="2451735" cy="3566160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9514332" y="1522476"/>
            <a:ext cx="1999138" cy="4361688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5" name="Picture 64" descr="na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36" y="1554480"/>
            <a:ext cx="1935130" cy="429768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858000" y="5943600"/>
            <a:ext cx="4892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52526B"/>
                </a:solidFill>
                <a:latin typeface="Calibri"/>
              </a:rPr>
              <a:t>Manager route review · Driver navigation — real screens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RASTA AI — ROUTE INTELLIGENCE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F10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57200" y="1188720"/>
            <a:ext cx="2743200" cy="1125415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400" b="1">
                <a:solidFill>
                  <a:srgbClr val="4338CA"/>
                </a:solidFill>
                <a:latin typeface="Calibri"/>
              </a:rPr>
              <a:t>11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57200" y="2259271"/>
            <a:ext cx="27432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0F1020"/>
                </a:solidFill>
                <a:latin typeface="Calibri"/>
              </a:rPr>
              <a:t>ROUTE FACTORS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57200" y="2515303"/>
            <a:ext cx="27432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2526B"/>
                </a:solidFill>
                <a:latin typeface="Calibri"/>
              </a:rPr>
              <a:t>scored on the selected road before a truck is dispatched, each with its own freshness</a:t>
            </a:r>
          </a:p>
        </p:txBody>
      </p:sp>
      <p:cxnSp>
        <p:nvCxnSpPr>
          <p:cNvPr id="15365" name="Connector 15364"/>
          <p:cNvCxnSpPr/>
          <p:nvPr/>
        </p:nvCxnSpPr>
        <p:spPr>
          <a:xfrm>
            <a:off x="457200" y="3163824"/>
            <a:ext cx="2743200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6" name="TextBox 15365"/>
          <p:cNvSpPr txBox="1"/>
          <p:nvPr/>
        </p:nvSpPr>
        <p:spPr>
          <a:xfrm>
            <a:off x="457200" y="3236976"/>
            <a:ext cx="27432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0F1020"/>
                </a:solidFill>
                <a:latin typeface="Calibri"/>
              </a:rPr>
              <a:t>A normal router checks none of them.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52526B"/>
                </a:solidFill>
                <a:latin typeface="Calibri"/>
              </a:rPr>
              <a:t>Origin → Shortest / fastest road → Truck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52526B"/>
                </a:solidFill>
                <a:latin typeface="Calibri"/>
              </a:rPr>
              <a:t>No governance. No answer when data is missing.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3520440" y="1133856"/>
            <a:ext cx="4983480" cy="8412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0F1020"/>
                </a:solidFill>
                <a:latin typeface="Calibri"/>
              </a:rPr>
              <a:t>Not the shortest road. </a:t>
            </a:r>
            <a:r>
              <a:rPr sz="2100" b="1">
                <a:solidFill>
                  <a:srgbClr val="4338CA"/>
                </a:solidFill>
                <a:latin typeface="Calibri"/>
              </a:rPr>
              <a:t>The road that is usable now.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3520440" y="2066543"/>
            <a:ext cx="822960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F1020"/>
                </a:solidFill>
                <a:latin typeface="Calibri"/>
              </a:rPr>
              <a:t>Terrain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416552" y="2066543"/>
            <a:ext cx="822960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F1020"/>
                </a:solidFill>
                <a:latin typeface="Calibri"/>
              </a:rPr>
              <a:t>Weather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5312664" y="2066543"/>
            <a:ext cx="1316736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F1020"/>
                </a:solidFill>
                <a:latin typeface="Calibri"/>
              </a:rPr>
              <a:t>Landslide exposure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702552" y="2066543"/>
            <a:ext cx="1060704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F1020"/>
                </a:solidFill>
                <a:latin typeface="Calibri"/>
              </a:rPr>
              <a:t>Flood context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3520440" y="2359151"/>
            <a:ext cx="1207008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F1020"/>
                </a:solidFill>
                <a:latin typeface="Calibri"/>
              </a:rPr>
              <a:t>Official warnings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4800600" y="2359151"/>
            <a:ext cx="969264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F1020"/>
                </a:solidFill>
                <a:latin typeface="Calibri"/>
              </a:rPr>
              <a:t>Fleet traffic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5843016" y="2359151"/>
            <a:ext cx="1298448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F1020"/>
                </a:solidFill>
                <a:latin typeface="Calibri"/>
              </a:rPr>
              <a:t>Evidence freshness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3520440" y="2779775"/>
            <a:ext cx="4983480" cy="27432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OPERATIONAL DECISION  ·  CONTINUE / CAUTION / HOLD / REROUTE</a:t>
            </a:r>
          </a:p>
        </p:txBody>
      </p:sp>
      <p:cxnSp>
        <p:nvCxnSpPr>
          <p:cNvPr id="15376" name="Connector 15375"/>
          <p:cNvCxnSpPr/>
          <p:nvPr/>
        </p:nvCxnSpPr>
        <p:spPr>
          <a:xfrm>
            <a:off x="6012180" y="3063239"/>
            <a:ext cx="0" cy="9144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7" name="Rounded Rectangle 15376"/>
          <p:cNvSpPr/>
          <p:nvPr/>
        </p:nvSpPr>
        <p:spPr>
          <a:xfrm>
            <a:off x="3520440" y="3163823"/>
            <a:ext cx="4983480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F1020"/>
                </a:solidFill>
                <a:latin typeface="Calibri"/>
              </a:rPr>
              <a:t>Manager governance  ·  authorises, dispatches, approves reroutes</a:t>
            </a:r>
          </a:p>
        </p:txBody>
      </p:sp>
      <p:cxnSp>
        <p:nvCxnSpPr>
          <p:cNvPr id="15378" name="Connector 15377"/>
          <p:cNvCxnSpPr/>
          <p:nvPr/>
        </p:nvCxnSpPr>
        <p:spPr>
          <a:xfrm>
            <a:off x="6012180" y="3447287"/>
            <a:ext cx="0" cy="9144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9" name="Rounded Rectangle 15378"/>
          <p:cNvSpPr/>
          <p:nvPr/>
        </p:nvSpPr>
        <p:spPr>
          <a:xfrm>
            <a:off x="3520440" y="3547871"/>
            <a:ext cx="4983480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F1020"/>
                </a:solidFill>
                <a:latin typeface="Calibri"/>
              </a:rPr>
              <a:t>Driver  ·  navigation, danger context, 23 languages, offline package</a:t>
            </a:r>
          </a:p>
        </p:txBody>
      </p:sp>
      <p:cxnSp>
        <p:nvCxnSpPr>
          <p:cNvPr id="15380" name="Connector 15379"/>
          <p:cNvCxnSpPr/>
          <p:nvPr/>
        </p:nvCxnSpPr>
        <p:spPr>
          <a:xfrm>
            <a:off x="457200" y="5687568"/>
            <a:ext cx="8065008" cy="0"/>
          </a:xfrm>
          <a:prstGeom prst="line">
            <a:avLst/>
          </a:prstGeom>
          <a:ln w="25400">
            <a:solidFill>
              <a:srgbClr val="BE1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1" name="TextBox 15380"/>
          <p:cNvSpPr txBox="1"/>
          <p:nvPr/>
        </p:nvSpPr>
        <p:spPr>
          <a:xfrm>
            <a:off x="457200" y="5779008"/>
            <a:ext cx="283464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BE123C"/>
                </a:solidFill>
                <a:latin typeface="Calibri"/>
              </a:rPr>
              <a:t>UNKNOWN ≠ SAFE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3520440" y="5815584"/>
            <a:ext cx="4983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F1020"/>
                </a:solidFill>
                <a:latin typeface="Calibri"/>
              </a:rPr>
              <a:t>Missing or stale evidence is marked UNKNOWN, never counted as safe, and the route goes to an authorised reviewer.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8686800" y="1097280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A9AB2"/>
                </a:solidFill>
                <a:latin typeface="Calibri"/>
              </a:rPr>
              <a:t>MANAGER · CHECK CONDITIONS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8654796" y="1412748"/>
            <a:ext cx="2930679" cy="4526280"/>
          </a:xfrm>
          <a:prstGeom prst="roundRect">
            <a:avLst>
              <a:gd name="adj" fmla="val 1872"/>
            </a:avLst>
          </a:prstGeom>
          <a:solidFill>
            <a:srgbClr val="FFFFFF"/>
          </a:solidFill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5" name="Picture 15384" descr="ev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444752"/>
            <a:ext cx="2866671" cy="4462272"/>
          </a:xfrm>
          <a:prstGeom prst="rect">
            <a:avLst/>
          </a:prstGeom>
        </p:spPr>
      </p:pic>
      <p:sp>
        <p:nvSpPr>
          <p:cNvPr id="15386" name="TextBox 15385"/>
          <p:cNvSpPr txBox="1"/>
          <p:nvPr/>
        </p:nvSpPr>
        <p:spPr>
          <a:xfrm>
            <a:off x="8686800" y="5961888"/>
            <a:ext cx="3063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2526B"/>
                </a:solidFill>
                <a:latin typeface="Calibri"/>
              </a:rPr>
              <a:t>Real screen · evidence · freshness ·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F10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152144"/>
            <a:ext cx="2651760" cy="1125415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400" b="1">
                <a:solidFill>
                  <a:srgbClr val="4338CA"/>
                </a:solidFill>
                <a:latin typeface="Calibri"/>
              </a:rPr>
              <a:t>60 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2222695"/>
            <a:ext cx="26517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0F1020"/>
                </a:solidFill>
                <a:latin typeface="Calibri"/>
              </a:rPr>
              <a:t>ROUTE-AHEAD MONITOR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2478727"/>
            <a:ext cx="26517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2526B"/>
                </a:solidFill>
                <a:latin typeface="Calibri"/>
              </a:rPr>
              <a:t>the road ahead is re-scored every minute while the truck is moving; a material change goes back through the policy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457200" y="3200400"/>
            <a:ext cx="2651760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TextBox 17413"/>
          <p:cNvSpPr txBox="1"/>
          <p:nvPr/>
        </p:nvSpPr>
        <p:spPr>
          <a:xfrm>
            <a:off x="457200" y="3291840"/>
            <a:ext cx="265176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2526B"/>
                </a:solidFill>
                <a:latin typeface="Calibri"/>
              </a:rPr>
              <a:t>A reroute is proposed to the manager, never applied silently.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429000" y="1097280"/>
            <a:ext cx="51206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A9AB2"/>
                </a:solidFill>
                <a:latin typeface="Calibri"/>
              </a:rPr>
              <a:t>VERIFIED DATA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429000" y="1353312"/>
            <a:ext cx="841248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F1020"/>
                </a:solidFill>
                <a:latin typeface="Calibri"/>
              </a:rPr>
              <a:t>WEATHER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2526B"/>
                </a:solidFill>
                <a:latin typeface="Calibri"/>
              </a:rPr>
              <a:t>Open-Meteo · MET Norway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288536" y="1353312"/>
            <a:ext cx="841248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F1020"/>
                </a:solidFill>
                <a:latin typeface="Calibri"/>
              </a:rPr>
              <a:t>TERRAIN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2526B"/>
                </a:solidFill>
                <a:latin typeface="Calibri"/>
              </a:rPr>
              <a:t>Copernicus DEM · OpenTopoData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148071" y="1353312"/>
            <a:ext cx="841248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F1020"/>
                </a:solidFill>
                <a:latin typeface="Calibri"/>
              </a:rPr>
              <a:t>WARNINGS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2526B"/>
                </a:solidFill>
                <a:latin typeface="Calibri"/>
              </a:rPr>
              <a:t>NDMA SACHET (CAP)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007607" y="1353312"/>
            <a:ext cx="841248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F1020"/>
                </a:solidFill>
                <a:latin typeface="Calibri"/>
              </a:rPr>
              <a:t>FLOOD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2526B"/>
                </a:solidFill>
                <a:latin typeface="Calibri"/>
              </a:rPr>
              <a:t>GloFAS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867143" y="1353312"/>
            <a:ext cx="841248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F1020"/>
                </a:solidFill>
                <a:latin typeface="Calibri"/>
              </a:rPr>
              <a:t>LANDSLIDE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2526B"/>
                </a:solidFill>
                <a:latin typeface="Calibri"/>
              </a:rPr>
              <a:t>NASA GLC 2007–17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726679" y="1353312"/>
            <a:ext cx="841248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F1020"/>
                </a:solidFill>
                <a:latin typeface="Calibri"/>
              </a:rPr>
              <a:t>TRAFFIC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2526B"/>
                </a:solidFill>
                <a:latin typeface="Calibri"/>
              </a:rPr>
              <a:t>fleet GPS fixes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429000" y="2029968"/>
            <a:ext cx="5093208" cy="512064"/>
          </a:xfrm>
          <a:prstGeom prst="roundRect">
            <a:avLst>
              <a:gd name="adj" fmla="val 10714"/>
            </a:avLst>
          </a:prstGeom>
          <a:solidFill>
            <a:srgbClr val="F6F6FB"/>
          </a:solidFill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3566160" y="2066544"/>
            <a:ext cx="484632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F1020"/>
                </a:solidFill>
                <a:latin typeface="Calibri"/>
              </a:rPr>
              <a:t>ROUTE-SPECIFIC EVIDENCE · FastAPI backend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2526B"/>
                </a:solidFill>
                <a:latin typeface="Calibri"/>
              </a:rPr>
              <a:t>every factor sampled along the selected road · PostgreSQL + PostGIS (Supabase) · OSRM routes, alternatives, turn steps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429000" y="2633472"/>
            <a:ext cx="5093208" cy="512064"/>
          </a:xfrm>
          <a:prstGeom prst="roundRect">
            <a:avLst>
              <a:gd name="adj" fmla="val 10714"/>
            </a:avLst>
          </a:prstGeom>
          <a:solidFill>
            <a:srgbClr val="4338CA"/>
          </a:solidFill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3566160" y="2670048"/>
            <a:ext cx="484632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DETERMINISTIC SAFETY POLICY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2E2EC"/>
                </a:solidFill>
                <a:latin typeface="Calibri"/>
              </a:rPr>
              <a:t>11 factors · reason codes · UNKNOWN ≠ SAFE · reviewer authorisation when hazard data is missing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429000" y="3236976"/>
            <a:ext cx="1204722" cy="310896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CONTINUE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725162" y="3236976"/>
            <a:ext cx="1204722" cy="31089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CAUTION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021324" y="3236976"/>
            <a:ext cx="1204722" cy="310896"/>
          </a:xfrm>
          <a:prstGeom prst="roundRect">
            <a:avLst>
              <a:gd name="adj" fmla="val 5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7317486" y="3236976"/>
            <a:ext cx="1204722" cy="310896"/>
          </a:xfrm>
          <a:prstGeom prst="roundRect">
            <a:avLst>
              <a:gd name="adj" fmla="val 50000"/>
            </a:avLst>
          </a:prstGeom>
          <a:solidFill>
            <a:srgbClr val="0F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REROUTE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429000" y="3675888"/>
            <a:ext cx="1225296" cy="292608"/>
          </a:xfrm>
          <a:prstGeom prst="roundRect">
            <a:avLst>
              <a:gd name="adj" fmla="val 50000"/>
            </a:avLst>
          </a:prstGeom>
          <a:solidFill>
            <a:srgbClr val="0F1020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MANAGER REVIEW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4672583" y="3822192"/>
            <a:ext cx="45721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4736592" y="3675888"/>
            <a:ext cx="13167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0F1020"/>
                </a:solidFill>
                <a:latin typeface="Calibri"/>
              </a:rPr>
              <a:t>DRIVER NAVIGATION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6071615" y="3822192"/>
            <a:ext cx="45721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4" name="Rounded Rectangle 17433"/>
          <p:cNvSpPr/>
          <p:nvPr/>
        </p:nvSpPr>
        <p:spPr>
          <a:xfrm>
            <a:off x="6135624" y="36758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0F1020"/>
                </a:solidFill>
                <a:latin typeface="Calibri"/>
              </a:rPr>
              <a:t>60 s WATCH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7068312" y="3822192"/>
            <a:ext cx="45720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Rounded Rectangle 17435"/>
          <p:cNvSpPr/>
          <p:nvPr/>
        </p:nvSpPr>
        <p:spPr>
          <a:xfrm>
            <a:off x="7132320" y="36758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0F1020"/>
                </a:solidFill>
                <a:latin typeface="Calibri"/>
              </a:rPr>
              <a:t>REASSESS / REROUTE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3429000" y="4133088"/>
            <a:ext cx="5093208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TextBox 17437"/>
          <p:cNvSpPr txBox="1"/>
          <p:nvPr/>
        </p:nvSpPr>
        <p:spPr>
          <a:xfrm>
            <a:off x="3429000" y="4187952"/>
            <a:ext cx="5093208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1">
                <a:solidFill>
                  <a:srgbClr val="9A9AB2"/>
                </a:solidFill>
                <a:latin typeface="Calibri"/>
              </a:rPr>
              <a:t>CLIENTS  </a:t>
            </a:r>
            <a:r>
              <a:rPr sz="950" b="0">
                <a:solidFill>
                  <a:srgbClr val="0F1020"/>
                </a:solidFill>
                <a:latin typeface="Calibri"/>
              </a:rPr>
              <a:t>Manager console — React + TypeScript, manager accounts only · Driver app — React Native / Expo, Android; one login, server-decided role, offline trip package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1">
                <a:solidFill>
                  <a:srgbClr val="9A9AB2"/>
                </a:solidFill>
                <a:latin typeface="Calibri"/>
              </a:rPr>
              <a:t>STACK  </a:t>
            </a:r>
            <a:r>
              <a:rPr sz="950" b="0">
                <a:solidFill>
                  <a:srgbClr val="0F1020"/>
                </a:solidFill>
                <a:latin typeface="Calibri"/>
              </a:rPr>
              <a:t>FastAPI · PostgreSQL / PostGIS (Supabase) · React · React Native / Expo · OSRM · OpenStreetMap · Gemini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8686800" y="1097280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A9AB2"/>
                </a:solidFill>
                <a:latin typeface="Calibri"/>
              </a:rPr>
              <a:t>WHO DECIDES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8686800" y="1353312"/>
            <a:ext cx="3063240" cy="0"/>
          </a:xfrm>
          <a:prstGeom prst="line">
            <a:avLst/>
          </a:prstGeom>
          <a:ln w="19050">
            <a:solidFill>
              <a:srgbClr val="0F1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ectangle 17440"/>
          <p:cNvSpPr/>
          <p:nvPr/>
        </p:nvSpPr>
        <p:spPr>
          <a:xfrm>
            <a:off x="8686800" y="1481328"/>
            <a:ext cx="45720" cy="621792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2" name="TextBox 17441"/>
          <p:cNvSpPr txBox="1"/>
          <p:nvPr/>
        </p:nvSpPr>
        <p:spPr>
          <a:xfrm>
            <a:off x="8833104" y="1463040"/>
            <a:ext cx="2916936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F1020"/>
                </a:solidFill>
                <a:latin typeface="Calibri"/>
              </a:rPr>
              <a:t>DETERMINISTIC SAFETY ENGINE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2526B"/>
                </a:solidFill>
                <a:latin typeface="Calibri"/>
              </a:rPr>
              <a:t>makes every operational decision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8686800" y="2322576"/>
            <a:ext cx="45720" cy="621792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8833104" y="2304288"/>
            <a:ext cx="2916936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F1020"/>
                </a:solidFill>
                <a:latin typeface="Calibri"/>
              </a:rPr>
              <a:t>GEMINI / OPENROUTER (LLM)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2526B"/>
                </a:solidFill>
                <a:latin typeface="Calibri"/>
              </a:rPr>
              <a:t>explains the decision in the driver's language — never decides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8686800" y="3163824"/>
            <a:ext cx="45720" cy="621792"/>
          </a:xfrm>
          <a:prstGeom prst="rect">
            <a:avLst/>
          </a:prstGeom>
          <a:solidFill>
            <a:srgbClr val="9A9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8833104" y="3145536"/>
            <a:ext cx="2916936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F1020"/>
                </a:solidFill>
                <a:latin typeface="Calibri"/>
              </a:rPr>
              <a:t>EXPERIMENTAL 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2526B"/>
                </a:solidFill>
                <a:latin typeface="Calibri"/>
              </a:rPr>
              <a:t>research channel only; held outside routing by the safety gate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8686800" y="4005072"/>
            <a:ext cx="3063240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TextBox 17447"/>
          <p:cNvSpPr txBox="1"/>
          <p:nvPr/>
        </p:nvSpPr>
        <p:spPr>
          <a:xfrm>
            <a:off x="8686800" y="4078224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A9AB2"/>
                </a:solidFill>
                <a:latin typeface="Calibri"/>
              </a:rPr>
              <a:t>GOVERNANCE CHAIN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8686800" y="4389120"/>
            <a:ext cx="3063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0F1020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50" name="Connector 17449"/>
          <p:cNvCxnSpPr/>
          <p:nvPr/>
        </p:nvCxnSpPr>
        <p:spPr>
          <a:xfrm>
            <a:off x="10218420" y="4690872"/>
            <a:ext cx="0" cy="109728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1" name="Rounded Rectangle 17450"/>
          <p:cNvSpPr/>
          <p:nvPr/>
        </p:nvSpPr>
        <p:spPr>
          <a:xfrm>
            <a:off x="8686800" y="4809744"/>
            <a:ext cx="3063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0F1020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52" name="Connector 17451"/>
          <p:cNvCxnSpPr/>
          <p:nvPr/>
        </p:nvCxnSpPr>
        <p:spPr>
          <a:xfrm>
            <a:off x="10218420" y="5111496"/>
            <a:ext cx="0" cy="109728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3" name="Rounded Rectangle 17452"/>
          <p:cNvSpPr/>
          <p:nvPr/>
        </p:nvSpPr>
        <p:spPr>
          <a:xfrm>
            <a:off x="8686800" y="5230368"/>
            <a:ext cx="3063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0F1020"/>
                </a:solidFill>
                <a:latin typeface="Calibri"/>
              </a:rPr>
              <a:t>Manager governance</a:t>
            </a:r>
          </a:p>
        </p:txBody>
      </p:sp>
      <p:cxnSp>
        <p:nvCxnSpPr>
          <p:cNvPr id="17454" name="Connector 17453"/>
          <p:cNvCxnSpPr/>
          <p:nvPr/>
        </p:nvCxnSpPr>
        <p:spPr>
          <a:xfrm>
            <a:off x="10218420" y="5532120"/>
            <a:ext cx="0" cy="109728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5" name="Rounded Rectangle 17454"/>
          <p:cNvSpPr/>
          <p:nvPr/>
        </p:nvSpPr>
        <p:spPr>
          <a:xfrm>
            <a:off x="8686800" y="5650992"/>
            <a:ext cx="3063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0F1020"/>
                </a:solidFill>
                <a:latin typeface="Calibri"/>
              </a:rPr>
              <a:t>Driver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F10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97280"/>
            <a:ext cx="2651760" cy="949569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400" b="1">
                <a:solidFill>
                  <a:srgbClr val="4338CA"/>
                </a:solidFill>
                <a:latin typeface="Calibri"/>
              </a:rPr>
              <a:t>12/12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991985"/>
            <a:ext cx="26517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0F1020"/>
                </a:solidFill>
                <a:latin typeface="Calibri"/>
              </a:rPr>
              <a:t>JUDGE-FLOW STEPS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2248017"/>
            <a:ext cx="26517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2526B"/>
                </a:solidFill>
                <a:latin typeface="Calibri"/>
              </a:rPr>
              <a:t>dispatch → accept → truck check → GPS navigation → real off-route → reroute → manager approval → stops → delivery, on a physical Android phone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457200" y="3291840"/>
            <a:ext cx="2651760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TextBox 17413"/>
          <p:cNvSpPr txBox="1"/>
          <p:nvPr/>
        </p:nvSpPr>
        <p:spPr>
          <a:xfrm>
            <a:off x="457200" y="3364992"/>
            <a:ext cx="74980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4338CA"/>
                </a:solidFill>
                <a:latin typeface="Calibri"/>
              </a:rPr>
              <a:t>9/9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280160" y="3364992"/>
            <a:ext cx="1828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F1020"/>
                </a:solidFill>
                <a:latin typeface="Calibri"/>
              </a:rPr>
              <a:t>role-flow steps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57200" y="3785615"/>
            <a:ext cx="26517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4338CA"/>
                </a:solidFill>
                <a:latin typeface="Calibri"/>
              </a:rPr>
              <a:t>1138+ </a:t>
            </a:r>
            <a:r>
              <a:rPr sz="950" b="0">
                <a:solidFill>
                  <a:srgbClr val="0F1020"/>
                </a:solidFill>
                <a:latin typeface="Calibri"/>
              </a:rPr>
              <a:t>backend  ·  </a:t>
            </a:r>
            <a:r>
              <a:rPr sz="1200" b="1">
                <a:solidFill>
                  <a:srgbClr val="4338CA"/>
                </a:solidFill>
                <a:latin typeface="Calibri"/>
              </a:rPr>
              <a:t>621+ </a:t>
            </a:r>
            <a:r>
              <a:rPr sz="950" b="0">
                <a:solidFill>
                  <a:srgbClr val="0F1020"/>
                </a:solidFill>
                <a:latin typeface="Calibri"/>
              </a:rPr>
              <a:t>driver  ·  </a:t>
            </a:r>
            <a:r>
              <a:rPr sz="1200" b="1">
                <a:solidFill>
                  <a:srgbClr val="4338CA"/>
                </a:solidFill>
                <a:latin typeface="Calibri"/>
              </a:rPr>
              <a:t>170+ </a:t>
            </a:r>
            <a:r>
              <a:rPr sz="950" b="0">
                <a:solidFill>
                  <a:srgbClr val="0F1020"/>
                </a:solidFill>
                <a:latin typeface="Calibri"/>
              </a:rPr>
              <a:t>manager tests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438912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PHYSICAL ANDROID · CERTIFIED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57200" y="4828032"/>
            <a:ext cx="26517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A9AB2"/>
                </a:solidFill>
                <a:latin typeface="Calibri"/>
              </a:rPr>
              <a:t>Canonical demo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F1020"/>
                </a:solidFill>
                <a:latin typeface="Calibri"/>
              </a:rPr>
              <a:t>Guwahati → Shillong · ≈ 98.8 km real route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383280" y="1097280"/>
            <a:ext cx="836676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0F1020"/>
                </a:solidFill>
                <a:latin typeface="Calibri"/>
              </a:rPr>
              <a:t>Not a concept. A working end-to-end prototype.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383280" y="149961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3968496" y="1645919"/>
            <a:ext cx="27432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4014216" y="1499616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4709160" y="1645919"/>
            <a:ext cx="27432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4754880" y="1499616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0F1020"/>
                </a:solidFill>
                <a:latin typeface="Calibri"/>
              </a:rPr>
              <a:t>DISPATCH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5559552" y="1645919"/>
            <a:ext cx="27432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Rounded Rectangle 17425"/>
          <p:cNvSpPr/>
          <p:nvPr/>
        </p:nvSpPr>
        <p:spPr>
          <a:xfrm>
            <a:off x="5605272" y="1499616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0F1020"/>
                </a:solidFill>
                <a:latin typeface="Calibri"/>
              </a:rPr>
              <a:t>ACCEPT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6336792" y="1645919"/>
            <a:ext cx="27432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6382512" y="149961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0F1020"/>
                </a:solidFill>
                <a:latin typeface="Calibri"/>
              </a:rPr>
              <a:t>TRUCK VERIFY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7370064" y="1645919"/>
            <a:ext cx="27432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Rounded Rectangle 17429"/>
          <p:cNvSpPr/>
          <p:nvPr/>
        </p:nvSpPr>
        <p:spPr>
          <a:xfrm>
            <a:off x="7415784" y="149961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0F1020"/>
                </a:solidFill>
                <a:latin typeface="Calibri"/>
              </a:rPr>
              <a:t>NAVIGATE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8257032" y="1645919"/>
            <a:ext cx="27432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8302752" y="149961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0F1020"/>
                </a:solidFill>
                <a:latin typeface="Calibri"/>
              </a:rPr>
              <a:t>OFF-ROUTE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9144000" y="1645919"/>
            <a:ext cx="27432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4" name="Rounded Rectangle 17433"/>
          <p:cNvSpPr/>
          <p:nvPr/>
        </p:nvSpPr>
        <p:spPr>
          <a:xfrm>
            <a:off x="9189720" y="1499616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MANAGER REROUTE APPROVAL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10817352" y="1645919"/>
            <a:ext cx="27432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Rounded Rectangle 17435"/>
          <p:cNvSpPr/>
          <p:nvPr/>
        </p:nvSpPr>
        <p:spPr>
          <a:xfrm>
            <a:off x="10863072" y="1499616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3351276" y="1961388"/>
            <a:ext cx="2264283" cy="3264408"/>
          </a:xfrm>
          <a:prstGeom prst="roundRect">
            <a:avLst>
              <a:gd name="adj" fmla="val 2423"/>
            </a:avLst>
          </a:prstGeom>
          <a:solidFill>
            <a:srgbClr val="FFFFFF"/>
          </a:solidFill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8" name="Picture 17437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993392"/>
            <a:ext cx="2200275" cy="3200400"/>
          </a:xfrm>
          <a:prstGeom prst="rect">
            <a:avLst/>
          </a:prstGeom>
        </p:spPr>
      </p:pic>
      <p:sp>
        <p:nvSpPr>
          <p:cNvPr id="17439" name="Rounded Rectangle 17438"/>
          <p:cNvSpPr/>
          <p:nvPr/>
        </p:nvSpPr>
        <p:spPr>
          <a:xfrm>
            <a:off x="5752719" y="1961388"/>
            <a:ext cx="1505062" cy="3264408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0" name="Picture 17439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4723" y="1993392"/>
            <a:ext cx="1441054" cy="3200400"/>
          </a:xfrm>
          <a:prstGeom prst="rect">
            <a:avLst/>
          </a:prstGeom>
        </p:spPr>
      </p:pic>
      <p:sp>
        <p:nvSpPr>
          <p:cNvPr id="17441" name="Rounded Rectangle 17440"/>
          <p:cNvSpPr/>
          <p:nvPr/>
        </p:nvSpPr>
        <p:spPr>
          <a:xfrm>
            <a:off x="7394941" y="1961388"/>
            <a:ext cx="1505062" cy="3264408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2" name="Picture 17441" descr="na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6945" y="1993392"/>
            <a:ext cx="1441054" cy="3200400"/>
          </a:xfrm>
          <a:prstGeom prst="rect">
            <a:avLst/>
          </a:prstGeom>
        </p:spPr>
      </p:pic>
      <p:sp>
        <p:nvSpPr>
          <p:cNvPr id="17443" name="Rounded Rectangle 17442"/>
          <p:cNvSpPr/>
          <p:nvPr/>
        </p:nvSpPr>
        <p:spPr>
          <a:xfrm>
            <a:off x="9037163" y="1961388"/>
            <a:ext cx="2310251" cy="3264408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4" name="Picture 17443" descr="revie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9167" y="1993392"/>
            <a:ext cx="2246243" cy="3200400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3383280" y="5248655"/>
            <a:ext cx="220027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52526B"/>
                </a:solidFill>
                <a:latin typeface="Calibri"/>
              </a:rPr>
              <a:t>Manager · route review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5784723" y="5248655"/>
            <a:ext cx="1441054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52526B"/>
                </a:solidFill>
                <a:latin typeface="Calibri"/>
              </a:rPr>
              <a:t>Driver · truck check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7426945" y="5248655"/>
            <a:ext cx="1441054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52526B"/>
                </a:solidFill>
                <a:latin typeface="Calibri"/>
              </a:rPr>
              <a:t>Driver · navigation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9069167" y="5248655"/>
            <a:ext cx="2246243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52526B"/>
                </a:solidFill>
                <a:latin typeface="Calibri"/>
              </a:rPr>
              <a:t>Manager · reroute review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457200" y="5943600"/>
            <a:ext cx="1129284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A9AB2"/>
                </a:solidFill>
                <a:latin typeface="Calibri"/>
              </a:rPr>
              <a:t>KNOWN LIMITS → MITIGATION   </a:t>
            </a:r>
            <a:r>
              <a:rPr sz="900" b="0">
                <a:solidFill>
                  <a:srgbClr val="52526B"/>
                </a:solidFill>
                <a:latin typeface="Calibri"/>
              </a:rPr>
              <a:t>Render cold start → warm /health before the demo  ·  provider rate limits → cached evidence + explicit UNKNOWN  ·  background push needs Firebase config → in-app alerts already work  ·  experimental ML → outside routing until the gate passes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F10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115568"/>
            <a:ext cx="2651760" cy="1125415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400" b="1">
                <a:solidFill>
                  <a:srgbClr val="4338CA"/>
                </a:solidFill>
                <a:latin typeface="Calibri"/>
              </a:rPr>
              <a:t>0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2186119"/>
            <a:ext cx="26517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0F1020"/>
                </a:solidFill>
                <a:latin typeface="Calibri"/>
              </a:rPr>
              <a:t>UNKNOWN FACTORS COUNTED AS SAFE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2442151"/>
            <a:ext cx="26517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2526B"/>
                </a:solidFill>
                <a:latin typeface="Calibri"/>
              </a:rPr>
              <a:t>the rule the whole product is built on: missing or stale evidence is never read as a clear road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457200" y="3291840"/>
            <a:ext cx="2651760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TextBox 17413"/>
          <p:cNvSpPr txBox="1"/>
          <p:nvPr/>
        </p:nvSpPr>
        <p:spPr>
          <a:xfrm>
            <a:off x="457200" y="3364992"/>
            <a:ext cx="26517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47857"/>
                </a:solidFill>
                <a:latin typeface="Calibri"/>
              </a:rPr>
              <a:t>FOOD  ·  MEDICINE  ·  FUEL  ·  RELIEF SUPPLIES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2526B"/>
                </a:solidFill>
                <a:latin typeface="Calibri"/>
              </a:rPr>
              <a:t>essential logistics for hill communities, decided on evidence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383280" y="1097280"/>
            <a:ext cx="5138928" cy="713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52526B"/>
                </a:solidFill>
                <a:latin typeface="Calibri"/>
              </a:rPr>
              <a:t>RASTA AI does not ask only </a:t>
            </a:r>
            <a:r>
              <a:rPr sz="1500" b="1">
                <a:solidFill>
                  <a:srgbClr val="0F1020"/>
                </a:solidFill>
                <a:latin typeface="Calibri"/>
              </a:rPr>
              <a:t>“Which road is shortest?”</a:t>
            </a:r>
            <a:r>
              <a:rPr sz="1500" b="0">
                <a:solidFill>
                  <a:srgbClr val="52526B"/>
                </a:solidFill>
                <a:latin typeface="Calibri"/>
              </a:rPr>
              <a:t>  It asks  </a:t>
            </a:r>
            <a:r>
              <a:rPr sz="1500" b="1">
                <a:solidFill>
                  <a:srgbClr val="4338CA"/>
                </a:solidFill>
                <a:latin typeface="Calibri"/>
              </a:rPr>
              <a:t>“Can this truck reliably use this corridor now?”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3383280" y="1883664"/>
            <a:ext cx="5138928" cy="0"/>
          </a:xfrm>
          <a:prstGeom prst="line">
            <a:avLst/>
          </a:prstGeom>
          <a:ln w="19050">
            <a:solidFill>
              <a:srgbClr val="0F1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TextBox 17416"/>
          <p:cNvSpPr txBox="1"/>
          <p:nvPr/>
        </p:nvSpPr>
        <p:spPr>
          <a:xfrm>
            <a:off x="3383280" y="1956816"/>
            <a:ext cx="3657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A9AB2"/>
                </a:solidFill>
                <a:latin typeface="Calibri"/>
              </a:rPr>
              <a:t>WHO BENEFITS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383280" y="2231136"/>
            <a:ext cx="17373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4338CA"/>
                </a:solidFill>
                <a:latin typeface="Calibri"/>
              </a:rPr>
              <a:t>FLEET MANAGERS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175504" y="2231136"/>
            <a:ext cx="3346704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F1020"/>
                </a:solidFill>
                <a:latin typeface="Calibri"/>
              </a:rPr>
              <a:t>Route usability and uncertainty visible before dispatch; auditable decisions.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3383280" y="2542032"/>
            <a:ext cx="5138928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TextBox 17420"/>
          <p:cNvSpPr txBox="1"/>
          <p:nvPr/>
        </p:nvSpPr>
        <p:spPr>
          <a:xfrm>
            <a:off x="3383280" y="2615184"/>
            <a:ext cx="17373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4338CA"/>
                </a:solidFill>
                <a:latin typeface="Calibri"/>
              </a:rPr>
              <a:t>DRIVERS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175504" y="2615184"/>
            <a:ext cx="3346704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F1020"/>
                </a:solidFill>
                <a:latin typeface="Calibri"/>
              </a:rPr>
              <a:t>Safer navigation, danger context, emergency support, 23 languages.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3383280" y="2926079"/>
            <a:ext cx="5138928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TextBox 17423"/>
          <p:cNvSpPr txBox="1"/>
          <p:nvPr/>
        </p:nvSpPr>
        <p:spPr>
          <a:xfrm>
            <a:off x="3383280" y="2999232"/>
            <a:ext cx="17373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4338CA"/>
                </a:solidFill>
                <a:latin typeface="Calibri"/>
              </a:rPr>
              <a:t>REMOTE COMMUNITIES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175504" y="2999232"/>
            <a:ext cx="3346704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F1020"/>
                </a:solidFill>
                <a:latin typeface="Calibri"/>
              </a:rPr>
              <a:t>More resilient access to food, medicine, fuel and relief supplies.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3383280" y="3310127"/>
            <a:ext cx="5138928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TextBox 17426"/>
          <p:cNvSpPr txBox="1"/>
          <p:nvPr/>
        </p:nvSpPr>
        <p:spPr>
          <a:xfrm>
            <a:off x="3383280" y="3383279"/>
            <a:ext cx="17373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4338CA"/>
                </a:solidFill>
                <a:latin typeface="Calibri"/>
              </a:rPr>
              <a:t>GOVERNMENT / OPERATIONS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175504" y="3383279"/>
            <a:ext cx="3346704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F1020"/>
                </a:solidFill>
                <a:latin typeface="Calibri"/>
              </a:rPr>
              <a:t>Auditable route evidence and disruption visibility per corridor.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3383280" y="3694176"/>
            <a:ext cx="5138928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TextBox 17429"/>
          <p:cNvSpPr txBox="1"/>
          <p:nvPr/>
        </p:nvSpPr>
        <p:spPr>
          <a:xfrm>
            <a:off x="3383280" y="3822191"/>
            <a:ext cx="3657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A9AB2"/>
                </a:solidFill>
                <a:latin typeface="Calibri"/>
              </a:rPr>
              <a:t>DEMONSTRATED TODAY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3383280" y="4078224"/>
            <a:ext cx="58521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23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041648" y="4078224"/>
            <a:ext cx="190195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F1020"/>
                </a:solidFill>
                <a:latin typeface="Calibri"/>
              </a:rPr>
              <a:t>selectable languages, explicit fallback status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3383280" y="4425696"/>
            <a:ext cx="58521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11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041648" y="4425696"/>
            <a:ext cx="190195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F1020"/>
                </a:solidFill>
                <a:latin typeface="Calibri"/>
              </a:rPr>
              <a:t>route factors in every decision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3383280" y="4773168"/>
            <a:ext cx="58521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60 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041648" y="4773168"/>
            <a:ext cx="190195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F1020"/>
                </a:solidFill>
                <a:latin typeface="Calibri"/>
              </a:rPr>
              <a:t>route-ahead monitor while driving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5998464" y="4078224"/>
            <a:ext cx="58521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12/12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656832" y="4078224"/>
            <a:ext cx="190195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F1020"/>
                </a:solidFill>
                <a:latin typeface="Calibri"/>
              </a:rPr>
              <a:t>judge-flow steps certified on a physical phone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5998464" y="4425696"/>
            <a:ext cx="58521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100 %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656832" y="4425696"/>
            <a:ext cx="190195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F1020"/>
                </a:solidFill>
                <a:latin typeface="Calibri"/>
              </a:rPr>
              <a:t>of reroutes reviewed by a human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457200" y="5431536"/>
            <a:ext cx="8065008" cy="0"/>
          </a:xfrm>
          <a:prstGeom prst="line">
            <a:avLst/>
          </a:prstGeom>
          <a:ln w="19050">
            <a:solidFill>
              <a:srgbClr val="0F1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TextBox 17441"/>
          <p:cNvSpPr txBox="1"/>
          <p:nvPr/>
        </p:nvSpPr>
        <p:spPr>
          <a:xfrm>
            <a:off x="457200" y="5486400"/>
            <a:ext cx="8065008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A9AB2"/>
                </a:solidFill>
                <a:latin typeface="Calibri"/>
              </a:rPr>
              <a:t>HUMAN GOVERNANCE — AI HAS NO UNCONTROLLED AUTHORITY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457200" y="5760720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0F1020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2340864" y="5916168"/>
            <a:ext cx="164592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Rounded Rectangle 17444"/>
          <p:cNvSpPr/>
          <p:nvPr/>
        </p:nvSpPr>
        <p:spPr>
          <a:xfrm>
            <a:off x="2523744" y="5760720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0F1020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4407408" y="5916168"/>
            <a:ext cx="164592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Rounded Rectangle 17446"/>
          <p:cNvSpPr/>
          <p:nvPr/>
        </p:nvSpPr>
        <p:spPr>
          <a:xfrm>
            <a:off x="4590288" y="5760720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0F1020"/>
                </a:solidFill>
                <a:latin typeface="Calibri"/>
              </a:rPr>
              <a:t>Manager governance</a:t>
            </a:r>
          </a:p>
        </p:txBody>
      </p:sp>
      <p:cxnSp>
        <p:nvCxnSpPr>
          <p:cNvPr id="17448" name="Connector 17447"/>
          <p:cNvCxnSpPr/>
          <p:nvPr/>
        </p:nvCxnSpPr>
        <p:spPr>
          <a:xfrm>
            <a:off x="6473952" y="5916168"/>
            <a:ext cx="164592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9" name="Rounded Rectangle 17448"/>
          <p:cNvSpPr/>
          <p:nvPr/>
        </p:nvSpPr>
        <p:spPr>
          <a:xfrm>
            <a:off x="6656832" y="5760720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0F1020"/>
                </a:solidFill>
                <a:latin typeface="Calibri"/>
              </a:rPr>
              <a:t>Driver action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8686800" y="1097280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A9AB2"/>
                </a:solidFill>
                <a:latin typeface="Calibri"/>
              </a:rPr>
              <a:t>REAL SCREENS · APK 1.0.18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8654796" y="1376172"/>
            <a:ext cx="1687324" cy="2350008"/>
          </a:xfrm>
          <a:prstGeom prst="roundRect">
            <a:avLst>
              <a:gd name="adj" fmla="val 3251"/>
            </a:avLst>
          </a:prstGeom>
          <a:solidFill>
            <a:srgbClr val="FFFFFF"/>
          </a:solidFill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2" name="Picture 17451" descr="l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408176"/>
            <a:ext cx="1623316" cy="2286000"/>
          </a:xfrm>
          <a:prstGeom prst="rect">
            <a:avLst/>
          </a:prstGeom>
        </p:spPr>
      </p:pic>
      <p:sp>
        <p:nvSpPr>
          <p:cNvPr id="17453" name="Rounded Rectangle 17452"/>
          <p:cNvSpPr/>
          <p:nvPr/>
        </p:nvSpPr>
        <p:spPr>
          <a:xfrm>
            <a:off x="10424416" y="1376172"/>
            <a:ext cx="1142181" cy="2350008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4" name="Picture 17453" descr="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6420" y="1408176"/>
            <a:ext cx="1078173" cy="2286000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8686800" y="3767328"/>
            <a:ext cx="1623316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2526B"/>
                </a:solidFill>
                <a:latin typeface="Calibri"/>
              </a:rPr>
              <a:t>Driver · 23 languages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10456420" y="3767328"/>
            <a:ext cx="1078173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2526B"/>
                </a:solidFill>
                <a:latin typeface="Calibri"/>
              </a:rPr>
              <a:t>Manager · mobile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8686800" y="4114800"/>
            <a:ext cx="306324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2526B"/>
                </a:solidFill>
                <a:latin typeface="Calibri"/>
              </a:rPr>
              <a:t>Real screens, APK 1.0.18. One login, server-decided role: a manager gets a mobile fleet view, a driver gets navigation. Each language shows its status — Verified, Draft or English fallback — so nobody is misled.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F10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115568"/>
            <a:ext cx="2743200" cy="1125415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400" b="1">
                <a:solidFill>
                  <a:srgbClr val="4338CA"/>
                </a:solidFill>
                <a:latin typeface="Calibri"/>
              </a:rPr>
              <a:t>95 %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2186119"/>
            <a:ext cx="27432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0F1020"/>
                </a:solidFill>
                <a:latin typeface="Calibri"/>
              </a:rPr>
              <a:t>RECALL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2442151"/>
            <a:ext cx="27432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2526B"/>
                </a:solidFill>
                <a:latin typeface="Calibri"/>
              </a:rPr>
              <a:t>on the NER geographic holdout — 154 catalogued events, no NER row used in training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3291840"/>
            <a:ext cx="2743200" cy="786384"/>
          </a:xfrm>
          <a:prstGeom prst="roundRect">
            <a:avLst>
              <a:gd name="adj" fmla="val 6976"/>
            </a:avLst>
          </a:prstGeom>
          <a:solidFill>
            <a:srgbClr val="0F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457200" y="3346704"/>
            <a:ext cx="2743200" cy="6949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A9AB2"/>
                </a:solidFill>
                <a:latin typeface="Calibri"/>
              </a:rPr>
              <a:t>SAFETY GATE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NOT DEPLOYED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57200" y="4169663"/>
            <a:ext cx="27432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BE123C"/>
                </a:solidFill>
                <a:latin typeface="Calibri"/>
              </a:rPr>
              <a:t>FPR 50 %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52526B"/>
                </a:solidFill>
                <a:latin typeface="Calibri"/>
              </a:rPr>
              <a:t>too high for production deployment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57200" y="4754880"/>
            <a:ext cx="27432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4338CA"/>
                </a:solidFill>
                <a:latin typeface="Calibri"/>
              </a:rPr>
              <a:t>VALIDATION BEFORE AUTOMATION.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0F1020"/>
                </a:solidFill>
                <a:latin typeface="Calibri"/>
              </a:rPr>
              <a:t>Strong recall was not enough. Held-out testing exposed the false-positive rate, so the gate keeps the model out of routing.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520440" y="1097280"/>
            <a:ext cx="821131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A9AB2"/>
                </a:solidFill>
                <a:latin typeface="Calibri"/>
              </a:rPr>
              <a:t>RESEARCH / EVIDENCE SOURCES BEHIND THE ROUTE DECISION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3520440" y="1353312"/>
            <a:ext cx="8211312" cy="0"/>
          </a:xfrm>
          <a:prstGeom prst="line">
            <a:avLst/>
          </a:prstGeom>
          <a:ln w="19050">
            <a:solidFill>
              <a:srgbClr val="0F1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TextBox 17418"/>
          <p:cNvSpPr txBox="1"/>
          <p:nvPr/>
        </p:nvSpPr>
        <p:spPr>
          <a:xfrm>
            <a:off x="3520440" y="1463040"/>
            <a:ext cx="3986784" cy="104241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4338CA"/>
                </a:solidFill>
                <a:latin typeface="Calibri"/>
              </a:rPr>
              <a:t>ROUTING / PLACES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F1020"/>
                </a:solidFill>
                <a:latin typeface="Calibri"/>
              </a:rPr>
              <a:t>OSRM · OpenStreetMap · Nominatim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52526B"/>
                </a:solidFill>
                <a:latin typeface="Calibri"/>
              </a:rPr>
              <a:t>real road geometry, alternatives and turn steps; place search on the corridor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3520440" y="2542032"/>
            <a:ext cx="3986784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TextBox 17420"/>
          <p:cNvSpPr txBox="1"/>
          <p:nvPr/>
        </p:nvSpPr>
        <p:spPr>
          <a:xfrm>
            <a:off x="7744968" y="1463040"/>
            <a:ext cx="3986784" cy="104241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4338CA"/>
                </a:solidFill>
                <a:latin typeface="Calibri"/>
              </a:rPr>
              <a:t>WEATHER / TERRAIN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F1020"/>
                </a:solidFill>
                <a:latin typeface="Calibri"/>
              </a:rPr>
              <a:t>Open-Meteo · MET Norway · Copernicus DEM · OpenTopoData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52526B"/>
                </a:solidFill>
                <a:latin typeface="Calibri"/>
              </a:rPr>
              <a:t>forecast sampled along the road; climb, gradient and steep segments (GLO-90)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7744968" y="2542032"/>
            <a:ext cx="3986784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TextBox 17422"/>
          <p:cNvSpPr txBox="1"/>
          <p:nvPr/>
        </p:nvSpPr>
        <p:spPr>
          <a:xfrm>
            <a:off x="3520440" y="2670048"/>
            <a:ext cx="3986784" cy="104241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4338CA"/>
                </a:solidFill>
                <a:latin typeface="Calibri"/>
              </a:rPr>
              <a:t>OFFICIAL / FLOOD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F1020"/>
                </a:solidFill>
                <a:latin typeface="Calibri"/>
              </a:rPr>
              <a:t>NDMA SACHET (CAP) · Copernicus GloFAS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52526B"/>
                </a:solidFill>
                <a:latin typeface="Calibri"/>
              </a:rPr>
              <a:t>official warnings polled with freshness; river discharge against its 30-day mean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3520440" y="3749039"/>
            <a:ext cx="3986784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TextBox 17424"/>
          <p:cNvSpPr txBox="1"/>
          <p:nvPr/>
        </p:nvSpPr>
        <p:spPr>
          <a:xfrm>
            <a:off x="7744968" y="2670048"/>
            <a:ext cx="3986784" cy="104241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4338CA"/>
                </a:solidFill>
                <a:latin typeface="Calibri"/>
              </a:rPr>
              <a:t>LANDSLIDE HISTORY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F1020"/>
                </a:solidFill>
                <a:latin typeface="Calibri"/>
              </a:rPr>
              <a:t>NASA Global Landslide Catalog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52526B"/>
                </a:solidFill>
                <a:latin typeface="Calibri"/>
              </a:rPr>
              <a:t>historical exposure; inventory 2007–2017, ≤5 km location-accuracy filter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7744968" y="3749039"/>
            <a:ext cx="3986784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TextBox 17426"/>
          <p:cNvSpPr txBox="1"/>
          <p:nvPr/>
        </p:nvSpPr>
        <p:spPr>
          <a:xfrm>
            <a:off x="3520440" y="3877056"/>
            <a:ext cx="3986784" cy="104241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4338CA"/>
                </a:solidFill>
                <a:latin typeface="Calibri"/>
              </a:rPr>
              <a:t>AI ASSISTANCE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F1020"/>
                </a:solidFill>
                <a:latin typeface="Calibri"/>
              </a:rPr>
              <a:t>Google Gemini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52526B"/>
                </a:solidFill>
                <a:latin typeface="Calibri"/>
              </a:rPr>
              <a:t>explains the decision in the driver's language — never safety authority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3520440" y="4956048"/>
            <a:ext cx="3986784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TextBox 17428"/>
          <p:cNvSpPr txBox="1"/>
          <p:nvPr/>
        </p:nvSpPr>
        <p:spPr>
          <a:xfrm>
            <a:off x="7744968" y="3877056"/>
            <a:ext cx="3986784" cy="104241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4338CA"/>
                </a:solidFill>
                <a:latin typeface="Calibri"/>
              </a:rPr>
              <a:t>PROBLEM STATEMENT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F1020"/>
                </a:solidFill>
                <a:latin typeface="Calibri"/>
              </a:rPr>
              <a:t>MDoNER · SIH26002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52526B"/>
                </a:solidFill>
                <a:latin typeface="Calibri"/>
              </a:rPr>
              <a:t>AI-based smart logistics and accessibility intelligence for the NER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7744968" y="4956048"/>
            <a:ext cx="3986784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Rounded Rectangle 17430"/>
          <p:cNvSpPr/>
          <p:nvPr/>
        </p:nvSpPr>
        <p:spPr>
          <a:xfrm>
            <a:off x="3520440" y="5138928"/>
            <a:ext cx="76809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F1020"/>
                </a:solidFill>
                <a:latin typeface="Calibri"/>
              </a:rPr>
              <a:t>TRAIN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4306824" y="5266944"/>
            <a:ext cx="27432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Rounded Rectangle 17432"/>
          <p:cNvSpPr/>
          <p:nvPr/>
        </p:nvSpPr>
        <p:spPr>
          <a:xfrm>
            <a:off x="4352544" y="513892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F1020"/>
                </a:solidFill>
                <a:latin typeface="Calibri"/>
              </a:rPr>
              <a:t>HELD-OUT NER TEST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5833871" y="5266944"/>
            <a:ext cx="27433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5879592" y="5138928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F1020"/>
                </a:solidFill>
                <a:latin typeface="Calibri"/>
              </a:rPr>
              <a:t>USEFUL SIGNAL FOUND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7507223" y="5266944"/>
            <a:ext cx="27433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7552944" y="5138928"/>
            <a:ext cx="177393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F1020"/>
                </a:solidFill>
                <a:latin typeface="Calibri"/>
              </a:rPr>
              <a:t>FALSE POSITIVES TOO HIGH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9345167" y="5266944"/>
            <a:ext cx="27433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ounded Rectangle 17438"/>
          <p:cNvSpPr/>
          <p:nvPr/>
        </p:nvSpPr>
        <p:spPr>
          <a:xfrm>
            <a:off x="9390888" y="5138928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F1020"/>
                </a:solidFill>
                <a:latin typeface="Calibri"/>
              </a:rPr>
              <a:t>SAFETY GATE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10396728" y="5266944"/>
            <a:ext cx="27432" cy="0"/>
          </a:xfrm>
          <a:prstGeom prst="line">
            <a:avLst/>
          </a:prstGeom>
          <a:ln w="15875">
            <a:solidFill>
              <a:srgbClr val="0F1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10442448" y="5138928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F1020"/>
                </a:solidFill>
                <a:latin typeface="Calibri"/>
              </a:rPr>
              <a:t>NOT DEPLOYED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3520440" y="5486400"/>
            <a:ext cx="821131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2526B"/>
                </a:solidFill>
                <a:latin typeface="Calibri"/>
              </a:rPr>
              <a:t>Precision 0.32 · F1 0.48 · PR-AUC 0.55 · ROC-AUC 0.83 · Brier 0.12 · calibrated logistic regression on NASA GLC + ERA5-Land rain + DEM slope · docs/HAZARD_ERROR_ANALYSIS.md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457200" y="5852160"/>
            <a:ext cx="11292840" cy="0"/>
          </a:xfrm>
          <a:prstGeom prst="line">
            <a:avLst/>
          </a:prstGeom>
          <a:ln w="9525">
            <a:solidFill>
              <a:srgbClr val="E2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TextBox 17443"/>
          <p:cNvSpPr txBox="1"/>
          <p:nvPr/>
        </p:nvSpPr>
        <p:spPr>
          <a:xfrm>
            <a:off x="457200" y="5907024"/>
            <a:ext cx="1129284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9A9AB2"/>
                </a:solidFill>
                <a:latin typeface="Calibri"/>
              </a:rPr>
              <a:t>REFERENCES   </a:t>
            </a:r>
            <a:r>
              <a:rPr sz="850" b="0">
                <a:solidFill>
                  <a:srgbClr val="52526B"/>
                </a:solidFill>
                <a:latin typeface="Calibri"/>
              </a:rPr>
              <a:t>gpm.nasa.gov/landslides (NASA GLC)  ·  sachet.ndma.gov.in  ·  global-flood.emergency.copernicus.eu (GloFAS)  ·  open-meteo.com · api.met.no  ·  opentopodata.org · Copernicus DEM  ·  project-osrm.org · openstreetmap.org  ·  github.com/nxtlucifer/ner-ai-logistics (repository, tests, model registry)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RASTA AI — SIH26002 — Team NER-AI LOGISTICS (17)</dc:title>
  <dc:subject>AI-Based Smart Logistics and Accessibility Intelligence Platform for North Eastern Region (NER)</dc:subject>
  <dc:creator>NER-AI LOGISTICS</dc:creator>
  <cp:keywords>SIH26002, SIH 2026, RASTA AI, NER logistics, route intelligence</cp:keywords>
  <dc:description/>
  <cp:lastModifiedBy>NER-AI LOGISTICS</cp:lastModifiedBy>
  <cp:revision>148</cp:revision>
  <dcterms:created xsi:type="dcterms:W3CDTF">2013-12-12T18:46:50Z</dcterms:created>
  <dcterms:modified xsi:type="dcterms:W3CDTF">2026-06-02T09:29:39Z</dcterms:modified>
  <cp:category>Smart India Hackathon 2026 — Smart Automation — Software</cp:category>
</cp:coreProperties>
</file>