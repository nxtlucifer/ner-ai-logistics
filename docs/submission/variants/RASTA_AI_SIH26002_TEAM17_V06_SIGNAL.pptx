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4.png"/><Relationship Id="rId7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28116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34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2920" y="1170432"/>
            <a:ext cx="6035040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800" b="1">
                <a:solidFill>
                  <a:srgbClr val="0F1020"/>
                </a:solidFill>
                <a:latin typeface="Calibri"/>
              </a:rPr>
              <a:t>RASTA 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0352" y="1773936"/>
            <a:ext cx="603504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2526B"/>
                </a:solidFill>
                <a:latin typeface="Calibri"/>
              </a:rPr>
              <a:t>Route Intelligence for Essential-Supply Logistics in North Eastern India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02920" y="2212848"/>
            <a:ext cx="6035039" cy="0"/>
          </a:xfrm>
          <a:prstGeom prst="line">
            <a:avLst/>
          </a:prstGeom>
          <a:ln w="25400">
            <a:solidFill>
              <a:srgbClr val="0F1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02920" y="2322576"/>
            <a:ext cx="6035040" cy="11155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300" b="1">
                <a:solidFill>
                  <a:srgbClr val="0F1020"/>
                </a:solidFill>
                <a:latin typeface="Calibri"/>
              </a:rPr>
              <a:t>SHORTEST IS NOT ALWAYS USABLE.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3419856"/>
            <a:ext cx="60350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4338CA"/>
                </a:solidFill>
                <a:latin typeface="Calibri"/>
              </a:rPr>
              <a:t>“Can this essential-supply truck reliably use this corridor now?”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02920" y="3822191"/>
            <a:ext cx="6035039" cy="0"/>
          </a:xfrm>
          <a:prstGeom prst="line">
            <a:avLst/>
          </a:prstGeom>
          <a:ln w="9525">
            <a:solidFill>
              <a:srgbClr val="E2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502920" y="3913632"/>
            <a:ext cx="1828800" cy="51206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SIH26002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87168" y="3931920"/>
            <a:ext cx="40233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9A9AB2"/>
                </a:solidFill>
                <a:latin typeface="Calibri"/>
              </a:rPr>
              <a:t>PROBLEM STATEMENT ID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0F1020"/>
                </a:solidFill>
                <a:latin typeface="Calibri"/>
              </a:rPr>
              <a:t>MDoNER · Smart Automation · Software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4572000"/>
            <a:ext cx="18288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A9AB2"/>
                </a:solidFill>
                <a:latin typeface="Calibri"/>
              </a:rPr>
              <a:t>PROBLEM STATEMENT TITLE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77440" y="4544568"/>
            <a:ext cx="416052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0F1020"/>
                </a:solidFill>
                <a:latin typeface="Calibri"/>
              </a:rPr>
              <a:t>AI-Based Smart Logistics and Accessibility Intelligence Platform for North Eastern Region (NER)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02920" y="4965192"/>
            <a:ext cx="6035039" cy="0"/>
          </a:xfrm>
          <a:prstGeom prst="line">
            <a:avLst/>
          </a:prstGeom>
          <a:ln w="9525">
            <a:solidFill>
              <a:srgbClr val="E2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02920" y="5001768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A9AB2"/>
                </a:solidFill>
                <a:latin typeface="Calibri"/>
              </a:rPr>
              <a:t>THEME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7440" y="4974336"/>
            <a:ext cx="416052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0F1020"/>
                </a:solidFill>
                <a:latin typeface="Calibri"/>
              </a:rPr>
              <a:t>Smart Automation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02920" y="5248655"/>
            <a:ext cx="6035039" cy="0"/>
          </a:xfrm>
          <a:prstGeom prst="line">
            <a:avLst/>
          </a:prstGeom>
          <a:ln w="9525">
            <a:solidFill>
              <a:srgbClr val="E2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02920" y="5285231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A9AB2"/>
                </a:solidFill>
                <a:latin typeface="Calibri"/>
              </a:rPr>
              <a:t>PS CATEGORY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77440" y="5257799"/>
            <a:ext cx="416052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0F1020"/>
                </a:solidFill>
                <a:latin typeface="Calibri"/>
              </a:rPr>
              <a:t>Software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02920" y="5532119"/>
            <a:ext cx="6035039" cy="0"/>
          </a:xfrm>
          <a:prstGeom prst="line">
            <a:avLst/>
          </a:prstGeom>
          <a:ln w="9525">
            <a:solidFill>
              <a:srgbClr val="E2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02920" y="5568695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A9AB2"/>
                </a:solidFill>
                <a:latin typeface="Calibri"/>
              </a:rPr>
              <a:t>TEAM 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77440" y="5541263"/>
            <a:ext cx="416052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F1020"/>
                </a:solidFill>
                <a:latin typeface="Calibri"/>
              </a:rPr>
              <a:t>17  (internal group no.)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02920" y="5815583"/>
            <a:ext cx="6035039" cy="0"/>
          </a:xfrm>
          <a:prstGeom prst="line">
            <a:avLst/>
          </a:prstGeom>
          <a:ln w="9525">
            <a:solidFill>
              <a:srgbClr val="E2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02920" y="5852159"/>
            <a:ext cx="18288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A9AB2"/>
                </a:solidFill>
                <a:latin typeface="Calibri"/>
              </a:rPr>
              <a:t>TEAM NAME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377440" y="5824727"/>
            <a:ext cx="416052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F1020"/>
                </a:solidFill>
                <a:latin typeface="Calibri"/>
              </a:rPr>
              <a:t>NER-AI LOGISTICS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02920" y="6099047"/>
            <a:ext cx="6035039" cy="0"/>
          </a:xfrm>
          <a:prstGeom prst="line">
            <a:avLst/>
          </a:prstGeom>
          <a:ln w="9525">
            <a:solidFill>
              <a:srgbClr val="E2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02920" y="6144768"/>
            <a:ext cx="60350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047857"/>
                </a:solidFill>
                <a:latin typeface="Calibri"/>
              </a:rPr>
              <a:t>End-to-end working prototype · physical-phone validated · live demo corridor Guwahati → Shillong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0" y="1152144"/>
            <a:ext cx="48920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A9AB2"/>
                </a:solidFill>
                <a:latin typeface="Calibri"/>
              </a:rPr>
              <a:t>LIVE WORKING SYSTEM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871716" y="2253996"/>
            <a:ext cx="2515743" cy="3630168"/>
          </a:xfrm>
          <a:prstGeom prst="roundRect">
            <a:avLst>
              <a:gd name="adj" fmla="val 2180"/>
            </a:avLst>
          </a:prstGeom>
          <a:solidFill>
            <a:srgbClr val="FFFFFF"/>
          </a:solidFill>
          <a:ln w="9525">
            <a:solidFill>
              <a:srgbClr val="E2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3" name="Picture 62" descr="mg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2286000"/>
            <a:ext cx="2451735" cy="3566160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9514332" y="1522476"/>
            <a:ext cx="1999138" cy="4361688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 w="9525">
            <a:solidFill>
              <a:srgbClr val="E2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5" name="Picture 64" descr="nav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36" y="1554480"/>
            <a:ext cx="1935130" cy="429768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858000" y="5943600"/>
            <a:ext cx="4892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52526B"/>
                </a:solidFill>
                <a:latin typeface="Calibri"/>
              </a:rPr>
              <a:t>Manager route review · Driver navigation — real screens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RASTA AI — ROUTE INTELLIGENCE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F10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57200" y="1188720"/>
            <a:ext cx="2743200" cy="1125415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400" b="1">
                <a:solidFill>
                  <a:srgbClr val="4338CA"/>
                </a:solidFill>
                <a:latin typeface="Calibri"/>
              </a:rPr>
              <a:t>11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57200" y="2259271"/>
            <a:ext cx="274320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0F1020"/>
                </a:solidFill>
                <a:latin typeface="Calibri"/>
              </a:rPr>
              <a:t>ROUTE FACTORS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57200" y="2515303"/>
            <a:ext cx="27432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2526B"/>
                </a:solidFill>
                <a:latin typeface="Calibri"/>
              </a:rPr>
              <a:t>scored on the selected road before a truck is dispatched, each with its own freshness</a:t>
            </a:r>
          </a:p>
        </p:txBody>
      </p:sp>
      <p:cxnSp>
        <p:nvCxnSpPr>
          <p:cNvPr id="15365" name="Connector 15364"/>
          <p:cNvCxnSpPr/>
          <p:nvPr/>
        </p:nvCxnSpPr>
        <p:spPr>
          <a:xfrm>
            <a:off x="457200" y="3163824"/>
            <a:ext cx="2743200" cy="0"/>
          </a:xfrm>
          <a:prstGeom prst="line">
            <a:avLst/>
          </a:prstGeom>
          <a:ln w="9525">
            <a:solidFill>
              <a:srgbClr val="E2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6" name="TextBox 15365"/>
          <p:cNvSpPr txBox="1"/>
          <p:nvPr/>
        </p:nvSpPr>
        <p:spPr>
          <a:xfrm>
            <a:off x="457200" y="3236976"/>
            <a:ext cx="27432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0F1020"/>
                </a:solidFill>
                <a:latin typeface="Calibri"/>
              </a:rPr>
              <a:t>A normal router checks none of them.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52526B"/>
                </a:solidFill>
                <a:latin typeface="Calibri"/>
              </a:rPr>
              <a:t>Origin → Shortest / fastest road → Truck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52526B"/>
                </a:solidFill>
                <a:latin typeface="Calibri"/>
              </a:rPr>
              <a:t>No governance. No answer when data is missing.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3520440" y="1133856"/>
            <a:ext cx="4983480" cy="8412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0F1020"/>
                </a:solidFill>
                <a:latin typeface="Calibri"/>
              </a:rPr>
              <a:t>Not the shortest road. </a:t>
            </a:r>
            <a:r>
              <a:rPr sz="2100" b="1">
                <a:solidFill>
                  <a:srgbClr val="4338CA"/>
                </a:solidFill>
                <a:latin typeface="Calibri"/>
              </a:rPr>
              <a:t>The road that is usable now.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3520440" y="2066543"/>
            <a:ext cx="822960" cy="25603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2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0F1020"/>
                </a:solidFill>
                <a:latin typeface="Calibri"/>
              </a:rPr>
              <a:t>Terrain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4416552" y="2066543"/>
            <a:ext cx="822960" cy="25603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2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0F1020"/>
                </a:solidFill>
                <a:latin typeface="Calibri"/>
              </a:rPr>
              <a:t>Weather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5312664" y="2066543"/>
            <a:ext cx="1316736" cy="25603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2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0F1020"/>
                </a:solidFill>
                <a:latin typeface="Calibri"/>
              </a:rPr>
              <a:t>Landslide exposure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6702552" y="2066543"/>
            <a:ext cx="1060704" cy="25603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2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0F1020"/>
                </a:solidFill>
                <a:latin typeface="Calibri"/>
              </a:rPr>
              <a:t>Flood context</a:t>
            </a:r>
          </a:p>
        </p:txBody>
      </p:sp>
      <p:sp>
        <p:nvSpPr>
          <p:cNvPr id="15372" name="Rounded Rectangle 15371"/>
          <p:cNvSpPr/>
          <p:nvPr/>
        </p:nvSpPr>
        <p:spPr>
          <a:xfrm>
            <a:off x="3520440" y="2359151"/>
            <a:ext cx="1207008" cy="25603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2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0F1020"/>
                </a:solidFill>
                <a:latin typeface="Calibri"/>
              </a:rPr>
              <a:t>Official warnings</a:t>
            </a:r>
          </a:p>
        </p:txBody>
      </p:sp>
      <p:sp>
        <p:nvSpPr>
          <p:cNvPr id="15373" name="Rounded Rectangle 15372"/>
          <p:cNvSpPr/>
          <p:nvPr/>
        </p:nvSpPr>
        <p:spPr>
          <a:xfrm>
            <a:off x="4800600" y="2359151"/>
            <a:ext cx="969264" cy="25603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2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0F1020"/>
                </a:solidFill>
                <a:latin typeface="Calibri"/>
              </a:rPr>
              <a:t>Fleet traffic</a:t>
            </a:r>
          </a:p>
        </p:txBody>
      </p:sp>
      <p:sp>
        <p:nvSpPr>
          <p:cNvPr id="15374" name="Rounded Rectangle 15373"/>
          <p:cNvSpPr/>
          <p:nvPr/>
        </p:nvSpPr>
        <p:spPr>
          <a:xfrm>
            <a:off x="5843016" y="2359151"/>
            <a:ext cx="1298448" cy="25603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2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0F1020"/>
                </a:solidFill>
                <a:latin typeface="Calibri"/>
              </a:rPr>
              <a:t>Evidence freshness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3520440" y="2779775"/>
            <a:ext cx="4983480" cy="27432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OPERATIONAL DECISION  ·  CONTINUE / CAUTION / HOLD / REROUTE</a:t>
            </a:r>
          </a:p>
        </p:txBody>
      </p:sp>
      <p:cxnSp>
        <p:nvCxnSpPr>
          <p:cNvPr id="15376" name="Connector 15375"/>
          <p:cNvCxnSpPr/>
          <p:nvPr/>
        </p:nvCxnSpPr>
        <p:spPr>
          <a:xfrm>
            <a:off x="6012180" y="3063239"/>
            <a:ext cx="0" cy="91440"/>
          </a:xfrm>
          <a:prstGeom prst="line">
            <a:avLst/>
          </a:prstGeom>
          <a:ln w="15875">
            <a:solidFill>
              <a:srgbClr val="0F10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7" name="Rounded Rectangle 15376"/>
          <p:cNvSpPr/>
          <p:nvPr/>
        </p:nvSpPr>
        <p:spPr>
          <a:xfrm>
            <a:off x="3520440" y="3163823"/>
            <a:ext cx="4983480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0F1020"/>
                </a:solidFill>
                <a:latin typeface="Calibri"/>
              </a:rPr>
              <a:t>Manager governance  ·  authorises, dispatches, approves reroutes</a:t>
            </a:r>
          </a:p>
        </p:txBody>
      </p:sp>
      <p:cxnSp>
        <p:nvCxnSpPr>
          <p:cNvPr id="15378" name="Connector 15377"/>
          <p:cNvCxnSpPr/>
          <p:nvPr/>
        </p:nvCxnSpPr>
        <p:spPr>
          <a:xfrm>
            <a:off x="6012180" y="3447287"/>
            <a:ext cx="0" cy="91440"/>
          </a:xfrm>
          <a:prstGeom prst="line">
            <a:avLst/>
          </a:prstGeom>
          <a:ln w="15875">
            <a:solidFill>
              <a:srgbClr val="0F10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9" name="Rounded Rectangle 15378"/>
          <p:cNvSpPr/>
          <p:nvPr/>
        </p:nvSpPr>
        <p:spPr>
          <a:xfrm>
            <a:off x="3520440" y="3547871"/>
            <a:ext cx="4983480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0F1020"/>
                </a:solidFill>
                <a:latin typeface="Calibri"/>
              </a:rPr>
              <a:t>Driver  ·  navigation, danger context, 23 languages, offline package</a:t>
            </a:r>
          </a:p>
        </p:txBody>
      </p:sp>
      <p:cxnSp>
        <p:nvCxnSpPr>
          <p:cNvPr id="15380" name="Connector 15379"/>
          <p:cNvCxnSpPr/>
          <p:nvPr/>
        </p:nvCxnSpPr>
        <p:spPr>
          <a:xfrm>
            <a:off x="457200" y="5687568"/>
            <a:ext cx="8065008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1" name="TextBox 15380"/>
          <p:cNvSpPr txBox="1"/>
          <p:nvPr/>
        </p:nvSpPr>
        <p:spPr>
          <a:xfrm>
            <a:off x="457200" y="5779008"/>
            <a:ext cx="283464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BE123C"/>
                </a:solidFill>
                <a:latin typeface="Calibri"/>
              </a:rPr>
              <a:t>UNKNOWN ≠ SAFE</a:t>
            </a:r>
          </a:p>
        </p:txBody>
      </p:sp>
      <p:sp>
        <p:nvSpPr>
          <p:cNvPr id="15382" name="TextBox 15381"/>
          <p:cNvSpPr txBox="1"/>
          <p:nvPr/>
        </p:nvSpPr>
        <p:spPr>
          <a:xfrm>
            <a:off x="3520440" y="5815584"/>
            <a:ext cx="49834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F1020"/>
                </a:solidFill>
                <a:latin typeface="Calibri"/>
              </a:rPr>
              <a:t>Missing or stale evidence is marked UNKNOWN — never safe — and goes to an authorised reviewer.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8686800" y="1097280"/>
            <a:ext cx="3063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A9AB2"/>
                </a:solidFill>
                <a:latin typeface="Calibri"/>
              </a:rPr>
              <a:t>MANAGER · CHECK CONDITIONS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8654796" y="1412748"/>
            <a:ext cx="2930679" cy="4526280"/>
          </a:xfrm>
          <a:prstGeom prst="roundRect">
            <a:avLst>
              <a:gd name="adj" fmla="val 1872"/>
            </a:avLst>
          </a:prstGeom>
          <a:solidFill>
            <a:srgbClr val="FFFFFF"/>
          </a:solidFill>
          <a:ln w="9525">
            <a:solidFill>
              <a:srgbClr val="E2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5" name="Picture 15384" descr="e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444752"/>
            <a:ext cx="2866671" cy="4462272"/>
          </a:xfrm>
          <a:prstGeom prst="rect">
            <a:avLst/>
          </a:prstGeom>
        </p:spPr>
      </p:pic>
      <p:sp>
        <p:nvSpPr>
          <p:cNvPr id="15386" name="TextBox 15385"/>
          <p:cNvSpPr txBox="1"/>
          <p:nvPr/>
        </p:nvSpPr>
        <p:spPr>
          <a:xfrm>
            <a:off x="8686800" y="5961888"/>
            <a:ext cx="30632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2526B"/>
                </a:solidFill>
                <a:latin typeface="Calibri"/>
              </a:rPr>
              <a:t>Real screen · evidence · freshness ·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F10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152144"/>
            <a:ext cx="2651760" cy="1125415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400" b="1">
                <a:solidFill>
                  <a:srgbClr val="4338CA"/>
                </a:solidFill>
                <a:latin typeface="Calibri"/>
              </a:rPr>
              <a:t>60 s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2222695"/>
            <a:ext cx="26517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0F1020"/>
                </a:solidFill>
                <a:latin typeface="Calibri"/>
              </a:rPr>
              <a:t>ROUTE-AHEAD MONITOR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57200" y="2478727"/>
            <a:ext cx="26517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2526B"/>
                </a:solidFill>
                <a:latin typeface="Calibri"/>
              </a:rPr>
              <a:t>the road ahead is re-scored every minute while the truck is moving; a material change goes back through the policy</a:t>
            </a:r>
          </a:p>
        </p:txBody>
      </p:sp>
      <p:cxnSp>
        <p:nvCxnSpPr>
          <p:cNvPr id="17413" name="Connector 17412"/>
          <p:cNvCxnSpPr/>
          <p:nvPr/>
        </p:nvCxnSpPr>
        <p:spPr>
          <a:xfrm>
            <a:off x="457200" y="3200400"/>
            <a:ext cx="2651760" cy="0"/>
          </a:xfrm>
          <a:prstGeom prst="line">
            <a:avLst/>
          </a:prstGeom>
          <a:ln w="9525">
            <a:solidFill>
              <a:srgbClr val="E2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4" name="TextBox 17413"/>
          <p:cNvSpPr txBox="1"/>
          <p:nvPr/>
        </p:nvSpPr>
        <p:spPr>
          <a:xfrm>
            <a:off x="457200" y="3291840"/>
            <a:ext cx="265176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52526B"/>
                </a:solidFill>
                <a:latin typeface="Calibri"/>
              </a:rPr>
              <a:t>A reroute is proposed to the manager, never applied silently.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429000" y="1097280"/>
            <a:ext cx="512064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A9AB2"/>
                </a:solidFill>
                <a:latin typeface="Calibri"/>
              </a:rPr>
              <a:t>VERIFIED DATA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429000" y="1353312"/>
            <a:ext cx="841248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F1020"/>
                </a:solidFill>
                <a:latin typeface="Calibri"/>
              </a:rPr>
              <a:t>WEATHER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52526B"/>
                </a:solidFill>
                <a:latin typeface="Calibri"/>
              </a:rPr>
              <a:t>Open-Meteo · MET Norway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288536" y="1353312"/>
            <a:ext cx="841248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F1020"/>
                </a:solidFill>
                <a:latin typeface="Calibri"/>
              </a:rPr>
              <a:t>TERRAIN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52526B"/>
                </a:solidFill>
                <a:latin typeface="Calibri"/>
              </a:rPr>
              <a:t>Copernicus DEM · OpenTopoData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5148071" y="1353312"/>
            <a:ext cx="841248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F1020"/>
                </a:solidFill>
                <a:latin typeface="Calibri"/>
              </a:rPr>
              <a:t>WARNINGS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52526B"/>
                </a:solidFill>
                <a:latin typeface="Calibri"/>
              </a:rPr>
              <a:t>NDMA SACHET (CAP)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6007607" y="1353312"/>
            <a:ext cx="841248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F1020"/>
                </a:solidFill>
                <a:latin typeface="Calibri"/>
              </a:rPr>
              <a:t>FLOOD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52526B"/>
                </a:solidFill>
                <a:latin typeface="Calibri"/>
              </a:rPr>
              <a:t>GloFAS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867143" y="1353312"/>
            <a:ext cx="841248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F1020"/>
                </a:solidFill>
                <a:latin typeface="Calibri"/>
              </a:rPr>
              <a:t>LANDSLIDE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52526B"/>
                </a:solidFill>
                <a:latin typeface="Calibri"/>
              </a:rPr>
              <a:t>NASA GLC 2007–17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7726679" y="1353312"/>
            <a:ext cx="841248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F1020"/>
                </a:solidFill>
                <a:latin typeface="Calibri"/>
              </a:rPr>
              <a:t>TRAFFIC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52526B"/>
                </a:solidFill>
                <a:latin typeface="Calibri"/>
              </a:rPr>
              <a:t>fleet GPS fixes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429000" y="2029968"/>
            <a:ext cx="5093208" cy="512064"/>
          </a:xfrm>
          <a:prstGeom prst="roundRect">
            <a:avLst>
              <a:gd name="adj" fmla="val 10714"/>
            </a:avLst>
          </a:prstGeom>
          <a:solidFill>
            <a:srgbClr val="F6F6FB"/>
          </a:solidFill>
          <a:ln w="9525">
            <a:solidFill>
              <a:srgbClr val="E2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3" name="TextBox 17422"/>
          <p:cNvSpPr txBox="1"/>
          <p:nvPr/>
        </p:nvSpPr>
        <p:spPr>
          <a:xfrm>
            <a:off x="3566160" y="2066544"/>
            <a:ext cx="4846320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F1020"/>
                </a:solidFill>
                <a:latin typeface="Calibri"/>
              </a:rPr>
              <a:t>ROUTE-SPECIFIC EVIDENCE · FastAPI backend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52526B"/>
                </a:solidFill>
                <a:latin typeface="Calibri"/>
              </a:rPr>
              <a:t>every factor sampled along the selected road · PostgreSQL + PostGIS (Supabase) · OSRM routes, alternatives, turn steps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3429000" y="2633472"/>
            <a:ext cx="5093208" cy="512064"/>
          </a:xfrm>
          <a:prstGeom prst="roundRect">
            <a:avLst>
              <a:gd name="adj" fmla="val 10714"/>
            </a:avLst>
          </a:prstGeom>
          <a:solidFill>
            <a:srgbClr val="4338CA"/>
          </a:solidFill>
          <a:ln w="9525">
            <a:solidFill>
              <a:srgbClr val="E2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TextBox 17424"/>
          <p:cNvSpPr txBox="1"/>
          <p:nvPr/>
        </p:nvSpPr>
        <p:spPr>
          <a:xfrm>
            <a:off x="3566160" y="2670048"/>
            <a:ext cx="4846320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DETERMINISTIC SAFETY POLICY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E2E2EC"/>
                </a:solidFill>
                <a:latin typeface="Calibri"/>
              </a:rPr>
              <a:t>11 factors · reason codes · UNKNOWN ≠ SAFE · reviewer authorisation when hazard data is missing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3429000" y="3236976"/>
            <a:ext cx="1204722" cy="310896"/>
          </a:xfrm>
          <a:prstGeom prst="roundRect">
            <a:avLst>
              <a:gd name="adj" fmla="val 50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CONTINUE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4725162" y="3236976"/>
            <a:ext cx="1204722" cy="310896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CAUTION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6021324" y="3236976"/>
            <a:ext cx="1204722" cy="310896"/>
          </a:xfrm>
          <a:prstGeom prst="roundRect">
            <a:avLst>
              <a:gd name="adj" fmla="val 50000"/>
            </a:avLst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HOLD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7317486" y="3236976"/>
            <a:ext cx="1204722" cy="310896"/>
          </a:xfrm>
          <a:prstGeom prst="roundRect">
            <a:avLst>
              <a:gd name="adj" fmla="val 50000"/>
            </a:avLst>
          </a:prstGeom>
          <a:solidFill>
            <a:srgbClr val="0F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REROUTE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3429000" y="3675888"/>
            <a:ext cx="1225296" cy="292608"/>
          </a:xfrm>
          <a:prstGeom prst="roundRect">
            <a:avLst>
              <a:gd name="adj" fmla="val 50000"/>
            </a:avLst>
          </a:prstGeom>
          <a:solidFill>
            <a:srgbClr val="0F1020"/>
          </a:solidFill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MANAGER REVIEW</a:t>
            </a:r>
          </a:p>
        </p:txBody>
      </p:sp>
      <p:cxnSp>
        <p:nvCxnSpPr>
          <p:cNvPr id="17431" name="Connector 17430"/>
          <p:cNvCxnSpPr/>
          <p:nvPr/>
        </p:nvCxnSpPr>
        <p:spPr>
          <a:xfrm>
            <a:off x="4672583" y="3822192"/>
            <a:ext cx="45721" cy="0"/>
          </a:xfrm>
          <a:prstGeom prst="line">
            <a:avLst/>
          </a:prstGeom>
          <a:ln w="15875">
            <a:solidFill>
              <a:srgbClr val="0F10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2" name="Rounded Rectangle 17431"/>
          <p:cNvSpPr/>
          <p:nvPr/>
        </p:nvSpPr>
        <p:spPr>
          <a:xfrm>
            <a:off x="4736592" y="3675888"/>
            <a:ext cx="131673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0F1020"/>
                </a:solidFill>
                <a:latin typeface="Calibri"/>
              </a:rPr>
              <a:t>DRIVER NAVIGATION</a:t>
            </a:r>
          </a:p>
        </p:txBody>
      </p:sp>
      <p:cxnSp>
        <p:nvCxnSpPr>
          <p:cNvPr id="17433" name="Connector 17432"/>
          <p:cNvCxnSpPr/>
          <p:nvPr/>
        </p:nvCxnSpPr>
        <p:spPr>
          <a:xfrm>
            <a:off x="6071615" y="3822192"/>
            <a:ext cx="45721" cy="0"/>
          </a:xfrm>
          <a:prstGeom prst="line">
            <a:avLst/>
          </a:prstGeom>
          <a:ln w="15875">
            <a:solidFill>
              <a:srgbClr val="0F10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4" name="Rounded Rectangle 17433"/>
          <p:cNvSpPr/>
          <p:nvPr/>
        </p:nvSpPr>
        <p:spPr>
          <a:xfrm>
            <a:off x="6135624" y="3675888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0F1020"/>
                </a:solidFill>
                <a:latin typeface="Calibri"/>
              </a:rPr>
              <a:t>60 s WATCH</a:t>
            </a:r>
          </a:p>
        </p:txBody>
      </p:sp>
      <p:cxnSp>
        <p:nvCxnSpPr>
          <p:cNvPr id="17435" name="Connector 17434"/>
          <p:cNvCxnSpPr/>
          <p:nvPr/>
        </p:nvCxnSpPr>
        <p:spPr>
          <a:xfrm>
            <a:off x="7068312" y="3822192"/>
            <a:ext cx="45720" cy="0"/>
          </a:xfrm>
          <a:prstGeom prst="line">
            <a:avLst/>
          </a:prstGeom>
          <a:ln w="15875">
            <a:solidFill>
              <a:srgbClr val="0F10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6" name="Rounded Rectangle 17435"/>
          <p:cNvSpPr/>
          <p:nvPr/>
        </p:nvSpPr>
        <p:spPr>
          <a:xfrm>
            <a:off x="7132320" y="36758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0F1020"/>
                </a:solidFill>
                <a:latin typeface="Calibri"/>
              </a:rPr>
              <a:t>REASSESS / REROUTE</a:t>
            </a:r>
          </a:p>
        </p:txBody>
      </p:sp>
      <p:cxnSp>
        <p:nvCxnSpPr>
          <p:cNvPr id="17437" name="Connector 17436"/>
          <p:cNvCxnSpPr/>
          <p:nvPr/>
        </p:nvCxnSpPr>
        <p:spPr>
          <a:xfrm>
            <a:off x="3429000" y="4133088"/>
            <a:ext cx="5093208" cy="0"/>
          </a:xfrm>
          <a:prstGeom prst="line">
            <a:avLst/>
          </a:prstGeom>
          <a:ln w="9525">
            <a:solidFill>
              <a:srgbClr val="E2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8" name="TextBox 17437"/>
          <p:cNvSpPr txBox="1"/>
          <p:nvPr/>
        </p:nvSpPr>
        <p:spPr>
          <a:xfrm>
            <a:off x="3429000" y="4187952"/>
            <a:ext cx="5093208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1">
                <a:solidFill>
                  <a:srgbClr val="9A9AB2"/>
                </a:solidFill>
                <a:latin typeface="Calibri"/>
              </a:rPr>
              <a:t>CLIENTS  </a:t>
            </a:r>
            <a:r>
              <a:rPr sz="950" b="0">
                <a:solidFill>
                  <a:srgbClr val="0F1020"/>
                </a:solidFill>
                <a:latin typeface="Calibri"/>
              </a:rPr>
              <a:t>Manager console (React + TS) · Driver app (React Native / Expo, Android) · one login, server-decided role, offline package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850" b="1">
                <a:solidFill>
                  <a:srgbClr val="9A9AB2"/>
                </a:solidFill>
                <a:latin typeface="Calibri"/>
              </a:rPr>
              <a:t>STACK  </a:t>
            </a:r>
            <a:r>
              <a:rPr sz="950" b="0">
                <a:solidFill>
                  <a:srgbClr val="0F1020"/>
                </a:solidFill>
                <a:latin typeface="Calibri"/>
              </a:rPr>
              <a:t>FastAPI · PostgreSQL / PostGIS (Supabase) · React · React Native / Expo · OSRM · OpenStreetMap · Gemini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8686800" y="1097280"/>
            <a:ext cx="3063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A9AB2"/>
                </a:solidFill>
                <a:latin typeface="Calibri"/>
              </a:rPr>
              <a:t>WHO DECIDES</a:t>
            </a:r>
          </a:p>
        </p:txBody>
      </p:sp>
      <p:cxnSp>
        <p:nvCxnSpPr>
          <p:cNvPr id="17440" name="Connector 17439"/>
          <p:cNvCxnSpPr/>
          <p:nvPr/>
        </p:nvCxnSpPr>
        <p:spPr>
          <a:xfrm>
            <a:off x="8686800" y="1353312"/>
            <a:ext cx="3063240" cy="0"/>
          </a:xfrm>
          <a:prstGeom prst="line">
            <a:avLst/>
          </a:prstGeom>
          <a:ln w="19050">
            <a:solidFill>
              <a:srgbClr val="0F1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1" name="Rectangle 17440"/>
          <p:cNvSpPr/>
          <p:nvPr/>
        </p:nvSpPr>
        <p:spPr>
          <a:xfrm>
            <a:off x="8686800" y="1481328"/>
            <a:ext cx="45720" cy="621792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2" name="TextBox 17441"/>
          <p:cNvSpPr txBox="1"/>
          <p:nvPr/>
        </p:nvSpPr>
        <p:spPr>
          <a:xfrm>
            <a:off x="8833104" y="1463040"/>
            <a:ext cx="2916936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F1020"/>
                </a:solidFill>
                <a:latin typeface="Calibri"/>
              </a:rPr>
              <a:t>DETERMINISTIC SAFETY ENGINE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2526B"/>
                </a:solidFill>
                <a:latin typeface="Calibri"/>
              </a:rPr>
              <a:t>makes every operational decision</a:t>
            </a:r>
          </a:p>
        </p:txBody>
      </p:sp>
      <p:sp>
        <p:nvSpPr>
          <p:cNvPr id="17443" name="Rectangle 17442"/>
          <p:cNvSpPr/>
          <p:nvPr/>
        </p:nvSpPr>
        <p:spPr>
          <a:xfrm>
            <a:off x="8686800" y="2322576"/>
            <a:ext cx="45720" cy="62179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4" name="TextBox 17443"/>
          <p:cNvSpPr txBox="1"/>
          <p:nvPr/>
        </p:nvSpPr>
        <p:spPr>
          <a:xfrm>
            <a:off x="8833104" y="2304288"/>
            <a:ext cx="2916936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F1020"/>
                </a:solidFill>
                <a:latin typeface="Calibri"/>
              </a:rPr>
              <a:t>GEMINI / OPENROUTER (LLM)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2526B"/>
                </a:solidFill>
                <a:latin typeface="Calibri"/>
              </a:rPr>
              <a:t>explains the decision in the driver's language — never decides</a:t>
            </a:r>
          </a:p>
        </p:txBody>
      </p:sp>
      <p:sp>
        <p:nvSpPr>
          <p:cNvPr id="17445" name="Rectangle 17444"/>
          <p:cNvSpPr/>
          <p:nvPr/>
        </p:nvSpPr>
        <p:spPr>
          <a:xfrm>
            <a:off x="8686800" y="3163824"/>
            <a:ext cx="45720" cy="621792"/>
          </a:xfrm>
          <a:prstGeom prst="rect">
            <a:avLst/>
          </a:prstGeom>
          <a:solidFill>
            <a:srgbClr val="9A9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6" name="TextBox 17445"/>
          <p:cNvSpPr txBox="1"/>
          <p:nvPr/>
        </p:nvSpPr>
        <p:spPr>
          <a:xfrm>
            <a:off x="8833104" y="3145536"/>
            <a:ext cx="2916936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F1020"/>
                </a:solidFill>
                <a:latin typeface="Calibri"/>
              </a:rPr>
              <a:t>EXPERIMENTAL ML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2526B"/>
                </a:solidFill>
                <a:latin typeface="Calibri"/>
              </a:rPr>
              <a:t>research channel only; held outside routing by the safety gate</a:t>
            </a:r>
          </a:p>
        </p:txBody>
      </p:sp>
      <p:cxnSp>
        <p:nvCxnSpPr>
          <p:cNvPr id="17447" name="Connector 17446"/>
          <p:cNvCxnSpPr/>
          <p:nvPr/>
        </p:nvCxnSpPr>
        <p:spPr>
          <a:xfrm>
            <a:off x="8686800" y="4005072"/>
            <a:ext cx="3063240" cy="0"/>
          </a:xfrm>
          <a:prstGeom prst="line">
            <a:avLst/>
          </a:prstGeom>
          <a:ln w="9525">
            <a:solidFill>
              <a:srgbClr val="E2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8" name="TextBox 17447"/>
          <p:cNvSpPr txBox="1"/>
          <p:nvPr/>
        </p:nvSpPr>
        <p:spPr>
          <a:xfrm>
            <a:off x="8686800" y="4078224"/>
            <a:ext cx="3063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A9AB2"/>
                </a:solidFill>
                <a:latin typeface="Calibri"/>
              </a:rPr>
              <a:t>GOVERNANCE CHAIN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8686800" y="4389120"/>
            <a:ext cx="306324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0F1020"/>
                </a:solidFill>
                <a:latin typeface="Calibri"/>
              </a:rPr>
              <a:t>Verified evidence</a:t>
            </a:r>
          </a:p>
        </p:txBody>
      </p:sp>
      <p:cxnSp>
        <p:nvCxnSpPr>
          <p:cNvPr id="17450" name="Connector 17449"/>
          <p:cNvCxnSpPr/>
          <p:nvPr/>
        </p:nvCxnSpPr>
        <p:spPr>
          <a:xfrm>
            <a:off x="10218420" y="4690872"/>
            <a:ext cx="0" cy="109728"/>
          </a:xfrm>
          <a:prstGeom prst="line">
            <a:avLst/>
          </a:prstGeom>
          <a:ln w="15875">
            <a:solidFill>
              <a:srgbClr val="0F10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1" name="Rounded Rectangle 17450"/>
          <p:cNvSpPr/>
          <p:nvPr/>
        </p:nvSpPr>
        <p:spPr>
          <a:xfrm>
            <a:off x="8686800" y="4809744"/>
            <a:ext cx="306324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0F1020"/>
                </a:solidFill>
                <a:latin typeface="Calibri"/>
              </a:rPr>
              <a:t>Deterministic safety policy</a:t>
            </a:r>
          </a:p>
        </p:txBody>
      </p:sp>
      <p:cxnSp>
        <p:nvCxnSpPr>
          <p:cNvPr id="17452" name="Connector 17451"/>
          <p:cNvCxnSpPr/>
          <p:nvPr/>
        </p:nvCxnSpPr>
        <p:spPr>
          <a:xfrm>
            <a:off x="10218420" y="5111496"/>
            <a:ext cx="0" cy="109728"/>
          </a:xfrm>
          <a:prstGeom prst="line">
            <a:avLst/>
          </a:prstGeom>
          <a:ln w="15875">
            <a:solidFill>
              <a:srgbClr val="0F10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3" name="Rounded Rectangle 17452"/>
          <p:cNvSpPr/>
          <p:nvPr/>
        </p:nvSpPr>
        <p:spPr>
          <a:xfrm>
            <a:off x="8686800" y="5230368"/>
            <a:ext cx="306324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0F1020"/>
                </a:solidFill>
                <a:latin typeface="Calibri"/>
              </a:rPr>
              <a:t>Manager governance</a:t>
            </a:r>
          </a:p>
        </p:txBody>
      </p:sp>
      <p:cxnSp>
        <p:nvCxnSpPr>
          <p:cNvPr id="17454" name="Connector 17453"/>
          <p:cNvCxnSpPr/>
          <p:nvPr/>
        </p:nvCxnSpPr>
        <p:spPr>
          <a:xfrm>
            <a:off x="10218420" y="5532120"/>
            <a:ext cx="0" cy="109728"/>
          </a:xfrm>
          <a:prstGeom prst="line">
            <a:avLst/>
          </a:prstGeom>
          <a:ln w="15875">
            <a:solidFill>
              <a:srgbClr val="0F10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5" name="Rounded Rectangle 17454"/>
          <p:cNvSpPr/>
          <p:nvPr/>
        </p:nvSpPr>
        <p:spPr>
          <a:xfrm>
            <a:off x="8686800" y="5650992"/>
            <a:ext cx="306324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0F1020"/>
                </a:solidFill>
                <a:latin typeface="Calibri"/>
              </a:rPr>
              <a:t>Driver action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F10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097280"/>
            <a:ext cx="2651760" cy="949569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5400" b="1">
                <a:solidFill>
                  <a:srgbClr val="4338CA"/>
                </a:solidFill>
                <a:latin typeface="Calibri"/>
              </a:rPr>
              <a:t>12/12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1991985"/>
            <a:ext cx="26517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0F1020"/>
                </a:solidFill>
                <a:latin typeface="Calibri"/>
              </a:rPr>
              <a:t>JUDGE-FLOW STEPS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57200" y="2248017"/>
            <a:ext cx="26517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2526B"/>
                </a:solidFill>
                <a:latin typeface="Calibri"/>
              </a:rPr>
              <a:t>dispatch → accept → truck check → GPS navigation → real off-route → reroute → manager approval → stops → delivery, on a physical Android phone</a:t>
            </a:r>
          </a:p>
        </p:txBody>
      </p:sp>
      <p:cxnSp>
        <p:nvCxnSpPr>
          <p:cNvPr id="17413" name="Connector 17412"/>
          <p:cNvCxnSpPr/>
          <p:nvPr/>
        </p:nvCxnSpPr>
        <p:spPr>
          <a:xfrm>
            <a:off x="457200" y="3291840"/>
            <a:ext cx="2651760" cy="0"/>
          </a:xfrm>
          <a:prstGeom prst="line">
            <a:avLst/>
          </a:prstGeom>
          <a:ln w="9525">
            <a:solidFill>
              <a:srgbClr val="E2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4" name="TextBox 17413"/>
          <p:cNvSpPr txBox="1"/>
          <p:nvPr/>
        </p:nvSpPr>
        <p:spPr>
          <a:xfrm>
            <a:off x="457200" y="3364992"/>
            <a:ext cx="74980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4338CA"/>
                </a:solidFill>
                <a:latin typeface="Calibri"/>
              </a:rPr>
              <a:t>9/9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1280160" y="3364992"/>
            <a:ext cx="182880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0F1020"/>
                </a:solidFill>
                <a:latin typeface="Calibri"/>
              </a:rPr>
              <a:t>role-flow steps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57200" y="3785615"/>
            <a:ext cx="26517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4338CA"/>
                </a:solidFill>
                <a:latin typeface="Calibri"/>
              </a:rPr>
              <a:t>1138+ </a:t>
            </a:r>
            <a:r>
              <a:rPr sz="950" b="0">
                <a:solidFill>
                  <a:srgbClr val="0F1020"/>
                </a:solidFill>
                <a:latin typeface="Calibri"/>
              </a:rPr>
              <a:t>backend  ·  </a:t>
            </a:r>
            <a:r>
              <a:rPr sz="1200" b="1">
                <a:solidFill>
                  <a:srgbClr val="4338CA"/>
                </a:solidFill>
                <a:latin typeface="Calibri"/>
              </a:rPr>
              <a:t>621+ </a:t>
            </a:r>
            <a:r>
              <a:rPr sz="950" b="0">
                <a:solidFill>
                  <a:srgbClr val="0F1020"/>
                </a:solidFill>
                <a:latin typeface="Calibri"/>
              </a:rPr>
              <a:t>driver  ·  </a:t>
            </a:r>
            <a:r>
              <a:rPr sz="1200" b="1">
                <a:solidFill>
                  <a:srgbClr val="4338CA"/>
                </a:solidFill>
                <a:latin typeface="Calibri"/>
              </a:rPr>
              <a:t>170+ </a:t>
            </a:r>
            <a:r>
              <a:rPr sz="950" b="0">
                <a:solidFill>
                  <a:srgbClr val="0F1020"/>
                </a:solidFill>
                <a:latin typeface="Calibri"/>
              </a:rPr>
              <a:t>manager tests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57200" y="438912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PHYSICAL ANDROID · CERTIFIED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57200" y="4828032"/>
            <a:ext cx="26517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A9AB2"/>
                </a:solidFill>
                <a:latin typeface="Calibri"/>
              </a:rPr>
              <a:t>Canonical demo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0F1020"/>
                </a:solidFill>
                <a:latin typeface="Calibri"/>
              </a:rPr>
              <a:t>Guwahati → Shillong · ≈ 98.8 km real route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383280" y="1097280"/>
            <a:ext cx="836676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0F1020"/>
                </a:solidFill>
                <a:latin typeface="Calibri"/>
              </a:rPr>
              <a:t>Not a concept. A working end-to-end prototype.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383280" y="1499616"/>
            <a:ext cx="566928" cy="292608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PLAN</a:t>
            </a:r>
          </a:p>
        </p:txBody>
      </p:sp>
      <p:cxnSp>
        <p:nvCxnSpPr>
          <p:cNvPr id="17421" name="Connector 17420"/>
          <p:cNvCxnSpPr/>
          <p:nvPr/>
        </p:nvCxnSpPr>
        <p:spPr>
          <a:xfrm>
            <a:off x="3968496" y="1645919"/>
            <a:ext cx="27432" cy="0"/>
          </a:xfrm>
          <a:prstGeom prst="line">
            <a:avLst/>
          </a:prstGeom>
          <a:ln w="15875">
            <a:solidFill>
              <a:srgbClr val="0F10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2" name="Rounded Rectangle 17421"/>
          <p:cNvSpPr/>
          <p:nvPr/>
        </p:nvSpPr>
        <p:spPr>
          <a:xfrm>
            <a:off x="4014216" y="1499616"/>
            <a:ext cx="676656" cy="292608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REVIEW</a:t>
            </a:r>
          </a:p>
        </p:txBody>
      </p:sp>
      <p:cxnSp>
        <p:nvCxnSpPr>
          <p:cNvPr id="17423" name="Connector 17422"/>
          <p:cNvCxnSpPr/>
          <p:nvPr/>
        </p:nvCxnSpPr>
        <p:spPr>
          <a:xfrm>
            <a:off x="4709160" y="1645919"/>
            <a:ext cx="27432" cy="0"/>
          </a:xfrm>
          <a:prstGeom prst="line">
            <a:avLst/>
          </a:prstGeom>
          <a:ln w="15875">
            <a:solidFill>
              <a:srgbClr val="0F10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4" name="Rounded Rectangle 17423"/>
          <p:cNvSpPr/>
          <p:nvPr/>
        </p:nvSpPr>
        <p:spPr>
          <a:xfrm>
            <a:off x="4754880" y="1499616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00" b="1">
                <a:solidFill>
                  <a:srgbClr val="0F1020"/>
                </a:solidFill>
                <a:latin typeface="Calibri"/>
              </a:rPr>
              <a:t>DISPATCH</a:t>
            </a:r>
          </a:p>
        </p:txBody>
      </p:sp>
      <p:cxnSp>
        <p:nvCxnSpPr>
          <p:cNvPr id="17425" name="Connector 17424"/>
          <p:cNvCxnSpPr/>
          <p:nvPr/>
        </p:nvCxnSpPr>
        <p:spPr>
          <a:xfrm>
            <a:off x="5559552" y="1645919"/>
            <a:ext cx="27432" cy="0"/>
          </a:xfrm>
          <a:prstGeom prst="line">
            <a:avLst/>
          </a:prstGeom>
          <a:ln w="15875">
            <a:solidFill>
              <a:srgbClr val="0F10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6" name="Rounded Rectangle 17425"/>
          <p:cNvSpPr/>
          <p:nvPr/>
        </p:nvSpPr>
        <p:spPr>
          <a:xfrm>
            <a:off x="5605272" y="1499616"/>
            <a:ext cx="7132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00" b="1">
                <a:solidFill>
                  <a:srgbClr val="0F1020"/>
                </a:solidFill>
                <a:latin typeface="Calibri"/>
              </a:rPr>
              <a:t>ACCEPT</a:t>
            </a:r>
          </a:p>
        </p:txBody>
      </p:sp>
      <p:cxnSp>
        <p:nvCxnSpPr>
          <p:cNvPr id="17427" name="Connector 17426"/>
          <p:cNvCxnSpPr/>
          <p:nvPr/>
        </p:nvCxnSpPr>
        <p:spPr>
          <a:xfrm>
            <a:off x="6336792" y="1645919"/>
            <a:ext cx="27432" cy="0"/>
          </a:xfrm>
          <a:prstGeom prst="line">
            <a:avLst/>
          </a:prstGeom>
          <a:ln w="15875">
            <a:solidFill>
              <a:srgbClr val="0F10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8" name="Rounded Rectangle 17427"/>
          <p:cNvSpPr/>
          <p:nvPr/>
        </p:nvSpPr>
        <p:spPr>
          <a:xfrm>
            <a:off x="6382512" y="1499616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00" b="1">
                <a:solidFill>
                  <a:srgbClr val="0F1020"/>
                </a:solidFill>
                <a:latin typeface="Calibri"/>
              </a:rPr>
              <a:t>TRUCK VERIFY</a:t>
            </a:r>
          </a:p>
        </p:txBody>
      </p:sp>
      <p:cxnSp>
        <p:nvCxnSpPr>
          <p:cNvPr id="17429" name="Connector 17428"/>
          <p:cNvCxnSpPr/>
          <p:nvPr/>
        </p:nvCxnSpPr>
        <p:spPr>
          <a:xfrm>
            <a:off x="7370064" y="1645919"/>
            <a:ext cx="27432" cy="0"/>
          </a:xfrm>
          <a:prstGeom prst="line">
            <a:avLst/>
          </a:prstGeom>
          <a:ln w="15875">
            <a:solidFill>
              <a:srgbClr val="0F10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0" name="Rounded Rectangle 17429"/>
          <p:cNvSpPr/>
          <p:nvPr/>
        </p:nvSpPr>
        <p:spPr>
          <a:xfrm>
            <a:off x="7415784" y="14996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00" b="1">
                <a:solidFill>
                  <a:srgbClr val="0F1020"/>
                </a:solidFill>
                <a:latin typeface="Calibri"/>
              </a:rPr>
              <a:t>NAVIGATE</a:t>
            </a:r>
          </a:p>
        </p:txBody>
      </p:sp>
      <p:cxnSp>
        <p:nvCxnSpPr>
          <p:cNvPr id="17431" name="Connector 17430"/>
          <p:cNvCxnSpPr/>
          <p:nvPr/>
        </p:nvCxnSpPr>
        <p:spPr>
          <a:xfrm>
            <a:off x="8257032" y="1645919"/>
            <a:ext cx="27432" cy="0"/>
          </a:xfrm>
          <a:prstGeom prst="line">
            <a:avLst/>
          </a:prstGeom>
          <a:ln w="15875">
            <a:solidFill>
              <a:srgbClr val="0F10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2" name="Rounded Rectangle 17431"/>
          <p:cNvSpPr/>
          <p:nvPr/>
        </p:nvSpPr>
        <p:spPr>
          <a:xfrm>
            <a:off x="8302752" y="14996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00" b="1">
                <a:solidFill>
                  <a:srgbClr val="0F1020"/>
                </a:solidFill>
                <a:latin typeface="Calibri"/>
              </a:rPr>
              <a:t>OFF-ROUTE</a:t>
            </a:r>
          </a:p>
        </p:txBody>
      </p:sp>
      <p:cxnSp>
        <p:nvCxnSpPr>
          <p:cNvPr id="17433" name="Connector 17432"/>
          <p:cNvCxnSpPr/>
          <p:nvPr/>
        </p:nvCxnSpPr>
        <p:spPr>
          <a:xfrm>
            <a:off x="9144000" y="1645919"/>
            <a:ext cx="27432" cy="0"/>
          </a:xfrm>
          <a:prstGeom prst="line">
            <a:avLst/>
          </a:prstGeom>
          <a:ln w="15875">
            <a:solidFill>
              <a:srgbClr val="0F10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4" name="Rounded Rectangle 17433"/>
          <p:cNvSpPr/>
          <p:nvPr/>
        </p:nvSpPr>
        <p:spPr>
          <a:xfrm>
            <a:off x="9189720" y="1499616"/>
            <a:ext cx="1609344" cy="292608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MANAGER REROUTE APPROVAL</a:t>
            </a:r>
          </a:p>
        </p:txBody>
      </p:sp>
      <p:cxnSp>
        <p:nvCxnSpPr>
          <p:cNvPr id="17435" name="Connector 17434"/>
          <p:cNvCxnSpPr/>
          <p:nvPr/>
        </p:nvCxnSpPr>
        <p:spPr>
          <a:xfrm>
            <a:off x="10817352" y="1645919"/>
            <a:ext cx="27432" cy="0"/>
          </a:xfrm>
          <a:prstGeom prst="line">
            <a:avLst/>
          </a:prstGeom>
          <a:ln w="15875">
            <a:solidFill>
              <a:srgbClr val="0F10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6" name="Rounded Rectangle 17435"/>
          <p:cNvSpPr/>
          <p:nvPr/>
        </p:nvSpPr>
        <p:spPr>
          <a:xfrm>
            <a:off x="10863072" y="1499616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047857"/>
          </a:solidFill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DELIVERY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3351276" y="1961388"/>
            <a:ext cx="2264283" cy="3264408"/>
          </a:xfrm>
          <a:prstGeom prst="roundRect">
            <a:avLst>
              <a:gd name="adj" fmla="val 2423"/>
            </a:avLst>
          </a:prstGeom>
          <a:solidFill>
            <a:srgbClr val="FFFFFF"/>
          </a:solidFill>
          <a:ln w="9525">
            <a:solidFill>
              <a:srgbClr val="E2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8" name="Picture 17437" descr="mg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993392"/>
            <a:ext cx="2200275" cy="3200400"/>
          </a:xfrm>
          <a:prstGeom prst="rect">
            <a:avLst/>
          </a:prstGeom>
        </p:spPr>
      </p:pic>
      <p:sp>
        <p:nvSpPr>
          <p:cNvPr id="17439" name="Rounded Rectangle 17438"/>
          <p:cNvSpPr/>
          <p:nvPr/>
        </p:nvSpPr>
        <p:spPr>
          <a:xfrm>
            <a:off x="5752719" y="1961388"/>
            <a:ext cx="1505062" cy="3264408"/>
          </a:xfrm>
          <a:prstGeom prst="roundRect">
            <a:avLst>
              <a:gd name="adj" fmla="val 3645"/>
            </a:avLst>
          </a:prstGeom>
          <a:solidFill>
            <a:srgbClr val="FFFFFF"/>
          </a:solidFill>
          <a:ln w="9525">
            <a:solidFill>
              <a:srgbClr val="E2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0" name="Picture 17439" descr="tru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4723" y="1993392"/>
            <a:ext cx="1441054" cy="3200400"/>
          </a:xfrm>
          <a:prstGeom prst="rect">
            <a:avLst/>
          </a:prstGeom>
        </p:spPr>
      </p:pic>
      <p:sp>
        <p:nvSpPr>
          <p:cNvPr id="17441" name="Rounded Rectangle 17440"/>
          <p:cNvSpPr/>
          <p:nvPr/>
        </p:nvSpPr>
        <p:spPr>
          <a:xfrm>
            <a:off x="7394941" y="1961388"/>
            <a:ext cx="1505062" cy="3264408"/>
          </a:xfrm>
          <a:prstGeom prst="roundRect">
            <a:avLst>
              <a:gd name="adj" fmla="val 3645"/>
            </a:avLst>
          </a:prstGeom>
          <a:solidFill>
            <a:srgbClr val="FFFFFF"/>
          </a:solidFill>
          <a:ln w="9525">
            <a:solidFill>
              <a:srgbClr val="E2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2" name="Picture 17441" descr="nav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6945" y="1993392"/>
            <a:ext cx="1441054" cy="3200400"/>
          </a:xfrm>
          <a:prstGeom prst="rect">
            <a:avLst/>
          </a:prstGeom>
        </p:spPr>
      </p:pic>
      <p:sp>
        <p:nvSpPr>
          <p:cNvPr id="17443" name="Rounded Rectangle 17442"/>
          <p:cNvSpPr/>
          <p:nvPr/>
        </p:nvSpPr>
        <p:spPr>
          <a:xfrm>
            <a:off x="9037163" y="1961388"/>
            <a:ext cx="2310251" cy="3264408"/>
          </a:xfrm>
          <a:prstGeom prst="roundRect">
            <a:avLst>
              <a:gd name="adj" fmla="val 2374"/>
            </a:avLst>
          </a:prstGeom>
          <a:solidFill>
            <a:srgbClr val="FFFFFF"/>
          </a:solidFill>
          <a:ln w="9525">
            <a:solidFill>
              <a:srgbClr val="E2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4" name="Picture 17443" descr="revie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69167" y="1993392"/>
            <a:ext cx="2246243" cy="3200400"/>
          </a:xfrm>
          <a:prstGeom prst="rect">
            <a:avLst/>
          </a:prstGeom>
        </p:spPr>
      </p:pic>
      <p:sp>
        <p:nvSpPr>
          <p:cNvPr id="17445" name="TextBox 17444"/>
          <p:cNvSpPr txBox="1"/>
          <p:nvPr/>
        </p:nvSpPr>
        <p:spPr>
          <a:xfrm>
            <a:off x="3383280" y="5248655"/>
            <a:ext cx="2200275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52526B"/>
                </a:solidFill>
                <a:latin typeface="Calibri"/>
              </a:rPr>
              <a:t>Manager · route review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5784723" y="5248655"/>
            <a:ext cx="1441054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52526B"/>
                </a:solidFill>
                <a:latin typeface="Calibri"/>
              </a:rPr>
              <a:t>Driver · truck check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7426945" y="5248655"/>
            <a:ext cx="1441054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52526B"/>
                </a:solidFill>
                <a:latin typeface="Calibri"/>
              </a:rPr>
              <a:t>Driver · navigation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9069167" y="5248655"/>
            <a:ext cx="2246243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52526B"/>
                </a:solidFill>
                <a:latin typeface="Calibri"/>
              </a:rPr>
              <a:t>Manager · reroute review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457200" y="5943600"/>
            <a:ext cx="1129284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9A9AB2"/>
                </a:solidFill>
                <a:latin typeface="Calibri"/>
              </a:rPr>
              <a:t>KNOWN LIMITS → MITIGATION   </a:t>
            </a:r>
            <a:r>
              <a:rPr sz="900" b="0">
                <a:solidFill>
                  <a:srgbClr val="52526B"/>
                </a:solidFill>
                <a:latin typeface="Calibri"/>
              </a:rPr>
              <a:t>Cold start → warm /health first  ·  rate limits → cached evidence + explicit UNKNOWN  ·  push needs Firebase → in-app alerts work  ·  experimental ML → outside routing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F10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115568"/>
            <a:ext cx="2651760" cy="1125415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400" b="1">
                <a:solidFill>
                  <a:srgbClr val="4338CA"/>
                </a:solidFill>
                <a:latin typeface="Calibri"/>
              </a:rPr>
              <a:t>0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2186119"/>
            <a:ext cx="26517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0F1020"/>
                </a:solidFill>
                <a:latin typeface="Calibri"/>
              </a:rPr>
              <a:t>UNKNOWN FACTORS COUNTED AS SAFE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57200" y="2442151"/>
            <a:ext cx="26517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2526B"/>
                </a:solidFill>
                <a:latin typeface="Calibri"/>
              </a:rPr>
              <a:t>the rule the whole product is built on: missing or stale evidence is never read as a clear road</a:t>
            </a:r>
          </a:p>
        </p:txBody>
      </p:sp>
      <p:cxnSp>
        <p:nvCxnSpPr>
          <p:cNvPr id="17413" name="Connector 17412"/>
          <p:cNvCxnSpPr/>
          <p:nvPr/>
        </p:nvCxnSpPr>
        <p:spPr>
          <a:xfrm>
            <a:off x="457200" y="3291840"/>
            <a:ext cx="2651760" cy="0"/>
          </a:xfrm>
          <a:prstGeom prst="line">
            <a:avLst/>
          </a:prstGeom>
          <a:ln w="9525">
            <a:solidFill>
              <a:srgbClr val="E2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4" name="TextBox 17413"/>
          <p:cNvSpPr txBox="1"/>
          <p:nvPr/>
        </p:nvSpPr>
        <p:spPr>
          <a:xfrm>
            <a:off x="457200" y="3364992"/>
            <a:ext cx="26517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047857"/>
                </a:solidFill>
                <a:latin typeface="Calibri"/>
              </a:rPr>
              <a:t>FOOD  ·  MEDICINE  ·  FUEL  ·  RELIEF SUPPLIES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52526B"/>
                </a:solidFill>
                <a:latin typeface="Calibri"/>
              </a:rPr>
              <a:t>essential logistics for hill communities, decided on evidence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383280" y="1097280"/>
            <a:ext cx="5138928" cy="7132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52526B"/>
                </a:solidFill>
                <a:latin typeface="Calibri"/>
              </a:rPr>
              <a:t>RASTA AI does not ask only </a:t>
            </a:r>
            <a:r>
              <a:rPr sz="1500" b="1">
                <a:solidFill>
                  <a:srgbClr val="0F1020"/>
                </a:solidFill>
                <a:latin typeface="Calibri"/>
              </a:rPr>
              <a:t>“Which road is shortest?”</a:t>
            </a:r>
            <a:r>
              <a:rPr sz="1500" b="0">
                <a:solidFill>
                  <a:srgbClr val="52526B"/>
                </a:solidFill>
                <a:latin typeface="Calibri"/>
              </a:rPr>
              <a:t>  It asks  </a:t>
            </a:r>
            <a:r>
              <a:rPr sz="1500" b="1">
                <a:solidFill>
                  <a:srgbClr val="4338CA"/>
                </a:solidFill>
                <a:latin typeface="Calibri"/>
              </a:rPr>
              <a:t>“Can this truck reliably use this corridor now?”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3383280" y="1883664"/>
            <a:ext cx="5138928" cy="0"/>
          </a:xfrm>
          <a:prstGeom prst="line">
            <a:avLst/>
          </a:prstGeom>
          <a:ln w="19050">
            <a:solidFill>
              <a:srgbClr val="0F1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TextBox 17416"/>
          <p:cNvSpPr txBox="1"/>
          <p:nvPr/>
        </p:nvSpPr>
        <p:spPr>
          <a:xfrm>
            <a:off x="3383280" y="1956816"/>
            <a:ext cx="3657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A9AB2"/>
                </a:solidFill>
                <a:latin typeface="Calibri"/>
              </a:rPr>
              <a:t>WHO BENEFITS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3383280" y="2231136"/>
            <a:ext cx="17373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4338CA"/>
                </a:solidFill>
                <a:latin typeface="Calibri"/>
              </a:rPr>
              <a:t>FLEET MANAGERS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5175504" y="2231136"/>
            <a:ext cx="3346704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0F1020"/>
                </a:solidFill>
                <a:latin typeface="Calibri"/>
              </a:rPr>
              <a:t>Usability and uncertainty visible before dispatch. Auditable.</a:t>
            </a:r>
          </a:p>
        </p:txBody>
      </p:sp>
      <p:cxnSp>
        <p:nvCxnSpPr>
          <p:cNvPr id="17420" name="Connector 17419"/>
          <p:cNvCxnSpPr/>
          <p:nvPr/>
        </p:nvCxnSpPr>
        <p:spPr>
          <a:xfrm>
            <a:off x="3383280" y="2542032"/>
            <a:ext cx="5138928" cy="0"/>
          </a:xfrm>
          <a:prstGeom prst="line">
            <a:avLst/>
          </a:prstGeom>
          <a:ln w="9525">
            <a:solidFill>
              <a:srgbClr val="E2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TextBox 17420"/>
          <p:cNvSpPr txBox="1"/>
          <p:nvPr/>
        </p:nvSpPr>
        <p:spPr>
          <a:xfrm>
            <a:off x="3383280" y="2615184"/>
            <a:ext cx="17373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4338CA"/>
                </a:solidFill>
                <a:latin typeface="Calibri"/>
              </a:rPr>
              <a:t>DRIVERS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5175504" y="2615184"/>
            <a:ext cx="3346704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0F1020"/>
                </a:solidFill>
                <a:latin typeface="Calibri"/>
              </a:rPr>
              <a:t>Danger context, emergency support, 23 languages.</a:t>
            </a:r>
          </a:p>
        </p:txBody>
      </p:sp>
      <p:cxnSp>
        <p:nvCxnSpPr>
          <p:cNvPr id="17423" name="Connector 17422"/>
          <p:cNvCxnSpPr/>
          <p:nvPr/>
        </p:nvCxnSpPr>
        <p:spPr>
          <a:xfrm>
            <a:off x="3383280" y="2926079"/>
            <a:ext cx="5138928" cy="0"/>
          </a:xfrm>
          <a:prstGeom prst="line">
            <a:avLst/>
          </a:prstGeom>
          <a:ln w="9525">
            <a:solidFill>
              <a:srgbClr val="E2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4" name="TextBox 17423"/>
          <p:cNvSpPr txBox="1"/>
          <p:nvPr/>
        </p:nvSpPr>
        <p:spPr>
          <a:xfrm>
            <a:off x="3383280" y="2999232"/>
            <a:ext cx="17373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4338CA"/>
                </a:solidFill>
                <a:latin typeface="Calibri"/>
              </a:rPr>
              <a:t>REMOTE COMMUNITIES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5175504" y="2999232"/>
            <a:ext cx="3346704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0F1020"/>
                </a:solidFill>
                <a:latin typeface="Calibri"/>
              </a:rPr>
              <a:t>Resilient access to food, medicine, fuel, relief.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3383280" y="3310127"/>
            <a:ext cx="5138928" cy="0"/>
          </a:xfrm>
          <a:prstGeom prst="line">
            <a:avLst/>
          </a:prstGeom>
          <a:ln w="9525">
            <a:solidFill>
              <a:srgbClr val="E2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TextBox 17426"/>
          <p:cNvSpPr txBox="1"/>
          <p:nvPr/>
        </p:nvSpPr>
        <p:spPr>
          <a:xfrm>
            <a:off x="3383280" y="3383279"/>
            <a:ext cx="17373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4338CA"/>
                </a:solidFill>
                <a:latin typeface="Calibri"/>
              </a:rPr>
              <a:t>GOVERNMENT / OPS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5175504" y="3383279"/>
            <a:ext cx="3346704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0F1020"/>
                </a:solidFill>
                <a:latin typeface="Calibri"/>
              </a:rPr>
              <a:t>Auditable evidence and disruption per corridor.</a:t>
            </a:r>
          </a:p>
        </p:txBody>
      </p:sp>
      <p:cxnSp>
        <p:nvCxnSpPr>
          <p:cNvPr id="17429" name="Connector 17428"/>
          <p:cNvCxnSpPr/>
          <p:nvPr/>
        </p:nvCxnSpPr>
        <p:spPr>
          <a:xfrm>
            <a:off x="3383280" y="3694176"/>
            <a:ext cx="5138928" cy="0"/>
          </a:xfrm>
          <a:prstGeom prst="line">
            <a:avLst/>
          </a:prstGeom>
          <a:ln w="9525">
            <a:solidFill>
              <a:srgbClr val="E2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0" name="TextBox 17429"/>
          <p:cNvSpPr txBox="1"/>
          <p:nvPr/>
        </p:nvSpPr>
        <p:spPr>
          <a:xfrm>
            <a:off x="3383280" y="3822191"/>
            <a:ext cx="3657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A9AB2"/>
                </a:solidFill>
                <a:latin typeface="Calibri"/>
              </a:rPr>
              <a:t>DEMONSTRATED TODAY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3383280" y="4078224"/>
            <a:ext cx="585216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4338CA"/>
                </a:solidFill>
                <a:latin typeface="Calibri"/>
              </a:rPr>
              <a:t>23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4041648" y="4078224"/>
            <a:ext cx="190195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F1020"/>
                </a:solidFill>
                <a:latin typeface="Calibri"/>
              </a:rPr>
              <a:t>selectable languages, explicit fallback status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3383280" y="4425696"/>
            <a:ext cx="585216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4338CA"/>
                </a:solidFill>
                <a:latin typeface="Calibri"/>
              </a:rPr>
              <a:t>11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4041648" y="4425696"/>
            <a:ext cx="190195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F1020"/>
                </a:solidFill>
                <a:latin typeface="Calibri"/>
              </a:rPr>
              <a:t>route factors in every decision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3383280" y="4773168"/>
            <a:ext cx="585216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4338CA"/>
                </a:solidFill>
                <a:latin typeface="Calibri"/>
              </a:rPr>
              <a:t>60 s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4041648" y="4773168"/>
            <a:ext cx="190195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F1020"/>
                </a:solidFill>
                <a:latin typeface="Calibri"/>
              </a:rPr>
              <a:t>route-ahead monitor while driving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5998464" y="4078224"/>
            <a:ext cx="585216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4338CA"/>
                </a:solidFill>
                <a:latin typeface="Calibri"/>
              </a:rPr>
              <a:t>12/12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6656832" y="4078224"/>
            <a:ext cx="190195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F1020"/>
                </a:solidFill>
                <a:latin typeface="Calibri"/>
              </a:rPr>
              <a:t>judge-flow steps certified on a physical phone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5998464" y="4425696"/>
            <a:ext cx="585216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4338CA"/>
                </a:solidFill>
                <a:latin typeface="Calibri"/>
              </a:rPr>
              <a:t>100 %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6656832" y="4425696"/>
            <a:ext cx="190195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0F1020"/>
                </a:solidFill>
                <a:latin typeface="Calibri"/>
              </a:rPr>
              <a:t>of reroutes reviewed by a human</a:t>
            </a:r>
          </a:p>
        </p:txBody>
      </p:sp>
      <p:cxnSp>
        <p:nvCxnSpPr>
          <p:cNvPr id="17441" name="Connector 17440"/>
          <p:cNvCxnSpPr/>
          <p:nvPr/>
        </p:nvCxnSpPr>
        <p:spPr>
          <a:xfrm>
            <a:off x="457200" y="5431536"/>
            <a:ext cx="8065008" cy="0"/>
          </a:xfrm>
          <a:prstGeom prst="line">
            <a:avLst/>
          </a:prstGeom>
          <a:ln w="19050">
            <a:solidFill>
              <a:srgbClr val="0F1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2" name="TextBox 17441"/>
          <p:cNvSpPr txBox="1"/>
          <p:nvPr/>
        </p:nvSpPr>
        <p:spPr>
          <a:xfrm>
            <a:off x="457200" y="5486400"/>
            <a:ext cx="8065008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9A9AB2"/>
                </a:solidFill>
                <a:latin typeface="Calibri"/>
              </a:rPr>
              <a:t>HUMAN GOVERNANCE — AI HAS NO UNCONTROLLED AUTHORITY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457200" y="5760720"/>
            <a:ext cx="1865376" cy="310896"/>
          </a:xfrm>
          <a:prstGeom prst="roundRect">
            <a:avLst>
              <a:gd name="adj" fmla="val 50000"/>
            </a:avLst>
          </a:prstGeom>
          <a:solidFill>
            <a:srgbClr val="0F1020"/>
          </a:solidFill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Verified evidence</a:t>
            </a:r>
          </a:p>
        </p:txBody>
      </p:sp>
      <p:cxnSp>
        <p:nvCxnSpPr>
          <p:cNvPr id="17444" name="Connector 17443"/>
          <p:cNvCxnSpPr/>
          <p:nvPr/>
        </p:nvCxnSpPr>
        <p:spPr>
          <a:xfrm>
            <a:off x="2340864" y="5916168"/>
            <a:ext cx="164592" cy="0"/>
          </a:xfrm>
          <a:prstGeom prst="line">
            <a:avLst/>
          </a:prstGeom>
          <a:ln w="15875">
            <a:solidFill>
              <a:srgbClr val="0F10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5" name="Rounded Rectangle 17444"/>
          <p:cNvSpPr/>
          <p:nvPr/>
        </p:nvSpPr>
        <p:spPr>
          <a:xfrm>
            <a:off x="2523744" y="5760720"/>
            <a:ext cx="186537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0F1020"/>
                </a:solidFill>
                <a:latin typeface="Calibri"/>
              </a:rPr>
              <a:t>Deterministic safety policy</a:t>
            </a:r>
          </a:p>
        </p:txBody>
      </p:sp>
      <p:cxnSp>
        <p:nvCxnSpPr>
          <p:cNvPr id="17446" name="Connector 17445"/>
          <p:cNvCxnSpPr/>
          <p:nvPr/>
        </p:nvCxnSpPr>
        <p:spPr>
          <a:xfrm>
            <a:off x="4407408" y="5916168"/>
            <a:ext cx="164592" cy="0"/>
          </a:xfrm>
          <a:prstGeom prst="line">
            <a:avLst/>
          </a:prstGeom>
          <a:ln w="15875">
            <a:solidFill>
              <a:srgbClr val="0F10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7" name="Rounded Rectangle 17446"/>
          <p:cNvSpPr/>
          <p:nvPr/>
        </p:nvSpPr>
        <p:spPr>
          <a:xfrm>
            <a:off x="4590288" y="5760720"/>
            <a:ext cx="186537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0F1020"/>
                </a:solidFill>
                <a:latin typeface="Calibri"/>
              </a:rPr>
              <a:t>Manager governance</a:t>
            </a:r>
          </a:p>
        </p:txBody>
      </p:sp>
      <p:cxnSp>
        <p:nvCxnSpPr>
          <p:cNvPr id="17448" name="Connector 17447"/>
          <p:cNvCxnSpPr/>
          <p:nvPr/>
        </p:nvCxnSpPr>
        <p:spPr>
          <a:xfrm>
            <a:off x="6473952" y="5916168"/>
            <a:ext cx="164592" cy="0"/>
          </a:xfrm>
          <a:prstGeom prst="line">
            <a:avLst/>
          </a:prstGeom>
          <a:ln w="15875">
            <a:solidFill>
              <a:srgbClr val="0F10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9" name="Rounded Rectangle 17448"/>
          <p:cNvSpPr/>
          <p:nvPr/>
        </p:nvSpPr>
        <p:spPr>
          <a:xfrm>
            <a:off x="6656832" y="5760720"/>
            <a:ext cx="186537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0F1020"/>
                </a:solidFill>
                <a:latin typeface="Calibri"/>
              </a:rPr>
              <a:t>Driver action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8686800" y="1097280"/>
            <a:ext cx="3063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A9AB2"/>
                </a:solidFill>
                <a:latin typeface="Calibri"/>
              </a:rPr>
              <a:t>REAL SCREENS · APK 1.0.18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8654796" y="1376172"/>
            <a:ext cx="1687324" cy="2350008"/>
          </a:xfrm>
          <a:prstGeom prst="roundRect">
            <a:avLst>
              <a:gd name="adj" fmla="val 3251"/>
            </a:avLst>
          </a:prstGeom>
          <a:solidFill>
            <a:srgbClr val="FFFFFF"/>
          </a:solidFill>
          <a:ln w="9525">
            <a:solidFill>
              <a:srgbClr val="E2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2" name="Picture 17451" descr="la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408176"/>
            <a:ext cx="1623316" cy="2286000"/>
          </a:xfrm>
          <a:prstGeom prst="rect">
            <a:avLst/>
          </a:prstGeom>
        </p:spPr>
      </p:pic>
      <p:sp>
        <p:nvSpPr>
          <p:cNvPr id="17453" name="Rounded Rectangle 17452"/>
          <p:cNvSpPr/>
          <p:nvPr/>
        </p:nvSpPr>
        <p:spPr>
          <a:xfrm>
            <a:off x="10424416" y="1376172"/>
            <a:ext cx="1142181" cy="2350008"/>
          </a:xfrm>
          <a:prstGeom prst="roundRect">
            <a:avLst>
              <a:gd name="adj" fmla="val 4803"/>
            </a:avLst>
          </a:prstGeom>
          <a:solidFill>
            <a:srgbClr val="FFFFFF"/>
          </a:solidFill>
          <a:ln w="9525">
            <a:solidFill>
              <a:srgbClr val="E2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4" name="Picture 17453" descr="mob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6420" y="1408176"/>
            <a:ext cx="1078173" cy="2286000"/>
          </a:xfrm>
          <a:prstGeom prst="rect">
            <a:avLst/>
          </a:prstGeom>
        </p:spPr>
      </p:pic>
      <p:sp>
        <p:nvSpPr>
          <p:cNvPr id="17455" name="TextBox 17454"/>
          <p:cNvSpPr txBox="1"/>
          <p:nvPr/>
        </p:nvSpPr>
        <p:spPr>
          <a:xfrm>
            <a:off x="8686800" y="3767328"/>
            <a:ext cx="1623316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2526B"/>
                </a:solidFill>
                <a:latin typeface="Calibri"/>
              </a:rPr>
              <a:t>Driver · 23 languages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10456420" y="3767328"/>
            <a:ext cx="1078173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2526B"/>
                </a:solidFill>
                <a:latin typeface="Calibri"/>
              </a:rPr>
              <a:t>Manager · mobile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8686800" y="4114800"/>
            <a:ext cx="3063240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2526B"/>
                </a:solidFill>
                <a:latin typeface="Calibri"/>
              </a:rPr>
              <a:t>APK 1.0.18. One login, server-decided role. Every language shows its status — Verified, Draft or English fallback.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0F10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115568"/>
            <a:ext cx="2743200" cy="1125415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400" b="1">
                <a:solidFill>
                  <a:srgbClr val="4338CA"/>
                </a:solidFill>
                <a:latin typeface="Calibri"/>
              </a:rPr>
              <a:t>95 %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2186119"/>
            <a:ext cx="274320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0F1020"/>
                </a:solidFill>
                <a:latin typeface="Calibri"/>
              </a:rPr>
              <a:t>RECALL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57200" y="2442151"/>
            <a:ext cx="27432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2526B"/>
                </a:solidFill>
                <a:latin typeface="Calibri"/>
              </a:rPr>
              <a:t>NER geographic holdout · 154 events · no NER row in training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57200" y="3291840"/>
            <a:ext cx="2743200" cy="786384"/>
          </a:xfrm>
          <a:prstGeom prst="roundRect">
            <a:avLst>
              <a:gd name="adj" fmla="val 6976"/>
            </a:avLst>
          </a:prstGeom>
          <a:solidFill>
            <a:srgbClr val="0F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457200" y="3346704"/>
            <a:ext cx="2743200" cy="6949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A9AB2"/>
                </a:solidFill>
                <a:latin typeface="Calibri"/>
              </a:rPr>
              <a:t>SAFETY GATE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NOT DEPLOYED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57200" y="4169663"/>
            <a:ext cx="27432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BE123C"/>
                </a:solidFill>
                <a:latin typeface="Calibri"/>
              </a:rPr>
              <a:t>FPR 50 %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52526B"/>
                </a:solidFill>
                <a:latin typeface="Calibri"/>
              </a:rPr>
              <a:t>too high for production deployment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57200" y="4754880"/>
            <a:ext cx="27432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4338CA"/>
                </a:solidFill>
                <a:latin typeface="Calibri"/>
              </a:rPr>
              <a:t>VALIDATION BEFORE AUTOMATION.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0F1020"/>
                </a:solidFill>
                <a:latin typeface="Calibri"/>
              </a:rPr>
              <a:t>Recall was not enough. Held-out testing exposed the false-positive rate. The gate keeps it out of routing.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520440" y="1097280"/>
            <a:ext cx="8211312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9A9AB2"/>
                </a:solidFill>
                <a:latin typeface="Calibri"/>
              </a:rPr>
              <a:t>RESEARCH / EVIDENCE SOURCES BEHIND THE ROUTE DECISION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3520440" y="1353312"/>
            <a:ext cx="8211312" cy="0"/>
          </a:xfrm>
          <a:prstGeom prst="line">
            <a:avLst/>
          </a:prstGeom>
          <a:ln w="19050">
            <a:solidFill>
              <a:srgbClr val="0F1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TextBox 17418"/>
          <p:cNvSpPr txBox="1"/>
          <p:nvPr/>
        </p:nvSpPr>
        <p:spPr>
          <a:xfrm>
            <a:off x="3520440" y="1463040"/>
            <a:ext cx="3986784" cy="104241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4338CA"/>
                </a:solidFill>
                <a:latin typeface="Calibri"/>
              </a:rPr>
              <a:t>ROUTING / PLACES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F1020"/>
                </a:solidFill>
                <a:latin typeface="Calibri"/>
              </a:rPr>
              <a:t>OSRM · OpenStreetMap · Nominatim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52526B"/>
                </a:solidFill>
                <a:latin typeface="Calibri"/>
              </a:rPr>
              <a:t>Road geometry, alternatives, turn steps.</a:t>
            </a:r>
          </a:p>
        </p:txBody>
      </p:sp>
      <p:cxnSp>
        <p:nvCxnSpPr>
          <p:cNvPr id="17420" name="Connector 17419"/>
          <p:cNvCxnSpPr/>
          <p:nvPr/>
        </p:nvCxnSpPr>
        <p:spPr>
          <a:xfrm>
            <a:off x="3520440" y="2542032"/>
            <a:ext cx="3986784" cy="0"/>
          </a:xfrm>
          <a:prstGeom prst="line">
            <a:avLst/>
          </a:prstGeom>
          <a:ln w="9525">
            <a:solidFill>
              <a:srgbClr val="E2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TextBox 17420"/>
          <p:cNvSpPr txBox="1"/>
          <p:nvPr/>
        </p:nvSpPr>
        <p:spPr>
          <a:xfrm>
            <a:off x="7744968" y="1463040"/>
            <a:ext cx="3986784" cy="104241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4338CA"/>
                </a:solidFill>
                <a:latin typeface="Calibri"/>
              </a:rPr>
              <a:t>WEATHER / TERRAIN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F1020"/>
                </a:solidFill>
                <a:latin typeface="Calibri"/>
              </a:rPr>
              <a:t>Open-Meteo · MET Norway · Copernicus DEM · OpenTopoData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52526B"/>
                </a:solidFill>
                <a:latin typeface="Calibri"/>
              </a:rPr>
              <a:t>Forecast along the road; climb, gradient, steep segments.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7744968" y="2542032"/>
            <a:ext cx="3986784" cy="0"/>
          </a:xfrm>
          <a:prstGeom prst="line">
            <a:avLst/>
          </a:prstGeom>
          <a:ln w="9525">
            <a:solidFill>
              <a:srgbClr val="E2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TextBox 17422"/>
          <p:cNvSpPr txBox="1"/>
          <p:nvPr/>
        </p:nvSpPr>
        <p:spPr>
          <a:xfrm>
            <a:off x="3520440" y="2670048"/>
            <a:ext cx="3986784" cy="104241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4338CA"/>
                </a:solidFill>
                <a:latin typeface="Calibri"/>
              </a:rPr>
              <a:t>OFFICIAL / FLOOD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F1020"/>
                </a:solidFill>
                <a:latin typeface="Calibri"/>
              </a:rPr>
              <a:t>NDMA SACHET (CAP) · Copernicus GloFAS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52526B"/>
                </a:solidFill>
                <a:latin typeface="Calibri"/>
              </a:rPr>
              <a:t>Official warnings with freshness; discharge vs 30-day mean.</a:t>
            </a:r>
          </a:p>
        </p:txBody>
      </p:sp>
      <p:cxnSp>
        <p:nvCxnSpPr>
          <p:cNvPr id="17424" name="Connector 17423"/>
          <p:cNvCxnSpPr/>
          <p:nvPr/>
        </p:nvCxnSpPr>
        <p:spPr>
          <a:xfrm>
            <a:off x="3520440" y="3749039"/>
            <a:ext cx="3986784" cy="0"/>
          </a:xfrm>
          <a:prstGeom prst="line">
            <a:avLst/>
          </a:prstGeom>
          <a:ln w="9525">
            <a:solidFill>
              <a:srgbClr val="E2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5" name="TextBox 17424"/>
          <p:cNvSpPr txBox="1"/>
          <p:nvPr/>
        </p:nvSpPr>
        <p:spPr>
          <a:xfrm>
            <a:off x="7744968" y="2670048"/>
            <a:ext cx="3986784" cy="104241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4338CA"/>
                </a:solidFill>
                <a:latin typeface="Calibri"/>
              </a:rPr>
              <a:t>LANDSLIDE HISTORY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F1020"/>
                </a:solidFill>
                <a:latin typeface="Calibri"/>
              </a:rPr>
              <a:t>NASA Global Landslide Catalog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52526B"/>
                </a:solidFill>
                <a:latin typeface="Calibri"/>
              </a:rPr>
              <a:t>Historical exposure, 2007–2017, ≤5 km accuracy.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7744968" y="3749039"/>
            <a:ext cx="3986784" cy="0"/>
          </a:xfrm>
          <a:prstGeom prst="line">
            <a:avLst/>
          </a:prstGeom>
          <a:ln w="9525">
            <a:solidFill>
              <a:srgbClr val="E2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TextBox 17426"/>
          <p:cNvSpPr txBox="1"/>
          <p:nvPr/>
        </p:nvSpPr>
        <p:spPr>
          <a:xfrm>
            <a:off x="3520440" y="3877056"/>
            <a:ext cx="3986784" cy="104241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4338CA"/>
                </a:solidFill>
                <a:latin typeface="Calibri"/>
              </a:rPr>
              <a:t>AI ASSISTANCE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F1020"/>
                </a:solidFill>
                <a:latin typeface="Calibri"/>
              </a:rPr>
              <a:t>Google Gemini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52526B"/>
                </a:solidFill>
                <a:latin typeface="Calibri"/>
              </a:rPr>
              <a:t>Explains in the driver's language. Never safety authority.</a:t>
            </a:r>
          </a:p>
        </p:txBody>
      </p:sp>
      <p:cxnSp>
        <p:nvCxnSpPr>
          <p:cNvPr id="17428" name="Connector 17427"/>
          <p:cNvCxnSpPr/>
          <p:nvPr/>
        </p:nvCxnSpPr>
        <p:spPr>
          <a:xfrm>
            <a:off x="3520440" y="4956048"/>
            <a:ext cx="3986784" cy="0"/>
          </a:xfrm>
          <a:prstGeom prst="line">
            <a:avLst/>
          </a:prstGeom>
          <a:ln w="9525">
            <a:solidFill>
              <a:srgbClr val="E2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9" name="TextBox 17428"/>
          <p:cNvSpPr txBox="1"/>
          <p:nvPr/>
        </p:nvSpPr>
        <p:spPr>
          <a:xfrm>
            <a:off x="7744968" y="3877056"/>
            <a:ext cx="3986784" cy="104241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4338CA"/>
                </a:solidFill>
                <a:latin typeface="Calibri"/>
              </a:rPr>
              <a:t>PROBLEM STATEMENT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F1020"/>
                </a:solidFill>
                <a:latin typeface="Calibri"/>
              </a:rPr>
              <a:t>MDoNER · SIH26002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52526B"/>
                </a:solidFill>
                <a:latin typeface="Calibri"/>
              </a:rPr>
              <a:t>Smart logistics and accessibility intelligence for the NER.</a:t>
            </a:r>
          </a:p>
        </p:txBody>
      </p:sp>
      <p:cxnSp>
        <p:nvCxnSpPr>
          <p:cNvPr id="17430" name="Connector 17429"/>
          <p:cNvCxnSpPr/>
          <p:nvPr/>
        </p:nvCxnSpPr>
        <p:spPr>
          <a:xfrm>
            <a:off x="7744968" y="4956048"/>
            <a:ext cx="3986784" cy="0"/>
          </a:xfrm>
          <a:prstGeom prst="line">
            <a:avLst/>
          </a:prstGeom>
          <a:ln w="9525">
            <a:solidFill>
              <a:srgbClr val="E2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1" name="Rounded Rectangle 17430"/>
          <p:cNvSpPr/>
          <p:nvPr/>
        </p:nvSpPr>
        <p:spPr>
          <a:xfrm>
            <a:off x="3520440" y="5138928"/>
            <a:ext cx="76809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F1020"/>
                </a:solidFill>
                <a:latin typeface="Calibri"/>
              </a:rPr>
              <a:t>TRAIN</a:t>
            </a:r>
          </a:p>
        </p:txBody>
      </p:sp>
      <p:cxnSp>
        <p:nvCxnSpPr>
          <p:cNvPr id="17432" name="Connector 17431"/>
          <p:cNvCxnSpPr/>
          <p:nvPr/>
        </p:nvCxnSpPr>
        <p:spPr>
          <a:xfrm>
            <a:off x="4306824" y="5266944"/>
            <a:ext cx="27432" cy="0"/>
          </a:xfrm>
          <a:prstGeom prst="line">
            <a:avLst/>
          </a:prstGeom>
          <a:ln w="15875">
            <a:solidFill>
              <a:srgbClr val="0F10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3" name="Rounded Rectangle 17432"/>
          <p:cNvSpPr/>
          <p:nvPr/>
        </p:nvSpPr>
        <p:spPr>
          <a:xfrm>
            <a:off x="4352544" y="5138928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F1020"/>
                </a:solidFill>
                <a:latin typeface="Calibri"/>
              </a:rPr>
              <a:t>HELD-OUT NER TEST</a:t>
            </a:r>
          </a:p>
        </p:txBody>
      </p:sp>
      <p:cxnSp>
        <p:nvCxnSpPr>
          <p:cNvPr id="17434" name="Connector 17433"/>
          <p:cNvCxnSpPr/>
          <p:nvPr/>
        </p:nvCxnSpPr>
        <p:spPr>
          <a:xfrm>
            <a:off x="5833871" y="5266944"/>
            <a:ext cx="27433" cy="0"/>
          </a:xfrm>
          <a:prstGeom prst="line">
            <a:avLst/>
          </a:prstGeom>
          <a:ln w="15875">
            <a:solidFill>
              <a:srgbClr val="0F10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5" name="Rounded Rectangle 17434"/>
          <p:cNvSpPr/>
          <p:nvPr/>
        </p:nvSpPr>
        <p:spPr>
          <a:xfrm>
            <a:off x="5879592" y="5138928"/>
            <a:ext cx="16093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F1020"/>
                </a:solidFill>
                <a:latin typeface="Calibri"/>
              </a:rPr>
              <a:t>USEFUL SIGNAL FOUND</a:t>
            </a:r>
          </a:p>
        </p:txBody>
      </p:sp>
      <p:cxnSp>
        <p:nvCxnSpPr>
          <p:cNvPr id="17436" name="Connector 17435"/>
          <p:cNvCxnSpPr/>
          <p:nvPr/>
        </p:nvCxnSpPr>
        <p:spPr>
          <a:xfrm>
            <a:off x="7507223" y="5266944"/>
            <a:ext cx="27433" cy="0"/>
          </a:xfrm>
          <a:prstGeom prst="line">
            <a:avLst/>
          </a:prstGeom>
          <a:ln w="15875">
            <a:solidFill>
              <a:srgbClr val="0F10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7" name="Rounded Rectangle 17436"/>
          <p:cNvSpPr/>
          <p:nvPr/>
        </p:nvSpPr>
        <p:spPr>
          <a:xfrm>
            <a:off x="7552944" y="5138928"/>
            <a:ext cx="177393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F1020"/>
                </a:solidFill>
                <a:latin typeface="Calibri"/>
              </a:rPr>
              <a:t>FALSE POSITIVES TOO HIGH</a:t>
            </a:r>
          </a:p>
        </p:txBody>
      </p:sp>
      <p:cxnSp>
        <p:nvCxnSpPr>
          <p:cNvPr id="17438" name="Connector 17437"/>
          <p:cNvCxnSpPr/>
          <p:nvPr/>
        </p:nvCxnSpPr>
        <p:spPr>
          <a:xfrm>
            <a:off x="9345167" y="5266944"/>
            <a:ext cx="27433" cy="0"/>
          </a:xfrm>
          <a:prstGeom prst="line">
            <a:avLst/>
          </a:prstGeom>
          <a:ln w="15875">
            <a:solidFill>
              <a:srgbClr val="0F10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ounded Rectangle 17438"/>
          <p:cNvSpPr/>
          <p:nvPr/>
        </p:nvSpPr>
        <p:spPr>
          <a:xfrm>
            <a:off x="9390888" y="5138928"/>
            <a:ext cx="98755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F1020"/>
                </a:solidFill>
                <a:latin typeface="Calibri"/>
              </a:rPr>
              <a:t>SAFETY GATE</a:t>
            </a:r>
          </a:p>
        </p:txBody>
      </p:sp>
      <p:cxnSp>
        <p:nvCxnSpPr>
          <p:cNvPr id="17440" name="Connector 17439"/>
          <p:cNvCxnSpPr/>
          <p:nvPr/>
        </p:nvCxnSpPr>
        <p:spPr>
          <a:xfrm>
            <a:off x="10396728" y="5266944"/>
            <a:ext cx="27432" cy="0"/>
          </a:xfrm>
          <a:prstGeom prst="line">
            <a:avLst/>
          </a:prstGeom>
          <a:ln w="15875">
            <a:solidFill>
              <a:srgbClr val="0F10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1" name="Rounded Rectangle 17440"/>
          <p:cNvSpPr/>
          <p:nvPr/>
        </p:nvSpPr>
        <p:spPr>
          <a:xfrm>
            <a:off x="10442448" y="5138928"/>
            <a:ext cx="11338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0F1020"/>
                </a:solidFill>
                <a:latin typeface="Calibri"/>
              </a:rPr>
              <a:t>NOT DEPLOYED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3520440" y="5486400"/>
            <a:ext cx="821131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52526B"/>
                </a:solidFill>
                <a:latin typeface="Calibri"/>
              </a:rPr>
              <a:t>Precision 0.32 · F1 0.48 · PR-AUC 0.55 · ROC-AUC 0.83 · Brier 0.12  —  calibrated logistic regression, NASA GLC + ERA5-Land rain + DEM slope</a:t>
            </a:r>
          </a:p>
        </p:txBody>
      </p:sp>
      <p:cxnSp>
        <p:nvCxnSpPr>
          <p:cNvPr id="17443" name="Connector 17442"/>
          <p:cNvCxnSpPr/>
          <p:nvPr/>
        </p:nvCxnSpPr>
        <p:spPr>
          <a:xfrm>
            <a:off x="457200" y="5852160"/>
            <a:ext cx="11292840" cy="0"/>
          </a:xfrm>
          <a:prstGeom prst="line">
            <a:avLst/>
          </a:prstGeom>
          <a:ln w="9525">
            <a:solidFill>
              <a:srgbClr val="E2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4" name="TextBox 17443"/>
          <p:cNvSpPr txBox="1"/>
          <p:nvPr/>
        </p:nvSpPr>
        <p:spPr>
          <a:xfrm>
            <a:off x="457200" y="5907024"/>
            <a:ext cx="11292840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9A9AB2"/>
                </a:solidFill>
                <a:latin typeface="Calibri"/>
              </a:rPr>
              <a:t>REFERENCES   </a:t>
            </a:r>
            <a:r>
              <a:rPr sz="850" b="0">
                <a:solidFill>
                  <a:srgbClr val="52526B"/>
                </a:solidFill>
                <a:latin typeface="Calibri"/>
              </a:rPr>
              <a:t>gpm.nasa.gov/landslides  ·  sachet.ndma.gov.in  ·  global-flood.emergency.copernicus.eu  ·  open-meteo.com  ·  api.met.no  ·  opentopodata.org  ·  project-osrm.org  ·  openstreetmap.org  ·  github.com/nxtlucifer/ner-ai-logistics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RASTA AI — SIH26002 — Team NER-AI LOGISTICS (17)</dc:title>
  <dc:subject>AI-Based Smart Logistics and Accessibility Intelligence Platform for North Eastern Region (NER)</dc:subject>
  <dc:creator>NER-AI LOGISTICS</dc:creator>
  <cp:keywords>SIH26002, SIH 2026, RASTA AI, NER logistics, route intelligence</cp:keywords>
  <dc:description/>
  <cp:lastModifiedBy>NER-AI LOGISTICS</cp:lastModifiedBy>
  <cp:revision>148</cp:revision>
  <dcterms:created xsi:type="dcterms:W3CDTF">2013-12-12T18:46:50Z</dcterms:created>
  <dcterms:modified xsi:type="dcterms:W3CDTF">2026-06-02T09:29:39Z</dcterms:modified>
  <cp:category>Smart India Hackathon 2026 — Smart Automation — Software</cp:category>
</cp:coreProperties>
</file>