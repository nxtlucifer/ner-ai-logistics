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274320" y="111556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4320" y="171907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4320" y="2322576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4320" y="292608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4320" y="352958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4320" y="413308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4320" y="473659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4320" y="5340096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4320" y="594360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74320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77824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81328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084832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88336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91840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95344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498848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02352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705856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309360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912864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16368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119872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723376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326880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930384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533888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137392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1740896" y="1115568"/>
            <a:ext cx="0" cy="5239512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57200" y="1170432"/>
            <a:ext cx="612648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7" name="Connector 66"/>
          <p:cNvCxnSpPr/>
          <p:nvPr/>
        </p:nvCxnSpPr>
        <p:spPr>
          <a:xfrm>
            <a:off x="457200" y="117043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7200" y="1170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455664" y="117043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583680" y="1170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7200" y="318211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57200" y="305409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455664" y="318211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583680" y="305409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48640" y="1225296"/>
            <a:ext cx="5943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FIG.1  SYSTEM IDENTITY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" y="1426464"/>
            <a:ext cx="5760720" cy="60350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C1A26"/>
                </a:solidFill>
                <a:latin typeface="Arial"/>
              </a:rPr>
              <a:t>RASTA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2029968"/>
            <a:ext cx="576072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4A5C6A"/>
                </a:solidFill>
                <a:latin typeface="Arial"/>
              </a:rPr>
              <a:t>Route Intelligence for Essential-Supply Logistics in North Eastern India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" y="2432304"/>
            <a:ext cx="1737360" cy="475488"/>
          </a:xfrm>
          <a:prstGeom prst="rect">
            <a:avLst/>
          </a:prstGeom>
          <a:solidFill>
            <a:srgbClr val="0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SIH26002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87168" y="2450592"/>
            <a:ext cx="393192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8C9CA8"/>
                </a:solidFill>
                <a:latin typeface="Courier New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C1A26"/>
                </a:solidFill>
                <a:latin typeface="Arial"/>
              </a:rPr>
              <a:t>MDoNER · Smart Automation · Software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310128"/>
            <a:ext cx="6126480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1" name="Connector 80"/>
          <p:cNvCxnSpPr/>
          <p:nvPr/>
        </p:nvCxnSpPr>
        <p:spPr>
          <a:xfrm>
            <a:off x="457200" y="331012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57200" y="331012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455664" y="331012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583680" y="331012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57200" y="510235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57200" y="497433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455664" y="510235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583680" y="497433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48640" y="3364992"/>
            <a:ext cx="5943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FIG.2  SUBMISSION RECORD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1792" y="3639312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0B4F8A"/>
                </a:solidFill>
                <a:latin typeface="Courier New"/>
              </a:rPr>
              <a:t>PS TITLE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31136" y="3593592"/>
            <a:ext cx="4206240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C1A26"/>
                </a:solidFill>
                <a:latin typeface="Arial"/>
              </a:rPr>
              <a:t>AI-Based Smart Logistics and Accessibility Intelligence Platform for North Eastern Region (NER)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1792" y="4078223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0B4F8A"/>
                </a:solidFill>
                <a:latin typeface="Courier New"/>
              </a:rPr>
              <a:t>THEME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31136" y="4032503"/>
            <a:ext cx="4206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C1A26"/>
                </a:solidFill>
                <a:latin typeface="Arial"/>
              </a:rPr>
              <a:t>Smart Automation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" y="4352543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0B4F8A"/>
                </a:solidFill>
                <a:latin typeface="Courier New"/>
              </a:rPr>
              <a:t>PS CATEGORY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31136" y="4306823"/>
            <a:ext cx="4206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0C1A26"/>
                </a:solidFill>
                <a:latin typeface="Arial"/>
              </a:rPr>
              <a:t>Software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1792" y="4626863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0B4F8A"/>
                </a:solidFill>
                <a:latin typeface="Courier New"/>
              </a:rPr>
              <a:t>TEAM ID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31136" y="4581143"/>
            <a:ext cx="4206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C1A26"/>
                </a:solidFill>
                <a:latin typeface="Arial"/>
              </a:rPr>
              <a:t>17  (internal group no.)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1792" y="4901183"/>
            <a:ext cx="15544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1">
                <a:solidFill>
                  <a:srgbClr val="0B4F8A"/>
                </a:solidFill>
                <a:latin typeface="Courier New"/>
              </a:rPr>
              <a:t>TEAM NAME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31136" y="4855463"/>
            <a:ext cx="420624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C1A26"/>
                </a:solidFill>
                <a:latin typeface="Arial"/>
              </a:rPr>
              <a:t>NER-AI LOGISTICS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" y="5230368"/>
            <a:ext cx="6126480" cy="1097280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1" name="Connector 100"/>
          <p:cNvCxnSpPr/>
          <p:nvPr/>
        </p:nvCxnSpPr>
        <p:spPr>
          <a:xfrm>
            <a:off x="457200" y="523036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57200" y="5230368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455664" y="523036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6583680" y="5230368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57200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45720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455664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58368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48640" y="5285231"/>
            <a:ext cx="594360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FIG.3  DESIGN PREMISE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1792" y="5504688"/>
            <a:ext cx="57607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C1A26"/>
                </a:solidFill>
                <a:latin typeface="Arial"/>
              </a:rPr>
              <a:t>SHORTEST IS NOT ALWAYS USABLE.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1792" y="5870448"/>
            <a:ext cx="5760720" cy="2926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B4F8A"/>
                </a:solidFill>
                <a:latin typeface="Arial"/>
              </a:rPr>
              <a:t>“Can this essential-supply truck reliably use this corridor now?”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1792" y="6144768"/>
            <a:ext cx="57607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Arial"/>
              </a:rPr>
              <a:t>End-to-end working prototype · physical-phone validated · live demo corridor Guwahati → Shillong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12280" y="1170432"/>
            <a:ext cx="4937760" cy="5157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4" name="Connector 113"/>
          <p:cNvCxnSpPr/>
          <p:nvPr/>
        </p:nvCxnSpPr>
        <p:spPr>
          <a:xfrm>
            <a:off x="6812280" y="117043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812280" y="1170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1622024" y="117043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1750040" y="1170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812280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81228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11622024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175004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903720" y="1225296"/>
            <a:ext cx="47548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FIG.4  AS BUILT — MANAGER + DRIVER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935724" y="2345436"/>
            <a:ext cx="2402586" cy="3465576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4" name="Picture 123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377440"/>
            <a:ext cx="2338578" cy="3401568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9496044" y="1668780"/>
            <a:ext cx="1900323" cy="4142232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6" name="Picture 125" descr="na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1700784"/>
            <a:ext cx="1836315" cy="407822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6967728" y="5888736"/>
            <a:ext cx="46634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REAL SCREENS / NO MOCK-UPS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5362" name="Connector 15361"/>
          <p:cNvCxnSpPr/>
          <p:nvPr/>
        </p:nvCxnSpPr>
        <p:spPr>
          <a:xfrm>
            <a:off x="274320" y="109728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3" name="Connector 15362"/>
          <p:cNvCxnSpPr/>
          <p:nvPr/>
        </p:nvCxnSpPr>
        <p:spPr>
          <a:xfrm>
            <a:off x="274320" y="170078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4" name="Connector 15363"/>
          <p:cNvCxnSpPr/>
          <p:nvPr/>
        </p:nvCxnSpPr>
        <p:spPr>
          <a:xfrm>
            <a:off x="274320" y="230428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5" name="Connector 15364"/>
          <p:cNvCxnSpPr/>
          <p:nvPr/>
        </p:nvCxnSpPr>
        <p:spPr>
          <a:xfrm>
            <a:off x="274320" y="290779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6" name="Connector 15365"/>
          <p:cNvCxnSpPr/>
          <p:nvPr/>
        </p:nvCxnSpPr>
        <p:spPr>
          <a:xfrm>
            <a:off x="274320" y="3511296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7" name="Connector 15366"/>
          <p:cNvCxnSpPr/>
          <p:nvPr/>
        </p:nvCxnSpPr>
        <p:spPr>
          <a:xfrm>
            <a:off x="274320" y="411480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8" name="Connector 15367"/>
          <p:cNvCxnSpPr/>
          <p:nvPr/>
        </p:nvCxnSpPr>
        <p:spPr>
          <a:xfrm>
            <a:off x="274320" y="471830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69" name="Connector 15368"/>
          <p:cNvCxnSpPr/>
          <p:nvPr/>
        </p:nvCxnSpPr>
        <p:spPr>
          <a:xfrm>
            <a:off x="274320" y="532180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0" name="Connector 15369"/>
          <p:cNvCxnSpPr/>
          <p:nvPr/>
        </p:nvCxnSpPr>
        <p:spPr>
          <a:xfrm>
            <a:off x="274320" y="592531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1" name="Connector 15370"/>
          <p:cNvCxnSpPr/>
          <p:nvPr/>
        </p:nvCxnSpPr>
        <p:spPr>
          <a:xfrm>
            <a:off x="27432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2" name="Connector 15371"/>
          <p:cNvCxnSpPr/>
          <p:nvPr/>
        </p:nvCxnSpPr>
        <p:spPr>
          <a:xfrm>
            <a:off x="87782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3" name="Connector 15372"/>
          <p:cNvCxnSpPr/>
          <p:nvPr/>
        </p:nvCxnSpPr>
        <p:spPr>
          <a:xfrm>
            <a:off x="148132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4" name="Connector 15373"/>
          <p:cNvCxnSpPr/>
          <p:nvPr/>
        </p:nvCxnSpPr>
        <p:spPr>
          <a:xfrm>
            <a:off x="208483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5" name="Connector 15374"/>
          <p:cNvCxnSpPr/>
          <p:nvPr/>
        </p:nvCxnSpPr>
        <p:spPr>
          <a:xfrm>
            <a:off x="268833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6" name="Connector 15375"/>
          <p:cNvCxnSpPr/>
          <p:nvPr/>
        </p:nvCxnSpPr>
        <p:spPr>
          <a:xfrm>
            <a:off x="329184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7" name="Connector 15376"/>
          <p:cNvCxnSpPr/>
          <p:nvPr/>
        </p:nvCxnSpPr>
        <p:spPr>
          <a:xfrm>
            <a:off x="389534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8" name="Connector 15377"/>
          <p:cNvCxnSpPr/>
          <p:nvPr/>
        </p:nvCxnSpPr>
        <p:spPr>
          <a:xfrm>
            <a:off x="449884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9" name="Connector 15378"/>
          <p:cNvCxnSpPr/>
          <p:nvPr/>
        </p:nvCxnSpPr>
        <p:spPr>
          <a:xfrm>
            <a:off x="510235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0" name="Connector 15379"/>
          <p:cNvCxnSpPr/>
          <p:nvPr/>
        </p:nvCxnSpPr>
        <p:spPr>
          <a:xfrm>
            <a:off x="570585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1" name="Connector 15380"/>
          <p:cNvCxnSpPr/>
          <p:nvPr/>
        </p:nvCxnSpPr>
        <p:spPr>
          <a:xfrm>
            <a:off x="630936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>
            <a:off x="691286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751636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4" name="Connector 15383"/>
          <p:cNvCxnSpPr/>
          <p:nvPr/>
        </p:nvCxnSpPr>
        <p:spPr>
          <a:xfrm>
            <a:off x="811987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5" name="Connector 15384"/>
          <p:cNvCxnSpPr/>
          <p:nvPr/>
        </p:nvCxnSpPr>
        <p:spPr>
          <a:xfrm>
            <a:off x="872337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6" name="Connector 15385"/>
          <p:cNvCxnSpPr/>
          <p:nvPr/>
        </p:nvCxnSpPr>
        <p:spPr>
          <a:xfrm>
            <a:off x="932688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7" name="Connector 15386"/>
          <p:cNvCxnSpPr/>
          <p:nvPr/>
        </p:nvCxnSpPr>
        <p:spPr>
          <a:xfrm>
            <a:off x="993038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8" name="Connector 15387"/>
          <p:cNvCxnSpPr/>
          <p:nvPr/>
        </p:nvCxnSpPr>
        <p:spPr>
          <a:xfrm>
            <a:off x="1053388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9" name="Connector 15388"/>
          <p:cNvCxnSpPr/>
          <p:nvPr/>
        </p:nvCxnSpPr>
        <p:spPr>
          <a:xfrm>
            <a:off x="1113739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0" name="Connector 15389"/>
          <p:cNvCxnSpPr/>
          <p:nvPr/>
        </p:nvCxnSpPr>
        <p:spPr>
          <a:xfrm>
            <a:off x="1174089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TextBox 15390"/>
          <p:cNvSpPr txBox="1"/>
          <p:nvPr/>
        </p:nvSpPr>
        <p:spPr>
          <a:xfrm>
            <a:off x="457200" y="1133856"/>
            <a:ext cx="8065008" cy="7863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C1A26"/>
                </a:solidFill>
                <a:latin typeface="Arial"/>
              </a:rPr>
              <a:t>Not the shortest road. </a:t>
            </a:r>
            <a:r>
              <a:rPr sz="2200" b="1">
                <a:solidFill>
                  <a:srgbClr val="0B4F8A"/>
                </a:solidFill>
                <a:latin typeface="Arial"/>
              </a:rPr>
              <a:t>The road that is operationally usable now.</a:t>
            </a:r>
          </a:p>
        </p:txBody>
      </p:sp>
      <p:sp>
        <p:nvSpPr>
          <p:cNvPr id="15392" name="Rectangle 15391"/>
          <p:cNvSpPr/>
          <p:nvPr/>
        </p:nvSpPr>
        <p:spPr>
          <a:xfrm>
            <a:off x="411480" y="1975104"/>
            <a:ext cx="2432304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393" name="Connector 15392"/>
          <p:cNvCxnSpPr/>
          <p:nvPr/>
        </p:nvCxnSpPr>
        <p:spPr>
          <a:xfrm>
            <a:off x="411480" y="197510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4" name="Connector 15393"/>
          <p:cNvCxnSpPr/>
          <p:nvPr/>
        </p:nvCxnSpPr>
        <p:spPr>
          <a:xfrm>
            <a:off x="411480" y="1975104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5" name="Connector 15394"/>
          <p:cNvCxnSpPr/>
          <p:nvPr/>
        </p:nvCxnSpPr>
        <p:spPr>
          <a:xfrm>
            <a:off x="2715768" y="197510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6" name="Connector 15395"/>
          <p:cNvCxnSpPr/>
          <p:nvPr/>
        </p:nvCxnSpPr>
        <p:spPr>
          <a:xfrm>
            <a:off x="2843784" y="1975104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7" name="Connector 15396"/>
          <p:cNvCxnSpPr/>
          <p:nvPr/>
        </p:nvCxnSpPr>
        <p:spPr>
          <a:xfrm>
            <a:off x="411480" y="389534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8" name="Connector 15397"/>
          <p:cNvCxnSpPr/>
          <p:nvPr/>
        </p:nvCxnSpPr>
        <p:spPr>
          <a:xfrm>
            <a:off x="411480" y="376732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9" name="Connector 15398"/>
          <p:cNvCxnSpPr/>
          <p:nvPr/>
        </p:nvCxnSpPr>
        <p:spPr>
          <a:xfrm>
            <a:off x="2715768" y="389534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0" name="Connector 15399"/>
          <p:cNvCxnSpPr/>
          <p:nvPr/>
        </p:nvCxnSpPr>
        <p:spPr>
          <a:xfrm>
            <a:off x="2843784" y="376732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1" name="TextBox 15400"/>
          <p:cNvSpPr txBox="1"/>
          <p:nvPr/>
        </p:nvSpPr>
        <p:spPr>
          <a:xfrm>
            <a:off x="502920" y="2029968"/>
            <a:ext cx="2249424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FIG.1  BASELINE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566928" y="2286000"/>
            <a:ext cx="2121408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4A5C6A"/>
                </a:solidFill>
                <a:latin typeface="Arial"/>
              </a:rPr>
              <a:t>Origin</a:t>
            </a:r>
          </a:p>
        </p:txBody>
      </p:sp>
      <p:cxnSp>
        <p:nvCxnSpPr>
          <p:cNvPr id="15403" name="Connector 15402"/>
          <p:cNvCxnSpPr/>
          <p:nvPr/>
        </p:nvCxnSpPr>
        <p:spPr>
          <a:xfrm>
            <a:off x="1627631" y="2569463"/>
            <a:ext cx="0" cy="182881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4" name="Rounded Rectangle 15403"/>
          <p:cNvSpPr/>
          <p:nvPr/>
        </p:nvSpPr>
        <p:spPr>
          <a:xfrm>
            <a:off x="566928" y="2761488"/>
            <a:ext cx="2121408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4A5C6A"/>
                </a:solidFill>
                <a:latin typeface="Arial"/>
              </a:rPr>
              <a:t>Shortest / fastest road</a:t>
            </a:r>
          </a:p>
        </p:txBody>
      </p:sp>
      <p:cxnSp>
        <p:nvCxnSpPr>
          <p:cNvPr id="15405" name="Connector 15404"/>
          <p:cNvCxnSpPr/>
          <p:nvPr/>
        </p:nvCxnSpPr>
        <p:spPr>
          <a:xfrm>
            <a:off x="1627631" y="3044951"/>
            <a:ext cx="0" cy="182881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6" name="Rounded Rectangle 15405"/>
          <p:cNvSpPr/>
          <p:nvPr/>
        </p:nvSpPr>
        <p:spPr>
          <a:xfrm>
            <a:off x="566928" y="3236976"/>
            <a:ext cx="2121408" cy="27432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4A5C6A"/>
                </a:solidFill>
                <a:latin typeface="Arial"/>
              </a:rPr>
              <a:t>Truck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566928" y="3602736"/>
            <a:ext cx="212140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8C9CA8"/>
                </a:solidFill>
                <a:latin typeface="Arial"/>
              </a:rPr>
              <a:t>No governance. No answer when data is missing.</a:t>
            </a:r>
          </a:p>
        </p:txBody>
      </p:sp>
      <p:sp>
        <p:nvSpPr>
          <p:cNvPr id="15408" name="Rectangle 15407"/>
          <p:cNvSpPr/>
          <p:nvPr/>
        </p:nvSpPr>
        <p:spPr>
          <a:xfrm>
            <a:off x="2962656" y="1975104"/>
            <a:ext cx="5559552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409" name="Connector 15408"/>
          <p:cNvCxnSpPr/>
          <p:nvPr/>
        </p:nvCxnSpPr>
        <p:spPr>
          <a:xfrm>
            <a:off x="2962656" y="197510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0" name="Connector 15409"/>
          <p:cNvCxnSpPr/>
          <p:nvPr/>
        </p:nvCxnSpPr>
        <p:spPr>
          <a:xfrm>
            <a:off x="2962656" y="1975104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1" name="Connector 15410"/>
          <p:cNvCxnSpPr/>
          <p:nvPr/>
        </p:nvCxnSpPr>
        <p:spPr>
          <a:xfrm>
            <a:off x="8394192" y="197510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2" name="Connector 15411"/>
          <p:cNvCxnSpPr/>
          <p:nvPr/>
        </p:nvCxnSpPr>
        <p:spPr>
          <a:xfrm>
            <a:off x="8522208" y="1975104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3" name="Connector 15412"/>
          <p:cNvCxnSpPr/>
          <p:nvPr/>
        </p:nvCxnSpPr>
        <p:spPr>
          <a:xfrm>
            <a:off x="2962656" y="389534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4" name="Connector 15413"/>
          <p:cNvCxnSpPr/>
          <p:nvPr/>
        </p:nvCxnSpPr>
        <p:spPr>
          <a:xfrm>
            <a:off x="2962656" y="376732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5" name="Connector 15414"/>
          <p:cNvCxnSpPr/>
          <p:nvPr/>
        </p:nvCxnSpPr>
        <p:spPr>
          <a:xfrm>
            <a:off x="8394192" y="389534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6" name="Connector 15415"/>
          <p:cNvCxnSpPr/>
          <p:nvPr/>
        </p:nvCxnSpPr>
        <p:spPr>
          <a:xfrm>
            <a:off x="8522208" y="376732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17" name="TextBox 15416"/>
          <p:cNvSpPr txBox="1"/>
          <p:nvPr/>
        </p:nvSpPr>
        <p:spPr>
          <a:xfrm>
            <a:off x="3054096" y="2029968"/>
            <a:ext cx="5376672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FIG.2  RASTA AI — EVIDENCE PATH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3127248" y="2249424"/>
            <a:ext cx="523036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C1A26"/>
                </a:solidFill>
                <a:latin typeface="Arial"/>
              </a:rPr>
              <a:t>Origin → real OSRM route → route-specific evidence → policy → decision</a:t>
            </a:r>
          </a:p>
        </p:txBody>
      </p:sp>
      <p:sp>
        <p:nvSpPr>
          <p:cNvPr id="15419" name="Rectangle 15418"/>
          <p:cNvSpPr/>
          <p:nvPr/>
        </p:nvSpPr>
        <p:spPr>
          <a:xfrm>
            <a:off x="3127248" y="2542032"/>
            <a:ext cx="768096" cy="219456"/>
          </a:xfrm>
          <a:prstGeom prst="rect">
            <a:avLst/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0C1A26"/>
                </a:solidFill>
                <a:latin typeface="Arial"/>
              </a:rPr>
              <a:t>Terrain</a:t>
            </a:r>
          </a:p>
        </p:txBody>
      </p:sp>
      <p:sp>
        <p:nvSpPr>
          <p:cNvPr id="15420" name="Rectangle 15419"/>
          <p:cNvSpPr/>
          <p:nvPr/>
        </p:nvSpPr>
        <p:spPr>
          <a:xfrm>
            <a:off x="3959352" y="2542032"/>
            <a:ext cx="768096" cy="219456"/>
          </a:xfrm>
          <a:prstGeom prst="rect">
            <a:avLst/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0C1A26"/>
                </a:solidFill>
                <a:latin typeface="Arial"/>
              </a:rPr>
              <a:t>Weather</a:t>
            </a:r>
          </a:p>
        </p:txBody>
      </p:sp>
      <p:sp>
        <p:nvSpPr>
          <p:cNvPr id="15421" name="Rectangle 15420"/>
          <p:cNvSpPr/>
          <p:nvPr/>
        </p:nvSpPr>
        <p:spPr>
          <a:xfrm>
            <a:off x="4791456" y="2542032"/>
            <a:ext cx="1225296" cy="219456"/>
          </a:xfrm>
          <a:prstGeom prst="rect">
            <a:avLst/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0C1A26"/>
                </a:solidFill>
                <a:latin typeface="Arial"/>
              </a:rPr>
              <a:t>Landslide exposure</a:t>
            </a:r>
          </a:p>
        </p:txBody>
      </p:sp>
      <p:sp>
        <p:nvSpPr>
          <p:cNvPr id="15422" name="Rectangle 15421"/>
          <p:cNvSpPr/>
          <p:nvPr/>
        </p:nvSpPr>
        <p:spPr>
          <a:xfrm>
            <a:off x="6080760" y="2542032"/>
            <a:ext cx="987552" cy="219456"/>
          </a:xfrm>
          <a:prstGeom prst="rect">
            <a:avLst/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0C1A26"/>
                </a:solidFill>
                <a:latin typeface="Arial"/>
              </a:rPr>
              <a:t>Flood context</a:t>
            </a:r>
          </a:p>
        </p:txBody>
      </p:sp>
      <p:sp>
        <p:nvSpPr>
          <p:cNvPr id="15423" name="Rectangle 15422"/>
          <p:cNvSpPr/>
          <p:nvPr/>
        </p:nvSpPr>
        <p:spPr>
          <a:xfrm>
            <a:off x="7132320" y="2542032"/>
            <a:ext cx="1133856" cy="219456"/>
          </a:xfrm>
          <a:prstGeom prst="rect">
            <a:avLst/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0C1A26"/>
                </a:solidFill>
                <a:latin typeface="Arial"/>
              </a:rPr>
              <a:t>Official warnings</a:t>
            </a:r>
          </a:p>
        </p:txBody>
      </p:sp>
      <p:sp>
        <p:nvSpPr>
          <p:cNvPr id="15424" name="Rectangle 15423"/>
          <p:cNvSpPr/>
          <p:nvPr/>
        </p:nvSpPr>
        <p:spPr>
          <a:xfrm>
            <a:off x="3127248" y="2798064"/>
            <a:ext cx="896112" cy="219456"/>
          </a:xfrm>
          <a:prstGeom prst="rect">
            <a:avLst/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0C1A26"/>
                </a:solidFill>
                <a:latin typeface="Arial"/>
              </a:rPr>
              <a:t>Fleet traffic</a:t>
            </a:r>
          </a:p>
        </p:txBody>
      </p:sp>
      <p:sp>
        <p:nvSpPr>
          <p:cNvPr id="15425" name="Rectangle 15424"/>
          <p:cNvSpPr/>
          <p:nvPr/>
        </p:nvSpPr>
        <p:spPr>
          <a:xfrm>
            <a:off x="4087368" y="2798064"/>
            <a:ext cx="1225296" cy="219456"/>
          </a:xfrm>
          <a:prstGeom prst="rect">
            <a:avLst/>
          </a:prstGeom>
          <a:noFill/>
          <a:ln w="9525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0">
                <a:solidFill>
                  <a:srgbClr val="0C1A26"/>
                </a:solidFill>
                <a:latin typeface="Arial"/>
              </a:rPr>
              <a:t>Evidence freshness</a:t>
            </a:r>
          </a:p>
        </p:txBody>
      </p:sp>
      <p:sp>
        <p:nvSpPr>
          <p:cNvPr id="15426" name="Rectangle 15425"/>
          <p:cNvSpPr/>
          <p:nvPr/>
        </p:nvSpPr>
        <p:spPr>
          <a:xfrm>
            <a:off x="3127248" y="3127248"/>
            <a:ext cx="1239012" cy="2926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CONTINUE</a:t>
            </a:r>
          </a:p>
        </p:txBody>
      </p:sp>
      <p:sp>
        <p:nvSpPr>
          <p:cNvPr id="15427" name="Rectangle 15426"/>
          <p:cNvSpPr/>
          <p:nvPr/>
        </p:nvSpPr>
        <p:spPr>
          <a:xfrm>
            <a:off x="4457700" y="3127248"/>
            <a:ext cx="1239012" cy="29260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CAUTION</a:t>
            </a:r>
          </a:p>
        </p:txBody>
      </p:sp>
      <p:sp>
        <p:nvSpPr>
          <p:cNvPr id="15428" name="Rectangle 15427"/>
          <p:cNvSpPr/>
          <p:nvPr/>
        </p:nvSpPr>
        <p:spPr>
          <a:xfrm>
            <a:off x="5788152" y="3127248"/>
            <a:ext cx="1239012" cy="292608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HOLD</a:t>
            </a:r>
          </a:p>
        </p:txBody>
      </p:sp>
      <p:sp>
        <p:nvSpPr>
          <p:cNvPr id="15429" name="Rectangle 15428"/>
          <p:cNvSpPr/>
          <p:nvPr/>
        </p:nvSpPr>
        <p:spPr>
          <a:xfrm>
            <a:off x="7118604" y="3127248"/>
            <a:ext cx="1239012" cy="292608"/>
          </a:xfrm>
          <a:prstGeom prst="rect">
            <a:avLst/>
          </a:prstGeom>
          <a:solidFill>
            <a:srgbClr val="0C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REROUTE</a:t>
            </a:r>
          </a:p>
        </p:txBody>
      </p:sp>
      <p:sp>
        <p:nvSpPr>
          <p:cNvPr id="15430" name="TextBox 15429"/>
          <p:cNvSpPr txBox="1"/>
          <p:nvPr/>
        </p:nvSpPr>
        <p:spPr>
          <a:xfrm>
            <a:off x="3127248" y="3474720"/>
            <a:ext cx="523036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0C1A26"/>
                </a:solidFill>
                <a:latin typeface="Arial"/>
              </a:rPr>
              <a:t>Manager governance → driver navigation, 23 languages, offline package</a:t>
            </a:r>
          </a:p>
        </p:txBody>
      </p:sp>
      <p:sp>
        <p:nvSpPr>
          <p:cNvPr id="15431" name="Rectangle 15430"/>
          <p:cNvSpPr/>
          <p:nvPr/>
        </p:nvSpPr>
        <p:spPr>
          <a:xfrm>
            <a:off x="411480" y="4023360"/>
            <a:ext cx="8110727" cy="1170432"/>
          </a:xfrm>
          <a:prstGeom prst="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432" name="Connector 15431"/>
          <p:cNvCxnSpPr/>
          <p:nvPr/>
        </p:nvCxnSpPr>
        <p:spPr>
          <a:xfrm>
            <a:off x="411480" y="402336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3" name="Connector 15432"/>
          <p:cNvCxnSpPr/>
          <p:nvPr/>
        </p:nvCxnSpPr>
        <p:spPr>
          <a:xfrm>
            <a:off x="411480" y="402336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4" name="Connector 15433"/>
          <p:cNvCxnSpPr/>
          <p:nvPr/>
        </p:nvCxnSpPr>
        <p:spPr>
          <a:xfrm>
            <a:off x="8394191" y="402336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5" name="Connector 15434"/>
          <p:cNvCxnSpPr/>
          <p:nvPr/>
        </p:nvCxnSpPr>
        <p:spPr>
          <a:xfrm>
            <a:off x="8522207" y="402336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6" name="Connector 15435"/>
          <p:cNvCxnSpPr/>
          <p:nvPr/>
        </p:nvCxnSpPr>
        <p:spPr>
          <a:xfrm>
            <a:off x="411480" y="519379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7" name="Connector 15436"/>
          <p:cNvCxnSpPr/>
          <p:nvPr/>
        </p:nvCxnSpPr>
        <p:spPr>
          <a:xfrm>
            <a:off x="411480" y="50657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8" name="Connector 15437"/>
          <p:cNvCxnSpPr/>
          <p:nvPr/>
        </p:nvCxnSpPr>
        <p:spPr>
          <a:xfrm>
            <a:off x="8394191" y="519379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39" name="Connector 15438"/>
          <p:cNvCxnSpPr/>
          <p:nvPr/>
        </p:nvCxnSpPr>
        <p:spPr>
          <a:xfrm>
            <a:off x="8522207" y="50657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0" name="TextBox 15439"/>
          <p:cNvSpPr txBox="1"/>
          <p:nvPr/>
        </p:nvSpPr>
        <p:spPr>
          <a:xfrm>
            <a:off x="502920" y="4078224"/>
            <a:ext cx="792784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FIG.3  THE INVARIANT</a:t>
            </a:r>
          </a:p>
        </p:txBody>
      </p:sp>
      <p:sp>
        <p:nvSpPr>
          <p:cNvPr id="15441" name="TextBox 15440"/>
          <p:cNvSpPr txBox="1"/>
          <p:nvPr/>
        </p:nvSpPr>
        <p:spPr>
          <a:xfrm>
            <a:off x="566928" y="4315968"/>
            <a:ext cx="22860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9F1239"/>
                </a:solidFill>
                <a:latin typeface="Arial"/>
              </a:rPr>
              <a:t>UNKNOWN ≠ SAFE</a:t>
            </a:r>
          </a:p>
        </p:txBody>
      </p:sp>
      <p:sp>
        <p:nvSpPr>
          <p:cNvPr id="15442" name="TextBox 15441"/>
          <p:cNvSpPr txBox="1"/>
          <p:nvPr/>
        </p:nvSpPr>
        <p:spPr>
          <a:xfrm>
            <a:off x="2962656" y="4334256"/>
            <a:ext cx="53949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0C1A26"/>
                </a:solidFill>
                <a:latin typeface="Arial"/>
              </a:rPr>
              <a:t>Missing or stale evidence is marked UNKNOWN — never safe — and goes to an authorised reviewer.</a:t>
            </a:r>
          </a:p>
        </p:txBody>
      </p:sp>
      <p:sp>
        <p:nvSpPr>
          <p:cNvPr id="15443" name="Rectangle 15442"/>
          <p:cNvSpPr/>
          <p:nvPr/>
        </p:nvSpPr>
        <p:spPr>
          <a:xfrm>
            <a:off x="411480" y="5321808"/>
            <a:ext cx="8110727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444" name="Connector 15443"/>
          <p:cNvCxnSpPr/>
          <p:nvPr/>
        </p:nvCxnSpPr>
        <p:spPr>
          <a:xfrm>
            <a:off x="411480" y="532180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5" name="Connector 15444"/>
          <p:cNvCxnSpPr/>
          <p:nvPr/>
        </p:nvCxnSpPr>
        <p:spPr>
          <a:xfrm>
            <a:off x="411480" y="532180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6" name="Connector 15445"/>
          <p:cNvCxnSpPr/>
          <p:nvPr/>
        </p:nvCxnSpPr>
        <p:spPr>
          <a:xfrm>
            <a:off x="8394191" y="532180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7" name="Connector 15446"/>
          <p:cNvCxnSpPr/>
          <p:nvPr/>
        </p:nvCxnSpPr>
        <p:spPr>
          <a:xfrm>
            <a:off x="8522207" y="532180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8" name="Connector 15447"/>
          <p:cNvCxnSpPr/>
          <p:nvPr/>
        </p:nvCxnSpPr>
        <p:spPr>
          <a:xfrm>
            <a:off x="411480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49" name="Connector 15448"/>
          <p:cNvCxnSpPr/>
          <p:nvPr/>
        </p:nvCxnSpPr>
        <p:spPr>
          <a:xfrm>
            <a:off x="41148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0" name="Connector 15449"/>
          <p:cNvCxnSpPr/>
          <p:nvPr/>
        </p:nvCxnSpPr>
        <p:spPr>
          <a:xfrm>
            <a:off x="8394191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1" name="Connector 15450"/>
          <p:cNvCxnSpPr/>
          <p:nvPr/>
        </p:nvCxnSpPr>
        <p:spPr>
          <a:xfrm>
            <a:off x="8522207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52" name="TextBox 15451"/>
          <p:cNvSpPr txBox="1"/>
          <p:nvPr/>
        </p:nvSpPr>
        <p:spPr>
          <a:xfrm>
            <a:off x="502920" y="5376672"/>
            <a:ext cx="792784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FIG.4  PROBLEM CONTEXT</a:t>
            </a:r>
          </a:p>
        </p:txBody>
      </p:sp>
      <p:sp>
        <p:nvSpPr>
          <p:cNvPr id="15453" name="TextBox 15452"/>
          <p:cNvSpPr txBox="1"/>
          <p:nvPr/>
        </p:nvSpPr>
        <p:spPr>
          <a:xfrm>
            <a:off x="566928" y="5614416"/>
            <a:ext cx="7772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A5C6A"/>
                </a:solidFill>
                <a:latin typeface="Arial"/>
              </a:rPr>
              <a:t>Monsoon · landslides · floods · official warnings · single-lane hill roads · no signal.  </a:t>
            </a:r>
            <a:r>
              <a:rPr sz="1000" b="1">
                <a:solidFill>
                  <a:srgbClr val="9F1239"/>
                </a:solidFill>
                <a:latin typeface="Arial"/>
              </a:rPr>
              <a:t>A shortest-path router still sends the truck.</a:t>
            </a:r>
          </a:p>
        </p:txBody>
      </p:sp>
      <p:sp>
        <p:nvSpPr>
          <p:cNvPr id="15454" name="Rectangle 15453"/>
          <p:cNvSpPr/>
          <p:nvPr/>
        </p:nvSpPr>
        <p:spPr>
          <a:xfrm>
            <a:off x="8686800" y="1097280"/>
            <a:ext cx="3090672" cy="5230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455" name="Connector 15454"/>
          <p:cNvCxnSpPr/>
          <p:nvPr/>
        </p:nvCxnSpPr>
        <p:spPr>
          <a:xfrm>
            <a:off x="8686800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6" name="Connector 15455"/>
          <p:cNvCxnSpPr/>
          <p:nvPr/>
        </p:nvCxnSpPr>
        <p:spPr>
          <a:xfrm>
            <a:off x="8686800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7" name="Connector 15456"/>
          <p:cNvCxnSpPr/>
          <p:nvPr/>
        </p:nvCxnSpPr>
        <p:spPr>
          <a:xfrm>
            <a:off x="11649455" y="1097280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8" name="Connector 15457"/>
          <p:cNvCxnSpPr/>
          <p:nvPr/>
        </p:nvCxnSpPr>
        <p:spPr>
          <a:xfrm>
            <a:off x="11777472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59" name="Connector 15458"/>
          <p:cNvCxnSpPr/>
          <p:nvPr/>
        </p:nvCxnSpPr>
        <p:spPr>
          <a:xfrm>
            <a:off x="8686800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60" name="Connector 15459"/>
          <p:cNvCxnSpPr/>
          <p:nvPr/>
        </p:nvCxnSpPr>
        <p:spPr>
          <a:xfrm>
            <a:off x="868680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61" name="Connector 15460"/>
          <p:cNvCxnSpPr/>
          <p:nvPr/>
        </p:nvCxnSpPr>
        <p:spPr>
          <a:xfrm>
            <a:off x="11649455" y="6327648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62" name="Connector 15461"/>
          <p:cNvCxnSpPr/>
          <p:nvPr/>
        </p:nvCxnSpPr>
        <p:spPr>
          <a:xfrm>
            <a:off x="11777472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63" name="TextBox 15462"/>
          <p:cNvSpPr txBox="1"/>
          <p:nvPr/>
        </p:nvSpPr>
        <p:spPr>
          <a:xfrm>
            <a:off x="8778240" y="1152144"/>
            <a:ext cx="2907791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FIG.5  MANAGER · CHECK CONDITIONS</a:t>
            </a:r>
          </a:p>
        </p:txBody>
      </p:sp>
      <p:sp>
        <p:nvSpPr>
          <p:cNvPr id="15464" name="Rounded Rectangle 15463"/>
          <p:cNvSpPr/>
          <p:nvPr/>
        </p:nvSpPr>
        <p:spPr>
          <a:xfrm>
            <a:off x="8801100" y="1485900"/>
            <a:ext cx="2777947" cy="4288536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65" name="Picture 15464" descr="ev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1517904"/>
            <a:ext cx="2713939" cy="4224528"/>
          </a:xfrm>
          <a:prstGeom prst="rect">
            <a:avLst/>
          </a:prstGeom>
        </p:spPr>
      </p:pic>
      <p:sp>
        <p:nvSpPr>
          <p:cNvPr id="15466" name="TextBox 15465"/>
          <p:cNvSpPr txBox="1"/>
          <p:nvPr/>
        </p:nvSpPr>
        <p:spPr>
          <a:xfrm>
            <a:off x="8833104" y="5870448"/>
            <a:ext cx="2798064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EVIDENCE / FRESHNESS /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7410" name="Connector 17409"/>
          <p:cNvCxnSpPr/>
          <p:nvPr/>
        </p:nvCxnSpPr>
        <p:spPr>
          <a:xfrm>
            <a:off x="274320" y="109728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1" name="Connector 17410"/>
          <p:cNvCxnSpPr/>
          <p:nvPr/>
        </p:nvCxnSpPr>
        <p:spPr>
          <a:xfrm>
            <a:off x="274320" y="170078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>
            <a:off x="274320" y="230428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274320" y="290779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274320" y="3511296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274320" y="411480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>
            <a:off x="274320" y="471830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>
            <a:off x="274320" y="532180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274320" y="592531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27432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87782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148132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208483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268833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329184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389534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449884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>
            <a:off x="510235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>
            <a:off x="570585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>
            <a:off x="630936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>
            <a:off x="691286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751636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811987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Connector 17432"/>
          <p:cNvCxnSpPr/>
          <p:nvPr/>
        </p:nvCxnSpPr>
        <p:spPr>
          <a:xfrm>
            <a:off x="872337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Connector 17433"/>
          <p:cNvCxnSpPr/>
          <p:nvPr/>
        </p:nvCxnSpPr>
        <p:spPr>
          <a:xfrm>
            <a:off x="932688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 17434"/>
          <p:cNvCxnSpPr/>
          <p:nvPr/>
        </p:nvCxnSpPr>
        <p:spPr>
          <a:xfrm>
            <a:off x="993038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1053388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1113739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/>
          <p:nvPr/>
        </p:nvCxnSpPr>
        <p:spPr>
          <a:xfrm>
            <a:off x="1174089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ectangle 17438"/>
          <p:cNvSpPr/>
          <p:nvPr/>
        </p:nvSpPr>
        <p:spPr>
          <a:xfrm>
            <a:off x="384048" y="1097280"/>
            <a:ext cx="8138160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40" name="Connector 17439"/>
          <p:cNvCxnSpPr/>
          <p:nvPr/>
        </p:nvCxnSpPr>
        <p:spPr>
          <a:xfrm>
            <a:off x="384048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1" name="Connector 17440"/>
          <p:cNvCxnSpPr/>
          <p:nvPr/>
        </p:nvCxnSpPr>
        <p:spPr>
          <a:xfrm>
            <a:off x="384048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>
            <a:off x="8394192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3" name="Connector 17442"/>
          <p:cNvCxnSpPr/>
          <p:nvPr/>
        </p:nvCxnSpPr>
        <p:spPr>
          <a:xfrm>
            <a:off x="8522208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4" name="Connector 17443"/>
          <p:cNvCxnSpPr/>
          <p:nvPr/>
        </p:nvCxnSpPr>
        <p:spPr>
          <a:xfrm>
            <a:off x="384048" y="2066543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5" name="Connector 17444"/>
          <p:cNvCxnSpPr/>
          <p:nvPr/>
        </p:nvCxnSpPr>
        <p:spPr>
          <a:xfrm>
            <a:off x="384048" y="1938527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6" name="Connector 17445"/>
          <p:cNvCxnSpPr/>
          <p:nvPr/>
        </p:nvCxnSpPr>
        <p:spPr>
          <a:xfrm>
            <a:off x="8394192" y="2066543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7" name="Connector 17446"/>
          <p:cNvCxnSpPr/>
          <p:nvPr/>
        </p:nvCxnSpPr>
        <p:spPr>
          <a:xfrm>
            <a:off x="8522208" y="1938527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TextBox 17447"/>
          <p:cNvSpPr txBox="1"/>
          <p:nvPr/>
        </p:nvSpPr>
        <p:spPr>
          <a:xfrm>
            <a:off x="475488" y="1152144"/>
            <a:ext cx="7955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FIG.1  VERIFIED DATA SOURCES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548640" y="1371600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C1A26"/>
                </a:solidFill>
                <a:latin typeface="Arial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A5C6A"/>
                </a:solidFill>
                <a:latin typeface="Arial"/>
              </a:rPr>
              <a:t>Open-Meteo · MET Norway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1874519" y="1371600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C1A26"/>
                </a:solidFill>
                <a:latin typeface="Arial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A5C6A"/>
                </a:solidFill>
                <a:latin typeface="Arial"/>
              </a:rPr>
              <a:t>Copernicus DEM · OpenTopoData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3200400" y="1371600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C1A26"/>
                </a:solidFill>
                <a:latin typeface="Arial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A5C6A"/>
                </a:solidFill>
                <a:latin typeface="Arial"/>
              </a:rPr>
              <a:t>NDMA SACHET (CAP)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526280" y="1371600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C1A26"/>
                </a:solidFill>
                <a:latin typeface="Arial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A5C6A"/>
                </a:solidFill>
                <a:latin typeface="Arial"/>
              </a:rPr>
              <a:t>GloFAS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5852160" y="1371600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C1A26"/>
                </a:solidFill>
                <a:latin typeface="Arial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A5C6A"/>
                </a:solidFill>
                <a:latin typeface="Arial"/>
              </a:rPr>
              <a:t>NASA GLC 2007–17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178040" y="1371600"/>
            <a:ext cx="128016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C1A26"/>
                </a:solidFill>
                <a:latin typeface="Arial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4A5C6A"/>
                </a:solidFill>
                <a:latin typeface="Arial"/>
              </a:rPr>
              <a:t>fleet GPS fixes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384048" y="2157984"/>
            <a:ext cx="8138160" cy="21762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56" name="Connector 17455"/>
          <p:cNvCxnSpPr/>
          <p:nvPr/>
        </p:nvCxnSpPr>
        <p:spPr>
          <a:xfrm>
            <a:off x="384048" y="215798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7" name="Connector 17456"/>
          <p:cNvCxnSpPr/>
          <p:nvPr/>
        </p:nvCxnSpPr>
        <p:spPr>
          <a:xfrm>
            <a:off x="384048" y="2157984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8" name="Connector 17457"/>
          <p:cNvCxnSpPr/>
          <p:nvPr/>
        </p:nvCxnSpPr>
        <p:spPr>
          <a:xfrm>
            <a:off x="8394192" y="215798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9" name="Connector 17458"/>
          <p:cNvCxnSpPr/>
          <p:nvPr/>
        </p:nvCxnSpPr>
        <p:spPr>
          <a:xfrm>
            <a:off x="8522208" y="2157984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0" name="Connector 17459"/>
          <p:cNvCxnSpPr/>
          <p:nvPr/>
        </p:nvCxnSpPr>
        <p:spPr>
          <a:xfrm>
            <a:off x="384048" y="433425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1" name="Connector 17460"/>
          <p:cNvCxnSpPr/>
          <p:nvPr/>
        </p:nvCxnSpPr>
        <p:spPr>
          <a:xfrm>
            <a:off x="384048" y="420624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>
            <a:off x="8394192" y="433425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3" name="Connector 17462"/>
          <p:cNvCxnSpPr/>
          <p:nvPr/>
        </p:nvCxnSpPr>
        <p:spPr>
          <a:xfrm>
            <a:off x="8522208" y="420624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TextBox 17463"/>
          <p:cNvSpPr txBox="1"/>
          <p:nvPr/>
        </p:nvSpPr>
        <p:spPr>
          <a:xfrm>
            <a:off x="475488" y="2212848"/>
            <a:ext cx="7955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FIG.2  DECISION PATH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548640" y="2468879"/>
            <a:ext cx="7808975" cy="493776"/>
          </a:xfrm>
          <a:prstGeom prst="rect">
            <a:avLst/>
          </a:prstGeom>
          <a:solidFill>
            <a:srgbClr val="F2F6F9"/>
          </a:solidFill>
          <a:ln w="7620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6" name="TextBox 17465"/>
          <p:cNvSpPr txBox="1"/>
          <p:nvPr/>
        </p:nvSpPr>
        <p:spPr>
          <a:xfrm>
            <a:off x="658368" y="2496311"/>
            <a:ext cx="758952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C1A26"/>
                </a:solidFill>
                <a:latin typeface="Arial"/>
              </a:rPr>
              <a:t>ROUTE-SPECIFIC EVIDENCE ·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A5C6A"/>
                </a:solidFill>
                <a:latin typeface="Arial"/>
              </a:rPr>
              <a:t>every factor sampled along the selected road · PostgreSQL + PostGIS (Supabase) · OSRM routes, alternatives, turn steps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548640" y="3035808"/>
            <a:ext cx="7808975" cy="493776"/>
          </a:xfrm>
          <a:prstGeom prst="rect">
            <a:avLst/>
          </a:prstGeom>
          <a:solidFill>
            <a:srgbClr val="0B4F8A"/>
          </a:solidFill>
          <a:ln w="7620">
            <a:solidFill>
              <a:srgbClr val="8C9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TextBox 17467"/>
          <p:cNvSpPr txBox="1"/>
          <p:nvPr/>
        </p:nvSpPr>
        <p:spPr>
          <a:xfrm>
            <a:off x="658368" y="3063239"/>
            <a:ext cx="758952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C9D6E0"/>
                </a:solidFill>
                <a:latin typeface="Arial"/>
              </a:rPr>
              <a:t>11 factors · reason codes · UNKNOWN ≠ SAFE · reviewer authorisation when hazard data is missing</a:t>
            </a:r>
          </a:p>
        </p:txBody>
      </p:sp>
      <p:sp>
        <p:nvSpPr>
          <p:cNvPr id="17469" name="Rectangle 17468"/>
          <p:cNvSpPr/>
          <p:nvPr/>
        </p:nvSpPr>
        <p:spPr>
          <a:xfrm>
            <a:off x="548640" y="3602736"/>
            <a:ext cx="1869948" cy="3108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CONTINUE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2528316" y="3602736"/>
            <a:ext cx="1869948" cy="310896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CAUTION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4507992" y="3602736"/>
            <a:ext cx="1869948" cy="310896"/>
          </a:xfrm>
          <a:prstGeom prst="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HOLD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6487668" y="3602736"/>
            <a:ext cx="1869948" cy="310896"/>
          </a:xfrm>
          <a:prstGeom prst="rect">
            <a:avLst/>
          </a:prstGeom>
          <a:solidFill>
            <a:srgbClr val="0C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REROUTE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548640" y="4023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C1A26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MANAGER REVIEW</a:t>
            </a:r>
          </a:p>
        </p:txBody>
      </p:sp>
      <p:cxnSp>
        <p:nvCxnSpPr>
          <p:cNvPr id="17474" name="Connector 17473"/>
          <p:cNvCxnSpPr/>
          <p:nvPr/>
        </p:nvCxnSpPr>
        <p:spPr>
          <a:xfrm>
            <a:off x="1847088" y="4169664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5" name="Rounded Rectangle 17474"/>
          <p:cNvSpPr/>
          <p:nvPr/>
        </p:nvSpPr>
        <p:spPr>
          <a:xfrm>
            <a:off x="1901952" y="402336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DRIVER NAVIGATION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3291840" y="4169664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Rounded Rectangle 17476"/>
          <p:cNvSpPr/>
          <p:nvPr/>
        </p:nvSpPr>
        <p:spPr>
          <a:xfrm>
            <a:off x="3346704" y="402336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ROUTE-AHEAD 60 s</a:t>
            </a:r>
          </a:p>
        </p:txBody>
      </p:sp>
      <p:cxnSp>
        <p:nvCxnSpPr>
          <p:cNvPr id="17478" name="Connector 17477"/>
          <p:cNvCxnSpPr/>
          <p:nvPr/>
        </p:nvCxnSpPr>
        <p:spPr>
          <a:xfrm>
            <a:off x="4663440" y="4169664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9" name="Rounded Rectangle 17478"/>
          <p:cNvSpPr/>
          <p:nvPr/>
        </p:nvSpPr>
        <p:spPr>
          <a:xfrm>
            <a:off x="4718304" y="402336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CONDITIONS CHANGE?</a:t>
            </a:r>
          </a:p>
        </p:txBody>
      </p:sp>
      <p:cxnSp>
        <p:nvCxnSpPr>
          <p:cNvPr id="17480" name="Connector 17479"/>
          <p:cNvCxnSpPr/>
          <p:nvPr/>
        </p:nvCxnSpPr>
        <p:spPr>
          <a:xfrm>
            <a:off x="6181344" y="4169664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1" name="Rounded Rectangle 17480"/>
          <p:cNvSpPr/>
          <p:nvPr/>
        </p:nvSpPr>
        <p:spPr>
          <a:xfrm>
            <a:off x="6236208" y="40233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REASSESS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384048" y="4425696"/>
            <a:ext cx="8138160" cy="1865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83" name="Connector 17482"/>
          <p:cNvCxnSpPr/>
          <p:nvPr/>
        </p:nvCxnSpPr>
        <p:spPr>
          <a:xfrm>
            <a:off x="384048" y="442569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4" name="Connector 17483"/>
          <p:cNvCxnSpPr/>
          <p:nvPr/>
        </p:nvCxnSpPr>
        <p:spPr>
          <a:xfrm>
            <a:off x="384048" y="442569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5" name="Connector 17484"/>
          <p:cNvCxnSpPr/>
          <p:nvPr/>
        </p:nvCxnSpPr>
        <p:spPr>
          <a:xfrm>
            <a:off x="8394192" y="442569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6" name="Connector 17485"/>
          <p:cNvCxnSpPr/>
          <p:nvPr/>
        </p:nvCxnSpPr>
        <p:spPr>
          <a:xfrm>
            <a:off x="8522208" y="442569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7" name="Connector 17486"/>
          <p:cNvCxnSpPr/>
          <p:nvPr/>
        </p:nvCxnSpPr>
        <p:spPr>
          <a:xfrm>
            <a:off x="384048" y="629107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8" name="Connector 17487"/>
          <p:cNvCxnSpPr/>
          <p:nvPr/>
        </p:nvCxnSpPr>
        <p:spPr>
          <a:xfrm>
            <a:off x="384048" y="616305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9" name="Connector 17488"/>
          <p:cNvCxnSpPr/>
          <p:nvPr/>
        </p:nvCxnSpPr>
        <p:spPr>
          <a:xfrm>
            <a:off x="8394192" y="629107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0" name="Connector 17489"/>
          <p:cNvCxnSpPr/>
          <p:nvPr/>
        </p:nvCxnSpPr>
        <p:spPr>
          <a:xfrm>
            <a:off x="8522208" y="616305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1" name="TextBox 17490"/>
          <p:cNvSpPr txBox="1"/>
          <p:nvPr/>
        </p:nvSpPr>
        <p:spPr>
          <a:xfrm>
            <a:off x="475488" y="4480559"/>
            <a:ext cx="79552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FIG.3  IMPLEMENTATION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548640" y="4718304"/>
            <a:ext cx="7808975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00" b="1">
                <a:solidFill>
                  <a:srgbClr val="8C9CA8"/>
                </a:solidFill>
                <a:latin typeface="Courier New"/>
              </a:rPr>
              <a:t>CLIENTS  </a:t>
            </a:r>
            <a:r>
              <a:rPr sz="1000" b="0">
                <a:solidFill>
                  <a:srgbClr val="0C1A26"/>
                </a:solidFill>
                <a:latin typeface="Arial"/>
              </a:rPr>
              <a:t>Manager console (React + TS) · Driver app (React Native / Expo, Android) · one login, server-decided role, offline package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00" b="1">
                <a:solidFill>
                  <a:srgbClr val="8C9CA8"/>
                </a:solidFill>
                <a:latin typeface="Courier New"/>
              </a:rPr>
              <a:t>STACK  </a:t>
            </a:r>
            <a:r>
              <a:rPr sz="1000" b="0">
                <a:solidFill>
                  <a:srgbClr val="0C1A26"/>
                </a:solidFill>
                <a:latin typeface="Arial"/>
              </a:rPr>
              <a:t>FastAPI · PostgreSQL / PostGIS (Supabase) · React · React Native / Expo · OSRM · OpenStreetMap · Gemini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800" b="1">
                <a:solidFill>
                  <a:srgbClr val="8C9CA8"/>
                </a:solidFill>
                <a:latin typeface="Courier New"/>
              </a:rPr>
              <a:t>EVIDENCE  </a:t>
            </a:r>
            <a:r>
              <a:rPr sz="1000" b="0">
                <a:solidFill>
                  <a:srgbClr val="0C1A26"/>
                </a:solidFill>
                <a:latin typeface="Arial"/>
              </a:rPr>
              <a:t>Open-Meteo / MET Norway · NDMA SACHET · GloFAS · NASA historical landslides · OpenTopoData / Copernicus DEM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Re-scored every 60 s on the road ahead. A reroute is proposed to the manager, never applied silently.</a:t>
            </a:r>
          </a:p>
        </p:txBody>
      </p:sp>
      <p:sp>
        <p:nvSpPr>
          <p:cNvPr id="17493" name="Rectangle 17492"/>
          <p:cNvSpPr/>
          <p:nvPr/>
        </p:nvSpPr>
        <p:spPr>
          <a:xfrm>
            <a:off x="8686800" y="1097280"/>
            <a:ext cx="3090672" cy="5230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94" name="Connector 17493"/>
          <p:cNvCxnSpPr/>
          <p:nvPr/>
        </p:nvCxnSpPr>
        <p:spPr>
          <a:xfrm>
            <a:off x="8686800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5" name="Connector 17494"/>
          <p:cNvCxnSpPr/>
          <p:nvPr/>
        </p:nvCxnSpPr>
        <p:spPr>
          <a:xfrm>
            <a:off x="8686800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6" name="Connector 17495"/>
          <p:cNvCxnSpPr/>
          <p:nvPr/>
        </p:nvCxnSpPr>
        <p:spPr>
          <a:xfrm>
            <a:off x="11649455" y="1097280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7" name="Connector 17496"/>
          <p:cNvCxnSpPr/>
          <p:nvPr/>
        </p:nvCxnSpPr>
        <p:spPr>
          <a:xfrm>
            <a:off x="11777472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8" name="Connector 17497"/>
          <p:cNvCxnSpPr/>
          <p:nvPr/>
        </p:nvCxnSpPr>
        <p:spPr>
          <a:xfrm>
            <a:off x="8686800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9" name="Connector 17498"/>
          <p:cNvCxnSpPr/>
          <p:nvPr/>
        </p:nvCxnSpPr>
        <p:spPr>
          <a:xfrm>
            <a:off x="868680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0" name="Connector 17499"/>
          <p:cNvCxnSpPr/>
          <p:nvPr/>
        </p:nvCxnSpPr>
        <p:spPr>
          <a:xfrm>
            <a:off x="11649455" y="6327648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1" name="Connector 17500"/>
          <p:cNvCxnSpPr/>
          <p:nvPr/>
        </p:nvCxnSpPr>
        <p:spPr>
          <a:xfrm>
            <a:off x="11777472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2" name="TextBox 17501"/>
          <p:cNvSpPr txBox="1"/>
          <p:nvPr/>
        </p:nvSpPr>
        <p:spPr>
          <a:xfrm>
            <a:off x="8778240" y="1152144"/>
            <a:ext cx="2907791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FIG.4  DECISION AUTHORITY</a:t>
            </a:r>
          </a:p>
        </p:txBody>
      </p:sp>
      <p:sp>
        <p:nvSpPr>
          <p:cNvPr id="17503" name="Rectangle 17502"/>
          <p:cNvSpPr/>
          <p:nvPr/>
        </p:nvSpPr>
        <p:spPr>
          <a:xfrm>
            <a:off x="8833104" y="1426464"/>
            <a:ext cx="45720" cy="621792"/>
          </a:xfrm>
          <a:prstGeom prst="rect">
            <a:avLst/>
          </a:prstGeom>
          <a:solidFill>
            <a:srgbClr val="0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4" name="TextBox 17503"/>
          <p:cNvSpPr txBox="1"/>
          <p:nvPr/>
        </p:nvSpPr>
        <p:spPr>
          <a:xfrm>
            <a:off x="8979408" y="1408176"/>
            <a:ext cx="265176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C1A26"/>
                </a:solidFill>
                <a:latin typeface="Arial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makes every operational decision</a:t>
            </a:r>
          </a:p>
        </p:txBody>
      </p:sp>
      <p:sp>
        <p:nvSpPr>
          <p:cNvPr id="17505" name="Rectangle 17504"/>
          <p:cNvSpPr/>
          <p:nvPr/>
        </p:nvSpPr>
        <p:spPr>
          <a:xfrm>
            <a:off x="8833104" y="2249424"/>
            <a:ext cx="4572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6" name="TextBox 17505"/>
          <p:cNvSpPr txBox="1"/>
          <p:nvPr/>
        </p:nvSpPr>
        <p:spPr>
          <a:xfrm>
            <a:off x="8979408" y="2231136"/>
            <a:ext cx="265176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C1A26"/>
                </a:solidFill>
                <a:latin typeface="Arial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explains the decision in the driver's language — never decides</a:t>
            </a:r>
          </a:p>
        </p:txBody>
      </p:sp>
      <p:sp>
        <p:nvSpPr>
          <p:cNvPr id="17507" name="Rectangle 17506"/>
          <p:cNvSpPr/>
          <p:nvPr/>
        </p:nvSpPr>
        <p:spPr>
          <a:xfrm>
            <a:off x="8833104" y="3072384"/>
            <a:ext cx="45720" cy="621792"/>
          </a:xfrm>
          <a:prstGeom prst="rect">
            <a:avLst/>
          </a:prstGeom>
          <a:solidFill>
            <a:srgbClr val="8C9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8" name="TextBox 17507"/>
          <p:cNvSpPr txBox="1"/>
          <p:nvPr/>
        </p:nvSpPr>
        <p:spPr>
          <a:xfrm>
            <a:off x="8979408" y="3054096"/>
            <a:ext cx="265176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C1A26"/>
                </a:solidFill>
                <a:latin typeface="Arial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research channel only; held outside routing by the safety gate</a:t>
            </a:r>
          </a:p>
        </p:txBody>
      </p:sp>
      <p:cxnSp>
        <p:nvCxnSpPr>
          <p:cNvPr id="17509" name="Connector 17508"/>
          <p:cNvCxnSpPr/>
          <p:nvPr/>
        </p:nvCxnSpPr>
        <p:spPr>
          <a:xfrm>
            <a:off x="8833104" y="3895344"/>
            <a:ext cx="2798064" cy="0"/>
          </a:xfrm>
          <a:prstGeom prst="line">
            <a:avLst/>
          </a:prstGeom>
          <a:ln w="9525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0" name="TextBox 17509"/>
          <p:cNvSpPr txBox="1"/>
          <p:nvPr/>
        </p:nvSpPr>
        <p:spPr>
          <a:xfrm>
            <a:off x="8833104" y="3968496"/>
            <a:ext cx="2798064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GOVERNANCE CHAIN</a:t>
            </a:r>
          </a:p>
        </p:txBody>
      </p:sp>
      <p:sp>
        <p:nvSpPr>
          <p:cNvPr id="17511" name="Rounded Rectangle 17510"/>
          <p:cNvSpPr/>
          <p:nvPr/>
        </p:nvSpPr>
        <p:spPr>
          <a:xfrm>
            <a:off x="8833104" y="4261104"/>
            <a:ext cx="279806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Verified evidence</a:t>
            </a:r>
          </a:p>
        </p:txBody>
      </p:sp>
      <p:cxnSp>
        <p:nvCxnSpPr>
          <p:cNvPr id="17512" name="Connector 17511"/>
          <p:cNvCxnSpPr/>
          <p:nvPr/>
        </p:nvCxnSpPr>
        <p:spPr>
          <a:xfrm>
            <a:off x="10232136" y="4562856"/>
            <a:ext cx="0" cy="109728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3" name="Rounded Rectangle 17512"/>
          <p:cNvSpPr/>
          <p:nvPr/>
        </p:nvSpPr>
        <p:spPr>
          <a:xfrm>
            <a:off x="8833104" y="4681728"/>
            <a:ext cx="279806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Deterministic safety policy</a:t>
            </a:r>
          </a:p>
        </p:txBody>
      </p:sp>
      <p:cxnSp>
        <p:nvCxnSpPr>
          <p:cNvPr id="17514" name="Connector 17513"/>
          <p:cNvCxnSpPr/>
          <p:nvPr/>
        </p:nvCxnSpPr>
        <p:spPr>
          <a:xfrm>
            <a:off x="10232136" y="4983480"/>
            <a:ext cx="0" cy="109728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5" name="Rounded Rectangle 17514"/>
          <p:cNvSpPr/>
          <p:nvPr/>
        </p:nvSpPr>
        <p:spPr>
          <a:xfrm>
            <a:off x="8833104" y="5102352"/>
            <a:ext cx="279806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Manager governance</a:t>
            </a:r>
          </a:p>
        </p:txBody>
      </p:sp>
      <p:cxnSp>
        <p:nvCxnSpPr>
          <p:cNvPr id="17516" name="Connector 17515"/>
          <p:cNvCxnSpPr/>
          <p:nvPr/>
        </p:nvCxnSpPr>
        <p:spPr>
          <a:xfrm>
            <a:off x="10232136" y="5404104"/>
            <a:ext cx="0" cy="109728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7" name="Rounded Rectangle 17516"/>
          <p:cNvSpPr/>
          <p:nvPr/>
        </p:nvSpPr>
        <p:spPr>
          <a:xfrm>
            <a:off x="8833104" y="5522976"/>
            <a:ext cx="2798064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7410" name="Connector 17409"/>
          <p:cNvCxnSpPr/>
          <p:nvPr/>
        </p:nvCxnSpPr>
        <p:spPr>
          <a:xfrm>
            <a:off x="274320" y="109728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1" name="Connector 17410"/>
          <p:cNvCxnSpPr/>
          <p:nvPr/>
        </p:nvCxnSpPr>
        <p:spPr>
          <a:xfrm>
            <a:off x="274320" y="170078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>
            <a:off x="274320" y="230428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274320" y="290779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274320" y="3511296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274320" y="411480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>
            <a:off x="274320" y="471830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>
            <a:off x="274320" y="532180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274320" y="592531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27432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87782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148132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208483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268833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329184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389534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449884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>
            <a:off x="510235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>
            <a:off x="570585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>
            <a:off x="630936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>
            <a:off x="691286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751636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811987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Connector 17432"/>
          <p:cNvCxnSpPr/>
          <p:nvPr/>
        </p:nvCxnSpPr>
        <p:spPr>
          <a:xfrm>
            <a:off x="872337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Connector 17433"/>
          <p:cNvCxnSpPr/>
          <p:nvPr/>
        </p:nvCxnSpPr>
        <p:spPr>
          <a:xfrm>
            <a:off x="932688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 17434"/>
          <p:cNvCxnSpPr/>
          <p:nvPr/>
        </p:nvCxnSpPr>
        <p:spPr>
          <a:xfrm>
            <a:off x="993038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1053388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1113739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/>
          <p:nvPr/>
        </p:nvCxnSpPr>
        <p:spPr>
          <a:xfrm>
            <a:off x="1174089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TextBox 17438"/>
          <p:cNvSpPr txBox="1"/>
          <p:nvPr/>
        </p:nvSpPr>
        <p:spPr>
          <a:xfrm>
            <a:off x="457200" y="1115568"/>
            <a:ext cx="86868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0C1A26"/>
                </a:solidFill>
                <a:latin typeface="Arial"/>
              </a:rPr>
              <a:t>Not a concept. A working end-to-end prototype.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384048" y="1517904"/>
            <a:ext cx="11393424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41" name="Connector 17440"/>
          <p:cNvCxnSpPr/>
          <p:nvPr/>
        </p:nvCxnSpPr>
        <p:spPr>
          <a:xfrm>
            <a:off x="384048" y="151790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>
            <a:off x="384048" y="1517904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3" name="Connector 17442"/>
          <p:cNvCxnSpPr/>
          <p:nvPr/>
        </p:nvCxnSpPr>
        <p:spPr>
          <a:xfrm>
            <a:off x="11649456" y="151790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4" name="Connector 17443"/>
          <p:cNvCxnSpPr/>
          <p:nvPr/>
        </p:nvCxnSpPr>
        <p:spPr>
          <a:xfrm>
            <a:off x="11777472" y="1517904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5" name="Connector 17444"/>
          <p:cNvCxnSpPr/>
          <p:nvPr/>
        </p:nvCxnSpPr>
        <p:spPr>
          <a:xfrm>
            <a:off x="384048" y="223113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6" name="Connector 17445"/>
          <p:cNvCxnSpPr/>
          <p:nvPr/>
        </p:nvCxnSpPr>
        <p:spPr>
          <a:xfrm>
            <a:off x="384048" y="210312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7" name="Connector 17446"/>
          <p:cNvCxnSpPr/>
          <p:nvPr/>
        </p:nvCxnSpPr>
        <p:spPr>
          <a:xfrm>
            <a:off x="11649456" y="223113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8" name="Connector 17447"/>
          <p:cNvCxnSpPr/>
          <p:nvPr/>
        </p:nvCxnSpPr>
        <p:spPr>
          <a:xfrm>
            <a:off x="11777472" y="210312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TextBox 17448"/>
          <p:cNvSpPr txBox="1"/>
          <p:nvPr/>
        </p:nvSpPr>
        <p:spPr>
          <a:xfrm>
            <a:off x="475488" y="1572768"/>
            <a:ext cx="11210544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FIG.1  CERTIFIED LIFECYCLE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548640" y="1810512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0B4F8A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1298448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Rounded Rectangle 17451"/>
          <p:cNvSpPr/>
          <p:nvPr/>
        </p:nvSpPr>
        <p:spPr>
          <a:xfrm>
            <a:off x="1362456" y="1810512"/>
            <a:ext cx="859536" cy="292608"/>
          </a:xfrm>
          <a:prstGeom prst="roundRect">
            <a:avLst>
              <a:gd name="adj" fmla="val 50000"/>
            </a:avLst>
          </a:prstGeom>
          <a:solidFill>
            <a:srgbClr val="0B4F8A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2240279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Rounded Rectangle 17453"/>
          <p:cNvSpPr/>
          <p:nvPr/>
        </p:nvSpPr>
        <p:spPr>
          <a:xfrm>
            <a:off x="2304288" y="1810512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C1A26"/>
                </a:solidFill>
                <a:latin typeface="Arial"/>
              </a:rPr>
              <a:t>DISPATCH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3310128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3374136" y="1810512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C1A26"/>
                </a:solidFill>
                <a:latin typeface="Arial"/>
              </a:rPr>
              <a:t>ACCEPT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4288536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Rounded Rectangle 17457"/>
          <p:cNvSpPr/>
          <p:nvPr/>
        </p:nvSpPr>
        <p:spPr>
          <a:xfrm>
            <a:off x="4352544" y="181051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C1A26"/>
                </a:solidFill>
                <a:latin typeface="Arial"/>
              </a:rPr>
              <a:t>TRUCK VERIFY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5559552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Rounded Rectangle 17459"/>
          <p:cNvSpPr/>
          <p:nvPr/>
        </p:nvSpPr>
        <p:spPr>
          <a:xfrm>
            <a:off x="5623560" y="1810512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C1A26"/>
                </a:solidFill>
                <a:latin typeface="Arial"/>
              </a:rPr>
              <a:t>NAVIGATE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6665976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6729984" y="1810512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0C1A26"/>
                </a:solidFill>
                <a:latin typeface="Arial"/>
              </a:rPr>
              <a:t>OFF-ROUTE</a:t>
            </a:r>
          </a:p>
        </p:txBody>
      </p:sp>
      <p:cxnSp>
        <p:nvCxnSpPr>
          <p:cNvPr id="17463" name="Connector 17462"/>
          <p:cNvCxnSpPr/>
          <p:nvPr/>
        </p:nvCxnSpPr>
        <p:spPr>
          <a:xfrm>
            <a:off x="7772400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4" name="Rounded Rectangle 17463"/>
          <p:cNvSpPr/>
          <p:nvPr/>
        </p:nvSpPr>
        <p:spPr>
          <a:xfrm>
            <a:off x="7836408" y="1810512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0B4F8A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MANAGER REROUTE APPROVAL</a:t>
            </a:r>
          </a:p>
        </p:txBody>
      </p:sp>
      <p:cxnSp>
        <p:nvCxnSpPr>
          <p:cNvPr id="17465" name="Connector 17464"/>
          <p:cNvCxnSpPr/>
          <p:nvPr/>
        </p:nvCxnSpPr>
        <p:spPr>
          <a:xfrm>
            <a:off x="9829800" y="1956816"/>
            <a:ext cx="45720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Rounded Rectangle 17465"/>
          <p:cNvSpPr/>
          <p:nvPr/>
        </p:nvSpPr>
        <p:spPr>
          <a:xfrm>
            <a:off x="9893808" y="18105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384048" y="2322576"/>
            <a:ext cx="5943600" cy="3547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68" name="Connector 17467"/>
          <p:cNvCxnSpPr/>
          <p:nvPr/>
        </p:nvCxnSpPr>
        <p:spPr>
          <a:xfrm>
            <a:off x="384048" y="232257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9" name="Connector 17468"/>
          <p:cNvCxnSpPr/>
          <p:nvPr/>
        </p:nvCxnSpPr>
        <p:spPr>
          <a:xfrm>
            <a:off x="384048" y="23225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0" name="Connector 17469"/>
          <p:cNvCxnSpPr/>
          <p:nvPr/>
        </p:nvCxnSpPr>
        <p:spPr>
          <a:xfrm>
            <a:off x="6199632" y="232257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1" name="Connector 17470"/>
          <p:cNvCxnSpPr/>
          <p:nvPr/>
        </p:nvCxnSpPr>
        <p:spPr>
          <a:xfrm>
            <a:off x="6327648" y="23225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2" name="Connector 17471"/>
          <p:cNvCxnSpPr/>
          <p:nvPr/>
        </p:nvCxnSpPr>
        <p:spPr>
          <a:xfrm>
            <a:off x="384048" y="58704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3" name="Connector 17472"/>
          <p:cNvCxnSpPr/>
          <p:nvPr/>
        </p:nvCxnSpPr>
        <p:spPr>
          <a:xfrm>
            <a:off x="384048" y="5742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4" name="Connector 17473"/>
          <p:cNvCxnSpPr/>
          <p:nvPr/>
        </p:nvCxnSpPr>
        <p:spPr>
          <a:xfrm>
            <a:off x="6199632" y="58704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5" name="Connector 17474"/>
          <p:cNvCxnSpPr/>
          <p:nvPr/>
        </p:nvCxnSpPr>
        <p:spPr>
          <a:xfrm>
            <a:off x="6327648" y="5742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6" name="TextBox 17475"/>
          <p:cNvSpPr txBox="1"/>
          <p:nvPr/>
        </p:nvSpPr>
        <p:spPr>
          <a:xfrm>
            <a:off x="475488" y="2377440"/>
            <a:ext cx="576072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FIG.2  AS BUILT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516635" y="2638044"/>
            <a:ext cx="2075688" cy="2990088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8" name="Picture 17477" descr="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70048"/>
            <a:ext cx="2011680" cy="2926080"/>
          </a:xfrm>
          <a:prstGeom prst="rect">
            <a:avLst/>
          </a:prstGeom>
        </p:spPr>
      </p:pic>
      <p:sp>
        <p:nvSpPr>
          <p:cNvPr id="17479" name="Rounded Rectangle 17478"/>
          <p:cNvSpPr/>
          <p:nvPr/>
        </p:nvSpPr>
        <p:spPr>
          <a:xfrm>
            <a:off x="2692908" y="2638044"/>
            <a:ext cx="1381543" cy="2990088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0" name="Picture 17479" descr="tru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2670048"/>
            <a:ext cx="1317535" cy="2926080"/>
          </a:xfrm>
          <a:prstGeom prst="rect">
            <a:avLst/>
          </a:prstGeom>
        </p:spPr>
      </p:pic>
      <p:sp>
        <p:nvSpPr>
          <p:cNvPr id="17481" name="Rounded Rectangle 17480"/>
          <p:cNvSpPr/>
          <p:nvPr/>
        </p:nvSpPr>
        <p:spPr>
          <a:xfrm>
            <a:off x="4175035" y="2638044"/>
            <a:ext cx="1381543" cy="2990088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2" name="Picture 17481" descr="na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039" y="2670048"/>
            <a:ext cx="1317535" cy="2926080"/>
          </a:xfrm>
          <a:prstGeom prst="rect">
            <a:avLst/>
          </a:prstGeom>
        </p:spPr>
      </p:pic>
      <p:sp>
        <p:nvSpPr>
          <p:cNvPr id="17483" name="TextBox 17482"/>
          <p:cNvSpPr txBox="1"/>
          <p:nvPr/>
        </p:nvSpPr>
        <p:spPr>
          <a:xfrm>
            <a:off x="548640" y="5650992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0B4F8A"/>
                </a:solidFill>
                <a:latin typeface="Courier New"/>
              </a:rPr>
              <a:t>MANAGER / ROUTE REVIEW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2724912" y="5650992"/>
            <a:ext cx="1317535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0B4F8A"/>
                </a:solidFill>
                <a:latin typeface="Courier New"/>
              </a:rPr>
              <a:t>DRIVER / TRUCK CHECK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4207039" y="5650992"/>
            <a:ext cx="1317535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0B4F8A"/>
                </a:solidFill>
                <a:latin typeface="Courier New"/>
              </a:rPr>
              <a:t>DRIVER / NAVIGATION</a:t>
            </a:r>
          </a:p>
        </p:txBody>
      </p:sp>
      <p:sp>
        <p:nvSpPr>
          <p:cNvPr id="17486" name="Rectangle 17485"/>
          <p:cNvSpPr/>
          <p:nvPr/>
        </p:nvSpPr>
        <p:spPr>
          <a:xfrm>
            <a:off x="6455664" y="2322576"/>
            <a:ext cx="5321808" cy="3547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87" name="Connector 17486"/>
          <p:cNvCxnSpPr/>
          <p:nvPr/>
        </p:nvCxnSpPr>
        <p:spPr>
          <a:xfrm>
            <a:off x="6455664" y="2322576"/>
            <a:ext cx="128015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8" name="Connector 17487"/>
          <p:cNvCxnSpPr/>
          <p:nvPr/>
        </p:nvCxnSpPr>
        <p:spPr>
          <a:xfrm>
            <a:off x="6455664" y="23225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9" name="Connector 17488"/>
          <p:cNvCxnSpPr/>
          <p:nvPr/>
        </p:nvCxnSpPr>
        <p:spPr>
          <a:xfrm>
            <a:off x="11649455" y="2322576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0" name="Connector 17489"/>
          <p:cNvCxnSpPr/>
          <p:nvPr/>
        </p:nvCxnSpPr>
        <p:spPr>
          <a:xfrm>
            <a:off x="11777472" y="23225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1" name="Connector 17490"/>
          <p:cNvCxnSpPr/>
          <p:nvPr/>
        </p:nvCxnSpPr>
        <p:spPr>
          <a:xfrm>
            <a:off x="6455664" y="5870448"/>
            <a:ext cx="128015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2" name="Connector 17491"/>
          <p:cNvCxnSpPr/>
          <p:nvPr/>
        </p:nvCxnSpPr>
        <p:spPr>
          <a:xfrm>
            <a:off x="6455664" y="5742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3" name="Connector 17492"/>
          <p:cNvCxnSpPr/>
          <p:nvPr/>
        </p:nvCxnSpPr>
        <p:spPr>
          <a:xfrm>
            <a:off x="11649455" y="5870448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94" name="Connector 17493"/>
          <p:cNvCxnSpPr/>
          <p:nvPr/>
        </p:nvCxnSpPr>
        <p:spPr>
          <a:xfrm>
            <a:off x="11777472" y="57424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5" name="TextBox 17494"/>
          <p:cNvSpPr txBox="1"/>
          <p:nvPr/>
        </p:nvSpPr>
        <p:spPr>
          <a:xfrm>
            <a:off x="6547103" y="2377440"/>
            <a:ext cx="513892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FIG.3  EVIDENCE OF EXECUTION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6620256" y="2615184"/>
            <a:ext cx="4992624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C1A26"/>
                </a:solidFill>
                <a:latin typeface="Arial"/>
              </a:rPr>
              <a:t>Run end to end on a physical Android phone, hosted backend, real road.</a:t>
            </a:r>
          </a:p>
        </p:txBody>
      </p:sp>
      <p:sp>
        <p:nvSpPr>
          <p:cNvPr id="17497" name="TextBox 17496"/>
          <p:cNvSpPr txBox="1"/>
          <p:nvPr/>
        </p:nvSpPr>
        <p:spPr>
          <a:xfrm>
            <a:off x="6620256" y="3236976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B4F8A"/>
                </a:solidFill>
                <a:latin typeface="Arial"/>
              </a:rPr>
              <a:t>12/12</a:t>
            </a:r>
          </a:p>
        </p:txBody>
      </p:sp>
      <p:sp>
        <p:nvSpPr>
          <p:cNvPr id="17498" name="TextBox 17497"/>
          <p:cNvSpPr txBox="1"/>
          <p:nvPr/>
        </p:nvSpPr>
        <p:spPr>
          <a:xfrm>
            <a:off x="7534656" y="3236976"/>
            <a:ext cx="407822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C1A26"/>
                </a:solidFill>
                <a:latin typeface="Arial"/>
              </a:rPr>
              <a:t>physical judge-flow steps</a:t>
            </a:r>
          </a:p>
        </p:txBody>
      </p:sp>
      <p:sp>
        <p:nvSpPr>
          <p:cNvPr id="17499" name="TextBox 17498"/>
          <p:cNvSpPr txBox="1"/>
          <p:nvPr/>
        </p:nvSpPr>
        <p:spPr>
          <a:xfrm>
            <a:off x="6620256" y="3639312"/>
            <a:ext cx="841248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B4F8A"/>
                </a:solidFill>
                <a:latin typeface="Arial"/>
              </a:rPr>
              <a:t>9/9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7534656" y="3639312"/>
            <a:ext cx="407822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0C1A26"/>
                </a:solidFill>
                <a:latin typeface="Arial"/>
              </a:rPr>
              <a:t>physical role-flow steps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6620256" y="4041648"/>
            <a:ext cx="499262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0B4F8A"/>
                </a:solidFill>
                <a:latin typeface="Arial"/>
              </a:rPr>
              <a:t>1138+ </a:t>
            </a:r>
            <a:r>
              <a:rPr sz="1000" b="0">
                <a:solidFill>
                  <a:srgbClr val="0C1A26"/>
                </a:solidFill>
                <a:latin typeface="Arial"/>
              </a:rPr>
              <a:t>backend  ·  </a:t>
            </a:r>
            <a:r>
              <a:rPr sz="1250" b="1">
                <a:solidFill>
                  <a:srgbClr val="0B4F8A"/>
                </a:solidFill>
                <a:latin typeface="Arial"/>
              </a:rPr>
              <a:t>621+ </a:t>
            </a:r>
            <a:r>
              <a:rPr sz="1000" b="0">
                <a:solidFill>
                  <a:srgbClr val="0C1A26"/>
                </a:solidFill>
                <a:latin typeface="Arial"/>
              </a:rPr>
              <a:t>driver  ·  </a:t>
            </a:r>
            <a:r>
              <a:rPr sz="1250" b="1">
                <a:solidFill>
                  <a:srgbClr val="0B4F8A"/>
                </a:solidFill>
                <a:latin typeface="Arial"/>
              </a:rPr>
              <a:t>170+ </a:t>
            </a:r>
            <a:r>
              <a:rPr sz="1000" b="0">
                <a:solidFill>
                  <a:srgbClr val="0C1A26"/>
                </a:solidFill>
                <a:latin typeface="Arial"/>
              </a:rPr>
              <a:t>manager tests</a:t>
            </a:r>
          </a:p>
        </p:txBody>
      </p:sp>
      <p:sp>
        <p:nvSpPr>
          <p:cNvPr id="17502" name="Rectangle 17501"/>
          <p:cNvSpPr/>
          <p:nvPr/>
        </p:nvSpPr>
        <p:spPr>
          <a:xfrm>
            <a:off x="6620256" y="4462272"/>
            <a:ext cx="4992624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PHYSICAL ANDROID · CERTIFIED</a:t>
            </a:r>
          </a:p>
        </p:txBody>
      </p:sp>
      <p:sp>
        <p:nvSpPr>
          <p:cNvPr id="17503" name="TextBox 17502"/>
          <p:cNvSpPr txBox="1"/>
          <p:nvPr/>
        </p:nvSpPr>
        <p:spPr>
          <a:xfrm>
            <a:off x="6620256" y="4882896"/>
            <a:ext cx="4992624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CANONICAL DEMO: GUWAHATI → SHILLONG / ≈ 98.8 KM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384048" y="5943600"/>
            <a:ext cx="11393424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8C9CA8"/>
                </a:solidFill>
                <a:latin typeface="Courier New"/>
              </a:rPr>
              <a:t>KNOWN LIMITS → MITIGATION   </a:t>
            </a:r>
            <a:r>
              <a:rPr sz="900" b="0">
                <a:solidFill>
                  <a:srgbClr val="4A5C6A"/>
                </a:solidFill>
                <a:latin typeface="Arial"/>
              </a:rPr>
              <a:t>Cold start → warm /health first  ·  rate limits → cached evidence + explicit UNKNOWN  ·  push needs Firebase → in-app alerts work  ·  experimental ML → outside routing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7410" name="Connector 17409"/>
          <p:cNvCxnSpPr/>
          <p:nvPr/>
        </p:nvCxnSpPr>
        <p:spPr>
          <a:xfrm>
            <a:off x="274320" y="109728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1" name="Connector 17410"/>
          <p:cNvCxnSpPr/>
          <p:nvPr/>
        </p:nvCxnSpPr>
        <p:spPr>
          <a:xfrm>
            <a:off x="274320" y="170078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>
            <a:off x="274320" y="230428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274320" y="290779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274320" y="3511296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274320" y="411480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>
            <a:off x="274320" y="471830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>
            <a:off x="274320" y="532180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274320" y="592531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27432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87782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148132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208483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268833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329184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389534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449884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>
            <a:off x="510235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>
            <a:off x="570585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>
            <a:off x="630936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>
            <a:off x="691286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751636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811987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Connector 17432"/>
          <p:cNvCxnSpPr/>
          <p:nvPr/>
        </p:nvCxnSpPr>
        <p:spPr>
          <a:xfrm>
            <a:off x="872337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Connector 17433"/>
          <p:cNvCxnSpPr/>
          <p:nvPr/>
        </p:nvCxnSpPr>
        <p:spPr>
          <a:xfrm>
            <a:off x="932688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 17434"/>
          <p:cNvCxnSpPr/>
          <p:nvPr/>
        </p:nvCxnSpPr>
        <p:spPr>
          <a:xfrm>
            <a:off x="993038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1053388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1113739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/>
          <p:nvPr/>
        </p:nvCxnSpPr>
        <p:spPr>
          <a:xfrm>
            <a:off x="1174089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TextBox 17438"/>
          <p:cNvSpPr txBox="1"/>
          <p:nvPr/>
        </p:nvSpPr>
        <p:spPr>
          <a:xfrm>
            <a:off x="457200" y="1097280"/>
            <a:ext cx="8065008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>
                <a:solidFill>
                  <a:srgbClr val="4A5C6A"/>
                </a:solidFill>
                <a:latin typeface="Arial"/>
              </a:rPr>
              <a:t>RASTA AI does not ask only </a:t>
            </a:r>
            <a:r>
              <a:rPr sz="1700" b="1">
                <a:solidFill>
                  <a:srgbClr val="0C1A26"/>
                </a:solidFill>
                <a:latin typeface="Arial"/>
              </a:rPr>
              <a:t>“Which road is shortest?”</a:t>
            </a:r>
            <a:r>
              <a:rPr sz="1700" b="0">
                <a:solidFill>
                  <a:srgbClr val="4A5C6A"/>
                </a:solidFill>
                <a:latin typeface="Arial"/>
              </a:rPr>
              <a:t>  It asks  </a:t>
            </a:r>
            <a:r>
              <a:rPr sz="1700" b="1">
                <a:solidFill>
                  <a:srgbClr val="0B4F8A"/>
                </a:solidFill>
                <a:latin typeface="Arial"/>
              </a:rPr>
              <a:t>“Can this truck reliably use this corridor now?”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11480" y="1901952"/>
            <a:ext cx="8110727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41" name="Connector 17440"/>
          <p:cNvCxnSpPr/>
          <p:nvPr/>
        </p:nvCxnSpPr>
        <p:spPr>
          <a:xfrm>
            <a:off x="411480" y="190195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>
            <a:off x="411480" y="190195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3" name="Connector 17442"/>
          <p:cNvCxnSpPr/>
          <p:nvPr/>
        </p:nvCxnSpPr>
        <p:spPr>
          <a:xfrm>
            <a:off x="8394191" y="190195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4" name="Connector 17443"/>
          <p:cNvCxnSpPr/>
          <p:nvPr/>
        </p:nvCxnSpPr>
        <p:spPr>
          <a:xfrm>
            <a:off x="8522207" y="190195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5" name="Connector 17444"/>
          <p:cNvCxnSpPr/>
          <p:nvPr/>
        </p:nvCxnSpPr>
        <p:spPr>
          <a:xfrm>
            <a:off x="411480" y="336499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6" name="Connector 17445"/>
          <p:cNvCxnSpPr/>
          <p:nvPr/>
        </p:nvCxnSpPr>
        <p:spPr>
          <a:xfrm>
            <a:off x="411480" y="32369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7" name="Connector 17446"/>
          <p:cNvCxnSpPr/>
          <p:nvPr/>
        </p:nvCxnSpPr>
        <p:spPr>
          <a:xfrm>
            <a:off x="8394191" y="336499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8" name="Connector 17447"/>
          <p:cNvCxnSpPr/>
          <p:nvPr/>
        </p:nvCxnSpPr>
        <p:spPr>
          <a:xfrm>
            <a:off x="8522207" y="32369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TextBox 17448"/>
          <p:cNvSpPr txBox="1"/>
          <p:nvPr/>
        </p:nvSpPr>
        <p:spPr>
          <a:xfrm>
            <a:off x="502920" y="1956816"/>
            <a:ext cx="792784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FIG.1  BENEFICIARIES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566928" y="2231136"/>
            <a:ext cx="1847088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TextBox 17450"/>
          <p:cNvSpPr txBox="1"/>
          <p:nvPr/>
        </p:nvSpPr>
        <p:spPr>
          <a:xfrm>
            <a:off x="566928" y="2286000"/>
            <a:ext cx="1847088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0B4F8A"/>
                </a:solidFill>
                <a:latin typeface="Arial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0C1A26"/>
                </a:solidFill>
                <a:latin typeface="Arial"/>
              </a:rPr>
              <a:t>Usability and uncertainty visible before dispatch. Auditable.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2560320" y="2231136"/>
            <a:ext cx="1847088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TextBox 17452"/>
          <p:cNvSpPr txBox="1"/>
          <p:nvPr/>
        </p:nvSpPr>
        <p:spPr>
          <a:xfrm>
            <a:off x="2560320" y="2286000"/>
            <a:ext cx="1847088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0B4F8A"/>
                </a:solidFill>
                <a:latin typeface="Arial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0C1A26"/>
                </a:solidFill>
                <a:latin typeface="Arial"/>
              </a:rPr>
              <a:t>Danger context, emergency support, 23 languages.</a:t>
            </a:r>
          </a:p>
        </p:txBody>
      </p:sp>
      <p:cxnSp>
        <p:nvCxnSpPr>
          <p:cNvPr id="17454" name="Connector 17453"/>
          <p:cNvCxnSpPr/>
          <p:nvPr/>
        </p:nvCxnSpPr>
        <p:spPr>
          <a:xfrm>
            <a:off x="4553712" y="2231136"/>
            <a:ext cx="1847088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5" name="TextBox 17454"/>
          <p:cNvSpPr txBox="1"/>
          <p:nvPr/>
        </p:nvSpPr>
        <p:spPr>
          <a:xfrm>
            <a:off x="4553712" y="2286000"/>
            <a:ext cx="1847088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0B4F8A"/>
                </a:solidFill>
                <a:latin typeface="Arial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0C1A26"/>
                </a:solidFill>
                <a:latin typeface="Arial"/>
              </a:rPr>
              <a:t>Resilient access to food, medicine, fuel, relief.</a:t>
            </a:r>
          </a:p>
        </p:txBody>
      </p:sp>
      <p:cxnSp>
        <p:nvCxnSpPr>
          <p:cNvPr id="17456" name="Connector 17455"/>
          <p:cNvCxnSpPr/>
          <p:nvPr/>
        </p:nvCxnSpPr>
        <p:spPr>
          <a:xfrm>
            <a:off x="6547104" y="2231136"/>
            <a:ext cx="1847088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7" name="TextBox 17456"/>
          <p:cNvSpPr txBox="1"/>
          <p:nvPr/>
        </p:nvSpPr>
        <p:spPr>
          <a:xfrm>
            <a:off x="6547104" y="2286000"/>
            <a:ext cx="1847088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>
                <a:solidFill>
                  <a:srgbClr val="0B4F8A"/>
                </a:solidFill>
                <a:latin typeface="Arial"/>
              </a:rPr>
              <a:t>GOVERNMENT / OPS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0C1A26"/>
                </a:solidFill>
                <a:latin typeface="Arial"/>
              </a:rPr>
              <a:t>Auditable evidence and disruption per corridor.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411480" y="3474720"/>
            <a:ext cx="8110727" cy="1481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59" name="Connector 17458"/>
          <p:cNvCxnSpPr/>
          <p:nvPr/>
        </p:nvCxnSpPr>
        <p:spPr>
          <a:xfrm>
            <a:off x="411480" y="347472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0" name="Connector 17459"/>
          <p:cNvCxnSpPr/>
          <p:nvPr/>
        </p:nvCxnSpPr>
        <p:spPr>
          <a:xfrm>
            <a:off x="411480" y="347472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1" name="Connector 17460"/>
          <p:cNvCxnSpPr/>
          <p:nvPr/>
        </p:nvCxnSpPr>
        <p:spPr>
          <a:xfrm>
            <a:off x="8394191" y="347472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>
            <a:off x="8522207" y="3474720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3" name="Connector 17462"/>
          <p:cNvCxnSpPr/>
          <p:nvPr/>
        </p:nvCxnSpPr>
        <p:spPr>
          <a:xfrm>
            <a:off x="411480" y="49560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4" name="Connector 17463"/>
          <p:cNvCxnSpPr/>
          <p:nvPr/>
        </p:nvCxnSpPr>
        <p:spPr>
          <a:xfrm>
            <a:off x="411480" y="48280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5" name="Connector 17464"/>
          <p:cNvCxnSpPr/>
          <p:nvPr/>
        </p:nvCxnSpPr>
        <p:spPr>
          <a:xfrm>
            <a:off x="8394191" y="49560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6" name="Connector 17465"/>
          <p:cNvCxnSpPr/>
          <p:nvPr/>
        </p:nvCxnSpPr>
        <p:spPr>
          <a:xfrm>
            <a:off x="8522207" y="48280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7" name="TextBox 17466"/>
          <p:cNvSpPr txBox="1"/>
          <p:nvPr/>
        </p:nvSpPr>
        <p:spPr>
          <a:xfrm>
            <a:off x="502920" y="3529584"/>
            <a:ext cx="792784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FIG.2  MEASURED TODAY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566928" y="3785615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4F8A"/>
                </a:solidFill>
                <a:latin typeface="Arial"/>
              </a:rPr>
              <a:t>23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1444752" y="3785615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C1A26"/>
                </a:solidFill>
                <a:latin typeface="Arial"/>
              </a:rPr>
              <a:t>selectable languages, explicit fallback status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566928" y="4151376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4F8A"/>
                </a:solidFill>
                <a:latin typeface="Arial"/>
              </a:rPr>
              <a:t>11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1444752" y="4151376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C1A26"/>
                </a:solidFill>
                <a:latin typeface="Arial"/>
              </a:rPr>
              <a:t>route factors in every decision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566928" y="4517136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4F8A"/>
                </a:solidFill>
                <a:latin typeface="Arial"/>
              </a:rPr>
              <a:t>60 s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1444752" y="4517136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C1A26"/>
                </a:solidFill>
                <a:latin typeface="Arial"/>
              </a:rPr>
              <a:t>route-ahead monitor while driving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4498848" y="3785615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4F8A"/>
                </a:solidFill>
                <a:latin typeface="Arial"/>
              </a:rPr>
              <a:t>12/12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5376672" y="3785615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C1A26"/>
                </a:solidFill>
                <a:latin typeface="Arial"/>
              </a:rPr>
              <a:t>judge-flow steps certified on a physical phone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4498848" y="4151376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4F8A"/>
                </a:solidFill>
                <a:latin typeface="Arial"/>
              </a:rPr>
              <a:t>100 %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5376672" y="4151376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C1A26"/>
                </a:solidFill>
                <a:latin typeface="Arial"/>
              </a:rPr>
              <a:t>of reroutes reviewed by a human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4498848" y="4517136"/>
            <a:ext cx="804672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B4F8A"/>
                </a:solidFill>
                <a:latin typeface="Arial"/>
              </a:rPr>
              <a:t>0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5376672" y="4517136"/>
            <a:ext cx="292608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C1A26"/>
                </a:solidFill>
                <a:latin typeface="Arial"/>
              </a:rPr>
              <a:t>unknown factors counted as safe</a:t>
            </a:r>
          </a:p>
        </p:txBody>
      </p:sp>
      <p:sp>
        <p:nvSpPr>
          <p:cNvPr id="17480" name="Rectangle 17479"/>
          <p:cNvSpPr/>
          <p:nvPr/>
        </p:nvSpPr>
        <p:spPr>
          <a:xfrm>
            <a:off x="411480" y="5065776"/>
            <a:ext cx="8110727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81" name="Connector 17480"/>
          <p:cNvCxnSpPr/>
          <p:nvPr/>
        </p:nvCxnSpPr>
        <p:spPr>
          <a:xfrm>
            <a:off x="411480" y="506577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2" name="Connector 17481"/>
          <p:cNvCxnSpPr/>
          <p:nvPr/>
        </p:nvCxnSpPr>
        <p:spPr>
          <a:xfrm>
            <a:off x="411480" y="50657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3" name="Connector 17482"/>
          <p:cNvCxnSpPr/>
          <p:nvPr/>
        </p:nvCxnSpPr>
        <p:spPr>
          <a:xfrm>
            <a:off x="8394191" y="5065776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4" name="Connector 17483"/>
          <p:cNvCxnSpPr/>
          <p:nvPr/>
        </p:nvCxnSpPr>
        <p:spPr>
          <a:xfrm>
            <a:off x="8522207" y="506577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5" name="Connector 17484"/>
          <p:cNvCxnSpPr/>
          <p:nvPr/>
        </p:nvCxnSpPr>
        <p:spPr>
          <a:xfrm>
            <a:off x="411480" y="629107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6" name="Connector 17485"/>
          <p:cNvCxnSpPr/>
          <p:nvPr/>
        </p:nvCxnSpPr>
        <p:spPr>
          <a:xfrm>
            <a:off x="411480" y="616305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7" name="Connector 17486"/>
          <p:cNvCxnSpPr/>
          <p:nvPr/>
        </p:nvCxnSpPr>
        <p:spPr>
          <a:xfrm>
            <a:off x="8394191" y="6291072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8" name="Connector 17487"/>
          <p:cNvCxnSpPr/>
          <p:nvPr/>
        </p:nvCxnSpPr>
        <p:spPr>
          <a:xfrm>
            <a:off x="8522207" y="6163056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9" name="TextBox 17488"/>
          <p:cNvSpPr txBox="1"/>
          <p:nvPr/>
        </p:nvSpPr>
        <p:spPr>
          <a:xfrm>
            <a:off x="502920" y="5120640"/>
            <a:ext cx="7927848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FIG.3  GOVERNANCE — AI HAS NO UNCONTROLLED AUTHORITY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566928" y="5358384"/>
            <a:ext cx="777240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rial"/>
              </a:rPr>
              <a:t>FOOD  ·  MEDICINE  ·  FUEL  ·  RELIEF SUPPLIES</a:t>
            </a:r>
            <a:r>
              <a:rPr sz="950" b="0">
                <a:solidFill>
                  <a:srgbClr val="4A5C6A"/>
                </a:solidFill>
                <a:latin typeface="Arial"/>
              </a:rPr>
              <a:t>   — essential logistics for hill communities, decided on evidence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566928" y="5687568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0C1A26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Verified evidence</a:t>
            </a:r>
          </a:p>
        </p:txBody>
      </p:sp>
      <p:cxnSp>
        <p:nvCxnSpPr>
          <p:cNvPr id="17492" name="Connector 17491"/>
          <p:cNvCxnSpPr/>
          <p:nvPr/>
        </p:nvCxnSpPr>
        <p:spPr>
          <a:xfrm>
            <a:off x="2395728" y="5843016"/>
            <a:ext cx="146304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3" name="Rounded Rectangle 17492"/>
          <p:cNvSpPr/>
          <p:nvPr/>
        </p:nvSpPr>
        <p:spPr>
          <a:xfrm>
            <a:off x="2560320" y="5687568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C1A26"/>
                </a:solidFill>
                <a:latin typeface="Arial"/>
              </a:rPr>
              <a:t>Deterministic safety policy</a:t>
            </a:r>
          </a:p>
        </p:txBody>
      </p:sp>
      <p:cxnSp>
        <p:nvCxnSpPr>
          <p:cNvPr id="17494" name="Connector 17493"/>
          <p:cNvCxnSpPr/>
          <p:nvPr/>
        </p:nvCxnSpPr>
        <p:spPr>
          <a:xfrm>
            <a:off x="4389120" y="5843016"/>
            <a:ext cx="146304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5" name="Rounded Rectangle 17494"/>
          <p:cNvSpPr/>
          <p:nvPr/>
        </p:nvSpPr>
        <p:spPr>
          <a:xfrm>
            <a:off x="4553712" y="5687568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C1A26"/>
                </a:solidFill>
                <a:latin typeface="Arial"/>
              </a:rPr>
              <a:t>Manager governance</a:t>
            </a:r>
          </a:p>
        </p:txBody>
      </p:sp>
      <p:cxnSp>
        <p:nvCxnSpPr>
          <p:cNvPr id="17496" name="Connector 17495"/>
          <p:cNvCxnSpPr/>
          <p:nvPr/>
        </p:nvCxnSpPr>
        <p:spPr>
          <a:xfrm>
            <a:off x="6382512" y="5843016"/>
            <a:ext cx="146304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7" name="Rounded Rectangle 17496"/>
          <p:cNvSpPr/>
          <p:nvPr/>
        </p:nvSpPr>
        <p:spPr>
          <a:xfrm>
            <a:off x="6547104" y="5687568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50" b="1">
                <a:solidFill>
                  <a:srgbClr val="0C1A26"/>
                </a:solidFill>
                <a:latin typeface="Arial"/>
              </a:rPr>
              <a:t>Driver action</a:t>
            </a:r>
          </a:p>
        </p:txBody>
      </p:sp>
      <p:sp>
        <p:nvSpPr>
          <p:cNvPr id="17498" name="Rectangle 17497"/>
          <p:cNvSpPr/>
          <p:nvPr/>
        </p:nvSpPr>
        <p:spPr>
          <a:xfrm>
            <a:off x="8686800" y="1097280"/>
            <a:ext cx="3090672" cy="5230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99" name="Connector 17498"/>
          <p:cNvCxnSpPr/>
          <p:nvPr/>
        </p:nvCxnSpPr>
        <p:spPr>
          <a:xfrm>
            <a:off x="8686800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0" name="Connector 17499"/>
          <p:cNvCxnSpPr/>
          <p:nvPr/>
        </p:nvCxnSpPr>
        <p:spPr>
          <a:xfrm>
            <a:off x="8686800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1" name="Connector 17500"/>
          <p:cNvCxnSpPr/>
          <p:nvPr/>
        </p:nvCxnSpPr>
        <p:spPr>
          <a:xfrm>
            <a:off x="11649455" y="1097280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2" name="Connector 17501"/>
          <p:cNvCxnSpPr/>
          <p:nvPr/>
        </p:nvCxnSpPr>
        <p:spPr>
          <a:xfrm>
            <a:off x="11777472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3" name="Connector 17502"/>
          <p:cNvCxnSpPr/>
          <p:nvPr/>
        </p:nvCxnSpPr>
        <p:spPr>
          <a:xfrm>
            <a:off x="8686800" y="6327648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4" name="Connector 17503"/>
          <p:cNvCxnSpPr/>
          <p:nvPr/>
        </p:nvCxnSpPr>
        <p:spPr>
          <a:xfrm>
            <a:off x="8686800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5" name="Connector 17504"/>
          <p:cNvCxnSpPr/>
          <p:nvPr/>
        </p:nvCxnSpPr>
        <p:spPr>
          <a:xfrm>
            <a:off x="11649455" y="6327648"/>
            <a:ext cx="128017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6" name="Connector 17505"/>
          <p:cNvCxnSpPr/>
          <p:nvPr/>
        </p:nvCxnSpPr>
        <p:spPr>
          <a:xfrm>
            <a:off x="11777472" y="6199632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7" name="TextBox 17506"/>
          <p:cNvSpPr txBox="1"/>
          <p:nvPr/>
        </p:nvSpPr>
        <p:spPr>
          <a:xfrm>
            <a:off x="8778240" y="1152144"/>
            <a:ext cx="2907791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FIG.4  AS BUILT — APK 1.0.18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8801100" y="1485900"/>
            <a:ext cx="1648365" cy="2295144"/>
          </a:xfrm>
          <a:prstGeom prst="roundRect">
            <a:avLst>
              <a:gd name="adj" fmla="val 3328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9" name="Picture 17508" descr="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1517904"/>
            <a:ext cx="1584357" cy="2231136"/>
          </a:xfrm>
          <a:prstGeom prst="rect">
            <a:avLst/>
          </a:prstGeom>
        </p:spPr>
      </p:pic>
      <p:sp>
        <p:nvSpPr>
          <p:cNvPr id="17510" name="Rounded Rectangle 17509"/>
          <p:cNvSpPr/>
          <p:nvPr/>
        </p:nvSpPr>
        <p:spPr>
          <a:xfrm>
            <a:off x="10513473" y="1485900"/>
            <a:ext cx="1116304" cy="2295144"/>
          </a:xfrm>
          <a:prstGeom prst="roundRect">
            <a:avLst>
              <a:gd name="adj" fmla="val 4914"/>
            </a:avLst>
          </a:prstGeom>
          <a:solidFill>
            <a:srgbClr val="FFFFFF"/>
          </a:solidFill>
          <a:ln w="9525">
            <a:solidFill>
              <a:srgbClr val="C9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1" name="Picture 17510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5477" y="1517904"/>
            <a:ext cx="1052296" cy="2231136"/>
          </a:xfrm>
          <a:prstGeom prst="rect">
            <a:avLst/>
          </a:prstGeom>
        </p:spPr>
      </p:pic>
      <p:sp>
        <p:nvSpPr>
          <p:cNvPr id="17512" name="TextBox 17511"/>
          <p:cNvSpPr txBox="1"/>
          <p:nvPr/>
        </p:nvSpPr>
        <p:spPr>
          <a:xfrm>
            <a:off x="8833104" y="3822191"/>
            <a:ext cx="1584357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0B4F8A"/>
                </a:solidFill>
                <a:latin typeface="Courier New"/>
              </a:rPr>
              <a:t>23 LANGUAGES</a:t>
            </a:r>
          </a:p>
        </p:txBody>
      </p:sp>
      <p:sp>
        <p:nvSpPr>
          <p:cNvPr id="17513" name="TextBox 17512"/>
          <p:cNvSpPr txBox="1"/>
          <p:nvPr/>
        </p:nvSpPr>
        <p:spPr>
          <a:xfrm>
            <a:off x="10545477" y="3822191"/>
            <a:ext cx="1052296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1">
                <a:solidFill>
                  <a:srgbClr val="0B4F8A"/>
                </a:solidFill>
                <a:latin typeface="Courier New"/>
              </a:rPr>
              <a:t>MANAGER / MOBILE</a:t>
            </a:r>
          </a:p>
        </p:txBody>
      </p:sp>
      <p:sp>
        <p:nvSpPr>
          <p:cNvPr id="17514" name="TextBox 17513"/>
          <p:cNvSpPr txBox="1"/>
          <p:nvPr/>
        </p:nvSpPr>
        <p:spPr>
          <a:xfrm>
            <a:off x="8833104" y="4114800"/>
            <a:ext cx="2798064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APK 1.0.18. One login, server-decided role. Every language shows its status — Verified, Draft or English fallback.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060704"/>
          </a:xfrm>
        </p:spPr>
        <p:txBody>
          <a:bodyPr anchor="ctr"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0C1A26"/>
                </a:solidFill>
                <a:latin typeface="Arial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7410" name="Connector 17409"/>
          <p:cNvCxnSpPr/>
          <p:nvPr/>
        </p:nvCxnSpPr>
        <p:spPr>
          <a:xfrm>
            <a:off x="274320" y="109728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1" name="Connector 17410"/>
          <p:cNvCxnSpPr/>
          <p:nvPr/>
        </p:nvCxnSpPr>
        <p:spPr>
          <a:xfrm>
            <a:off x="274320" y="170078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2" name="Connector 17411"/>
          <p:cNvCxnSpPr/>
          <p:nvPr/>
        </p:nvCxnSpPr>
        <p:spPr>
          <a:xfrm>
            <a:off x="274320" y="230428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Connector 17412"/>
          <p:cNvCxnSpPr/>
          <p:nvPr/>
        </p:nvCxnSpPr>
        <p:spPr>
          <a:xfrm>
            <a:off x="274320" y="290779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4" name="Connector 17413"/>
          <p:cNvCxnSpPr/>
          <p:nvPr/>
        </p:nvCxnSpPr>
        <p:spPr>
          <a:xfrm>
            <a:off x="274320" y="3511296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Connector 17414"/>
          <p:cNvCxnSpPr/>
          <p:nvPr/>
        </p:nvCxnSpPr>
        <p:spPr>
          <a:xfrm>
            <a:off x="274320" y="4114800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Connector 17415"/>
          <p:cNvCxnSpPr/>
          <p:nvPr/>
        </p:nvCxnSpPr>
        <p:spPr>
          <a:xfrm>
            <a:off x="274320" y="4718304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7" name="Connector 17416"/>
          <p:cNvCxnSpPr/>
          <p:nvPr/>
        </p:nvCxnSpPr>
        <p:spPr>
          <a:xfrm>
            <a:off x="274320" y="5321808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8" name="Connector 17417"/>
          <p:cNvCxnSpPr/>
          <p:nvPr/>
        </p:nvCxnSpPr>
        <p:spPr>
          <a:xfrm>
            <a:off x="274320" y="5925312"/>
            <a:ext cx="11640312" cy="0"/>
          </a:xfrm>
          <a:prstGeom prst="line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27432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87782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148132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208483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268833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4" name="Connector 17423"/>
          <p:cNvCxnSpPr/>
          <p:nvPr/>
        </p:nvCxnSpPr>
        <p:spPr>
          <a:xfrm>
            <a:off x="329184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Connector 17424"/>
          <p:cNvCxnSpPr/>
          <p:nvPr/>
        </p:nvCxnSpPr>
        <p:spPr>
          <a:xfrm>
            <a:off x="389534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Connector 17425"/>
          <p:cNvCxnSpPr/>
          <p:nvPr/>
        </p:nvCxnSpPr>
        <p:spPr>
          <a:xfrm>
            <a:off x="449884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>
            <a:off x="510235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>
            <a:off x="570585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9" name="Connector 17428"/>
          <p:cNvCxnSpPr/>
          <p:nvPr/>
        </p:nvCxnSpPr>
        <p:spPr>
          <a:xfrm>
            <a:off x="630936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0" name="Connector 17429"/>
          <p:cNvCxnSpPr/>
          <p:nvPr/>
        </p:nvCxnSpPr>
        <p:spPr>
          <a:xfrm>
            <a:off x="691286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1" name="Connector 17430"/>
          <p:cNvCxnSpPr/>
          <p:nvPr/>
        </p:nvCxnSpPr>
        <p:spPr>
          <a:xfrm>
            <a:off x="751636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2" name="Connector 17431"/>
          <p:cNvCxnSpPr/>
          <p:nvPr/>
        </p:nvCxnSpPr>
        <p:spPr>
          <a:xfrm>
            <a:off x="811987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3" name="Connector 17432"/>
          <p:cNvCxnSpPr/>
          <p:nvPr/>
        </p:nvCxnSpPr>
        <p:spPr>
          <a:xfrm>
            <a:off x="872337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4" name="Connector 17433"/>
          <p:cNvCxnSpPr/>
          <p:nvPr/>
        </p:nvCxnSpPr>
        <p:spPr>
          <a:xfrm>
            <a:off x="9326880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 17434"/>
          <p:cNvCxnSpPr/>
          <p:nvPr/>
        </p:nvCxnSpPr>
        <p:spPr>
          <a:xfrm>
            <a:off x="9930384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>
            <a:off x="10533888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 17436"/>
          <p:cNvCxnSpPr/>
          <p:nvPr/>
        </p:nvCxnSpPr>
        <p:spPr>
          <a:xfrm>
            <a:off x="11137392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8" name="Connector 17437"/>
          <p:cNvCxnSpPr/>
          <p:nvPr/>
        </p:nvCxnSpPr>
        <p:spPr>
          <a:xfrm>
            <a:off x="11740896" y="1097280"/>
            <a:ext cx="0" cy="5257800"/>
          </a:xfrm>
          <a:prstGeom prst="bentConnector3">
            <a:avLst/>
          </a:prstGeom>
          <a:ln w="5080">
            <a:solidFill>
              <a:srgbClr val="C9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ectangle 17438"/>
          <p:cNvSpPr/>
          <p:nvPr/>
        </p:nvSpPr>
        <p:spPr>
          <a:xfrm>
            <a:off x="384048" y="1097280"/>
            <a:ext cx="6766560" cy="4443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40" name="Connector 17439"/>
          <p:cNvCxnSpPr/>
          <p:nvPr/>
        </p:nvCxnSpPr>
        <p:spPr>
          <a:xfrm>
            <a:off x="384048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1" name="Connector 17440"/>
          <p:cNvCxnSpPr/>
          <p:nvPr/>
        </p:nvCxnSpPr>
        <p:spPr>
          <a:xfrm>
            <a:off x="384048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>
            <a:off x="7022592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3" name="Connector 17442"/>
          <p:cNvCxnSpPr/>
          <p:nvPr/>
        </p:nvCxnSpPr>
        <p:spPr>
          <a:xfrm>
            <a:off x="7150608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4" name="Connector 17443"/>
          <p:cNvCxnSpPr/>
          <p:nvPr/>
        </p:nvCxnSpPr>
        <p:spPr>
          <a:xfrm>
            <a:off x="384048" y="554126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5" name="Connector 17444"/>
          <p:cNvCxnSpPr/>
          <p:nvPr/>
        </p:nvCxnSpPr>
        <p:spPr>
          <a:xfrm>
            <a:off x="384048" y="541324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6" name="Connector 17445"/>
          <p:cNvCxnSpPr/>
          <p:nvPr/>
        </p:nvCxnSpPr>
        <p:spPr>
          <a:xfrm>
            <a:off x="7022592" y="554126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7" name="Connector 17446"/>
          <p:cNvCxnSpPr/>
          <p:nvPr/>
        </p:nvCxnSpPr>
        <p:spPr>
          <a:xfrm>
            <a:off x="7150608" y="541324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TextBox 17447"/>
          <p:cNvSpPr txBox="1"/>
          <p:nvPr/>
        </p:nvSpPr>
        <p:spPr>
          <a:xfrm>
            <a:off x="475488" y="1152144"/>
            <a:ext cx="658368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FIG.1  EVIDENCE SOURCES BEHIND THE ROUTE DECISION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548640" y="1444752"/>
            <a:ext cx="3072384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TextBox 17449"/>
          <p:cNvSpPr txBox="1"/>
          <p:nvPr/>
        </p:nvSpPr>
        <p:spPr>
          <a:xfrm>
            <a:off x="548640" y="1499616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C1A26"/>
                </a:solidFill>
                <a:latin typeface="Arial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Road geometry, alternatives, turn steps.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3803904" y="1444752"/>
            <a:ext cx="3072384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TextBox 17451"/>
          <p:cNvSpPr txBox="1"/>
          <p:nvPr/>
        </p:nvSpPr>
        <p:spPr>
          <a:xfrm>
            <a:off x="3803904" y="1499616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C1A26"/>
                </a:solidFill>
                <a:latin typeface="Arial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Forecast along the road; climb, gradient, steep segments.</a:t>
            </a:r>
          </a:p>
        </p:txBody>
      </p:sp>
      <p:cxnSp>
        <p:nvCxnSpPr>
          <p:cNvPr id="17453" name="Connector 17452"/>
          <p:cNvCxnSpPr/>
          <p:nvPr/>
        </p:nvCxnSpPr>
        <p:spPr>
          <a:xfrm>
            <a:off x="548640" y="2761488"/>
            <a:ext cx="3072384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4" name="TextBox 17453"/>
          <p:cNvSpPr txBox="1"/>
          <p:nvPr/>
        </p:nvSpPr>
        <p:spPr>
          <a:xfrm>
            <a:off x="548640" y="2816352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C1A26"/>
                </a:solidFill>
                <a:latin typeface="Arial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Official warnings with freshness; discharge vs 30-day mean.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3803904" y="2761488"/>
            <a:ext cx="3072384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TextBox 17455"/>
          <p:cNvSpPr txBox="1"/>
          <p:nvPr/>
        </p:nvSpPr>
        <p:spPr>
          <a:xfrm>
            <a:off x="3803904" y="2816352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C1A26"/>
                </a:solidFill>
                <a:latin typeface="Arial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Historical exposure, 2007–2017, ≤5 km accuracy.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548640" y="4078224"/>
            <a:ext cx="3072384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TextBox 17457"/>
          <p:cNvSpPr txBox="1"/>
          <p:nvPr/>
        </p:nvSpPr>
        <p:spPr>
          <a:xfrm>
            <a:off x="548640" y="4133087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C1A26"/>
                </a:solidFill>
                <a:latin typeface="Arial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Explains in the driver's language. Never safety authority.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3803904" y="4078224"/>
            <a:ext cx="3072384" cy="0"/>
          </a:xfrm>
          <a:prstGeom prst="line">
            <a:avLst/>
          </a:prstGeom>
          <a:ln w="1524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TextBox 17459"/>
          <p:cNvSpPr txBox="1"/>
          <p:nvPr/>
        </p:nvSpPr>
        <p:spPr>
          <a:xfrm>
            <a:off x="3803904" y="4133087"/>
            <a:ext cx="3072384" cy="11338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0C1A26"/>
                </a:solidFill>
                <a:latin typeface="Arial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Smart logistics and accessibility intelligence for the NER.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7360920" y="1097280"/>
            <a:ext cx="4416552" cy="44439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462" name="Connector 17461"/>
          <p:cNvCxnSpPr/>
          <p:nvPr/>
        </p:nvCxnSpPr>
        <p:spPr>
          <a:xfrm>
            <a:off x="7360920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3" name="Connector 17462"/>
          <p:cNvCxnSpPr/>
          <p:nvPr/>
        </p:nvCxnSpPr>
        <p:spPr>
          <a:xfrm>
            <a:off x="7360920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4" name="Connector 17463"/>
          <p:cNvCxnSpPr/>
          <p:nvPr/>
        </p:nvCxnSpPr>
        <p:spPr>
          <a:xfrm>
            <a:off x="11649456" y="1097280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5" name="Connector 17464"/>
          <p:cNvCxnSpPr/>
          <p:nvPr/>
        </p:nvCxnSpPr>
        <p:spPr>
          <a:xfrm>
            <a:off x="11777472" y="1097280"/>
            <a:ext cx="0" cy="128015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6" name="Connector 17465"/>
          <p:cNvCxnSpPr/>
          <p:nvPr/>
        </p:nvCxnSpPr>
        <p:spPr>
          <a:xfrm>
            <a:off x="7360920" y="554126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7" name="Connector 17466"/>
          <p:cNvCxnSpPr/>
          <p:nvPr/>
        </p:nvCxnSpPr>
        <p:spPr>
          <a:xfrm>
            <a:off x="7360920" y="541324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8" name="Connector 17467"/>
          <p:cNvCxnSpPr/>
          <p:nvPr/>
        </p:nvCxnSpPr>
        <p:spPr>
          <a:xfrm>
            <a:off x="11649456" y="5541264"/>
            <a:ext cx="128016" cy="0"/>
          </a:xfrm>
          <a:prstGeom prst="line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9" name="Connector 17468"/>
          <p:cNvCxnSpPr/>
          <p:nvPr/>
        </p:nvCxnSpPr>
        <p:spPr>
          <a:xfrm>
            <a:off x="11777472" y="5413248"/>
            <a:ext cx="0" cy="128016"/>
          </a:xfrm>
          <a:prstGeom prst="bentConnector3">
            <a:avLst/>
          </a:prstGeom>
          <a:ln w="13970">
            <a:solidFill>
              <a:srgbClr val="0B4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TextBox 17469"/>
          <p:cNvSpPr txBox="1"/>
          <p:nvPr/>
        </p:nvSpPr>
        <p:spPr>
          <a:xfrm>
            <a:off x="7452360" y="1152144"/>
            <a:ext cx="4233672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B4F8A"/>
                </a:solidFill>
                <a:latin typeface="Courier New"/>
              </a:rPr>
              <a:t>FIG.2  EXPERIMENTAL LANDSLIDE RESEARCH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516368" y="1499616"/>
            <a:ext cx="1691640" cy="85953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0C1A26"/>
                </a:solidFill>
                <a:latin typeface="Arial"/>
              </a:rPr>
              <a:t>95 %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9208008" y="1536192"/>
            <a:ext cx="2423160" cy="8046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C1A26"/>
                </a:solidFill>
                <a:latin typeface="Arial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4A5C6A"/>
                </a:solidFill>
                <a:latin typeface="Arial"/>
              </a:rPr>
              <a:t>NER geographic holdout · 154 events · no NER row in training</a:t>
            </a:r>
          </a:p>
        </p:txBody>
      </p:sp>
      <p:sp>
        <p:nvSpPr>
          <p:cNvPr id="17473" name="Rectangle 17472"/>
          <p:cNvSpPr/>
          <p:nvPr/>
        </p:nvSpPr>
        <p:spPr>
          <a:xfrm>
            <a:off x="7516368" y="2487168"/>
            <a:ext cx="4114800" cy="731520"/>
          </a:xfrm>
          <a:prstGeom prst="rect">
            <a:avLst/>
          </a:prstGeom>
          <a:solidFill>
            <a:srgbClr val="0C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4" name="TextBox 17473"/>
          <p:cNvSpPr txBox="1"/>
          <p:nvPr/>
        </p:nvSpPr>
        <p:spPr>
          <a:xfrm>
            <a:off x="7516368" y="2542032"/>
            <a:ext cx="411480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C9CA8"/>
                </a:solidFill>
                <a:latin typeface="Courier New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NOT DEPLOYED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7516368" y="3291840"/>
            <a:ext cx="411480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9F1239"/>
                </a:solidFill>
                <a:latin typeface="Arial"/>
              </a:rPr>
              <a:t>FPR 50 %</a:t>
            </a:r>
            <a:r>
              <a:rPr sz="1000" b="0">
                <a:solidFill>
                  <a:srgbClr val="4A5C6A"/>
                </a:solidFill>
                <a:latin typeface="Arial"/>
              </a:rPr>
              <a:t>   too high for production deployment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7516368" y="365760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TRAIN</a:t>
            </a:r>
          </a:p>
        </p:txBody>
      </p:sp>
      <p:cxnSp>
        <p:nvCxnSpPr>
          <p:cNvPr id="17477" name="Connector 17476"/>
          <p:cNvCxnSpPr/>
          <p:nvPr/>
        </p:nvCxnSpPr>
        <p:spPr>
          <a:xfrm>
            <a:off x="8247888" y="3785615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8" name="Rounded Rectangle 17477"/>
          <p:cNvSpPr/>
          <p:nvPr/>
        </p:nvSpPr>
        <p:spPr>
          <a:xfrm>
            <a:off x="8302752" y="3657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HELD-OUT NER TEST</a:t>
            </a:r>
          </a:p>
        </p:txBody>
      </p:sp>
      <p:cxnSp>
        <p:nvCxnSpPr>
          <p:cNvPr id="17479" name="Connector 17478"/>
          <p:cNvCxnSpPr/>
          <p:nvPr/>
        </p:nvCxnSpPr>
        <p:spPr>
          <a:xfrm>
            <a:off x="9784080" y="3785615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0" name="Rounded Rectangle 17479"/>
          <p:cNvSpPr/>
          <p:nvPr/>
        </p:nvSpPr>
        <p:spPr>
          <a:xfrm>
            <a:off x="9838944" y="365760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USEFUL SIGNAL FOUND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7516368" y="4005072"/>
            <a:ext cx="179222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FALSE POSITIVES TOO HIGH</a:t>
            </a:r>
          </a:p>
        </p:txBody>
      </p:sp>
      <p:cxnSp>
        <p:nvCxnSpPr>
          <p:cNvPr id="17482" name="Connector 17481"/>
          <p:cNvCxnSpPr/>
          <p:nvPr/>
        </p:nvCxnSpPr>
        <p:spPr>
          <a:xfrm>
            <a:off x="9326880" y="4133087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3" name="Rounded Rectangle 17482"/>
          <p:cNvSpPr/>
          <p:nvPr/>
        </p:nvSpPr>
        <p:spPr>
          <a:xfrm>
            <a:off x="9381744" y="4005072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SAFETY GATE</a:t>
            </a:r>
          </a:p>
        </p:txBody>
      </p:sp>
      <p:cxnSp>
        <p:nvCxnSpPr>
          <p:cNvPr id="17484" name="Connector 17483"/>
          <p:cNvCxnSpPr/>
          <p:nvPr/>
        </p:nvCxnSpPr>
        <p:spPr>
          <a:xfrm>
            <a:off x="10387584" y="4133087"/>
            <a:ext cx="36576" cy="0"/>
          </a:xfrm>
          <a:prstGeom prst="line">
            <a:avLst/>
          </a:prstGeom>
          <a:ln w="15875">
            <a:solidFill>
              <a:srgbClr val="0C1A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5" name="Rounded Rectangle 17484"/>
          <p:cNvSpPr/>
          <p:nvPr/>
        </p:nvSpPr>
        <p:spPr>
          <a:xfrm>
            <a:off x="10442448" y="4005072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C1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0C1A26"/>
                </a:solidFill>
                <a:latin typeface="Arial"/>
              </a:rPr>
              <a:t>NOT DEPLOYED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7516368" y="4389120"/>
            <a:ext cx="41148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B4F8A"/>
                </a:solidFill>
                <a:latin typeface="Arial"/>
              </a:rPr>
              <a:t>VALIDATION BEFORE AUTOMATION. </a:t>
            </a:r>
            <a:r>
              <a:rPr sz="1000" b="0">
                <a:solidFill>
                  <a:srgbClr val="0C1A26"/>
                </a:solidFill>
                <a:latin typeface="Arial"/>
              </a:rPr>
              <a:t>Recall was not enough. Held-out testing exposed the false-positive rate. The gate keeps it out of routing.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7516368" y="5010912"/>
            <a:ext cx="41148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4A5C6A"/>
                </a:solidFill>
                <a:latin typeface="Courier New"/>
              </a:rPr>
              <a:t>Precision 0.32 · F1 0.48 · PR-AUC 0.55 · ROC-AUC 0.83 · Brier 0.12  —  calibrated logistic regression, NASA GLC + ERA5-Land rain + DEM slope</a:t>
            </a:r>
          </a:p>
        </p:txBody>
      </p:sp>
      <p:cxnSp>
        <p:nvCxnSpPr>
          <p:cNvPr id="17488" name="Connector 17487"/>
          <p:cNvCxnSpPr/>
          <p:nvPr/>
        </p:nvCxnSpPr>
        <p:spPr>
          <a:xfrm>
            <a:off x="384048" y="5632704"/>
            <a:ext cx="11393424" cy="0"/>
          </a:xfrm>
          <a:prstGeom prst="line">
            <a:avLst/>
          </a:prstGeom>
          <a:ln w="12700">
            <a:solidFill>
              <a:srgbClr val="0C1A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9" name="TextBox 17488"/>
          <p:cNvSpPr txBox="1"/>
          <p:nvPr/>
        </p:nvSpPr>
        <p:spPr>
          <a:xfrm>
            <a:off x="384048" y="5870448"/>
            <a:ext cx="11393424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8C9CA8"/>
                </a:solidFill>
                <a:latin typeface="Courier New"/>
              </a:rPr>
              <a:t>REFERENCES   </a:t>
            </a:r>
            <a:r>
              <a:rPr sz="850" b="0">
                <a:solidFill>
                  <a:srgbClr val="4A5C6A"/>
                </a:solidFill>
                <a:latin typeface="Arial"/>
              </a:rPr>
              <a:t>gpm.nasa.gov/landslides  ·  sachet.ndma.gov.in  ·  global-flood.emergency.copernicus.eu  ·  open-meteo.com  ·  api.met.no  ·  opentopodata.org  ·  project-osrm.org  ·  openstreetmap.org  ·  github.com/nxtlucifer/ner-ai-logistics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/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