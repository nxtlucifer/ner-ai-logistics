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Judge answer on ML: We trained and evaluated a landslide-hazard model, but deliberately keep it outside production routing because its geographic false-positive rate is still too high (recall 0.95 at FPR 0.50 on the NER holdout). This prevents unreliable ML from making safety-critical decisions. Tests: backend 1138 passed / 5 skipped, driver 621, manager 170 (14 Sep 2026, commit 0b89ddf). Physical certification: docs/terrain/HANDOFF.md section 9; judge flow 12/12, role flow 9/9 on APK 1.0.18.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t>Full references:</a:t>
            </a:r>
          </a:p>
          <a:p>
            <a:r>
              <a:t>NASA Global Landslide Catalog — https://gpm.nasa.gov/landslides/ (data via https://data.nasa.gov)</a:t>
            </a:r>
          </a:p>
          <a:p>
            <a:r>
              <a:t>NDMA SACHET CAP alerts — https://sachet.ndma.gov.in</a:t>
            </a:r>
          </a:p>
          <a:p>
            <a:r>
              <a:t>GloFAS (Copernicus Emergency Management Service) — https://global-flood.emergency.copernicus.eu ; flood API via https://open-meteo.com/en/docs/flood-api</a:t>
            </a:r>
          </a:p>
          <a:p>
            <a:r>
              <a:t>Open-Meteo forecast / ERA5-Land archive — https://open-meteo.com ; MET Norway Locationforecast — https://api.met.no</a:t>
            </a:r>
          </a:p>
          <a:p>
            <a:r>
              <a:t>OpenTopoData — https://www.opentopodata.org ; Copernicus DEM GLO-90 — https://spacedata.copernicus.eu</a:t>
            </a:r>
          </a:p>
          <a:p>
            <a:r>
              <a:t>OSRM — https://project-osrm.org ; OpenStreetMap — https://www.openstreetmap.org</a:t>
            </a:r>
          </a:p>
          <a:p>
            <a:r>
              <a:t>Repository — https://github.com/nxtlucifer/ner-ai-logistics (docs/MODEL_REGISTRY.md, docs/HAZARD_ERROR_ANALYSIS.md, docs/AI_INVENTORY.md)</a:t>
            </a:r>
          </a:p>
          <a:p>
            <a:r>
              <a:t>Model metrics (experimental, not deployed): NER holdout n=770, 154 events; recall 0.95, precision 0.32, F1 0.48, PR-AUC 0.55, ROC-AUC 0.83, FPR 0.50, Brier 0.12; temporal split recall 0.90 @ FPR 0.38.</a:t>
            </a: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9281160" cy="2076450"/>
          </a:xfrm>
        </p:spPr>
        <p:txBody>
          <a:bodyPr/>
          <a:lstStyle/>
          <a:p>
            <a:r>
              <a:rPr lang="en-US" sz="34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34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34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411480" y="1097280"/>
            <a:ext cx="6263640" cy="5321808"/>
          </a:xfrm>
          <a:prstGeom prst="roundRect">
            <a:avLst>
              <a:gd name="adj" fmla="val 1718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8" name="Picture 37" descr="brand-m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1280160"/>
            <a:ext cx="749808" cy="74980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481328" y="1243584"/>
            <a:ext cx="4937760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300" b="1">
                <a:solidFill>
                  <a:srgbClr val="101820"/>
                </a:solidFill>
                <a:latin typeface="Calibri"/>
              </a:rPr>
              <a:t>RASTA AI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99616" y="1737360"/>
            <a:ext cx="5029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Route Intelligence for Essential-Supply Logistics in North Eastern India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" y="2212848"/>
            <a:ext cx="1874519" cy="5486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2300" b="1">
                <a:solidFill>
                  <a:srgbClr val="FFFFFF"/>
                </a:solidFill>
                <a:latin typeface="Calibri"/>
              </a:rPr>
              <a:t>SIH26002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70048" y="2231136"/>
            <a:ext cx="3840480" cy="5120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Calibri"/>
              </a:rPr>
              <a:t>Problem Statement ID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101820"/>
                </a:solidFill>
                <a:latin typeface="Calibri"/>
              </a:rPr>
              <a:t>MDoNER · Smart Automation · Software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" y="2907792"/>
            <a:ext cx="19659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6B7280"/>
                </a:solidFill>
                <a:latin typeface="Calibri"/>
              </a:rPr>
              <a:t>PROBLEM STATEMENT 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87752" y="2880360"/>
            <a:ext cx="391363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01820"/>
                </a:solidFill>
                <a:latin typeface="Calibri"/>
              </a:rPr>
              <a:t>SIH26002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21792" y="3182112"/>
            <a:ext cx="585216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21792" y="3218688"/>
            <a:ext cx="1965960" cy="4389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6B7280"/>
                </a:solidFill>
                <a:latin typeface="Calibri"/>
              </a:rPr>
              <a:t>PROBLEM STATEMENT TITLE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87752" y="3191256"/>
            <a:ext cx="3913632" cy="4389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01820"/>
                </a:solidFill>
                <a:latin typeface="Calibri"/>
              </a:rPr>
              <a:t>AI-Based Smart Logistics and Accessibility Intelligence Platform for North Eastern Region (NER)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21792" y="3675887"/>
            <a:ext cx="585216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21792" y="3712464"/>
            <a:ext cx="19659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6B7280"/>
                </a:solidFill>
                <a:latin typeface="Calibri"/>
              </a:rPr>
              <a:t>THEME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87752" y="3685032"/>
            <a:ext cx="391363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01820"/>
                </a:solidFill>
                <a:latin typeface="Calibri"/>
              </a:rPr>
              <a:t>Smart Automation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21792" y="3986784"/>
            <a:ext cx="585216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21792" y="4023360"/>
            <a:ext cx="19659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6B7280"/>
                </a:solidFill>
                <a:latin typeface="Calibri"/>
              </a:rPr>
              <a:t>PS CATEGORY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87752" y="3995928"/>
            <a:ext cx="391363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101820"/>
                </a:solidFill>
                <a:latin typeface="Calibri"/>
              </a:rPr>
              <a:t>Software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21792" y="4297680"/>
            <a:ext cx="585216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21792" y="4334256"/>
            <a:ext cx="19659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6B7280"/>
                </a:solidFill>
                <a:latin typeface="Calibri"/>
              </a:rPr>
              <a:t>TEAM ID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87752" y="4306824"/>
            <a:ext cx="391363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01820"/>
                </a:solidFill>
                <a:latin typeface="Calibri"/>
              </a:rPr>
              <a:t>17  (internal group no.)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21792" y="4608576"/>
            <a:ext cx="585216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21792" y="4645152"/>
            <a:ext cx="196596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6B7280"/>
                </a:solidFill>
                <a:latin typeface="Calibri"/>
              </a:rPr>
              <a:t>TEAM NAME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87752" y="4617720"/>
            <a:ext cx="391363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01820"/>
                </a:solidFill>
                <a:latin typeface="Calibri"/>
              </a:rPr>
              <a:t>NER-AI LOGISTICS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21792" y="4919472"/>
            <a:ext cx="585216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21792" y="5047488"/>
            <a:ext cx="585216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101820"/>
                </a:solidFill>
                <a:latin typeface="Calibri"/>
              </a:rPr>
              <a:t>SHORTEST IS NOT ALWAYS USABLE.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1792" y="5458968"/>
            <a:ext cx="5852160" cy="347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2563EB"/>
                </a:solidFill>
                <a:latin typeface="Calibri"/>
              </a:rPr>
              <a:t>“Can this essential-supply truck reliably use this corridor now?”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1792" y="5833872"/>
            <a:ext cx="585216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059669"/>
                </a:solidFill>
                <a:latin typeface="Calibri"/>
              </a:rPr>
              <a:t>End-to-end working prototype · physical-phone validated · live demo corridor Guwahati → Shillong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858000" y="1097280"/>
            <a:ext cx="4937760" cy="5321808"/>
          </a:xfrm>
          <a:prstGeom prst="roundRect">
            <a:avLst>
              <a:gd name="adj" fmla="val 1851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7004304" y="1170432"/>
            <a:ext cx="4645152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Calibri"/>
              </a:rPr>
              <a:t>LIVE WORKING SYSTEM</a:t>
            </a:r>
            <a:r>
              <a:rPr sz="1000" b="0">
                <a:solidFill>
                  <a:srgbClr val="6B7280"/>
                </a:solidFill>
                <a:latin typeface="Calibri"/>
              </a:rPr>
              <a:t>   manager console + Android driver app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995159" y="2221992"/>
            <a:ext cx="2494026" cy="36027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7" name="Picture 66" descr="mgr-rou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2592" y="2249424"/>
            <a:ext cx="2439162" cy="3547872"/>
          </a:xfrm>
          <a:prstGeom prst="rect">
            <a:avLst/>
          </a:prstGeom>
        </p:spPr>
      </p:pic>
      <p:sp>
        <p:nvSpPr>
          <p:cNvPr id="68" name="Rounded Rectangle 67"/>
          <p:cNvSpPr/>
          <p:nvPr/>
        </p:nvSpPr>
        <p:spPr>
          <a:xfrm>
            <a:off x="9573768" y="1545336"/>
            <a:ext cx="1957055" cy="42793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9" name="Picture 68" descr="07-navig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0" y="1572768"/>
            <a:ext cx="1902191" cy="4224528"/>
          </a:xfrm>
          <a:prstGeom prst="rect">
            <a:avLst/>
          </a:prstGeom>
        </p:spPr>
      </p:pic>
      <p:sp>
        <p:nvSpPr>
          <p:cNvPr id="70" name="Rounded Rectangle 69"/>
          <p:cNvSpPr/>
          <p:nvPr/>
        </p:nvSpPr>
        <p:spPr>
          <a:xfrm>
            <a:off x="7004304" y="5925312"/>
            <a:ext cx="4645152" cy="256032"/>
          </a:xfrm>
          <a:prstGeom prst="roundRect">
            <a:avLst>
              <a:gd name="adj" fmla="val 50000"/>
            </a:avLst>
          </a:prstGeom>
          <a:solidFill>
            <a:srgbClr val="10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Manager route review · Driver navigation — real screens, real road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920240" y="0"/>
            <a:ext cx="7772400" cy="1143000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RASTA AI — ROUTE INTELLIGENCE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endParaRPr sz="2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101820"/>
                </a:solidFill>
                <a:latin typeface="Calibri"/>
              </a:rPr>
              <a:t>NER-AI LOGISTICS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457200" y="1097280"/>
            <a:ext cx="3657600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Calibri"/>
              </a:rPr>
              <a:t>PROPOSED SOLUTION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457200" y="1280160"/>
            <a:ext cx="7955279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1">
                <a:solidFill>
                  <a:srgbClr val="101820"/>
                </a:solidFill>
                <a:latin typeface="Calibri"/>
              </a:rPr>
              <a:t>NOT THE SHORTEST ROAD. </a:t>
            </a:r>
            <a:r>
              <a:rPr sz="2400" b="1">
                <a:solidFill>
                  <a:srgbClr val="2563EB"/>
                </a:solidFill>
                <a:latin typeface="Calibri"/>
              </a:rPr>
              <a:t>THE ROAD THAT IS OPERATIONALLY USABLE NOW.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457200" y="2084831"/>
            <a:ext cx="8065008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Monsoon · landslides · floods · official warnings · single-lane hill roads · no signal.  </a:t>
            </a:r>
            <a:r>
              <a:rPr sz="1150" b="1">
                <a:solidFill>
                  <a:srgbClr val="DC2626"/>
                </a:solidFill>
                <a:latin typeface="Calibri"/>
              </a:rPr>
              <a:t>A shortest-path router still sends the truck.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411480" y="2633472"/>
            <a:ext cx="2395728" cy="3108960"/>
          </a:xfrm>
          <a:prstGeom prst="roundRect">
            <a:avLst>
              <a:gd name="adj" fmla="val 3816"/>
            </a:avLst>
          </a:prstGeom>
          <a:solidFill>
            <a:srgbClr val="FFFFFF"/>
          </a:solidFill>
          <a:ln w="15875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66" name="TextBox 15365"/>
          <p:cNvSpPr txBox="1"/>
          <p:nvPr/>
        </p:nvSpPr>
        <p:spPr>
          <a:xfrm>
            <a:off x="557784" y="2706624"/>
            <a:ext cx="21031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6B7280"/>
                </a:solidFill>
                <a:latin typeface="Calibri"/>
              </a:rPr>
              <a:t>A NORMAL ROUTER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548640" y="3072384"/>
            <a:ext cx="212140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101820"/>
                </a:solidFill>
                <a:latin typeface="Calibri"/>
              </a:rPr>
              <a:t>Origin</a:t>
            </a:r>
          </a:p>
        </p:txBody>
      </p:sp>
      <p:cxnSp>
        <p:nvCxnSpPr>
          <p:cNvPr id="15368" name="Connector 15367"/>
          <p:cNvCxnSpPr/>
          <p:nvPr/>
        </p:nvCxnSpPr>
        <p:spPr>
          <a:xfrm>
            <a:off x="1609343" y="3355847"/>
            <a:ext cx="0" cy="219457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69" name="Rounded Rectangle 15368"/>
          <p:cNvSpPr/>
          <p:nvPr/>
        </p:nvSpPr>
        <p:spPr>
          <a:xfrm>
            <a:off x="548640" y="3584448"/>
            <a:ext cx="212140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101820"/>
                </a:solidFill>
                <a:latin typeface="Calibri"/>
              </a:rPr>
              <a:t>Shortest / fastest road</a:t>
            </a:r>
          </a:p>
        </p:txBody>
      </p:sp>
      <p:cxnSp>
        <p:nvCxnSpPr>
          <p:cNvPr id="15370" name="Connector 15369"/>
          <p:cNvCxnSpPr/>
          <p:nvPr/>
        </p:nvCxnSpPr>
        <p:spPr>
          <a:xfrm>
            <a:off x="1609343" y="3867911"/>
            <a:ext cx="0" cy="219457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1" name="Rounded Rectangle 15370"/>
          <p:cNvSpPr/>
          <p:nvPr/>
        </p:nvSpPr>
        <p:spPr>
          <a:xfrm>
            <a:off x="548640" y="4096512"/>
            <a:ext cx="212140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101820"/>
                </a:solidFill>
                <a:latin typeface="Calibri"/>
              </a:rPr>
              <a:t>Truck</a:t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548640" y="4663440"/>
            <a:ext cx="2121408" cy="11887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No terrain, weather, hazard or freshness check.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No governance. No answer when data is missing.</a:t>
            </a:r>
          </a:p>
        </p:txBody>
      </p:sp>
      <p:sp>
        <p:nvSpPr>
          <p:cNvPr id="15373" name="Rounded Rectangle 15372"/>
          <p:cNvSpPr/>
          <p:nvPr/>
        </p:nvSpPr>
        <p:spPr>
          <a:xfrm>
            <a:off x="2926080" y="2633472"/>
            <a:ext cx="5596128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4" name="TextBox 15373"/>
          <p:cNvSpPr txBox="1"/>
          <p:nvPr/>
        </p:nvSpPr>
        <p:spPr>
          <a:xfrm>
            <a:off x="3072384" y="2706624"/>
            <a:ext cx="530352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Calibri"/>
              </a:rPr>
              <a:t>RASTA AI</a:t>
            </a:r>
            <a:r>
              <a:rPr sz="1000" b="0">
                <a:solidFill>
                  <a:srgbClr val="6B7280"/>
                </a:solidFill>
                <a:latin typeface="Calibri"/>
              </a:rPr>
              <a:t>   evidence before the road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3063240" y="3017520"/>
            <a:ext cx="53218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101820"/>
                </a:solidFill>
                <a:latin typeface="Calibri"/>
              </a:rPr>
              <a:t>Origin</a:t>
            </a:r>
          </a:p>
        </p:txBody>
      </p:sp>
      <p:cxnSp>
        <p:nvCxnSpPr>
          <p:cNvPr id="15376" name="Connector 15375"/>
          <p:cNvCxnSpPr/>
          <p:nvPr/>
        </p:nvCxnSpPr>
        <p:spPr>
          <a:xfrm>
            <a:off x="5724144" y="3282696"/>
            <a:ext cx="0" cy="73152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7" name="Rounded Rectangle 15376"/>
          <p:cNvSpPr/>
          <p:nvPr/>
        </p:nvSpPr>
        <p:spPr>
          <a:xfrm>
            <a:off x="3063240" y="3364991"/>
            <a:ext cx="53218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101820"/>
                </a:solidFill>
                <a:latin typeface="Calibri"/>
              </a:rPr>
              <a:t>Real route  ·  OSRM road, alternatives, turn steps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3063240" y="3712463"/>
            <a:ext cx="5321808" cy="841248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79" name="TextBox 15378"/>
          <p:cNvSpPr txBox="1"/>
          <p:nvPr/>
        </p:nvSpPr>
        <p:spPr>
          <a:xfrm>
            <a:off x="3172968" y="3749039"/>
            <a:ext cx="5138928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01820"/>
                </a:solidFill>
                <a:latin typeface="Calibri"/>
              </a:rPr>
              <a:t>ROUTE-SPECIFIC EVIDENCE  </a:t>
            </a:r>
            <a:r>
              <a:rPr sz="950" b="0">
                <a:solidFill>
                  <a:srgbClr val="6B7280"/>
                </a:solidFill>
                <a:latin typeface="Calibri"/>
              </a:rPr>
              <a:t>sampled along the selected road, each factor with its freshness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3172968" y="4005072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101820"/>
                </a:solidFill>
                <a:latin typeface="Calibri"/>
              </a:rPr>
              <a:t>Terrain</a:t>
            </a:r>
          </a:p>
        </p:txBody>
      </p:sp>
      <p:sp>
        <p:nvSpPr>
          <p:cNvPr id="15381" name="Rounded Rectangle 15380"/>
          <p:cNvSpPr/>
          <p:nvPr/>
        </p:nvSpPr>
        <p:spPr>
          <a:xfrm>
            <a:off x="4023360" y="4005072"/>
            <a:ext cx="7772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101820"/>
                </a:solidFill>
                <a:latin typeface="Calibri"/>
              </a:rPr>
              <a:t>Weather</a:t>
            </a:r>
          </a:p>
        </p:txBody>
      </p:sp>
      <p:sp>
        <p:nvSpPr>
          <p:cNvPr id="15382" name="Rounded Rectangle 15381"/>
          <p:cNvSpPr/>
          <p:nvPr/>
        </p:nvSpPr>
        <p:spPr>
          <a:xfrm>
            <a:off x="4873752" y="4005072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101820"/>
                </a:solidFill>
                <a:latin typeface="Calibri"/>
              </a:rPr>
              <a:t>Landslide exposure</a:t>
            </a:r>
          </a:p>
        </p:txBody>
      </p:sp>
      <p:sp>
        <p:nvSpPr>
          <p:cNvPr id="15383" name="Rounded Rectangle 15382"/>
          <p:cNvSpPr/>
          <p:nvPr/>
        </p:nvSpPr>
        <p:spPr>
          <a:xfrm>
            <a:off x="6181344" y="4005072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101820"/>
                </a:solidFill>
                <a:latin typeface="Calibri"/>
              </a:rPr>
              <a:t>Flood context</a:t>
            </a:r>
          </a:p>
        </p:txBody>
      </p:sp>
      <p:sp>
        <p:nvSpPr>
          <p:cNvPr id="15384" name="Rounded Rectangle 15383"/>
          <p:cNvSpPr/>
          <p:nvPr/>
        </p:nvSpPr>
        <p:spPr>
          <a:xfrm>
            <a:off x="3172968" y="4261104"/>
            <a:ext cx="114300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101820"/>
                </a:solidFill>
                <a:latin typeface="Calibri"/>
              </a:rPr>
              <a:t>Official warnings</a:t>
            </a:r>
          </a:p>
        </p:txBody>
      </p:sp>
      <p:sp>
        <p:nvSpPr>
          <p:cNvPr id="15385" name="Rounded Rectangle 15384"/>
          <p:cNvSpPr/>
          <p:nvPr/>
        </p:nvSpPr>
        <p:spPr>
          <a:xfrm>
            <a:off x="4389120" y="4261104"/>
            <a:ext cx="91440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101820"/>
                </a:solidFill>
                <a:latin typeface="Calibri"/>
              </a:rPr>
              <a:t>Fleet traffic</a:t>
            </a:r>
          </a:p>
        </p:txBody>
      </p:sp>
      <p:sp>
        <p:nvSpPr>
          <p:cNvPr id="15386" name="Rounded Rectangle 15385"/>
          <p:cNvSpPr/>
          <p:nvPr/>
        </p:nvSpPr>
        <p:spPr>
          <a:xfrm>
            <a:off x="5376672" y="4261104"/>
            <a:ext cx="12344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0">
                <a:solidFill>
                  <a:srgbClr val="101820"/>
                </a:solidFill>
                <a:latin typeface="Calibri"/>
              </a:rPr>
              <a:t>Evidence freshness</a:t>
            </a:r>
          </a:p>
        </p:txBody>
      </p:sp>
      <p:cxnSp>
        <p:nvCxnSpPr>
          <p:cNvPr id="15387" name="Connector 15386"/>
          <p:cNvCxnSpPr/>
          <p:nvPr/>
        </p:nvCxnSpPr>
        <p:spPr>
          <a:xfrm>
            <a:off x="5724144" y="4562855"/>
            <a:ext cx="0" cy="73152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8" name="Rounded Rectangle 15387"/>
          <p:cNvSpPr/>
          <p:nvPr/>
        </p:nvSpPr>
        <p:spPr>
          <a:xfrm>
            <a:off x="3063240" y="4645151"/>
            <a:ext cx="5321808" cy="2560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OPERATIONAL DECISION  ·  CONTINUE / CAUTION / HOLD / REROUTE</a:t>
            </a:r>
          </a:p>
        </p:txBody>
      </p:sp>
      <p:cxnSp>
        <p:nvCxnSpPr>
          <p:cNvPr id="15389" name="Connector 15388"/>
          <p:cNvCxnSpPr/>
          <p:nvPr/>
        </p:nvCxnSpPr>
        <p:spPr>
          <a:xfrm>
            <a:off x="5724144" y="4910327"/>
            <a:ext cx="0" cy="73152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0" name="Rounded Rectangle 15389"/>
          <p:cNvSpPr/>
          <p:nvPr/>
        </p:nvSpPr>
        <p:spPr>
          <a:xfrm>
            <a:off x="3063240" y="4992623"/>
            <a:ext cx="53218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101820"/>
                </a:solidFill>
                <a:latin typeface="Calibri"/>
              </a:rPr>
              <a:t>Manager governance  ·  reviews evidence, authorises, dispatches, approves reroutes</a:t>
            </a:r>
          </a:p>
        </p:txBody>
      </p:sp>
      <p:cxnSp>
        <p:nvCxnSpPr>
          <p:cNvPr id="15391" name="Connector 15390"/>
          <p:cNvCxnSpPr/>
          <p:nvPr/>
        </p:nvCxnSpPr>
        <p:spPr>
          <a:xfrm>
            <a:off x="5724144" y="5257799"/>
            <a:ext cx="0" cy="73152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2" name="Rounded Rectangle 15391"/>
          <p:cNvSpPr/>
          <p:nvPr/>
        </p:nvSpPr>
        <p:spPr>
          <a:xfrm>
            <a:off x="3063240" y="5340095"/>
            <a:ext cx="53218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101820"/>
                </a:solidFill>
                <a:latin typeface="Calibri"/>
              </a:rPr>
              <a:t>Driver  ·  navigation, danger context, 23 languages, offline package</a:t>
            </a:r>
          </a:p>
        </p:txBody>
      </p:sp>
      <p:sp>
        <p:nvSpPr>
          <p:cNvPr id="15393" name="Rounded Rectangle 15392"/>
          <p:cNvSpPr/>
          <p:nvPr/>
        </p:nvSpPr>
        <p:spPr>
          <a:xfrm>
            <a:off x="411480" y="5815584"/>
            <a:ext cx="8110727" cy="54864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4" name="Rounded Rectangle 15393"/>
          <p:cNvSpPr/>
          <p:nvPr/>
        </p:nvSpPr>
        <p:spPr>
          <a:xfrm>
            <a:off x="548640" y="5907024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UNKNOWN  ≠  SAFE</a:t>
            </a:r>
          </a:p>
        </p:txBody>
      </p:sp>
      <p:sp>
        <p:nvSpPr>
          <p:cNvPr id="15395" name="TextBox 15394"/>
          <p:cNvSpPr txBox="1"/>
          <p:nvPr/>
        </p:nvSpPr>
        <p:spPr>
          <a:xfrm>
            <a:off x="2761488" y="5879592"/>
            <a:ext cx="5650992" cy="4389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101820"/>
                </a:solidFill>
                <a:latin typeface="Calibri"/>
              </a:rPr>
              <a:t>The system refuses to fabricate certainty: </a:t>
            </a:r>
            <a:r>
              <a:rPr sz="1050" b="0">
                <a:solidFill>
                  <a:srgbClr val="101820"/>
                </a:solidFill>
                <a:latin typeface="Calibri"/>
              </a:rPr>
              <a:t>missing or stale evidence is marked UNKNOWN — never safe — and goes to an authorised reviewer.</a:t>
            </a:r>
          </a:p>
        </p:txBody>
      </p:sp>
      <p:sp>
        <p:nvSpPr>
          <p:cNvPr id="15396" name="Rounded Rectangle 15395"/>
          <p:cNvSpPr/>
          <p:nvPr/>
        </p:nvSpPr>
        <p:spPr>
          <a:xfrm>
            <a:off x="8613648" y="1097280"/>
            <a:ext cx="3163824" cy="5248656"/>
          </a:xfrm>
          <a:prstGeom prst="roundRect">
            <a:avLst>
              <a:gd name="adj" fmla="val 289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97" name="TextBox 15396"/>
          <p:cNvSpPr txBox="1"/>
          <p:nvPr/>
        </p:nvSpPr>
        <p:spPr>
          <a:xfrm>
            <a:off x="8759952" y="1170432"/>
            <a:ext cx="287121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2563EB"/>
                </a:solidFill>
                <a:latin typeface="Calibri"/>
              </a:rPr>
              <a:t>MANAGER · CHECK CONDITIONS</a:t>
            </a:r>
          </a:p>
        </p:txBody>
      </p:sp>
      <p:sp>
        <p:nvSpPr>
          <p:cNvPr id="15398" name="Rounded Rectangle 15397"/>
          <p:cNvSpPr/>
          <p:nvPr/>
        </p:nvSpPr>
        <p:spPr>
          <a:xfrm>
            <a:off x="8787384" y="1490472"/>
            <a:ext cx="2768803" cy="42793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399" name="Picture 15398" descr="mgr-evid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4816" y="1517904"/>
            <a:ext cx="2713939" cy="4224528"/>
          </a:xfrm>
          <a:prstGeom prst="rect">
            <a:avLst/>
          </a:prstGeom>
        </p:spPr>
      </p:pic>
      <p:sp>
        <p:nvSpPr>
          <p:cNvPr id="15400" name="Rounded Rectangle 15399"/>
          <p:cNvSpPr/>
          <p:nvPr/>
        </p:nvSpPr>
        <p:spPr>
          <a:xfrm>
            <a:off x="8750808" y="5925312"/>
            <a:ext cx="2889504" cy="256032"/>
          </a:xfrm>
          <a:prstGeom prst="roundRect">
            <a:avLst>
              <a:gd name="adj" fmla="val 50000"/>
            </a:avLst>
          </a:prstGeom>
          <a:solidFill>
            <a:srgbClr val="10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Real screen · evidence · freshness ·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101820"/>
                </a:solidFill>
                <a:latin typeface="Calibri"/>
              </a:rPr>
              <a:t>NER-AI LOGISTICS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47472" y="1024128"/>
            <a:ext cx="8119872" cy="3602736"/>
          </a:xfrm>
          <a:prstGeom prst="roundRect">
            <a:avLst>
              <a:gd name="adj" fmla="val 2538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TextBox 17410"/>
          <p:cNvSpPr txBox="1"/>
          <p:nvPr/>
        </p:nvSpPr>
        <p:spPr>
          <a:xfrm>
            <a:off x="493776" y="1097280"/>
            <a:ext cx="782726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Calibri"/>
              </a:rPr>
              <a:t>VERIFIED DATA → DECISION → DRIVER</a:t>
            </a:r>
            <a:r>
              <a:rPr sz="1000" b="0">
                <a:solidFill>
                  <a:srgbClr val="6B7280"/>
                </a:solidFill>
                <a:latin typeface="Calibri"/>
              </a:rPr>
              <a:t>   provider adapters with health + freshness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11480" y="1444752"/>
            <a:ext cx="1225296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3" name="TextBox 17412"/>
          <p:cNvSpPr txBox="1"/>
          <p:nvPr/>
        </p:nvSpPr>
        <p:spPr>
          <a:xfrm>
            <a:off x="502920" y="1490472"/>
            <a:ext cx="1042416" cy="49377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01820"/>
                </a:solidFill>
                <a:latin typeface="Calibri"/>
              </a:rPr>
              <a:t>WEATHER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280"/>
                </a:solidFill>
                <a:latin typeface="Calibri"/>
              </a:rPr>
              <a:t>Open-Meteo · MET Norway</a:t>
            </a:r>
          </a:p>
        </p:txBody>
      </p:sp>
      <p:cxnSp>
        <p:nvCxnSpPr>
          <p:cNvPr id="17414" name="Connector 17413"/>
          <p:cNvCxnSpPr/>
          <p:nvPr/>
        </p:nvCxnSpPr>
        <p:spPr>
          <a:xfrm>
            <a:off x="1024128" y="2048256"/>
            <a:ext cx="0" cy="128016"/>
          </a:xfrm>
          <a:prstGeom prst="line">
            <a:avLst/>
          </a:prstGeom>
          <a:ln w="15875">
            <a:solidFill>
              <a:srgbClr val="9C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5" name="Rounded Rectangle 17414"/>
          <p:cNvSpPr/>
          <p:nvPr/>
        </p:nvSpPr>
        <p:spPr>
          <a:xfrm>
            <a:off x="1728216" y="1444752"/>
            <a:ext cx="1225296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6" name="TextBox 17415"/>
          <p:cNvSpPr txBox="1"/>
          <p:nvPr/>
        </p:nvSpPr>
        <p:spPr>
          <a:xfrm>
            <a:off x="1819656" y="1490472"/>
            <a:ext cx="1042416" cy="49377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01820"/>
                </a:solidFill>
                <a:latin typeface="Calibri"/>
              </a:rPr>
              <a:t>TERRAIN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280"/>
                </a:solidFill>
                <a:latin typeface="Calibri"/>
              </a:rPr>
              <a:t>Copernicus DEM · OpenTopoData</a:t>
            </a:r>
          </a:p>
        </p:txBody>
      </p:sp>
      <p:cxnSp>
        <p:nvCxnSpPr>
          <p:cNvPr id="17417" name="Connector 17416"/>
          <p:cNvCxnSpPr/>
          <p:nvPr/>
        </p:nvCxnSpPr>
        <p:spPr>
          <a:xfrm>
            <a:off x="2340864" y="2048256"/>
            <a:ext cx="0" cy="128016"/>
          </a:xfrm>
          <a:prstGeom prst="line">
            <a:avLst/>
          </a:prstGeom>
          <a:ln w="15875">
            <a:solidFill>
              <a:srgbClr val="9C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8" name="Rounded Rectangle 17417"/>
          <p:cNvSpPr/>
          <p:nvPr/>
        </p:nvSpPr>
        <p:spPr>
          <a:xfrm>
            <a:off x="3044952" y="1444752"/>
            <a:ext cx="1225296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9" name="TextBox 17418"/>
          <p:cNvSpPr txBox="1"/>
          <p:nvPr/>
        </p:nvSpPr>
        <p:spPr>
          <a:xfrm>
            <a:off x="3136392" y="1490472"/>
            <a:ext cx="1042416" cy="49377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01820"/>
                </a:solidFill>
                <a:latin typeface="Calibri"/>
              </a:rPr>
              <a:t>WARNINGS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280"/>
                </a:solidFill>
                <a:latin typeface="Calibri"/>
              </a:rPr>
              <a:t>NDMA SACHET (CAP)</a:t>
            </a:r>
          </a:p>
        </p:txBody>
      </p:sp>
      <p:cxnSp>
        <p:nvCxnSpPr>
          <p:cNvPr id="17420" name="Connector 17419"/>
          <p:cNvCxnSpPr/>
          <p:nvPr/>
        </p:nvCxnSpPr>
        <p:spPr>
          <a:xfrm>
            <a:off x="3657600" y="2048256"/>
            <a:ext cx="0" cy="128016"/>
          </a:xfrm>
          <a:prstGeom prst="line">
            <a:avLst/>
          </a:prstGeom>
          <a:ln w="15875">
            <a:solidFill>
              <a:srgbClr val="9C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1" name="Rounded Rectangle 17420"/>
          <p:cNvSpPr/>
          <p:nvPr/>
        </p:nvSpPr>
        <p:spPr>
          <a:xfrm>
            <a:off x="4361688" y="1444752"/>
            <a:ext cx="1225296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2" name="TextBox 17421"/>
          <p:cNvSpPr txBox="1"/>
          <p:nvPr/>
        </p:nvSpPr>
        <p:spPr>
          <a:xfrm>
            <a:off x="4453128" y="1490472"/>
            <a:ext cx="1042416" cy="49377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01820"/>
                </a:solidFill>
                <a:latin typeface="Calibri"/>
              </a:rPr>
              <a:t>FLOOD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280"/>
                </a:solidFill>
                <a:latin typeface="Calibri"/>
              </a:rPr>
              <a:t>GloFAS</a:t>
            </a:r>
          </a:p>
        </p:txBody>
      </p:sp>
      <p:cxnSp>
        <p:nvCxnSpPr>
          <p:cNvPr id="17423" name="Connector 17422"/>
          <p:cNvCxnSpPr/>
          <p:nvPr/>
        </p:nvCxnSpPr>
        <p:spPr>
          <a:xfrm>
            <a:off x="4974336" y="2048256"/>
            <a:ext cx="0" cy="128016"/>
          </a:xfrm>
          <a:prstGeom prst="line">
            <a:avLst/>
          </a:prstGeom>
          <a:ln w="15875">
            <a:solidFill>
              <a:srgbClr val="9C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4" name="Rounded Rectangle 17423"/>
          <p:cNvSpPr/>
          <p:nvPr/>
        </p:nvSpPr>
        <p:spPr>
          <a:xfrm>
            <a:off x="5678424" y="1444752"/>
            <a:ext cx="1225296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5" name="TextBox 17424"/>
          <p:cNvSpPr txBox="1"/>
          <p:nvPr/>
        </p:nvSpPr>
        <p:spPr>
          <a:xfrm>
            <a:off x="5769864" y="1490472"/>
            <a:ext cx="1042416" cy="49377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01820"/>
                </a:solidFill>
                <a:latin typeface="Calibri"/>
              </a:rPr>
              <a:t>LANDSLIDE HISTORY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280"/>
                </a:solidFill>
                <a:latin typeface="Calibri"/>
              </a:rPr>
              <a:t>NASA GLC 2007–17</a:t>
            </a:r>
          </a:p>
        </p:txBody>
      </p:sp>
      <p:cxnSp>
        <p:nvCxnSpPr>
          <p:cNvPr id="17426" name="Connector 17425"/>
          <p:cNvCxnSpPr/>
          <p:nvPr/>
        </p:nvCxnSpPr>
        <p:spPr>
          <a:xfrm>
            <a:off x="6291072" y="2048256"/>
            <a:ext cx="0" cy="128016"/>
          </a:xfrm>
          <a:prstGeom prst="line">
            <a:avLst/>
          </a:prstGeom>
          <a:ln w="15875">
            <a:solidFill>
              <a:srgbClr val="9C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7" name="Rounded Rectangle 17426"/>
          <p:cNvSpPr/>
          <p:nvPr/>
        </p:nvSpPr>
        <p:spPr>
          <a:xfrm>
            <a:off x="6995160" y="1444752"/>
            <a:ext cx="1225296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8" name="TextBox 17427"/>
          <p:cNvSpPr txBox="1"/>
          <p:nvPr/>
        </p:nvSpPr>
        <p:spPr>
          <a:xfrm>
            <a:off x="7086600" y="1490472"/>
            <a:ext cx="1042416" cy="49377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101820"/>
                </a:solidFill>
                <a:latin typeface="Calibri"/>
              </a:rPr>
              <a:t>TRAFFIC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6B7280"/>
                </a:solidFill>
                <a:latin typeface="Calibri"/>
              </a:rPr>
              <a:t>fleet GPS fixes</a:t>
            </a:r>
          </a:p>
        </p:txBody>
      </p:sp>
      <p:cxnSp>
        <p:nvCxnSpPr>
          <p:cNvPr id="17429" name="Connector 17428"/>
          <p:cNvCxnSpPr/>
          <p:nvPr/>
        </p:nvCxnSpPr>
        <p:spPr>
          <a:xfrm>
            <a:off x="7607808" y="2048256"/>
            <a:ext cx="0" cy="128016"/>
          </a:xfrm>
          <a:prstGeom prst="line">
            <a:avLst/>
          </a:prstGeom>
          <a:ln w="15875">
            <a:solidFill>
              <a:srgbClr val="9C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0" name="Rounded Rectangle 17429"/>
          <p:cNvSpPr/>
          <p:nvPr/>
        </p:nvSpPr>
        <p:spPr>
          <a:xfrm>
            <a:off x="411480" y="2194560"/>
            <a:ext cx="7808976" cy="512064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1" name="TextBox 17430"/>
          <p:cNvSpPr txBox="1"/>
          <p:nvPr/>
        </p:nvSpPr>
        <p:spPr>
          <a:xfrm>
            <a:off x="502920" y="2240279"/>
            <a:ext cx="7626096" cy="4206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01820"/>
                </a:solidFill>
                <a:latin typeface="Calibri"/>
              </a:rPr>
              <a:t>ROUTE-SPECIFIC EVIDENCE  ·  FastAPI backend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every factor sampled along the selected road · PostgreSQL + PostGIS (Supabase) · OSRM routes, alternatives, turn steps · freshness per factor</a:t>
            </a:r>
          </a:p>
        </p:txBody>
      </p:sp>
      <p:cxnSp>
        <p:nvCxnSpPr>
          <p:cNvPr id="17432" name="Connector 17431"/>
          <p:cNvCxnSpPr/>
          <p:nvPr/>
        </p:nvCxnSpPr>
        <p:spPr>
          <a:xfrm>
            <a:off x="4315968" y="2724912"/>
            <a:ext cx="0" cy="109728"/>
          </a:xfrm>
          <a:prstGeom prst="line">
            <a:avLst/>
          </a:prstGeom>
          <a:ln w="15875">
            <a:solidFill>
              <a:srgbClr val="9C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3" name="Rounded Rectangle 17432"/>
          <p:cNvSpPr/>
          <p:nvPr/>
        </p:nvSpPr>
        <p:spPr>
          <a:xfrm>
            <a:off x="411480" y="2852928"/>
            <a:ext cx="7808976" cy="512064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 w="95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4" name="TextBox 17433"/>
          <p:cNvSpPr txBox="1"/>
          <p:nvPr/>
        </p:nvSpPr>
        <p:spPr>
          <a:xfrm>
            <a:off x="502920" y="2898648"/>
            <a:ext cx="7626096" cy="4206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DETERMINISTIC SAFETY POLICY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Calibri"/>
              </a:rPr>
              <a:t>11 factors · reason codes · UNKNOWN ≠ SAFE · reviewer authorisation when hazard data is missing</a:t>
            </a:r>
          </a:p>
        </p:txBody>
      </p:sp>
      <p:cxnSp>
        <p:nvCxnSpPr>
          <p:cNvPr id="17435" name="Connector 17434"/>
          <p:cNvCxnSpPr/>
          <p:nvPr/>
        </p:nvCxnSpPr>
        <p:spPr>
          <a:xfrm>
            <a:off x="4315968" y="3383280"/>
            <a:ext cx="0" cy="109728"/>
          </a:xfrm>
          <a:prstGeom prst="line">
            <a:avLst/>
          </a:prstGeom>
          <a:ln w="15875">
            <a:solidFill>
              <a:srgbClr val="9C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6" name="Rounded Rectangle 17435"/>
          <p:cNvSpPr/>
          <p:nvPr/>
        </p:nvSpPr>
        <p:spPr>
          <a:xfrm>
            <a:off x="411480" y="3511296"/>
            <a:ext cx="1849374" cy="329184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CONTINUE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2398014" y="3511296"/>
            <a:ext cx="1849374" cy="32918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CAUTION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4384548" y="3511296"/>
            <a:ext cx="1849374" cy="329184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HOLD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6371082" y="3511296"/>
            <a:ext cx="1849374" cy="329184"/>
          </a:xfrm>
          <a:prstGeom prst="roundRect">
            <a:avLst>
              <a:gd name="adj" fmla="val 50000"/>
            </a:avLst>
          </a:prstGeom>
          <a:solidFill>
            <a:srgbClr val="10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REROUTE</a:t>
            </a:r>
          </a:p>
        </p:txBody>
      </p:sp>
      <p:cxnSp>
        <p:nvCxnSpPr>
          <p:cNvPr id="17440" name="Connector 17439"/>
          <p:cNvCxnSpPr/>
          <p:nvPr/>
        </p:nvCxnSpPr>
        <p:spPr>
          <a:xfrm>
            <a:off x="4315968" y="3858768"/>
            <a:ext cx="0" cy="109728"/>
          </a:xfrm>
          <a:prstGeom prst="line">
            <a:avLst/>
          </a:prstGeom>
          <a:ln w="15875">
            <a:solidFill>
              <a:srgbClr val="9CA3A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1" name="Rounded Rectangle 17440"/>
          <p:cNvSpPr/>
          <p:nvPr/>
        </p:nvSpPr>
        <p:spPr>
          <a:xfrm>
            <a:off x="411480" y="3986784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101820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MANAGER REVIEW</a:t>
            </a:r>
          </a:p>
        </p:txBody>
      </p:sp>
      <p:cxnSp>
        <p:nvCxnSpPr>
          <p:cNvPr id="17442" name="Connector 17441"/>
          <p:cNvCxnSpPr/>
          <p:nvPr/>
        </p:nvCxnSpPr>
        <p:spPr>
          <a:xfrm>
            <a:off x="1755648" y="4160520"/>
            <a:ext cx="73152" cy="0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3" name="Rounded Rectangle 17442"/>
          <p:cNvSpPr/>
          <p:nvPr/>
        </p:nvSpPr>
        <p:spPr>
          <a:xfrm>
            <a:off x="1837944" y="3986784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101820"/>
                </a:solidFill>
                <a:latin typeface="Calibri"/>
              </a:rPr>
              <a:t>DRIVER NAVIGATION</a:t>
            </a:r>
          </a:p>
        </p:txBody>
      </p:sp>
      <p:cxnSp>
        <p:nvCxnSpPr>
          <p:cNvPr id="17444" name="Connector 17443"/>
          <p:cNvCxnSpPr/>
          <p:nvPr/>
        </p:nvCxnSpPr>
        <p:spPr>
          <a:xfrm>
            <a:off x="3319272" y="4160520"/>
            <a:ext cx="73152" cy="0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5" name="Rounded Rectangle 17444"/>
          <p:cNvSpPr/>
          <p:nvPr/>
        </p:nvSpPr>
        <p:spPr>
          <a:xfrm>
            <a:off x="3401568" y="3986784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101820"/>
                </a:solidFill>
                <a:latin typeface="Calibri"/>
              </a:rPr>
              <a:t>ROUTE-AHEAD MONITOR (60 s)</a:t>
            </a:r>
          </a:p>
        </p:txBody>
      </p:sp>
      <p:cxnSp>
        <p:nvCxnSpPr>
          <p:cNvPr id="17446" name="Connector 17445"/>
          <p:cNvCxnSpPr/>
          <p:nvPr/>
        </p:nvCxnSpPr>
        <p:spPr>
          <a:xfrm>
            <a:off x="5248656" y="4160520"/>
            <a:ext cx="73152" cy="0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7" name="Rounded Rectangle 17446"/>
          <p:cNvSpPr/>
          <p:nvPr/>
        </p:nvSpPr>
        <p:spPr>
          <a:xfrm>
            <a:off x="5330952" y="3986784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101820"/>
                </a:solidFill>
                <a:latin typeface="Calibri"/>
              </a:rPr>
              <a:t>CONDITIONS CHANGE?</a:t>
            </a:r>
          </a:p>
        </p:txBody>
      </p:sp>
      <p:cxnSp>
        <p:nvCxnSpPr>
          <p:cNvPr id="17448" name="Connector 17447"/>
          <p:cNvCxnSpPr/>
          <p:nvPr/>
        </p:nvCxnSpPr>
        <p:spPr>
          <a:xfrm>
            <a:off x="6766559" y="4160520"/>
            <a:ext cx="73153" cy="0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9" name="Rounded Rectangle 17448"/>
          <p:cNvSpPr/>
          <p:nvPr/>
        </p:nvSpPr>
        <p:spPr>
          <a:xfrm>
            <a:off x="6848856" y="3986784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101820"/>
                </a:solidFill>
                <a:latin typeface="Calibri"/>
              </a:rPr>
              <a:t>REASSESS / REROUTE</a:t>
            </a:r>
          </a:p>
        </p:txBody>
      </p:sp>
      <p:cxnSp>
        <p:nvCxnSpPr>
          <p:cNvPr id="17450" name="Connector 17449"/>
          <p:cNvCxnSpPr/>
          <p:nvPr/>
        </p:nvCxnSpPr>
        <p:spPr>
          <a:xfrm>
            <a:off x="8238744" y="4151376"/>
            <a:ext cx="91439" cy="0"/>
          </a:xfrm>
          <a:prstGeom prst="line">
            <a:avLst/>
          </a:prstGeom>
          <a:ln w="15875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1" name="Connector 17450"/>
          <p:cNvCxnSpPr/>
          <p:nvPr/>
        </p:nvCxnSpPr>
        <p:spPr>
          <a:xfrm flipV="1">
            <a:off x="8330183" y="3108960"/>
            <a:ext cx="0" cy="1042416"/>
          </a:xfrm>
          <a:prstGeom prst="line">
            <a:avLst/>
          </a:prstGeom>
          <a:ln w="15875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52" name="Connector 17451"/>
          <p:cNvCxnSpPr/>
          <p:nvPr/>
        </p:nvCxnSpPr>
        <p:spPr>
          <a:xfrm flipH="1">
            <a:off x="8238744" y="3108960"/>
            <a:ext cx="91439" cy="0"/>
          </a:xfrm>
          <a:prstGeom prst="line">
            <a:avLst/>
          </a:prstGeom>
          <a:ln w="15875">
            <a:solidFill>
              <a:srgbClr val="2563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3" name="TextBox 17452"/>
          <p:cNvSpPr txBox="1"/>
          <p:nvPr/>
        </p:nvSpPr>
        <p:spPr>
          <a:xfrm>
            <a:off x="411480" y="4626864"/>
            <a:ext cx="7808976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Re-scored every 60 s on the road ahead. A reroute is proposed to the manager, never applied silently.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347472" y="4992624"/>
            <a:ext cx="8119872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5" name="TextBox 17454"/>
          <p:cNvSpPr txBox="1"/>
          <p:nvPr/>
        </p:nvSpPr>
        <p:spPr>
          <a:xfrm>
            <a:off x="493776" y="5065776"/>
            <a:ext cx="782726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Calibri"/>
              </a:rPr>
              <a:t>BUILT WITH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493776" y="5376672"/>
            <a:ext cx="7626096" cy="8412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1">
                <a:solidFill>
                  <a:srgbClr val="6B7280"/>
                </a:solidFill>
                <a:latin typeface="Calibri"/>
              </a:rPr>
              <a:t>CLIENTS  </a:t>
            </a:r>
            <a:r>
              <a:rPr sz="1050" b="0">
                <a:solidFill>
                  <a:srgbClr val="101820"/>
                </a:solidFill>
                <a:latin typeface="Calibri"/>
              </a:rPr>
              <a:t>Manager console (React + TS) · Driver app (React Native / Expo, Android) · one login, server-decided role, offline package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1">
                <a:solidFill>
                  <a:srgbClr val="6B7280"/>
                </a:solidFill>
                <a:latin typeface="Calibri"/>
              </a:rPr>
              <a:t>STACK  </a:t>
            </a:r>
            <a:r>
              <a:rPr sz="1050" b="0">
                <a:solidFill>
                  <a:srgbClr val="101820"/>
                </a:solidFill>
                <a:latin typeface="Calibri"/>
              </a:rPr>
              <a:t>FastAPI · PostgreSQL / PostGIS (Supabase) · React · React Native / Expo · OSRM · OpenStreetMap · Gemini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00" b="1">
                <a:solidFill>
                  <a:srgbClr val="6B7280"/>
                </a:solidFill>
                <a:latin typeface="Calibri"/>
              </a:rPr>
              <a:t>EVIDENCE  </a:t>
            </a:r>
            <a:r>
              <a:rPr sz="1050" b="0">
                <a:solidFill>
                  <a:srgbClr val="101820"/>
                </a:solidFill>
                <a:latin typeface="Calibri"/>
              </a:rPr>
              <a:t>Open-Meteo / MET Norway · NDMA SACHET · GloFAS · NASA historical landslides · OpenTopoData / Copernicus DEM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8613648" y="1024128"/>
            <a:ext cx="3163824" cy="5230368"/>
          </a:xfrm>
          <a:prstGeom prst="roundRect">
            <a:avLst>
              <a:gd name="adj" fmla="val 289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58" name="TextBox 17457"/>
          <p:cNvSpPr txBox="1"/>
          <p:nvPr/>
        </p:nvSpPr>
        <p:spPr>
          <a:xfrm>
            <a:off x="8759952" y="1097280"/>
            <a:ext cx="2871216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Calibri"/>
              </a:rPr>
              <a:t>WHO DECIDES</a:t>
            </a:r>
            <a:r>
              <a:rPr sz="950" b="0">
                <a:solidFill>
                  <a:srgbClr val="6B7280"/>
                </a:solidFill>
                <a:latin typeface="Calibri"/>
              </a:rPr>
              <a:t>   AI is supporting</a:t>
            </a:r>
          </a:p>
        </p:txBody>
      </p:sp>
      <p:sp>
        <p:nvSpPr>
          <p:cNvPr id="17459" name="Rectangle 17458"/>
          <p:cNvSpPr/>
          <p:nvPr/>
        </p:nvSpPr>
        <p:spPr>
          <a:xfrm>
            <a:off x="8750808" y="1481328"/>
            <a:ext cx="64008" cy="67665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0" name="TextBox 17459"/>
          <p:cNvSpPr txBox="1"/>
          <p:nvPr/>
        </p:nvSpPr>
        <p:spPr>
          <a:xfrm>
            <a:off x="8887968" y="1463040"/>
            <a:ext cx="2743200" cy="7498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01820"/>
                </a:solidFill>
                <a:latin typeface="Calibri"/>
              </a:rPr>
              <a:t>DETERMINISTIC SAFETY ENGINE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makes every operational decision</a:t>
            </a:r>
          </a:p>
        </p:txBody>
      </p:sp>
      <p:sp>
        <p:nvSpPr>
          <p:cNvPr id="17461" name="Rectangle 17460"/>
          <p:cNvSpPr/>
          <p:nvPr/>
        </p:nvSpPr>
        <p:spPr>
          <a:xfrm>
            <a:off x="8750808" y="2322576"/>
            <a:ext cx="64008" cy="676656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2" name="TextBox 17461"/>
          <p:cNvSpPr txBox="1"/>
          <p:nvPr/>
        </p:nvSpPr>
        <p:spPr>
          <a:xfrm>
            <a:off x="8887968" y="2304288"/>
            <a:ext cx="2743200" cy="7498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01820"/>
                </a:solidFill>
                <a:latin typeface="Calibri"/>
              </a:rPr>
              <a:t>GEMINI / OPENROUTER (LLM)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explains the decision and assists in the driver's language — never decides</a:t>
            </a:r>
          </a:p>
        </p:txBody>
      </p:sp>
      <p:sp>
        <p:nvSpPr>
          <p:cNvPr id="17463" name="Rectangle 17462"/>
          <p:cNvSpPr/>
          <p:nvPr/>
        </p:nvSpPr>
        <p:spPr>
          <a:xfrm>
            <a:off x="8750808" y="3163824"/>
            <a:ext cx="64008" cy="676656"/>
          </a:xfrm>
          <a:prstGeom prst="rect">
            <a:avLst/>
          </a:prstGeom>
          <a:solidFill>
            <a:srgbClr val="9CA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64" name="TextBox 17463"/>
          <p:cNvSpPr txBox="1"/>
          <p:nvPr/>
        </p:nvSpPr>
        <p:spPr>
          <a:xfrm>
            <a:off x="8887968" y="3145536"/>
            <a:ext cx="2743200" cy="74980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01820"/>
                </a:solidFill>
                <a:latin typeface="Calibri"/>
              </a:rPr>
              <a:t>EXPERIMENTAL ML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research channel only; kept outside routing by the safety-validation gate</a:t>
            </a:r>
          </a:p>
        </p:txBody>
      </p:sp>
      <p:cxnSp>
        <p:nvCxnSpPr>
          <p:cNvPr id="17465" name="Connector 17464"/>
          <p:cNvCxnSpPr/>
          <p:nvPr/>
        </p:nvCxnSpPr>
        <p:spPr>
          <a:xfrm>
            <a:off x="8750808" y="4041648"/>
            <a:ext cx="2889504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6" name="TextBox 17465"/>
          <p:cNvSpPr txBox="1"/>
          <p:nvPr/>
        </p:nvSpPr>
        <p:spPr>
          <a:xfrm>
            <a:off x="8750808" y="4114800"/>
            <a:ext cx="2834640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Calibri"/>
              </a:rPr>
              <a:t>GOVERNANCE CHAIN</a:t>
            </a:r>
          </a:p>
        </p:txBody>
      </p:sp>
      <p:sp>
        <p:nvSpPr>
          <p:cNvPr id="17467" name="Rounded Rectangle 17466"/>
          <p:cNvSpPr/>
          <p:nvPr/>
        </p:nvSpPr>
        <p:spPr>
          <a:xfrm>
            <a:off x="8750808" y="4425696"/>
            <a:ext cx="28895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101820"/>
                </a:solidFill>
                <a:latin typeface="Calibri"/>
              </a:rPr>
              <a:t>Verified evidence</a:t>
            </a:r>
          </a:p>
        </p:txBody>
      </p:sp>
      <p:cxnSp>
        <p:nvCxnSpPr>
          <p:cNvPr id="17468" name="Connector 17467"/>
          <p:cNvCxnSpPr/>
          <p:nvPr/>
        </p:nvCxnSpPr>
        <p:spPr>
          <a:xfrm>
            <a:off x="10195560" y="4754880"/>
            <a:ext cx="0" cy="91440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9" name="Rounded Rectangle 17468"/>
          <p:cNvSpPr/>
          <p:nvPr/>
        </p:nvSpPr>
        <p:spPr>
          <a:xfrm>
            <a:off x="8750808" y="4864608"/>
            <a:ext cx="28895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101820"/>
                </a:solidFill>
                <a:latin typeface="Calibri"/>
              </a:rPr>
              <a:t>Deterministic safety policy</a:t>
            </a:r>
          </a:p>
        </p:txBody>
      </p:sp>
      <p:cxnSp>
        <p:nvCxnSpPr>
          <p:cNvPr id="17470" name="Connector 17469"/>
          <p:cNvCxnSpPr/>
          <p:nvPr/>
        </p:nvCxnSpPr>
        <p:spPr>
          <a:xfrm>
            <a:off x="10195560" y="5193792"/>
            <a:ext cx="0" cy="91440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1" name="Rounded Rectangle 17470"/>
          <p:cNvSpPr/>
          <p:nvPr/>
        </p:nvSpPr>
        <p:spPr>
          <a:xfrm>
            <a:off x="8750808" y="5303520"/>
            <a:ext cx="28895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101820"/>
                </a:solidFill>
                <a:latin typeface="Calibri"/>
              </a:rPr>
              <a:t>Manager review</a:t>
            </a:r>
          </a:p>
        </p:txBody>
      </p:sp>
      <p:cxnSp>
        <p:nvCxnSpPr>
          <p:cNvPr id="17472" name="Connector 17471"/>
          <p:cNvCxnSpPr/>
          <p:nvPr/>
        </p:nvCxnSpPr>
        <p:spPr>
          <a:xfrm>
            <a:off x="10195560" y="5632704"/>
            <a:ext cx="0" cy="91440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3" name="Rounded Rectangle 17472"/>
          <p:cNvSpPr/>
          <p:nvPr/>
        </p:nvSpPr>
        <p:spPr>
          <a:xfrm>
            <a:off x="8750808" y="5742432"/>
            <a:ext cx="28895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101820"/>
                </a:solidFill>
                <a:latin typeface="Calibri"/>
              </a:rPr>
              <a:t>Driver 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101820"/>
                </a:solidFill>
                <a:latin typeface="Calibri"/>
              </a:rPr>
              <a:t>NER-AI LOGISTICS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969264"/>
            <a:ext cx="822960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101820"/>
                </a:solidFill>
                <a:latin typeface="Calibri"/>
              </a:rPr>
              <a:t>NOT A CONCEPT. A WORKING END-TO-END PROTOTYPE.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57200" y="1481328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cxnSp>
        <p:nvCxnSpPr>
          <p:cNvPr id="17412" name="Connector 17411"/>
          <p:cNvCxnSpPr/>
          <p:nvPr/>
        </p:nvCxnSpPr>
        <p:spPr>
          <a:xfrm>
            <a:off x="1207008" y="1636776"/>
            <a:ext cx="64008" cy="0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3" name="Rounded Rectangle 17412"/>
          <p:cNvSpPr/>
          <p:nvPr/>
        </p:nvSpPr>
        <p:spPr>
          <a:xfrm>
            <a:off x="1289304" y="148132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REVIEW</a:t>
            </a:r>
          </a:p>
        </p:txBody>
      </p:sp>
      <p:cxnSp>
        <p:nvCxnSpPr>
          <p:cNvPr id="17414" name="Connector 17413"/>
          <p:cNvCxnSpPr/>
          <p:nvPr/>
        </p:nvCxnSpPr>
        <p:spPr>
          <a:xfrm>
            <a:off x="2176272" y="1636776"/>
            <a:ext cx="64008" cy="0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5" name="Rounded Rectangle 17414"/>
          <p:cNvSpPr/>
          <p:nvPr/>
        </p:nvSpPr>
        <p:spPr>
          <a:xfrm>
            <a:off x="2258568" y="1481328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101820"/>
                </a:solidFill>
                <a:latin typeface="Calibri"/>
              </a:rPr>
              <a:t>DISPATCH</a:t>
            </a:r>
          </a:p>
        </p:txBody>
      </p:sp>
      <p:cxnSp>
        <p:nvCxnSpPr>
          <p:cNvPr id="17416" name="Connector 17415"/>
          <p:cNvCxnSpPr/>
          <p:nvPr/>
        </p:nvCxnSpPr>
        <p:spPr>
          <a:xfrm>
            <a:off x="3282696" y="1636776"/>
            <a:ext cx="64008" cy="0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7" name="Rounded Rectangle 17416"/>
          <p:cNvSpPr/>
          <p:nvPr/>
        </p:nvSpPr>
        <p:spPr>
          <a:xfrm>
            <a:off x="3364992" y="148132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101820"/>
                </a:solidFill>
                <a:latin typeface="Calibri"/>
              </a:rPr>
              <a:t>ACCEPT</a:t>
            </a:r>
          </a:p>
        </p:txBody>
      </p:sp>
      <p:cxnSp>
        <p:nvCxnSpPr>
          <p:cNvPr id="17418" name="Connector 17417"/>
          <p:cNvCxnSpPr/>
          <p:nvPr/>
        </p:nvCxnSpPr>
        <p:spPr>
          <a:xfrm>
            <a:off x="4297680" y="1636776"/>
            <a:ext cx="64008" cy="0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9" name="Rounded Rectangle 17418"/>
          <p:cNvSpPr/>
          <p:nvPr/>
        </p:nvSpPr>
        <p:spPr>
          <a:xfrm>
            <a:off x="4379976" y="148132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101820"/>
                </a:solidFill>
                <a:latin typeface="Calibri"/>
              </a:rPr>
              <a:t>TRUCK VERIFY</a:t>
            </a:r>
          </a:p>
        </p:txBody>
      </p:sp>
      <p:cxnSp>
        <p:nvCxnSpPr>
          <p:cNvPr id="17420" name="Connector 17419"/>
          <p:cNvCxnSpPr/>
          <p:nvPr/>
        </p:nvCxnSpPr>
        <p:spPr>
          <a:xfrm>
            <a:off x="5632704" y="1636776"/>
            <a:ext cx="64008" cy="0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1" name="Rounded Rectangle 17420"/>
          <p:cNvSpPr/>
          <p:nvPr/>
        </p:nvSpPr>
        <p:spPr>
          <a:xfrm>
            <a:off x="5715000" y="148132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101820"/>
                </a:solidFill>
                <a:latin typeface="Calibri"/>
              </a:rPr>
              <a:t>NAVIGATE</a:t>
            </a:r>
          </a:p>
        </p:txBody>
      </p:sp>
      <p:cxnSp>
        <p:nvCxnSpPr>
          <p:cNvPr id="17422" name="Connector 17421"/>
          <p:cNvCxnSpPr/>
          <p:nvPr/>
        </p:nvCxnSpPr>
        <p:spPr>
          <a:xfrm>
            <a:off x="6784848" y="1636776"/>
            <a:ext cx="64008" cy="0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3" name="Rounded Rectangle 17422"/>
          <p:cNvSpPr/>
          <p:nvPr/>
        </p:nvSpPr>
        <p:spPr>
          <a:xfrm>
            <a:off x="6867144" y="148132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101820"/>
                </a:solidFill>
                <a:latin typeface="Calibri"/>
              </a:rPr>
              <a:t>OFF-ROUTE</a:t>
            </a:r>
          </a:p>
        </p:txBody>
      </p:sp>
      <p:cxnSp>
        <p:nvCxnSpPr>
          <p:cNvPr id="17424" name="Connector 17423"/>
          <p:cNvCxnSpPr/>
          <p:nvPr/>
        </p:nvCxnSpPr>
        <p:spPr>
          <a:xfrm>
            <a:off x="7936992" y="1636776"/>
            <a:ext cx="64008" cy="0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5" name="Rounded Rectangle 17424"/>
          <p:cNvSpPr/>
          <p:nvPr/>
        </p:nvSpPr>
        <p:spPr>
          <a:xfrm>
            <a:off x="8019288" y="1481328"/>
            <a:ext cx="2057400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MANAGER REROUTE APPROVAL</a:t>
            </a:r>
          </a:p>
        </p:txBody>
      </p:sp>
      <p:cxnSp>
        <p:nvCxnSpPr>
          <p:cNvPr id="17426" name="Connector 17425"/>
          <p:cNvCxnSpPr/>
          <p:nvPr/>
        </p:nvCxnSpPr>
        <p:spPr>
          <a:xfrm>
            <a:off x="10094976" y="1636776"/>
            <a:ext cx="64008" cy="0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7" name="Rounded Rectangle 17426"/>
          <p:cNvSpPr/>
          <p:nvPr/>
        </p:nvSpPr>
        <p:spPr>
          <a:xfrm>
            <a:off x="10177272" y="1481328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DELIVERY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365760" y="1938528"/>
            <a:ext cx="5660136" cy="3931920"/>
          </a:xfrm>
          <a:prstGeom prst="roundRect">
            <a:avLst>
              <a:gd name="adj" fmla="val 2325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9" name="TextBox 17428"/>
          <p:cNvSpPr txBox="1"/>
          <p:nvPr/>
        </p:nvSpPr>
        <p:spPr>
          <a:xfrm>
            <a:off x="512064" y="2011680"/>
            <a:ext cx="5367528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Calibri"/>
              </a:rPr>
              <a:t>REAL SCREENS FROM THE CERTIFIED RUN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484632" y="2331720"/>
            <a:ext cx="221742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1" name="Picture 17430" descr="mgr-rou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2359152"/>
            <a:ext cx="2162556" cy="3145536"/>
          </a:xfrm>
          <a:prstGeom prst="rect">
            <a:avLst/>
          </a:prstGeom>
        </p:spPr>
      </p:pic>
      <p:sp>
        <p:nvSpPr>
          <p:cNvPr id="17432" name="Rounded Rectangle 17431"/>
          <p:cNvSpPr/>
          <p:nvPr/>
        </p:nvSpPr>
        <p:spPr>
          <a:xfrm>
            <a:off x="2830068" y="2331720"/>
            <a:ext cx="1471214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3" name="Picture 17432" descr="truck-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0" y="2359152"/>
            <a:ext cx="1416350" cy="3145536"/>
          </a:xfrm>
          <a:prstGeom prst="rect">
            <a:avLst/>
          </a:prstGeom>
        </p:spPr>
      </p:pic>
      <p:sp>
        <p:nvSpPr>
          <p:cNvPr id="17434" name="Rounded Rectangle 17433"/>
          <p:cNvSpPr/>
          <p:nvPr/>
        </p:nvSpPr>
        <p:spPr>
          <a:xfrm>
            <a:off x="4429298" y="2331720"/>
            <a:ext cx="1471214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35" name="Picture 17434" descr="07-navig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6730" y="2359152"/>
            <a:ext cx="1416350" cy="3145536"/>
          </a:xfrm>
          <a:prstGeom prst="rect">
            <a:avLst/>
          </a:prstGeom>
        </p:spPr>
      </p:pic>
      <p:sp>
        <p:nvSpPr>
          <p:cNvPr id="17436" name="Rounded Rectangle 17435"/>
          <p:cNvSpPr/>
          <p:nvPr/>
        </p:nvSpPr>
        <p:spPr>
          <a:xfrm>
            <a:off x="512064" y="5577840"/>
            <a:ext cx="2162556" cy="256032"/>
          </a:xfrm>
          <a:prstGeom prst="roundRect">
            <a:avLst>
              <a:gd name="adj" fmla="val 50000"/>
            </a:avLst>
          </a:prstGeom>
          <a:solidFill>
            <a:srgbClr val="10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Manager · route review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2857500" y="5577840"/>
            <a:ext cx="1416350" cy="256032"/>
          </a:xfrm>
          <a:prstGeom prst="roundRect">
            <a:avLst>
              <a:gd name="adj" fmla="val 50000"/>
            </a:avLst>
          </a:prstGeom>
          <a:solidFill>
            <a:srgbClr val="10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Driver · truck check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4456730" y="5577840"/>
            <a:ext cx="1416350" cy="256032"/>
          </a:xfrm>
          <a:prstGeom prst="roundRect">
            <a:avLst>
              <a:gd name="adj" fmla="val 50000"/>
            </a:avLst>
          </a:prstGeom>
          <a:solidFill>
            <a:srgbClr val="10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Driver · navigation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6172200" y="1938528"/>
            <a:ext cx="5605272" cy="3931920"/>
          </a:xfrm>
          <a:prstGeom prst="roundRect">
            <a:avLst>
              <a:gd name="adj" fmla="val 2325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0" name="TextBox 17439"/>
          <p:cNvSpPr txBox="1"/>
          <p:nvPr/>
        </p:nvSpPr>
        <p:spPr>
          <a:xfrm>
            <a:off x="6318504" y="2011680"/>
            <a:ext cx="531266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Calibri"/>
              </a:rPr>
              <a:t>PROOF</a:t>
            </a:r>
            <a:r>
              <a:rPr sz="950" b="0">
                <a:solidFill>
                  <a:srgbClr val="6B7280"/>
                </a:solidFill>
                <a:latin typeface="Calibri"/>
              </a:rPr>
              <a:t>   physical Android phone · hosted backend · real road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6318504" y="2395728"/>
            <a:ext cx="5312664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101820"/>
                </a:solidFill>
                <a:latin typeface="Calibri"/>
              </a:rPr>
              <a:t>Run end to end on a physical Android phone, hosted backend, real road.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6318504" y="3035808"/>
            <a:ext cx="86868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12/12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7232904" y="3035808"/>
            <a:ext cx="4398264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01820"/>
                </a:solidFill>
                <a:latin typeface="Calibri"/>
              </a:rPr>
              <a:t>physical judge-flow steps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6318504" y="3401568"/>
            <a:ext cx="86868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2563EB"/>
                </a:solidFill>
                <a:latin typeface="Calibri"/>
              </a:rPr>
              <a:t>9/9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7232904" y="3401568"/>
            <a:ext cx="4398264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101820"/>
                </a:solidFill>
                <a:latin typeface="Calibri"/>
              </a:rPr>
              <a:t>physical role-flow steps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6318504" y="3785615"/>
            <a:ext cx="5312664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1138+ </a:t>
            </a:r>
            <a:r>
              <a:rPr sz="1050" b="0">
                <a:solidFill>
                  <a:srgbClr val="101820"/>
                </a:solidFill>
                <a:latin typeface="Calibri"/>
              </a:rPr>
              <a:t>backend  ·  </a:t>
            </a:r>
            <a:r>
              <a:rPr sz="1300" b="1">
                <a:solidFill>
                  <a:srgbClr val="2563EB"/>
                </a:solidFill>
                <a:latin typeface="Calibri"/>
              </a:rPr>
              <a:t>621+ </a:t>
            </a:r>
            <a:r>
              <a:rPr sz="1050" b="0">
                <a:solidFill>
                  <a:srgbClr val="101820"/>
                </a:solidFill>
                <a:latin typeface="Calibri"/>
              </a:rPr>
              <a:t>driver  ·  </a:t>
            </a:r>
            <a:r>
              <a:rPr sz="1300" b="1">
                <a:solidFill>
                  <a:srgbClr val="2563EB"/>
                </a:solidFill>
                <a:latin typeface="Calibri"/>
              </a:rPr>
              <a:t>170+ </a:t>
            </a:r>
            <a:r>
              <a:rPr sz="1050" b="0">
                <a:solidFill>
                  <a:srgbClr val="101820"/>
                </a:solidFill>
                <a:latin typeface="Calibri"/>
              </a:rPr>
              <a:t>manager tests</a:t>
            </a:r>
          </a:p>
        </p:txBody>
      </p:sp>
      <p:sp>
        <p:nvSpPr>
          <p:cNvPr id="17447" name="Rounded Rectangle 17446"/>
          <p:cNvSpPr/>
          <p:nvPr/>
        </p:nvSpPr>
        <p:spPr>
          <a:xfrm>
            <a:off x="6318504" y="4242816"/>
            <a:ext cx="5312664" cy="34747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PHYSICAL ANDROID · CERTIFIED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6318504" y="4681728"/>
            <a:ext cx="5312664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Calibri"/>
              </a:rPr>
              <a:t>Canonical demo  </a:t>
            </a:r>
            <a:r>
              <a:rPr sz="1100" b="1">
                <a:solidFill>
                  <a:srgbClr val="101820"/>
                </a:solidFill>
                <a:latin typeface="Calibri"/>
              </a:rPr>
              <a:t>Guwahati → Shillong · ≈ 98.8 km real route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6318504" y="5029200"/>
            <a:ext cx="5312664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Every reroute approved by a manager before the phone followed it.</a:t>
            </a:r>
          </a:p>
        </p:txBody>
      </p:sp>
      <p:cxnSp>
        <p:nvCxnSpPr>
          <p:cNvPr id="17450" name="Connector 17449"/>
          <p:cNvCxnSpPr/>
          <p:nvPr/>
        </p:nvCxnSpPr>
        <p:spPr>
          <a:xfrm>
            <a:off x="457200" y="5943600"/>
            <a:ext cx="1129284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1" name="TextBox 17450"/>
          <p:cNvSpPr txBox="1"/>
          <p:nvPr/>
        </p:nvSpPr>
        <p:spPr>
          <a:xfrm>
            <a:off x="457200" y="5989320"/>
            <a:ext cx="1129284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6B7280"/>
                </a:solidFill>
                <a:latin typeface="Calibri"/>
              </a:rPr>
              <a:t>KNOWN LIMITS → MITIGATION   </a:t>
            </a:r>
            <a:r>
              <a:rPr sz="1000" b="0">
                <a:solidFill>
                  <a:srgbClr val="101820"/>
                </a:solidFill>
                <a:latin typeface="Calibri"/>
              </a:rPr>
              <a:t>Cold start → warm /health first  ·  rate limits → cached evidence + explicit UNKNOWN  ·  push needs Firebase → in-app alerts work  ·  experimental ML → outside routing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101820"/>
                </a:solidFill>
                <a:latin typeface="Calibri"/>
              </a:rPr>
              <a:t>NER-AI LOGISTICS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57200" y="1024128"/>
            <a:ext cx="7955279" cy="8229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0">
                <a:solidFill>
                  <a:srgbClr val="6B7280"/>
                </a:solidFill>
                <a:latin typeface="Calibri"/>
              </a:rPr>
              <a:t>RASTA AI does not ask only </a:t>
            </a:r>
            <a:r>
              <a:rPr sz="1900" b="1">
                <a:solidFill>
                  <a:srgbClr val="101820"/>
                </a:solidFill>
                <a:latin typeface="Calibri"/>
              </a:rPr>
              <a:t>“Which road is shortest?”</a:t>
            </a:r>
            <a:r>
              <a:rPr sz="1900" b="0">
                <a:solidFill>
                  <a:srgbClr val="6B7280"/>
                </a:solidFill>
                <a:latin typeface="Calibri"/>
              </a:rPr>
              <a:t>  It asks </a:t>
            </a:r>
            <a:r>
              <a:rPr sz="1900" b="1">
                <a:solidFill>
                  <a:srgbClr val="2563EB"/>
                </a:solidFill>
                <a:latin typeface="Calibri"/>
              </a:rPr>
              <a:t>“Can this truck reliably use this corridor now?”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457200" y="1847088"/>
            <a:ext cx="7955279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059669"/>
                </a:solidFill>
                <a:latin typeface="Calibri"/>
              </a:rPr>
              <a:t>FOOD  ·  MEDICINE  ·  FUEL  ·  RELIEF SUPPLIES</a:t>
            </a:r>
            <a:r>
              <a:rPr sz="1150" b="0">
                <a:solidFill>
                  <a:srgbClr val="6B7280"/>
                </a:solidFill>
                <a:latin typeface="Calibri"/>
              </a:rPr>
              <a:t>   — essential logistics for hill communities, decided on evidence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84048" y="2157984"/>
            <a:ext cx="8183879" cy="1499616"/>
          </a:xfrm>
          <a:prstGeom prst="roundRect">
            <a:avLst>
              <a:gd name="adj" fmla="val 6097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3" name="TextBox 17412"/>
          <p:cNvSpPr txBox="1"/>
          <p:nvPr/>
        </p:nvSpPr>
        <p:spPr>
          <a:xfrm>
            <a:off x="530352" y="2231136"/>
            <a:ext cx="7891271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Calibri"/>
              </a:rPr>
              <a:t>WHO BENEFITS</a:t>
            </a:r>
          </a:p>
        </p:txBody>
      </p:sp>
      <p:cxnSp>
        <p:nvCxnSpPr>
          <p:cNvPr id="17414" name="Connector 17413"/>
          <p:cNvCxnSpPr/>
          <p:nvPr/>
        </p:nvCxnSpPr>
        <p:spPr>
          <a:xfrm>
            <a:off x="530352" y="2615184"/>
            <a:ext cx="1865376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5" name="TextBox 17414"/>
          <p:cNvSpPr txBox="1"/>
          <p:nvPr/>
        </p:nvSpPr>
        <p:spPr>
          <a:xfrm>
            <a:off x="530352" y="2670048"/>
            <a:ext cx="1865376" cy="9326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2563EB"/>
                </a:solidFill>
                <a:latin typeface="Calibri"/>
              </a:rPr>
              <a:t>FLEET MANAGERS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>
                <a:solidFill>
                  <a:srgbClr val="101820"/>
                </a:solidFill>
                <a:latin typeface="Calibri"/>
              </a:rPr>
              <a:t>Usability and uncertainty visible before dispatch. Auditable.</a:t>
            </a:r>
          </a:p>
        </p:txBody>
      </p:sp>
      <p:cxnSp>
        <p:nvCxnSpPr>
          <p:cNvPr id="17416" name="Connector 17415"/>
          <p:cNvCxnSpPr/>
          <p:nvPr/>
        </p:nvCxnSpPr>
        <p:spPr>
          <a:xfrm>
            <a:off x="2542032" y="2615184"/>
            <a:ext cx="1865376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7" name="TextBox 17416"/>
          <p:cNvSpPr txBox="1"/>
          <p:nvPr/>
        </p:nvSpPr>
        <p:spPr>
          <a:xfrm>
            <a:off x="2542032" y="2670048"/>
            <a:ext cx="1865376" cy="9326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2563EB"/>
                </a:solidFill>
                <a:latin typeface="Calibri"/>
              </a:rPr>
              <a:t>DRIVERS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>
                <a:solidFill>
                  <a:srgbClr val="101820"/>
                </a:solidFill>
                <a:latin typeface="Calibri"/>
              </a:rPr>
              <a:t>Danger context, emergency support, 23 languages.</a:t>
            </a:r>
          </a:p>
        </p:txBody>
      </p:sp>
      <p:cxnSp>
        <p:nvCxnSpPr>
          <p:cNvPr id="17418" name="Connector 17417"/>
          <p:cNvCxnSpPr/>
          <p:nvPr/>
        </p:nvCxnSpPr>
        <p:spPr>
          <a:xfrm>
            <a:off x="4553712" y="2615184"/>
            <a:ext cx="1865376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9" name="TextBox 17418"/>
          <p:cNvSpPr txBox="1"/>
          <p:nvPr/>
        </p:nvSpPr>
        <p:spPr>
          <a:xfrm>
            <a:off x="4553712" y="2670048"/>
            <a:ext cx="1865376" cy="9326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2563EB"/>
                </a:solidFill>
                <a:latin typeface="Calibri"/>
              </a:rPr>
              <a:t>REMOTE COMMUNITIES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>
                <a:solidFill>
                  <a:srgbClr val="101820"/>
                </a:solidFill>
                <a:latin typeface="Calibri"/>
              </a:rPr>
              <a:t>Resilient access to food, medicine, fuel, relief.</a:t>
            </a:r>
          </a:p>
        </p:txBody>
      </p:sp>
      <p:cxnSp>
        <p:nvCxnSpPr>
          <p:cNvPr id="17420" name="Connector 17419"/>
          <p:cNvCxnSpPr/>
          <p:nvPr/>
        </p:nvCxnSpPr>
        <p:spPr>
          <a:xfrm>
            <a:off x="6565392" y="2615184"/>
            <a:ext cx="1865376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1" name="TextBox 17420"/>
          <p:cNvSpPr txBox="1"/>
          <p:nvPr/>
        </p:nvSpPr>
        <p:spPr>
          <a:xfrm>
            <a:off x="6565392" y="2670048"/>
            <a:ext cx="1865376" cy="9326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2563EB"/>
                </a:solidFill>
                <a:latin typeface="Calibri"/>
              </a:rPr>
              <a:t>GOVERNMENT / OPS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>
                <a:solidFill>
                  <a:srgbClr val="101820"/>
                </a:solidFill>
                <a:latin typeface="Calibri"/>
              </a:rPr>
              <a:t>Auditable evidence and disruption per corridor.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384048" y="3730752"/>
            <a:ext cx="8183879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3" name="TextBox 17422"/>
          <p:cNvSpPr txBox="1"/>
          <p:nvPr/>
        </p:nvSpPr>
        <p:spPr>
          <a:xfrm>
            <a:off x="530352" y="3803904"/>
            <a:ext cx="7891271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Calibri"/>
              </a:rPr>
              <a:t>DEMONSTRATED TODAY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566928" y="4133087"/>
            <a:ext cx="9144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2563EB"/>
                </a:solidFill>
                <a:latin typeface="Calibri"/>
              </a:rPr>
              <a:t>23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1554480" y="4133087"/>
            <a:ext cx="2889504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101820"/>
                </a:solidFill>
                <a:latin typeface="Calibri"/>
              </a:rPr>
              <a:t>selectable languages, explicit fallback status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566928" y="4517136"/>
            <a:ext cx="9144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2563EB"/>
                </a:solidFill>
                <a:latin typeface="Calibri"/>
              </a:rPr>
              <a:t>11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1554480" y="4517136"/>
            <a:ext cx="2889504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101820"/>
                </a:solidFill>
                <a:latin typeface="Calibri"/>
              </a:rPr>
              <a:t>route factors in every decision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566928" y="4901183"/>
            <a:ext cx="9144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2563EB"/>
                </a:solidFill>
                <a:latin typeface="Calibri"/>
              </a:rPr>
              <a:t>60 s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1554480" y="4901183"/>
            <a:ext cx="2889504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101820"/>
                </a:solidFill>
                <a:latin typeface="Calibri"/>
              </a:rPr>
              <a:t>route-ahead monitor while driving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4544568" y="4133087"/>
            <a:ext cx="9144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2563EB"/>
                </a:solidFill>
                <a:latin typeface="Calibri"/>
              </a:rPr>
              <a:t>12/12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5532120" y="4133087"/>
            <a:ext cx="2889504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101820"/>
                </a:solidFill>
                <a:latin typeface="Calibri"/>
              </a:rPr>
              <a:t>judge-flow steps certified on a physical phone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4544568" y="4517136"/>
            <a:ext cx="9144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2563EB"/>
                </a:solidFill>
                <a:latin typeface="Calibri"/>
              </a:rPr>
              <a:t>100 %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5532120" y="4517136"/>
            <a:ext cx="2889504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101820"/>
                </a:solidFill>
                <a:latin typeface="Calibri"/>
              </a:rPr>
              <a:t>of reroutes reviewed by a human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4544568" y="4901183"/>
            <a:ext cx="9144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2563EB"/>
                </a:solidFill>
                <a:latin typeface="Calibri"/>
              </a:rPr>
              <a:t>0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5532120" y="4901183"/>
            <a:ext cx="2889504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101820"/>
                </a:solidFill>
                <a:latin typeface="Calibri"/>
              </a:rPr>
              <a:t>unknown factors counted as safe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384048" y="5358384"/>
            <a:ext cx="8183879" cy="969264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37" name="TextBox 17436"/>
          <p:cNvSpPr txBox="1"/>
          <p:nvPr/>
        </p:nvSpPr>
        <p:spPr>
          <a:xfrm>
            <a:off x="530352" y="5431536"/>
            <a:ext cx="7891271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2563EB"/>
                </a:solidFill>
                <a:latin typeface="Calibri"/>
              </a:rPr>
              <a:t>HUMAN GOVERNANCE</a:t>
            </a:r>
            <a:r>
              <a:rPr sz="950" b="0">
                <a:solidFill>
                  <a:srgbClr val="6B7280"/>
                </a:solidFill>
                <a:latin typeface="Calibri"/>
              </a:rPr>
              <a:t>   AI has no uncontrolled authority · no invented percentages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548640" y="5797296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101820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Verified evidence</a:t>
            </a:r>
          </a:p>
        </p:txBody>
      </p:sp>
      <p:cxnSp>
        <p:nvCxnSpPr>
          <p:cNvPr id="17439" name="Connector 17438"/>
          <p:cNvCxnSpPr/>
          <p:nvPr/>
        </p:nvCxnSpPr>
        <p:spPr>
          <a:xfrm>
            <a:off x="2359151" y="5971032"/>
            <a:ext cx="155449" cy="0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0" name="Rounded Rectangle 17439"/>
          <p:cNvSpPr/>
          <p:nvPr/>
        </p:nvSpPr>
        <p:spPr>
          <a:xfrm>
            <a:off x="2569464" y="5797296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101820"/>
                </a:solidFill>
                <a:latin typeface="Calibri"/>
              </a:rPr>
              <a:t>Deterministic safety policy</a:t>
            </a:r>
          </a:p>
        </p:txBody>
      </p:sp>
      <p:cxnSp>
        <p:nvCxnSpPr>
          <p:cNvPr id="17441" name="Connector 17440"/>
          <p:cNvCxnSpPr/>
          <p:nvPr/>
        </p:nvCxnSpPr>
        <p:spPr>
          <a:xfrm>
            <a:off x="4379976" y="5971032"/>
            <a:ext cx="155448" cy="0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2" name="Rounded Rectangle 17441"/>
          <p:cNvSpPr/>
          <p:nvPr/>
        </p:nvSpPr>
        <p:spPr>
          <a:xfrm>
            <a:off x="4590288" y="5797296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101820"/>
                </a:solidFill>
                <a:latin typeface="Calibri"/>
              </a:rPr>
              <a:t>Manager governance</a:t>
            </a:r>
          </a:p>
        </p:txBody>
      </p:sp>
      <p:cxnSp>
        <p:nvCxnSpPr>
          <p:cNvPr id="17443" name="Connector 17442"/>
          <p:cNvCxnSpPr/>
          <p:nvPr/>
        </p:nvCxnSpPr>
        <p:spPr>
          <a:xfrm>
            <a:off x="6400800" y="5971032"/>
            <a:ext cx="155448" cy="0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4" name="Rounded Rectangle 17443"/>
          <p:cNvSpPr/>
          <p:nvPr/>
        </p:nvSpPr>
        <p:spPr>
          <a:xfrm>
            <a:off x="6611112" y="5797296"/>
            <a:ext cx="178308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1050" b="1">
                <a:solidFill>
                  <a:srgbClr val="101820"/>
                </a:solidFill>
                <a:latin typeface="Calibri"/>
              </a:rPr>
              <a:t>Driver action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8641080" y="1097280"/>
            <a:ext cx="3136392" cy="5230368"/>
          </a:xfrm>
          <a:prstGeom prst="roundRect">
            <a:avLst>
              <a:gd name="adj" fmla="val 2915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46" name="TextBox 17445"/>
          <p:cNvSpPr txBox="1"/>
          <p:nvPr/>
        </p:nvSpPr>
        <p:spPr>
          <a:xfrm>
            <a:off x="8787384" y="1170432"/>
            <a:ext cx="2843784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2563EB"/>
                </a:solidFill>
                <a:latin typeface="Calibri"/>
              </a:rPr>
              <a:t>REAL SCREENS · APK 1.0.18</a:t>
            </a:r>
          </a:p>
        </p:txBody>
      </p:sp>
      <p:sp>
        <p:nvSpPr>
          <p:cNvPr id="17447" name="Rounded Rectangle 17446"/>
          <p:cNvSpPr/>
          <p:nvPr/>
        </p:nvSpPr>
        <p:spPr>
          <a:xfrm>
            <a:off x="8759952" y="1508760"/>
            <a:ext cx="1678180" cy="23408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48" name="Picture 17447" descr="phone-la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7384" y="1536192"/>
            <a:ext cx="1623316" cy="2286000"/>
          </a:xfrm>
          <a:prstGeom prst="rect">
            <a:avLst/>
          </a:prstGeom>
        </p:spPr>
      </p:pic>
      <p:sp>
        <p:nvSpPr>
          <p:cNvPr id="17449" name="Rounded Rectangle 17448"/>
          <p:cNvSpPr/>
          <p:nvPr/>
        </p:nvSpPr>
        <p:spPr>
          <a:xfrm>
            <a:off x="8787384" y="3895344"/>
            <a:ext cx="1623316" cy="256032"/>
          </a:xfrm>
          <a:prstGeom prst="roundRect">
            <a:avLst>
              <a:gd name="adj" fmla="val 50000"/>
            </a:avLst>
          </a:prstGeom>
          <a:solidFill>
            <a:srgbClr val="10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Driver · 23 languages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10529572" y="1508760"/>
            <a:ext cx="1133037" cy="23408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451" name="Picture 17450" descr="phone-manag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7004" y="1536192"/>
            <a:ext cx="1078173" cy="2286000"/>
          </a:xfrm>
          <a:prstGeom prst="rect">
            <a:avLst/>
          </a:prstGeom>
        </p:spPr>
      </p:pic>
      <p:sp>
        <p:nvSpPr>
          <p:cNvPr id="17452" name="Rounded Rectangle 17451"/>
          <p:cNvSpPr/>
          <p:nvPr/>
        </p:nvSpPr>
        <p:spPr>
          <a:xfrm>
            <a:off x="10557004" y="3895344"/>
            <a:ext cx="1078173" cy="256032"/>
          </a:xfrm>
          <a:prstGeom prst="roundRect">
            <a:avLst>
              <a:gd name="adj" fmla="val 50000"/>
            </a:avLst>
          </a:prstGeom>
          <a:solidFill>
            <a:srgbClr val="10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Manager · mobile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8787384" y="4279392"/>
            <a:ext cx="2843784" cy="20116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6B7280"/>
                </a:solidFill>
                <a:latin typeface="Calibri"/>
              </a:rPr>
              <a:t>APK 1.0.18. One login, server-decided role. Every language shows its status — Verified, Draft or English fallback.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274320" y="274320"/>
            <a:ext cx="1554480" cy="731520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 lIns="36576" rIns="36576"/>
          <a:lstStyle/>
          <a:p>
            <a:pPr algn="ctr"/>
            <a:r>
              <a:rPr sz="1000" b="1">
                <a:solidFill>
                  <a:srgbClr val="101820"/>
                </a:solidFill>
                <a:latin typeface="Calibri"/>
              </a:rPr>
              <a:t>NER-AI LOGISTICS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84048" y="1024128"/>
            <a:ext cx="6766560" cy="4480560"/>
          </a:xfrm>
          <a:prstGeom prst="roundRect">
            <a:avLst>
              <a:gd name="adj" fmla="val 204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11" name="TextBox 17410"/>
          <p:cNvSpPr txBox="1"/>
          <p:nvPr/>
        </p:nvSpPr>
        <p:spPr>
          <a:xfrm>
            <a:off x="530352" y="1097280"/>
            <a:ext cx="6473952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2563EB"/>
                </a:solidFill>
                <a:latin typeface="Calibri"/>
              </a:rPr>
              <a:t>RESEARCH / EVIDENCE SOURCES BEHIND THE ROUTE DECISION</a:t>
            </a:r>
          </a:p>
        </p:txBody>
      </p:sp>
      <p:cxnSp>
        <p:nvCxnSpPr>
          <p:cNvPr id="17412" name="Connector 17411"/>
          <p:cNvCxnSpPr/>
          <p:nvPr/>
        </p:nvCxnSpPr>
        <p:spPr>
          <a:xfrm>
            <a:off x="530352" y="1481328"/>
            <a:ext cx="310896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3" name="TextBox 17412"/>
          <p:cNvSpPr txBox="1"/>
          <p:nvPr/>
        </p:nvSpPr>
        <p:spPr>
          <a:xfrm>
            <a:off x="530352" y="1536192"/>
            <a:ext cx="310896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ROUTING / PLACES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101820"/>
                </a:solidFill>
                <a:latin typeface="Calibri"/>
              </a:rPr>
              <a:t>OSRM · OpenStreetMap · Nominatim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Road geometry, alternatives, turn steps.</a:t>
            </a:r>
          </a:p>
        </p:txBody>
      </p:sp>
      <p:cxnSp>
        <p:nvCxnSpPr>
          <p:cNvPr id="17414" name="Connector 17413"/>
          <p:cNvCxnSpPr/>
          <p:nvPr/>
        </p:nvCxnSpPr>
        <p:spPr>
          <a:xfrm>
            <a:off x="3858768" y="1481328"/>
            <a:ext cx="3108959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5" name="TextBox 17414"/>
          <p:cNvSpPr txBox="1"/>
          <p:nvPr/>
        </p:nvSpPr>
        <p:spPr>
          <a:xfrm>
            <a:off x="3858768" y="1536192"/>
            <a:ext cx="310896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WEATHER / TERRAIN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101820"/>
                </a:solidFill>
                <a:latin typeface="Calibri"/>
              </a:rPr>
              <a:t>Open-Meteo · MET Norway · Copernicus DEM · OpenTopoData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Forecast along the road; climb, gradient, steep segments.</a:t>
            </a:r>
          </a:p>
        </p:txBody>
      </p:sp>
      <p:cxnSp>
        <p:nvCxnSpPr>
          <p:cNvPr id="17416" name="Connector 17415"/>
          <p:cNvCxnSpPr/>
          <p:nvPr/>
        </p:nvCxnSpPr>
        <p:spPr>
          <a:xfrm>
            <a:off x="530352" y="2798064"/>
            <a:ext cx="310896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7" name="TextBox 17416"/>
          <p:cNvSpPr txBox="1"/>
          <p:nvPr/>
        </p:nvSpPr>
        <p:spPr>
          <a:xfrm>
            <a:off x="530352" y="2852928"/>
            <a:ext cx="310896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OFFICIAL / FLOOD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101820"/>
                </a:solidFill>
                <a:latin typeface="Calibri"/>
              </a:rPr>
              <a:t>NDMA SACHET (CAP) · Copernicus GloFAS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Official warnings with freshness; discharge vs 30-day mean.</a:t>
            </a:r>
          </a:p>
        </p:txBody>
      </p:sp>
      <p:cxnSp>
        <p:nvCxnSpPr>
          <p:cNvPr id="17418" name="Connector 17417"/>
          <p:cNvCxnSpPr/>
          <p:nvPr/>
        </p:nvCxnSpPr>
        <p:spPr>
          <a:xfrm>
            <a:off x="3858768" y="2798064"/>
            <a:ext cx="3108959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9" name="TextBox 17418"/>
          <p:cNvSpPr txBox="1"/>
          <p:nvPr/>
        </p:nvSpPr>
        <p:spPr>
          <a:xfrm>
            <a:off x="3858768" y="2852928"/>
            <a:ext cx="310896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LANDSLIDE HISTORY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101820"/>
                </a:solidFill>
                <a:latin typeface="Calibri"/>
              </a:rPr>
              <a:t>NASA Global Landslide Catalog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Historical exposure, 2007–2017, ≤5 km accuracy.</a:t>
            </a:r>
          </a:p>
        </p:txBody>
      </p:sp>
      <p:cxnSp>
        <p:nvCxnSpPr>
          <p:cNvPr id="17420" name="Connector 17419"/>
          <p:cNvCxnSpPr/>
          <p:nvPr/>
        </p:nvCxnSpPr>
        <p:spPr>
          <a:xfrm>
            <a:off x="530352" y="4114800"/>
            <a:ext cx="310896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1" name="TextBox 17420"/>
          <p:cNvSpPr txBox="1"/>
          <p:nvPr/>
        </p:nvSpPr>
        <p:spPr>
          <a:xfrm>
            <a:off x="530352" y="4169663"/>
            <a:ext cx="310896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AI ASSISTANCE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101820"/>
                </a:solidFill>
                <a:latin typeface="Calibri"/>
              </a:rPr>
              <a:t>Google Gemini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Explains in the driver's language. Never safety authority.</a:t>
            </a:r>
          </a:p>
        </p:txBody>
      </p:sp>
      <p:cxnSp>
        <p:nvCxnSpPr>
          <p:cNvPr id="17422" name="Connector 17421"/>
          <p:cNvCxnSpPr/>
          <p:nvPr/>
        </p:nvCxnSpPr>
        <p:spPr>
          <a:xfrm>
            <a:off x="3858768" y="4114800"/>
            <a:ext cx="3108959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3" name="TextBox 17422"/>
          <p:cNvSpPr txBox="1"/>
          <p:nvPr/>
        </p:nvSpPr>
        <p:spPr>
          <a:xfrm>
            <a:off x="3858768" y="4169663"/>
            <a:ext cx="310896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>
                <a:solidFill>
                  <a:srgbClr val="2563EB"/>
                </a:solidFill>
                <a:latin typeface="Calibri"/>
              </a:rPr>
              <a:t>PROBLEM STATEMENT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1">
                <a:solidFill>
                  <a:srgbClr val="101820"/>
                </a:solidFill>
                <a:latin typeface="Calibri"/>
              </a:rPr>
              <a:t>MDoNER · SIH26002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Smart logistics and accessibility intelligence for the NER.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7379208" y="1024128"/>
            <a:ext cx="4535424" cy="4480560"/>
          </a:xfrm>
          <a:prstGeom prst="roundRect">
            <a:avLst>
              <a:gd name="adj" fmla="val 2040"/>
            </a:avLst>
          </a:prstGeom>
          <a:solidFill>
            <a:srgbClr val="F7F8FA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5" name="TextBox 17424"/>
          <p:cNvSpPr txBox="1"/>
          <p:nvPr/>
        </p:nvSpPr>
        <p:spPr>
          <a:xfrm>
            <a:off x="7543800" y="1152144"/>
            <a:ext cx="4206240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Calibri"/>
              </a:rPr>
              <a:t>EXPERIMENTAL LANDSLIDE RESEARCH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7543800" y="1389888"/>
            <a:ext cx="169164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>
                <a:solidFill>
                  <a:srgbClr val="101820"/>
                </a:solidFill>
                <a:latin typeface="Calibri"/>
              </a:rPr>
              <a:t>95 %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9235440" y="1426464"/>
            <a:ext cx="2514599" cy="8046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01820"/>
                </a:solidFill>
                <a:latin typeface="Calibri"/>
              </a:rPr>
              <a:t>RECALL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NER geographic holdout · 154 events · no NER row in training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7543800" y="2395728"/>
            <a:ext cx="4206240" cy="749808"/>
          </a:xfrm>
          <a:prstGeom prst="roundRect">
            <a:avLst>
              <a:gd name="adj" fmla="val 12000"/>
            </a:avLst>
          </a:prstGeom>
          <a:solidFill>
            <a:srgbClr val="101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29" name="TextBox 17428"/>
          <p:cNvSpPr txBox="1"/>
          <p:nvPr/>
        </p:nvSpPr>
        <p:spPr>
          <a:xfrm>
            <a:off x="7543800" y="2450592"/>
            <a:ext cx="4206240" cy="6583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Calibri"/>
              </a:rPr>
              <a:t>SAFETY GATE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NOT DEPLOYED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7543800" y="3218688"/>
            <a:ext cx="4206240" cy="32918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DC2626"/>
                </a:solidFill>
                <a:latin typeface="Calibri"/>
              </a:rPr>
              <a:t>FPR 50 %</a:t>
            </a:r>
            <a:r>
              <a:rPr sz="1000" b="0">
                <a:solidFill>
                  <a:srgbClr val="6B7280"/>
                </a:solidFill>
                <a:latin typeface="Calibri"/>
              </a:rPr>
              <a:t>   too high for production deployment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7543800" y="3602736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101820"/>
                </a:solidFill>
                <a:latin typeface="Calibri"/>
              </a:rPr>
              <a:t>TRAIN</a:t>
            </a:r>
          </a:p>
        </p:txBody>
      </p:sp>
      <p:cxnSp>
        <p:nvCxnSpPr>
          <p:cNvPr id="17432" name="Connector 17431"/>
          <p:cNvCxnSpPr/>
          <p:nvPr/>
        </p:nvCxnSpPr>
        <p:spPr>
          <a:xfrm>
            <a:off x="8266175" y="3730752"/>
            <a:ext cx="59436" cy="0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3" name="Rounded Rectangle 17432"/>
          <p:cNvSpPr/>
          <p:nvPr/>
        </p:nvSpPr>
        <p:spPr>
          <a:xfrm>
            <a:off x="8334756" y="3602736"/>
            <a:ext cx="148132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101820"/>
                </a:solidFill>
                <a:latin typeface="Calibri"/>
              </a:rPr>
              <a:t>HELD-OUT NER TEST</a:t>
            </a:r>
          </a:p>
        </p:txBody>
      </p:sp>
      <p:cxnSp>
        <p:nvCxnSpPr>
          <p:cNvPr id="17434" name="Connector 17433"/>
          <p:cNvCxnSpPr/>
          <p:nvPr/>
        </p:nvCxnSpPr>
        <p:spPr>
          <a:xfrm>
            <a:off x="9825228" y="3730752"/>
            <a:ext cx="59435" cy="0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5" name="Rounded Rectangle 17434"/>
          <p:cNvSpPr/>
          <p:nvPr/>
        </p:nvSpPr>
        <p:spPr>
          <a:xfrm>
            <a:off x="9893808" y="3602736"/>
            <a:ext cx="162763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101820"/>
                </a:solidFill>
                <a:latin typeface="Calibri"/>
              </a:rPr>
              <a:t>USEFUL SIGNAL FOUND</a:t>
            </a:r>
          </a:p>
        </p:txBody>
      </p:sp>
      <p:cxnSp>
        <p:nvCxnSpPr>
          <p:cNvPr id="17436" name="Connector 17435"/>
          <p:cNvCxnSpPr/>
          <p:nvPr/>
        </p:nvCxnSpPr>
        <p:spPr>
          <a:xfrm>
            <a:off x="11530584" y="3730752"/>
            <a:ext cx="59435" cy="0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7" name="Rounded Rectangle 17436"/>
          <p:cNvSpPr/>
          <p:nvPr/>
        </p:nvSpPr>
        <p:spPr>
          <a:xfrm>
            <a:off x="7543800" y="3968496"/>
            <a:ext cx="181051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101820"/>
                </a:solidFill>
                <a:latin typeface="Calibri"/>
              </a:rPr>
              <a:t>FALSE POSITIVES TOO HIGH</a:t>
            </a:r>
          </a:p>
        </p:txBody>
      </p:sp>
      <p:cxnSp>
        <p:nvCxnSpPr>
          <p:cNvPr id="17438" name="Connector 17437"/>
          <p:cNvCxnSpPr/>
          <p:nvPr/>
        </p:nvCxnSpPr>
        <p:spPr>
          <a:xfrm>
            <a:off x="9363456" y="4096511"/>
            <a:ext cx="59436" cy="0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9" name="Rounded Rectangle 17438"/>
          <p:cNvSpPr/>
          <p:nvPr/>
        </p:nvSpPr>
        <p:spPr>
          <a:xfrm>
            <a:off x="9432036" y="3968496"/>
            <a:ext cx="98755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101820"/>
                </a:solidFill>
                <a:latin typeface="Calibri"/>
              </a:rPr>
              <a:t>SAFETY GATE</a:t>
            </a:r>
          </a:p>
        </p:txBody>
      </p:sp>
      <p:cxnSp>
        <p:nvCxnSpPr>
          <p:cNvPr id="17440" name="Connector 17439"/>
          <p:cNvCxnSpPr/>
          <p:nvPr/>
        </p:nvCxnSpPr>
        <p:spPr>
          <a:xfrm>
            <a:off x="10428732" y="4096511"/>
            <a:ext cx="59435" cy="0"/>
          </a:xfrm>
          <a:prstGeom prst="line">
            <a:avLst/>
          </a:prstGeom>
          <a:ln w="15875">
            <a:solidFill>
              <a:srgbClr val="10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1" name="Rounded Rectangle 17440"/>
          <p:cNvSpPr/>
          <p:nvPr/>
        </p:nvSpPr>
        <p:spPr>
          <a:xfrm>
            <a:off x="10497312" y="3968496"/>
            <a:ext cx="1152144" cy="256032"/>
          </a:xfrm>
          <a:prstGeom prst="roundRect">
            <a:avLst>
              <a:gd name="adj" fmla="val 50000"/>
            </a:avLst>
          </a:prstGeom>
          <a:solidFill>
            <a:srgbClr val="101820"/>
          </a:solidFill>
          <a:ln w="9525">
            <a:solidFill>
              <a:srgbClr val="10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NOT DEPLOYED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7543800" y="4352544"/>
            <a:ext cx="420624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2563EB"/>
                </a:solidFill>
                <a:latin typeface="Calibri"/>
              </a:rPr>
              <a:t>VALIDATION BEFORE AUTOMATION. </a:t>
            </a:r>
            <a:r>
              <a:rPr sz="1050" b="0">
                <a:solidFill>
                  <a:srgbClr val="101820"/>
                </a:solidFill>
                <a:latin typeface="Calibri"/>
              </a:rPr>
              <a:t>Recall was not enough. Held-out testing exposed the false-positive rate. The gate keeps it out of routing.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7543800" y="4992624"/>
            <a:ext cx="420624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6B7280"/>
                </a:solidFill>
                <a:latin typeface="Calibri"/>
              </a:rPr>
              <a:t>Precision 0.32 · F1 0.48 · PR-AUC 0.55 · ROC-AUC 0.83 · Brier 0.12  —  calibrated logistic regression, NASA GLC + ERA5-Land rain + DEM slope</a:t>
            </a:r>
          </a:p>
        </p:txBody>
      </p:sp>
      <p:cxnSp>
        <p:nvCxnSpPr>
          <p:cNvPr id="17444" name="Connector 17443"/>
          <p:cNvCxnSpPr/>
          <p:nvPr/>
        </p:nvCxnSpPr>
        <p:spPr>
          <a:xfrm>
            <a:off x="457200" y="5632704"/>
            <a:ext cx="1129284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5" name="TextBox 17444"/>
          <p:cNvSpPr txBox="1"/>
          <p:nvPr/>
        </p:nvSpPr>
        <p:spPr>
          <a:xfrm>
            <a:off x="457200" y="5687568"/>
            <a:ext cx="2743200" cy="32918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Calibri"/>
              </a:rPr>
              <a:t>REFERENCES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457200" y="5897880"/>
            <a:ext cx="1129284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6B7280"/>
                </a:solidFill>
                <a:latin typeface="Calibri"/>
              </a:rPr>
              <a:t>gpm.nasa.gov/landslides (NASA GLC)  ·  sachet.ndma.gov.in  ·  global-flood.emergency.copernicus.eu (GloFAS)  ·  open-meteo.com · api.met.no  ·  opentopodata.org · Copernicus DEM  ·  project-osrm.org · openstreetmap.org  ·  github.com/nxtlucifer/ner-ai-logistics (repository, tests, model registry, error analysis)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RASTA AI — SIH26002 — Team NER-AI LOGISTICS (17)</dc:title>
  <dc:subject>AI-Based Smart Logistics and Accessibility Intelligence Platform for North Eastern Region (NER)</dc:subject>
  <dc:creator>NER-AI LOGISTICS</dc:creator>
  <cp:keywords>SIH26002, SIH 2026, RASTA AI, NER logistics, route intelligence</cp:keywords>
  <dc:description>Built by docs/submission/build_final_deck.py from docs/PPT_SOURCE_OF_TRUTH.md.</dc:description>
  <cp:lastModifiedBy>NER-AI LOGISTICS</cp:lastModifiedBy>
  <cp:revision>148</cp:revision>
  <dcterms:created xsi:type="dcterms:W3CDTF">2013-12-12T18:46:50Z</dcterms:created>
  <dcterms:modified xsi:type="dcterms:W3CDTF">2026-06-02T09:29:39Z</dcterms:modified>
  <cp:category>Smart India Hackathon 2026 — Smart Automation — Software</cp:category>
</cp:coreProperties>
</file>