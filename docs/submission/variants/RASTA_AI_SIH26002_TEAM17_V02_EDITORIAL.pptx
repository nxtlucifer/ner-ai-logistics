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88720"/>
            <a:ext cx="603504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Calibri"/>
              </a:rPr>
              <a:t>RASTA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1810512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2304288"/>
            <a:ext cx="6035039" cy="0"/>
          </a:xfrm>
          <a:prstGeom prst="line">
            <a:avLst/>
          </a:prstGeom>
          <a:ln w="1905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2395728"/>
            <a:ext cx="292608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D4ED8"/>
                </a:solidFill>
                <a:latin typeface="Calibri"/>
              </a:rPr>
              <a:t>SIH26002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2432304"/>
            <a:ext cx="333756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2962656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2935224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220"/>
                </a:solidFill>
                <a:latin typeface="Calibri"/>
              </a:rPr>
              <a:t>SIH26002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3227832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3273552"/>
            <a:ext cx="182880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PROBLEM STATEMENT 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3246120"/>
            <a:ext cx="416052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0B1220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3703320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3749039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THEME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3721607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0B1220"/>
                </a:solidFill>
                <a:latin typeface="Calibri"/>
              </a:rPr>
              <a:t>Smart Automation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4014215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059935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PS 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4032503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0B1220"/>
                </a:solidFill>
                <a:latin typeface="Calibri"/>
              </a:rPr>
              <a:t>Software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4325112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4370831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TEAM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343399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220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02920" y="4636007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2920" y="4681727"/>
            <a:ext cx="18288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Calibri"/>
              </a:rPr>
              <a:t>TEAM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77440" y="4654295"/>
            <a:ext cx="41605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B1220"/>
                </a:solidFill>
                <a:latin typeface="Calibri"/>
              </a:rPr>
              <a:t>NER-AI LOGISTICS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02920" y="4946903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02920" y="5010912"/>
            <a:ext cx="603504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5449824"/>
            <a:ext cx="603504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1D4ED8"/>
                </a:solidFill>
                <a:latin typeface="Calibri"/>
              </a:rPr>
              <a:t>“Can this essential-supply truck reliably use this corridor now?”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" y="5852160"/>
            <a:ext cx="6035039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02920" y="5907024"/>
            <a:ext cx="60350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47857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1152144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LIVE WORKING SYSTEM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903720" y="1426464"/>
            <a:ext cx="4846320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871716" y="2253996"/>
            <a:ext cx="2515743" cy="3630168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286000"/>
            <a:ext cx="2451735" cy="356616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496044" y="1559052"/>
            <a:ext cx="1982669" cy="4325112"/>
          </a:xfrm>
          <a:prstGeom prst="roundRect">
            <a:avLst>
              <a:gd name="adj" fmla="val 2767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1591056"/>
            <a:ext cx="1918661" cy="426110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903720" y="5943600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Manager route review · Driver navigation — real screens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335024"/>
            <a:ext cx="7955279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Calibri"/>
              </a:rPr>
              <a:t>Not the shortest road. </a:t>
            </a:r>
            <a:r>
              <a:rPr sz="2500" b="1">
                <a:solidFill>
                  <a:srgbClr val="1D4ED8"/>
                </a:solidFill>
                <a:latin typeface="Calibri"/>
              </a:rPr>
              <a:t>The road that is operationally usable now.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194560"/>
            <a:ext cx="795527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Monsoon · landslides · floods · official warnings · single-lane hill roads · no signal.  </a:t>
            </a:r>
            <a:r>
              <a:rPr sz="1100" b="1">
                <a:solidFill>
                  <a:srgbClr val="DC2626"/>
                </a:solidFill>
                <a:latin typeface="Calibri"/>
              </a:rPr>
              <a:t>A shortest-path router still sends the truck.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457200" y="2651760"/>
            <a:ext cx="8065008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/>
          <p:cNvSpPr txBox="1"/>
          <p:nvPr/>
        </p:nvSpPr>
        <p:spPr>
          <a:xfrm>
            <a:off x="457200" y="2724912"/>
            <a:ext cx="2194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A NORMAL ROUTER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57200" y="3017520"/>
            <a:ext cx="21031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64748B"/>
                </a:solidFill>
                <a:latin typeface="Calibri"/>
              </a:rPr>
              <a:t>Origin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1508760" y="3300983"/>
            <a:ext cx="0" cy="201169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ounded Rectangle 15368"/>
          <p:cNvSpPr/>
          <p:nvPr/>
        </p:nvSpPr>
        <p:spPr>
          <a:xfrm>
            <a:off x="457200" y="3511296"/>
            <a:ext cx="21031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64748B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1508760" y="3794759"/>
            <a:ext cx="0" cy="201169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457200" y="4005072"/>
            <a:ext cx="2103120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64748B"/>
                </a:solidFill>
                <a:latin typeface="Calibri"/>
              </a:rPr>
              <a:t>Truck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57200" y="4535424"/>
            <a:ext cx="21031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No terrain, weather or hazard check.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No governance. No answer when data is missing.</a:t>
            </a:r>
          </a:p>
        </p:txBody>
      </p:sp>
      <p:cxnSp>
        <p:nvCxnSpPr>
          <p:cNvPr id="15373" name="Connector 15372"/>
          <p:cNvCxnSpPr/>
          <p:nvPr/>
        </p:nvCxnSpPr>
        <p:spPr>
          <a:xfrm flipV="1">
            <a:off x="2761488" y="2743200"/>
            <a:ext cx="0" cy="1188720"/>
          </a:xfrm>
          <a:prstGeom prst="line">
            <a:avLst/>
          </a:prstGeom>
          <a:ln w="11430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TextBox 15373"/>
          <p:cNvSpPr txBox="1"/>
          <p:nvPr/>
        </p:nvSpPr>
        <p:spPr>
          <a:xfrm>
            <a:off x="2926080" y="2724912"/>
            <a:ext cx="55778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Calibri"/>
              </a:rPr>
              <a:t>RASTA AI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2926080" y="3017520"/>
            <a:ext cx="559612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Origin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5724144" y="3282696"/>
            <a:ext cx="0" cy="73152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2926080" y="3364991"/>
            <a:ext cx="559612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Real route  ·  OSRM road, alternatives, turn steps</a:t>
            </a:r>
          </a:p>
        </p:txBody>
      </p:sp>
      <p:cxnSp>
        <p:nvCxnSpPr>
          <p:cNvPr id="15378" name="Connector 15377"/>
          <p:cNvCxnSpPr/>
          <p:nvPr/>
        </p:nvCxnSpPr>
        <p:spPr>
          <a:xfrm>
            <a:off x="2926080" y="3749039"/>
            <a:ext cx="559612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TextBox 15378"/>
          <p:cNvSpPr txBox="1"/>
          <p:nvPr/>
        </p:nvSpPr>
        <p:spPr>
          <a:xfrm>
            <a:off x="2926080" y="3785615"/>
            <a:ext cx="559612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B1220"/>
                </a:solidFill>
                <a:latin typeface="Calibri"/>
              </a:rPr>
              <a:t>ROUTE-SPECIFIC EVIDENCE  </a:t>
            </a:r>
            <a:r>
              <a:rPr sz="950" b="0">
                <a:solidFill>
                  <a:srgbClr val="64748B"/>
                </a:solidFill>
                <a:latin typeface="Calibri"/>
              </a:rPr>
              <a:t>each factor sampled along the selected road, with its freshness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2926080" y="4059935"/>
            <a:ext cx="786384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Terrain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3785616" y="4059935"/>
            <a:ext cx="786384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Weather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645152" y="4059935"/>
            <a:ext cx="1261872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Landslide exposure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5980176" y="4059935"/>
            <a:ext cx="1024128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Flood context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7077456" y="4059935"/>
            <a:ext cx="1170432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Official warnings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2926080" y="4334255"/>
            <a:ext cx="932688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Fleet traffic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3931920" y="4334255"/>
            <a:ext cx="1261872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B1220"/>
                </a:solidFill>
                <a:latin typeface="Calibri"/>
              </a:rPr>
              <a:t>Evidence freshness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2926080" y="4681727"/>
            <a:ext cx="5596128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OPERATIONAL DECISION  ·  CONTINUE / CAUTION / HOLD / REROUTE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5724144" y="4946903"/>
            <a:ext cx="0" cy="73152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Rounded Rectangle 15388"/>
          <p:cNvSpPr/>
          <p:nvPr/>
        </p:nvSpPr>
        <p:spPr>
          <a:xfrm>
            <a:off x="2926080" y="5029199"/>
            <a:ext cx="559612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Manager governance  ·  reviews evidence, authorises, dispatches, approves reroutes</a:t>
            </a:r>
          </a:p>
        </p:txBody>
      </p:sp>
      <p:cxnSp>
        <p:nvCxnSpPr>
          <p:cNvPr id="15390" name="Connector 15389"/>
          <p:cNvCxnSpPr/>
          <p:nvPr/>
        </p:nvCxnSpPr>
        <p:spPr>
          <a:xfrm>
            <a:off x="5724144" y="5294375"/>
            <a:ext cx="0" cy="73152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Rounded Rectangle 15390"/>
          <p:cNvSpPr/>
          <p:nvPr/>
        </p:nvSpPr>
        <p:spPr>
          <a:xfrm>
            <a:off x="2926080" y="5376671"/>
            <a:ext cx="5596128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Driver  ·  navigation, danger context, 23 languages, offline package</a:t>
            </a:r>
          </a:p>
        </p:txBody>
      </p:sp>
      <p:cxnSp>
        <p:nvCxnSpPr>
          <p:cNvPr id="15392" name="Connector 15391"/>
          <p:cNvCxnSpPr/>
          <p:nvPr/>
        </p:nvCxnSpPr>
        <p:spPr>
          <a:xfrm>
            <a:off x="457200" y="5687568"/>
            <a:ext cx="8065008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TextBox 15392"/>
          <p:cNvSpPr txBox="1"/>
          <p:nvPr/>
        </p:nvSpPr>
        <p:spPr>
          <a:xfrm>
            <a:off x="457200" y="5760720"/>
            <a:ext cx="25603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C2626"/>
                </a:solidFill>
                <a:latin typeface="Calibri"/>
              </a:rPr>
              <a:t>UNKNOWN ≠ SAFE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2926080" y="5797296"/>
            <a:ext cx="5596128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B1220"/>
                </a:solidFill>
                <a:latin typeface="Calibri"/>
              </a:rPr>
              <a:t>Missing or stale evidence is marked UNKNOWN — never safe — and goes to an authorised reviewer.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686800" y="1097280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MANAGER · CHECK CONDITIONS</a:t>
            </a:r>
          </a:p>
        </p:txBody>
      </p:sp>
      <p:cxnSp>
        <p:nvCxnSpPr>
          <p:cNvPr id="15396" name="Connector 15395"/>
          <p:cNvCxnSpPr/>
          <p:nvPr/>
        </p:nvCxnSpPr>
        <p:spPr>
          <a:xfrm>
            <a:off x="8686800" y="1371600"/>
            <a:ext cx="3063240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7" name="Rounded Rectangle 15396"/>
          <p:cNvSpPr/>
          <p:nvPr/>
        </p:nvSpPr>
        <p:spPr>
          <a:xfrm>
            <a:off x="8654796" y="1467612"/>
            <a:ext cx="2918931" cy="4507992"/>
          </a:xfrm>
          <a:prstGeom prst="roundRect">
            <a:avLst>
              <a:gd name="adj" fmla="val 1879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8" name="Picture 15397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99616"/>
            <a:ext cx="2854923" cy="4443984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8686800" y="5998464"/>
            <a:ext cx="3063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78992"/>
            <a:ext cx="80467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VERIFIED DATA → DECISION → DRIVER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457200" y="1353312"/>
            <a:ext cx="8065008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457200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Open-Meteo · MET Norway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1051560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1810512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Copernicus DEM · OpenTopoData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2404872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163824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NDMA SACHET (CAP)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758184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17136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GloFAS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5111496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5870448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NASA GLC 2007–17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6464808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7223760" y="1426464"/>
            <a:ext cx="1280160" cy="5120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B1220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fleet GPS fixes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7818119" y="1975104"/>
            <a:ext cx="0" cy="164592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621792" y="2194560"/>
            <a:ext cx="786384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B1220"/>
                </a:solidFill>
                <a:latin typeface="Calibri"/>
              </a:rPr>
              <a:t>ROUTE-SPECIFIC EVIDENCE  · 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every factor sampled along the selected road · PostgreSQL / PostGIS (Supabase) · OSRM routes, alternatives, turn steps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457200" y="2724912"/>
            <a:ext cx="806500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ectangle 17425"/>
          <p:cNvSpPr/>
          <p:nvPr/>
        </p:nvSpPr>
        <p:spPr>
          <a:xfrm>
            <a:off x="457200" y="2852928"/>
            <a:ext cx="45720" cy="4937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21792" y="2852928"/>
            <a:ext cx="7863840" cy="4937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457200" y="3383280"/>
            <a:ext cx="806500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457200" y="351129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505456" y="351129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53712" y="351129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601968" y="3511296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457200" y="39684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1847088" y="4123944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1920240" y="3968496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3438144" y="4123944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3511296" y="3968496"/>
            <a:ext cx="1865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ROUTE-AHEAD MONITOR (60 s)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5394959" y="4123944"/>
            <a:ext cx="54865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5468112" y="396849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6949440" y="4123944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7022592" y="3968496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REASSESS / REROUTE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7200" y="4370832"/>
            <a:ext cx="8065008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Re-scored every 60 s on the road ahead. A reroute is proposed to the manager, never applied silently.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57200" y="4754880"/>
            <a:ext cx="806500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457200" y="4809744"/>
            <a:ext cx="8065008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CLIENTS  </a:t>
            </a:r>
            <a:r>
              <a:rPr sz="1050" b="0">
                <a:solidFill>
                  <a:srgbClr val="0B1220"/>
                </a:solidFill>
                <a:latin typeface="Calibri"/>
              </a:rPr>
              <a:t>Manager console (React + TS) · Driver app (React Native / Expo, Android) · one login, server-decided role, offline package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STACK  </a:t>
            </a:r>
            <a:r>
              <a:rPr sz="1050" b="0">
                <a:solidFill>
                  <a:srgbClr val="0B1220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EVIDENCE  </a:t>
            </a:r>
            <a:r>
              <a:rPr sz="1050" b="0">
                <a:solidFill>
                  <a:srgbClr val="0B1220"/>
                </a:solidFill>
                <a:latin typeface="Calibri"/>
              </a:rPr>
              <a:t>Open-Meteo / MET Norway · NDMA SACHET · GloFAS · NASA historical landslides · OpenTopoData / Copernicus DEM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8686800" y="1078992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WHO DECIDES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8686800" y="1353312"/>
            <a:ext cx="3063240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ectangle 17446"/>
          <p:cNvSpPr/>
          <p:nvPr/>
        </p:nvSpPr>
        <p:spPr>
          <a:xfrm>
            <a:off x="8686800" y="1490472"/>
            <a:ext cx="45720" cy="6035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8851392" y="1463040"/>
            <a:ext cx="28986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1220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8686800" y="2331720"/>
            <a:ext cx="45720" cy="603504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8851392" y="2304288"/>
            <a:ext cx="28986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1220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8686800" y="3172968"/>
            <a:ext cx="45720" cy="6035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8851392" y="3145536"/>
            <a:ext cx="289864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B1220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8686800" y="4005072"/>
            <a:ext cx="306324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TextBox 17453"/>
          <p:cNvSpPr txBox="1"/>
          <p:nvPr/>
        </p:nvSpPr>
        <p:spPr>
          <a:xfrm>
            <a:off x="8686800" y="4078224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GOVERNANCE CHAIN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8686800" y="4389120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10218420" y="4690872"/>
            <a:ext cx="0" cy="109728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Rounded Rectangle 17456"/>
          <p:cNvSpPr/>
          <p:nvPr/>
        </p:nvSpPr>
        <p:spPr>
          <a:xfrm>
            <a:off x="8686800" y="4809744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10218420" y="5111496"/>
            <a:ext cx="0" cy="109728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8686800" y="5230368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10218420" y="5532120"/>
            <a:ext cx="0" cy="109728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Rounded Rectangle 17460"/>
          <p:cNvSpPr/>
          <p:nvPr/>
        </p:nvSpPr>
        <p:spPr>
          <a:xfrm>
            <a:off x="8686800" y="5650992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05840"/>
            <a:ext cx="8686800" cy="4023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499616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1225295" y="1655063"/>
            <a:ext cx="54865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1298448" y="149961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212848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286000" y="1499616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DISPATCH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3328416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3401568" y="14996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ACCEPT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334256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4407408" y="1499616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TRUCK VERIFY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5669280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5742432" y="14996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NAVIGATE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6821424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6894576" y="1499616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0B1220"/>
                </a:solidFill>
                <a:latin typeface="Calibri"/>
              </a:rPr>
              <a:t>OFF-ROUTE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7973567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8046720" y="1499616"/>
            <a:ext cx="2084831" cy="31089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10149840" y="1655063"/>
            <a:ext cx="54864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10222992" y="1499616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457200" y="2011680"/>
            <a:ext cx="1129284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425196" y="2144268"/>
            <a:ext cx="2327148" cy="3355848"/>
          </a:xfrm>
          <a:prstGeom prst="roundRect">
            <a:avLst>
              <a:gd name="adj" fmla="val 2357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0" name="Picture 17429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76272"/>
            <a:ext cx="2263140" cy="3291840"/>
          </a:xfrm>
          <a:prstGeom prst="rect">
            <a:avLst/>
          </a:prstGeom>
        </p:spPr>
      </p:pic>
      <p:sp>
        <p:nvSpPr>
          <p:cNvPr id="17431" name="Rounded Rectangle 17430"/>
          <p:cNvSpPr/>
          <p:nvPr/>
        </p:nvSpPr>
        <p:spPr>
          <a:xfrm>
            <a:off x="2889504" y="2144268"/>
            <a:ext cx="1546235" cy="3355848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508" y="2176272"/>
            <a:ext cx="1482227" cy="3291840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4572899" y="2144268"/>
            <a:ext cx="1546235" cy="3355848"/>
          </a:xfrm>
          <a:prstGeom prst="roundRect">
            <a:avLst>
              <a:gd name="adj" fmla="val 3548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4" name="Picture 17433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903" y="2176272"/>
            <a:ext cx="1482227" cy="329184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457200" y="5522976"/>
            <a:ext cx="22631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921508" y="5522976"/>
            <a:ext cx="1482227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Driver · truck check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604903" y="5522976"/>
            <a:ext cx="1482227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Driver · navigation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398026" y="2103120"/>
            <a:ext cx="535201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PROOF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6398026" y="2377440"/>
            <a:ext cx="5352014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TextBox 17439"/>
          <p:cNvSpPr txBox="1"/>
          <p:nvPr/>
        </p:nvSpPr>
        <p:spPr>
          <a:xfrm>
            <a:off x="6398026" y="2468880"/>
            <a:ext cx="5352013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0B1220"/>
                </a:solidFill>
                <a:latin typeface="Calibri"/>
              </a:rPr>
              <a:t>Run end to end on a physical Android phone, hosted backend, real road.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398026" y="3127248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Calibri"/>
              </a:rPr>
              <a:t>12/12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330714" y="3127248"/>
            <a:ext cx="4419325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398026" y="3529584"/>
            <a:ext cx="85953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Calibri"/>
              </a:rPr>
              <a:t>9/9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330714" y="3529584"/>
            <a:ext cx="4419325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98026" y="3968496"/>
            <a:ext cx="5352013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D4ED8"/>
                </a:solidFill>
                <a:latin typeface="Calibri"/>
              </a:rPr>
              <a:t>1138+ </a:t>
            </a:r>
            <a:r>
              <a:rPr sz="1050" b="0">
                <a:solidFill>
                  <a:srgbClr val="0B1220"/>
                </a:solidFill>
                <a:latin typeface="Calibri"/>
              </a:rPr>
              <a:t>backend  ·  </a:t>
            </a:r>
            <a:r>
              <a:rPr sz="1300" b="1">
                <a:solidFill>
                  <a:srgbClr val="1D4ED8"/>
                </a:solidFill>
                <a:latin typeface="Calibri"/>
              </a:rPr>
              <a:t>621+ </a:t>
            </a:r>
            <a:r>
              <a:rPr sz="1050" b="0">
                <a:solidFill>
                  <a:srgbClr val="0B1220"/>
                </a:solidFill>
                <a:latin typeface="Calibri"/>
              </a:rPr>
              <a:t>driver  ·  </a:t>
            </a:r>
            <a:r>
              <a:rPr sz="1300" b="1">
                <a:solidFill>
                  <a:srgbClr val="1D4ED8"/>
                </a:solidFill>
                <a:latin typeface="Calibri"/>
              </a:rPr>
              <a:t>170+ </a:t>
            </a:r>
            <a:r>
              <a:rPr sz="1050" b="0">
                <a:solidFill>
                  <a:srgbClr val="0B1220"/>
                </a:solidFill>
                <a:latin typeface="Calibri"/>
              </a:rPr>
              <a:t>manager tests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398026" y="4389120"/>
            <a:ext cx="5352014" cy="0"/>
          </a:xfrm>
          <a:prstGeom prst="line">
            <a:avLst/>
          </a:prstGeom>
          <a:ln w="19050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TextBox 17446"/>
          <p:cNvSpPr txBox="1"/>
          <p:nvPr/>
        </p:nvSpPr>
        <p:spPr>
          <a:xfrm>
            <a:off x="6398026" y="4443983"/>
            <a:ext cx="5352013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47857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398026" y="4791456"/>
            <a:ext cx="5352013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94A3B8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0B1220"/>
                </a:solidFill>
                <a:latin typeface="Calibri"/>
              </a:rPr>
              <a:t>Guwahati → Shillong · ≈ 98.8 km real route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457200" y="5870448"/>
            <a:ext cx="1129284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TextBox 17449"/>
          <p:cNvSpPr txBox="1"/>
          <p:nvPr/>
        </p:nvSpPr>
        <p:spPr>
          <a:xfrm>
            <a:off x="457200" y="5925312"/>
            <a:ext cx="11292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KNOWN LIMITS → MITIGATION   </a:t>
            </a:r>
            <a:r>
              <a:rPr sz="950" b="0">
                <a:solidFill>
                  <a:srgbClr val="0B1220"/>
                </a:solidFill>
                <a:latin typeface="Calibri"/>
              </a:rPr>
              <a:t>Cold start → warm /health first  ·  rate limits → cached evidence + explicit UNKNOWN  ·  push needs Firebase → in-app alerts work  ·  experimental ML → outside routing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42415"/>
            <a:ext cx="8046720" cy="7863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RASTA AI does not ask only </a:t>
            </a:r>
            <a:r>
              <a:rPr sz="1800" b="1">
                <a:solidFill>
                  <a:srgbClr val="0B1220"/>
                </a:solidFill>
                <a:latin typeface="Calibri"/>
              </a:rPr>
              <a:t>“Which road is shortest?”</a:t>
            </a:r>
            <a:r>
              <a:rPr sz="1800" b="0">
                <a:solidFill>
                  <a:srgbClr val="64748B"/>
                </a:solidFill>
                <a:latin typeface="Calibri"/>
              </a:rPr>
              <a:t>  It asks  </a:t>
            </a:r>
            <a:r>
              <a:rPr sz="1800" b="1">
                <a:solidFill>
                  <a:srgbClr val="1D4ED8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83664"/>
            <a:ext cx="804672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FOOD  ·  MEDICINE  ·  FUEL  ·  RELIEF SUPPLIES</a:t>
            </a:r>
            <a:r>
              <a:rPr sz="1100" b="0">
                <a:solidFill>
                  <a:srgbClr val="64748B"/>
                </a:solidFill>
                <a:latin typeface="Calibri"/>
              </a:rPr>
              <a:t>   — essential logistics for hill communities, decided on evidence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2286000"/>
            <a:ext cx="8065008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457200" y="2359152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WHO BENEFITS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2651760"/>
            <a:ext cx="189280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Usability and uncertainty visible before dispatch. Auditable.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496312" y="2651760"/>
            <a:ext cx="189280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Danger context, emergency support, 23 languages.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35424" y="2651760"/>
            <a:ext cx="189280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Resilient access to food, medicine, fuel, relief.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574536" y="2651760"/>
            <a:ext cx="1892807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Calibri"/>
              </a:rPr>
              <a:t>GOVERNMENT / OPS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Auditable evidence and disruption per corridor.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57200" y="3730752"/>
            <a:ext cx="806500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457200" y="3785615"/>
            <a:ext cx="36576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DEMONSTRATED TODAY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4114800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23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417320" y="411480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4517136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11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417320" y="4517136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4919472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60 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417320" y="4919472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17136" y="4114800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12/12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477256" y="4114800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17136" y="4517136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100 %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477256" y="4517136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17136" y="4919472"/>
            <a:ext cx="88696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1D4ED8"/>
                </a:solidFill>
                <a:latin typeface="Calibri"/>
              </a:rPr>
              <a:t>0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77256" y="4919472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1220"/>
                </a:solidFill>
                <a:latin typeface="Calibri"/>
              </a:rPr>
              <a:t>unknown factors counted as safe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57200" y="5413248"/>
            <a:ext cx="8065008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457200" y="5468112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HUMAN GOVERNANCE — AI HAS NO UNCONTROLLED AUTHORITY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5760720"/>
            <a:ext cx="1865376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2340864" y="5925312"/>
            <a:ext cx="164592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2523744" y="5760720"/>
            <a:ext cx="18653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4407408" y="5925312"/>
            <a:ext cx="164592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4590288" y="5760720"/>
            <a:ext cx="18653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6473952" y="5925312"/>
            <a:ext cx="164592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6656832" y="5760720"/>
            <a:ext cx="18653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0B1220"/>
                </a:solidFill>
                <a:latin typeface="Calibri"/>
              </a:rPr>
              <a:t>Driver action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686800" y="1078992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REAL SCREENS · APK 1.0.18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8686800" y="1353312"/>
            <a:ext cx="3063240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8654796" y="1467612"/>
            <a:ext cx="1687324" cy="2350008"/>
          </a:xfrm>
          <a:prstGeom prst="roundRect">
            <a:avLst>
              <a:gd name="adj" fmla="val 3251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99616"/>
            <a:ext cx="1623316" cy="2286000"/>
          </a:xfrm>
          <a:prstGeom prst="rect">
            <a:avLst/>
          </a:prstGeom>
        </p:spPr>
      </p:pic>
      <p:sp>
        <p:nvSpPr>
          <p:cNvPr id="17445" name="Rounded Rectangle 17444"/>
          <p:cNvSpPr/>
          <p:nvPr/>
        </p:nvSpPr>
        <p:spPr>
          <a:xfrm>
            <a:off x="10424416" y="1467612"/>
            <a:ext cx="1142181" cy="2350008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6" name="Picture 17445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420" y="1499616"/>
            <a:ext cx="1078173" cy="2286000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8686800" y="3877056"/>
            <a:ext cx="16233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0456420" y="3877056"/>
            <a:ext cx="1078173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Manager · mobile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686800" y="4224528"/>
            <a:ext cx="30632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B12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78992"/>
            <a:ext cx="67665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RESEARCH / EVIDENCE SOURCES BEHIND THE ROUTE DECISION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457200" y="1353312"/>
            <a:ext cx="6784848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TextBox 17411"/>
          <p:cNvSpPr txBox="1"/>
          <p:nvPr/>
        </p:nvSpPr>
        <p:spPr>
          <a:xfrm>
            <a:off x="457200" y="1481328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Road geometry, alternatives, turn steps.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457200" y="2651760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TextBox 17413"/>
          <p:cNvSpPr txBox="1"/>
          <p:nvPr/>
        </p:nvSpPr>
        <p:spPr>
          <a:xfrm>
            <a:off x="4041648" y="1481328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Forecast along the road; climb, gradient, steep segments.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4041648" y="2651760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457200" y="2816352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Official warnings with freshness; discharge vs 30-day mean.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457200" y="3986784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041648" y="2816352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Historical exposure, 2007–2017, ≤5 km accuracy.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041648" y="3986784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457200" y="4151376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Explains in the driver's language. Never safety authority.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457200" y="5321808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4041648" y="4151376"/>
            <a:ext cx="3200400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1">
                <a:solidFill>
                  <a:srgbClr val="1D4ED8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0B1220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Smart logistics and accessibility intelligence for the NER.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041648" y="5321808"/>
            <a:ext cx="320040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7772400" y="1078992"/>
            <a:ext cx="397763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4A3B8"/>
                </a:solidFill>
                <a:latin typeface="Calibri"/>
              </a:rPr>
              <a:t>EXPERIMENTAL LANDSLIDE RESEARCH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7772400" y="1353312"/>
            <a:ext cx="3977640" cy="0"/>
          </a:xfrm>
          <a:prstGeom prst="line">
            <a:avLst/>
          </a:prstGeom>
          <a:ln w="15240">
            <a:solidFill>
              <a:srgbClr val="0B1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7772400" y="1463040"/>
            <a:ext cx="1645920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0B1220"/>
                </a:solidFill>
                <a:latin typeface="Calibri"/>
              </a:rPr>
              <a:t>95 %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418320" y="1499616"/>
            <a:ext cx="2331720" cy="7863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B1220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NER geographic holdout · 154 events · no NER row in training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772400" y="2432304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7772400" y="2487168"/>
            <a:ext cx="3977639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4A3B8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772400" y="3236976"/>
            <a:ext cx="39776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FPR 50 %</a:t>
            </a:r>
            <a:r>
              <a:rPr sz="1000" b="0">
                <a:solidFill>
                  <a:srgbClr val="64748B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772400" y="3621024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TRAIN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8467344" y="3749039"/>
            <a:ext cx="36576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8522208" y="3621024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9948672" y="3749039"/>
            <a:ext cx="36576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10003536" y="362102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USEFUL SIGNAL FOUND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772400" y="3986784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9509759" y="4114800"/>
            <a:ext cx="36577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9564624" y="3986784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SAFETY GATE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10515600" y="4114800"/>
            <a:ext cx="36576" cy="0"/>
          </a:xfrm>
          <a:prstGeom prst="line">
            <a:avLst/>
          </a:prstGeom>
          <a:ln w="15875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10570464" y="39867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B1220"/>
                </a:solidFill>
                <a:latin typeface="Calibri"/>
              </a:rPr>
              <a:t>NOT DEPLOYED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772400" y="4389120"/>
            <a:ext cx="3977639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1D4ED8"/>
                </a:solidFill>
                <a:latin typeface="Calibri"/>
              </a:rPr>
              <a:t>VALIDATION BEFORE AUTOMATION. </a:t>
            </a:r>
            <a:r>
              <a:rPr sz="1050" b="0">
                <a:solidFill>
                  <a:srgbClr val="0B1220"/>
                </a:solidFill>
                <a:latin typeface="Calibri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772400" y="5029200"/>
            <a:ext cx="397763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Calibri"/>
              </a:rPr>
              <a:t>Precision 0.32 · F1 0.48 · PR-AUC 0.55 · ROC-AUC 0.83 · Brier 0.12  —  calibrated logistic regression, NASA GLC + ERA5-Land rain + DEM slope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57200" y="5632704"/>
            <a:ext cx="11292840" cy="0"/>
          </a:xfrm>
          <a:prstGeom prst="line">
            <a:avLst/>
          </a:prstGeom>
          <a:ln w="952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457200" y="5687568"/>
            <a:ext cx="27432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94A3B8"/>
                </a:solidFill>
                <a:latin typeface="Calibri"/>
              </a:rPr>
              <a:t>REFERENCES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57200" y="5907024"/>
            <a:ext cx="112928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gpm.nasa.gov/landslides  ·  sachet.ndma.gov.in  ·  global-flood.emergency.copernicus.eu  ·  open-meteo.com  ·  api.met.no  ·  opentopodata.org  ·  project-osrm.org  ·  openstreetmap.org  ·  github.com/nxtlucifer/ner-ai-logistics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