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34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2920" y="1188720"/>
            <a:ext cx="603504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0B1220"/>
                </a:solidFill>
                <a:latin typeface="Calibri"/>
              </a:rPr>
              <a:t>RASTA 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" y="1810512"/>
            <a:ext cx="6035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64748B"/>
                </a:solidFill>
                <a:latin typeface="Calibri"/>
              </a:rPr>
              <a:t>Route Intelligence for Essential-Supply Logistics in North Eastern India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02920" y="2304288"/>
            <a:ext cx="6035039" cy="0"/>
          </a:xfrm>
          <a:prstGeom prst="line">
            <a:avLst/>
          </a:prstGeom>
          <a:ln w="19050">
            <a:solidFill>
              <a:srgbClr val="0B1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2920" y="2395728"/>
            <a:ext cx="292608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1D4ED8"/>
                </a:solidFill>
                <a:latin typeface="Calibri"/>
              </a:rPr>
              <a:t>SIH26002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2432304"/>
            <a:ext cx="33375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MDoNER · Smart Automation · Software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2962656"/>
            <a:ext cx="18288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PROBLEM STATEMENT 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40" y="2935224"/>
            <a:ext cx="4160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B1220"/>
                </a:solidFill>
                <a:latin typeface="Calibri"/>
              </a:rPr>
              <a:t>SIH26002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3227832"/>
            <a:ext cx="6035039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3273552"/>
            <a:ext cx="1828800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PROBLEM STATEMENT TITLE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7440" y="3246120"/>
            <a:ext cx="4160520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0B1220"/>
                </a:solidFill>
                <a:latin typeface="Calibri"/>
              </a:rPr>
              <a:t>AI-Based Smart Logistics and Accessibility Intelligence Platform for North Eastern Region (NER)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3703320"/>
            <a:ext cx="6035039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3749039"/>
            <a:ext cx="18288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THEME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3721607"/>
            <a:ext cx="4160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0B1220"/>
                </a:solidFill>
                <a:latin typeface="Calibri"/>
              </a:rPr>
              <a:t>Smart Automation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02920" y="4014215"/>
            <a:ext cx="6035039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02920" y="4059935"/>
            <a:ext cx="18288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PS CATEGORY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77440" y="4032503"/>
            <a:ext cx="4160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0B1220"/>
                </a:solidFill>
                <a:latin typeface="Calibri"/>
              </a:rPr>
              <a:t>Software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02920" y="4325112"/>
            <a:ext cx="6035039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02920" y="4370831"/>
            <a:ext cx="18288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TEAM 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7440" y="4343399"/>
            <a:ext cx="4160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B1220"/>
                </a:solidFill>
                <a:latin typeface="Calibri"/>
              </a:rPr>
              <a:t>17  (internal group no.)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02920" y="4636007"/>
            <a:ext cx="6035039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02920" y="4681727"/>
            <a:ext cx="18288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TEAM NAME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77440" y="4654295"/>
            <a:ext cx="4160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B1220"/>
                </a:solidFill>
                <a:latin typeface="Calibri"/>
              </a:rPr>
              <a:t>NER-AI LOGISTICS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02920" y="4946903"/>
            <a:ext cx="6035039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02920" y="5010912"/>
            <a:ext cx="6035040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0B1220"/>
                </a:solidFill>
                <a:latin typeface="Calibri"/>
              </a:rPr>
              <a:t>SHORTEST IS NOT ALWAYS USABLE.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5449824"/>
            <a:ext cx="603504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1D4ED8"/>
                </a:solidFill>
                <a:latin typeface="Calibri"/>
              </a:rPr>
              <a:t>“Can this essential-supply truck reliably use this corridor now?”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02920" y="5852160"/>
            <a:ext cx="6035039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02920" y="5907024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047857"/>
                </a:solidFill>
                <a:latin typeface="Calibri"/>
              </a:rPr>
              <a:t>End-to-end working prototype · physical-phone validated · live demo corridor Guwahati → Shillong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03720" y="1152144"/>
            <a:ext cx="48463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LIVE WORKING SYSTEM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903720" y="1426464"/>
            <a:ext cx="4846320" cy="0"/>
          </a:xfrm>
          <a:prstGeom prst="line">
            <a:avLst/>
          </a:prstGeom>
          <a:ln w="15240">
            <a:solidFill>
              <a:srgbClr val="0B1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871716" y="2253996"/>
            <a:ext cx="2515743" cy="3630168"/>
          </a:xfrm>
          <a:prstGeom prst="roundRect">
            <a:avLst>
              <a:gd name="adj" fmla="val 218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7" name="Picture 66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286000"/>
            <a:ext cx="2451735" cy="3566160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9496044" y="1559052"/>
            <a:ext cx="1982669" cy="4325112"/>
          </a:xfrm>
          <a:prstGeom prst="roundRect">
            <a:avLst>
              <a:gd name="adj" fmla="val 2767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9" name="Picture 68" descr="na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48" y="1591056"/>
            <a:ext cx="1918661" cy="426110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903720" y="5943600"/>
            <a:ext cx="48463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Calibri"/>
              </a:rPr>
              <a:t>Manager route review · Driver navigation — real screens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B12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57200" y="1097280"/>
            <a:ext cx="36576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PROPOSED SOLUTION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57200" y="1335024"/>
            <a:ext cx="7955279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B1220"/>
                </a:solidFill>
                <a:latin typeface="Calibri"/>
              </a:rPr>
              <a:t>Not the shortest road. </a:t>
            </a:r>
            <a:r>
              <a:rPr sz="2500" b="1">
                <a:solidFill>
                  <a:srgbClr val="1D4ED8"/>
                </a:solidFill>
                <a:latin typeface="Calibri"/>
              </a:rPr>
              <a:t>The road that is operationally usable now.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57200" y="2194560"/>
            <a:ext cx="795527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NER corridors close without notice: monsoon rain, landslides, floods, official warnings, single-lane hill roads, no phone signal. A shortest-path router still sends the truck.</a:t>
            </a:r>
          </a:p>
        </p:txBody>
      </p:sp>
      <p:cxnSp>
        <p:nvCxnSpPr>
          <p:cNvPr id="15365" name="Connector 15364"/>
          <p:cNvCxnSpPr/>
          <p:nvPr/>
        </p:nvCxnSpPr>
        <p:spPr>
          <a:xfrm>
            <a:off x="457200" y="2651760"/>
            <a:ext cx="8065008" cy="0"/>
          </a:xfrm>
          <a:prstGeom prst="line">
            <a:avLst/>
          </a:prstGeom>
          <a:ln w="15240">
            <a:solidFill>
              <a:srgbClr val="0B1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6" name="TextBox 15365"/>
          <p:cNvSpPr txBox="1"/>
          <p:nvPr/>
        </p:nvSpPr>
        <p:spPr>
          <a:xfrm>
            <a:off x="457200" y="2724912"/>
            <a:ext cx="21945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A NORMAL ROUTER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457200" y="3017520"/>
            <a:ext cx="2103120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64748B"/>
                </a:solidFill>
                <a:latin typeface="Calibri"/>
              </a:rPr>
              <a:t>Origin</a:t>
            </a:r>
          </a:p>
        </p:txBody>
      </p:sp>
      <p:cxnSp>
        <p:nvCxnSpPr>
          <p:cNvPr id="15368" name="Connector 15367"/>
          <p:cNvCxnSpPr/>
          <p:nvPr/>
        </p:nvCxnSpPr>
        <p:spPr>
          <a:xfrm>
            <a:off x="1508760" y="3300983"/>
            <a:ext cx="0" cy="201169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9" name="Rounded Rectangle 15368"/>
          <p:cNvSpPr/>
          <p:nvPr/>
        </p:nvSpPr>
        <p:spPr>
          <a:xfrm>
            <a:off x="457200" y="3511296"/>
            <a:ext cx="2103120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64748B"/>
                </a:solidFill>
                <a:latin typeface="Calibri"/>
              </a:rPr>
              <a:t>Shortest / fastest road</a:t>
            </a:r>
          </a:p>
        </p:txBody>
      </p:sp>
      <p:cxnSp>
        <p:nvCxnSpPr>
          <p:cNvPr id="15370" name="Connector 15369"/>
          <p:cNvCxnSpPr/>
          <p:nvPr/>
        </p:nvCxnSpPr>
        <p:spPr>
          <a:xfrm>
            <a:off x="1508760" y="3794759"/>
            <a:ext cx="0" cy="201169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1" name="Rounded Rectangle 15370"/>
          <p:cNvSpPr/>
          <p:nvPr/>
        </p:nvSpPr>
        <p:spPr>
          <a:xfrm>
            <a:off x="457200" y="4005072"/>
            <a:ext cx="2103120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64748B"/>
                </a:solidFill>
                <a:latin typeface="Calibri"/>
              </a:rPr>
              <a:t>Truck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457200" y="4535424"/>
            <a:ext cx="21031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No terrain, weather, hazard or freshness check.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No governance. No answer when data is missing.</a:t>
            </a:r>
          </a:p>
        </p:txBody>
      </p:sp>
      <p:cxnSp>
        <p:nvCxnSpPr>
          <p:cNvPr id="15373" name="Connector 15372"/>
          <p:cNvCxnSpPr/>
          <p:nvPr/>
        </p:nvCxnSpPr>
        <p:spPr>
          <a:xfrm flipV="1">
            <a:off x="2761488" y="2743200"/>
            <a:ext cx="0" cy="1188720"/>
          </a:xfrm>
          <a:prstGeom prst="line">
            <a:avLst/>
          </a:prstGeom>
          <a:ln w="1143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4" name="TextBox 15373"/>
          <p:cNvSpPr txBox="1"/>
          <p:nvPr/>
        </p:nvSpPr>
        <p:spPr>
          <a:xfrm>
            <a:off x="2926080" y="2724912"/>
            <a:ext cx="55778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1D4ED8"/>
                </a:solidFill>
                <a:latin typeface="Calibri"/>
              </a:rPr>
              <a:t>RASTA AI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2926080" y="3017520"/>
            <a:ext cx="5596128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B1220"/>
                </a:solidFill>
                <a:latin typeface="Calibri"/>
              </a:rPr>
              <a:t>Origin</a:t>
            </a:r>
          </a:p>
        </p:txBody>
      </p:sp>
      <p:cxnSp>
        <p:nvCxnSpPr>
          <p:cNvPr id="15376" name="Connector 15375"/>
          <p:cNvCxnSpPr/>
          <p:nvPr/>
        </p:nvCxnSpPr>
        <p:spPr>
          <a:xfrm>
            <a:off x="5724144" y="3282696"/>
            <a:ext cx="0" cy="73152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7" name="Rounded Rectangle 15376"/>
          <p:cNvSpPr/>
          <p:nvPr/>
        </p:nvSpPr>
        <p:spPr>
          <a:xfrm>
            <a:off x="2926080" y="3364991"/>
            <a:ext cx="5596128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B1220"/>
                </a:solidFill>
                <a:latin typeface="Calibri"/>
              </a:rPr>
              <a:t>Real route  ·  OSRM road, alternatives, turn steps</a:t>
            </a:r>
          </a:p>
        </p:txBody>
      </p:sp>
      <p:cxnSp>
        <p:nvCxnSpPr>
          <p:cNvPr id="15378" name="Connector 15377"/>
          <p:cNvCxnSpPr/>
          <p:nvPr/>
        </p:nvCxnSpPr>
        <p:spPr>
          <a:xfrm>
            <a:off x="2926080" y="3749039"/>
            <a:ext cx="5596128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TextBox 15378"/>
          <p:cNvSpPr txBox="1"/>
          <p:nvPr/>
        </p:nvSpPr>
        <p:spPr>
          <a:xfrm>
            <a:off x="2926080" y="3785615"/>
            <a:ext cx="5596128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0B1220"/>
                </a:solidFill>
                <a:latin typeface="Calibri"/>
              </a:rPr>
              <a:t>ROUTE-SPECIFIC EVIDENCE  </a:t>
            </a:r>
            <a:r>
              <a:rPr sz="950" b="0">
                <a:solidFill>
                  <a:srgbClr val="64748B"/>
                </a:solidFill>
                <a:latin typeface="Calibri"/>
              </a:rPr>
              <a:t>each factor sampled along the selected road, with its freshness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2926080" y="4059935"/>
            <a:ext cx="786384" cy="2286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B1220"/>
                </a:solidFill>
                <a:latin typeface="Calibri"/>
              </a:rPr>
              <a:t>Terrain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3785616" y="4059935"/>
            <a:ext cx="786384" cy="2286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B1220"/>
                </a:solidFill>
                <a:latin typeface="Calibri"/>
              </a:rPr>
              <a:t>Weather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4645152" y="4059935"/>
            <a:ext cx="1261872" cy="2286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B1220"/>
                </a:solidFill>
                <a:latin typeface="Calibri"/>
              </a:rPr>
              <a:t>Landslide exposure</a:t>
            </a:r>
          </a:p>
        </p:txBody>
      </p:sp>
      <p:sp>
        <p:nvSpPr>
          <p:cNvPr id="15383" name="Rounded Rectangle 15382"/>
          <p:cNvSpPr/>
          <p:nvPr/>
        </p:nvSpPr>
        <p:spPr>
          <a:xfrm>
            <a:off x="5980176" y="4059935"/>
            <a:ext cx="1024128" cy="2286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B1220"/>
                </a:solidFill>
                <a:latin typeface="Calibri"/>
              </a:rPr>
              <a:t>Flood context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7077456" y="4059935"/>
            <a:ext cx="1170432" cy="2286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B1220"/>
                </a:solidFill>
                <a:latin typeface="Calibri"/>
              </a:rPr>
              <a:t>Official warnings</a:t>
            </a:r>
          </a:p>
        </p:txBody>
      </p:sp>
      <p:sp>
        <p:nvSpPr>
          <p:cNvPr id="15385" name="Rounded Rectangle 15384"/>
          <p:cNvSpPr/>
          <p:nvPr/>
        </p:nvSpPr>
        <p:spPr>
          <a:xfrm>
            <a:off x="2926080" y="4334255"/>
            <a:ext cx="932688" cy="2286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B1220"/>
                </a:solidFill>
                <a:latin typeface="Calibri"/>
              </a:rPr>
              <a:t>Fleet traffic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3931920" y="4334255"/>
            <a:ext cx="1261872" cy="2286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B1220"/>
                </a:solidFill>
                <a:latin typeface="Calibri"/>
              </a:rPr>
              <a:t>Evidence freshness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2926080" y="4681727"/>
            <a:ext cx="5596128" cy="256032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OPERATIONAL DECISION  ·  CONTINUE / CAUTION / HOLD / REROUTE</a:t>
            </a:r>
          </a:p>
        </p:txBody>
      </p:sp>
      <p:cxnSp>
        <p:nvCxnSpPr>
          <p:cNvPr id="15388" name="Connector 15387"/>
          <p:cNvCxnSpPr/>
          <p:nvPr/>
        </p:nvCxnSpPr>
        <p:spPr>
          <a:xfrm>
            <a:off x="5724144" y="4946903"/>
            <a:ext cx="0" cy="73152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9" name="Rounded Rectangle 15388"/>
          <p:cNvSpPr/>
          <p:nvPr/>
        </p:nvSpPr>
        <p:spPr>
          <a:xfrm>
            <a:off x="2926080" y="5029199"/>
            <a:ext cx="5596128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B1220"/>
                </a:solidFill>
                <a:latin typeface="Calibri"/>
              </a:rPr>
              <a:t>Manager governance  ·  reviews evidence, authorises, dispatches, approves reroutes</a:t>
            </a:r>
          </a:p>
        </p:txBody>
      </p:sp>
      <p:cxnSp>
        <p:nvCxnSpPr>
          <p:cNvPr id="15390" name="Connector 15389"/>
          <p:cNvCxnSpPr/>
          <p:nvPr/>
        </p:nvCxnSpPr>
        <p:spPr>
          <a:xfrm>
            <a:off x="5724144" y="5294375"/>
            <a:ext cx="0" cy="73152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1" name="Rounded Rectangle 15390"/>
          <p:cNvSpPr/>
          <p:nvPr/>
        </p:nvSpPr>
        <p:spPr>
          <a:xfrm>
            <a:off x="2926080" y="5376671"/>
            <a:ext cx="5596128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B1220"/>
                </a:solidFill>
                <a:latin typeface="Calibri"/>
              </a:rPr>
              <a:t>Driver  ·  navigation, danger context, 23 languages, offline package</a:t>
            </a:r>
          </a:p>
        </p:txBody>
      </p:sp>
      <p:cxnSp>
        <p:nvCxnSpPr>
          <p:cNvPr id="15392" name="Connector 15391"/>
          <p:cNvCxnSpPr/>
          <p:nvPr/>
        </p:nvCxnSpPr>
        <p:spPr>
          <a:xfrm>
            <a:off x="457200" y="5687568"/>
            <a:ext cx="8065008" cy="0"/>
          </a:xfrm>
          <a:prstGeom prst="line">
            <a:avLst/>
          </a:prstGeom>
          <a:ln w="1905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3" name="TextBox 15392"/>
          <p:cNvSpPr txBox="1"/>
          <p:nvPr/>
        </p:nvSpPr>
        <p:spPr>
          <a:xfrm>
            <a:off x="457200" y="5760720"/>
            <a:ext cx="2560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DC2626"/>
                </a:solidFill>
                <a:latin typeface="Calibri"/>
              </a:rPr>
              <a:t>UNKNOWN ≠ SAFE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2926080" y="5797296"/>
            <a:ext cx="5596128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B1220"/>
                </a:solidFill>
                <a:latin typeface="Calibri"/>
              </a:rPr>
              <a:t>Missing or stale evidence is marked UNKNOWN, never counted as safe, and the route goes to an authorised reviewer.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8686800" y="1097280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Calibri"/>
              </a:rPr>
              <a:t>MANAGER · CHECK CONDITIONS</a:t>
            </a:r>
          </a:p>
        </p:txBody>
      </p:sp>
      <p:cxnSp>
        <p:nvCxnSpPr>
          <p:cNvPr id="15396" name="Connector 15395"/>
          <p:cNvCxnSpPr/>
          <p:nvPr/>
        </p:nvCxnSpPr>
        <p:spPr>
          <a:xfrm>
            <a:off x="8686800" y="1371600"/>
            <a:ext cx="3063240" cy="0"/>
          </a:xfrm>
          <a:prstGeom prst="line">
            <a:avLst/>
          </a:prstGeom>
          <a:ln w="15240">
            <a:solidFill>
              <a:srgbClr val="0B1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7" name="Rounded Rectangle 15396"/>
          <p:cNvSpPr/>
          <p:nvPr/>
        </p:nvSpPr>
        <p:spPr>
          <a:xfrm>
            <a:off x="8654796" y="1467612"/>
            <a:ext cx="2918931" cy="4507992"/>
          </a:xfrm>
          <a:prstGeom prst="roundRect">
            <a:avLst>
              <a:gd name="adj" fmla="val 1879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8" name="Picture 15397" descr="e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99616"/>
            <a:ext cx="2854923" cy="4443984"/>
          </a:xfrm>
          <a:prstGeom prst="rect">
            <a:avLst/>
          </a:prstGeom>
        </p:spPr>
      </p:pic>
      <p:sp>
        <p:nvSpPr>
          <p:cNvPr id="15399" name="TextBox 15398"/>
          <p:cNvSpPr txBox="1"/>
          <p:nvPr/>
        </p:nvSpPr>
        <p:spPr>
          <a:xfrm>
            <a:off x="8686800" y="5998464"/>
            <a:ext cx="30632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Real screen · evidence · freshness ·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B12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78992"/>
            <a:ext cx="80467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VERIFIED DATA → DECISION → DRIVER</a:t>
            </a:r>
          </a:p>
        </p:txBody>
      </p:sp>
      <p:cxnSp>
        <p:nvCxnSpPr>
          <p:cNvPr id="17411" name="Connector 17410"/>
          <p:cNvCxnSpPr/>
          <p:nvPr/>
        </p:nvCxnSpPr>
        <p:spPr>
          <a:xfrm>
            <a:off x="457200" y="1353312"/>
            <a:ext cx="8065008" cy="0"/>
          </a:xfrm>
          <a:prstGeom prst="line">
            <a:avLst/>
          </a:prstGeom>
          <a:ln w="15240">
            <a:solidFill>
              <a:srgbClr val="0B1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TextBox 17411"/>
          <p:cNvSpPr txBox="1"/>
          <p:nvPr/>
        </p:nvSpPr>
        <p:spPr>
          <a:xfrm>
            <a:off x="457200" y="1426464"/>
            <a:ext cx="128016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220"/>
                </a:solidFill>
                <a:latin typeface="Calibri"/>
              </a:rPr>
              <a:t>WEATHER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Open-Meteo · MET Norway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1051560" y="1975104"/>
            <a:ext cx="0" cy="164592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TextBox 17413"/>
          <p:cNvSpPr txBox="1"/>
          <p:nvPr/>
        </p:nvSpPr>
        <p:spPr>
          <a:xfrm>
            <a:off x="1810512" y="1426464"/>
            <a:ext cx="128016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220"/>
                </a:solidFill>
                <a:latin typeface="Calibri"/>
              </a:rPr>
              <a:t>TERRAIN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Copernicus DEM · OpenTopoData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2404872" y="1975104"/>
            <a:ext cx="0" cy="164592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TextBox 17415"/>
          <p:cNvSpPr txBox="1"/>
          <p:nvPr/>
        </p:nvSpPr>
        <p:spPr>
          <a:xfrm>
            <a:off x="3163824" y="1426464"/>
            <a:ext cx="128016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220"/>
                </a:solidFill>
                <a:latin typeface="Calibri"/>
              </a:rPr>
              <a:t>WARNINGS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NDMA SACHET (CAP)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3758184" y="1975104"/>
            <a:ext cx="0" cy="164592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TextBox 17417"/>
          <p:cNvSpPr txBox="1"/>
          <p:nvPr/>
        </p:nvSpPr>
        <p:spPr>
          <a:xfrm>
            <a:off x="4517136" y="1426464"/>
            <a:ext cx="128016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220"/>
                </a:solidFill>
                <a:latin typeface="Calibri"/>
              </a:rPr>
              <a:t>FLOOD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GloFAS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5111496" y="1975104"/>
            <a:ext cx="0" cy="164592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TextBox 17419"/>
          <p:cNvSpPr txBox="1"/>
          <p:nvPr/>
        </p:nvSpPr>
        <p:spPr>
          <a:xfrm>
            <a:off x="5870448" y="1426464"/>
            <a:ext cx="128016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220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NASA GLC 2007–17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6464808" y="1975104"/>
            <a:ext cx="0" cy="164592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TextBox 17421"/>
          <p:cNvSpPr txBox="1"/>
          <p:nvPr/>
        </p:nvSpPr>
        <p:spPr>
          <a:xfrm>
            <a:off x="7223760" y="1426464"/>
            <a:ext cx="128016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1220"/>
                </a:solidFill>
                <a:latin typeface="Calibri"/>
              </a:rPr>
              <a:t>TRAFFIC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fleet GPS fixes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7818119" y="1975104"/>
            <a:ext cx="0" cy="164592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TextBox 17423"/>
          <p:cNvSpPr txBox="1"/>
          <p:nvPr/>
        </p:nvSpPr>
        <p:spPr>
          <a:xfrm>
            <a:off x="621792" y="2194560"/>
            <a:ext cx="786384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B1220"/>
                </a:solidFill>
                <a:latin typeface="Calibri"/>
              </a:rPr>
              <a:t>ROUTE-SPECIFIC EVIDENCE  ·  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Calibri"/>
              </a:rPr>
              <a:t>every factor sampled along the selected road · PostgreSQL / PostGIS (Supabase) · OSRM routes, alternatives, turn steps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457200" y="2724912"/>
            <a:ext cx="8065008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Rectangle 17425"/>
          <p:cNvSpPr/>
          <p:nvPr/>
        </p:nvSpPr>
        <p:spPr>
          <a:xfrm>
            <a:off x="457200" y="2852928"/>
            <a:ext cx="45720" cy="49377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621792" y="2852928"/>
            <a:ext cx="786384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Calibri"/>
              </a:rPr>
              <a:t>DETERMINISTIC SAFETY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Calibri"/>
              </a:rPr>
              <a:t>11 factors · reason codes · UNKNOWN ≠ SAFE · reviewer authorisation when hazard data is missing</a:t>
            </a:r>
          </a:p>
        </p:txBody>
      </p:sp>
      <p:cxnSp>
        <p:nvCxnSpPr>
          <p:cNvPr id="17428" name="Connector 17427"/>
          <p:cNvCxnSpPr/>
          <p:nvPr/>
        </p:nvCxnSpPr>
        <p:spPr>
          <a:xfrm>
            <a:off x="457200" y="3383280"/>
            <a:ext cx="8065008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9" name="Rounded Rectangle 17428"/>
          <p:cNvSpPr/>
          <p:nvPr/>
        </p:nvSpPr>
        <p:spPr>
          <a:xfrm>
            <a:off x="457200" y="3511296"/>
            <a:ext cx="1920240" cy="329184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2505456" y="3511296"/>
            <a:ext cx="1920240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553712" y="3511296"/>
            <a:ext cx="1920240" cy="32918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6601968" y="3511296"/>
            <a:ext cx="192024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457200" y="396849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REVIEW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1847088" y="4123944"/>
            <a:ext cx="54864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1920240" y="3968496"/>
            <a:ext cx="149961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DRIVER NAVIGATION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3438144" y="4123944"/>
            <a:ext cx="54864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3511296" y="3968496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ROUTE-AHEAD MONITOR (60 s)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5394959" y="4123944"/>
            <a:ext cx="54865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5468112" y="3968496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CONDITIONS CHANGE?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6949440" y="4123944"/>
            <a:ext cx="54864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7022592" y="3968496"/>
            <a:ext cx="142646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REASSESS / REROUTE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457200" y="4370832"/>
            <a:ext cx="8065008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Calibri"/>
              </a:rPr>
              <a:t>Conditions are re-scored every 60 s along the road ahead; a material change goes back through the policy and a reroute is proposed to the manager — never applied silently.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457200" y="4754880"/>
            <a:ext cx="8065008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TextBox 17443"/>
          <p:cNvSpPr txBox="1"/>
          <p:nvPr/>
        </p:nvSpPr>
        <p:spPr>
          <a:xfrm>
            <a:off x="457200" y="4809744"/>
            <a:ext cx="8065008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1">
                <a:solidFill>
                  <a:srgbClr val="94A3B8"/>
                </a:solidFill>
                <a:latin typeface="Calibri"/>
              </a:rPr>
              <a:t>CLIENTS  </a:t>
            </a:r>
            <a:r>
              <a:rPr sz="1050" b="0">
                <a:solidFill>
                  <a:srgbClr val="0B1220"/>
                </a:solidFill>
                <a:latin typeface="Calibri"/>
              </a:rPr>
              <a:t>Manager console — React + TypeScript, manager accounts only · Driver app — React Native / Expo, Android; one login, server-decided role, offline trip package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1">
                <a:solidFill>
                  <a:srgbClr val="94A3B8"/>
                </a:solidFill>
                <a:latin typeface="Calibri"/>
              </a:rPr>
              <a:t>STACK  </a:t>
            </a:r>
            <a:r>
              <a:rPr sz="1050" b="0">
                <a:solidFill>
                  <a:srgbClr val="0B1220"/>
                </a:solidFill>
                <a:latin typeface="Calibri"/>
              </a:rPr>
              <a:t>FastAPI · PostgreSQL / PostGIS (Supabase) · React · React Native / Expo · OSRM · OpenStreetMap · Gemini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1">
                <a:solidFill>
                  <a:srgbClr val="94A3B8"/>
                </a:solidFill>
                <a:latin typeface="Calibri"/>
              </a:rPr>
              <a:t>EVIDENCE  </a:t>
            </a:r>
            <a:r>
              <a:rPr sz="1050" b="0">
                <a:solidFill>
                  <a:srgbClr val="0B1220"/>
                </a:solidFill>
                <a:latin typeface="Calibri"/>
              </a:rPr>
              <a:t>Open-Meteo / MET Norway · NDMA SACHET · GloFAS · NASA historical landslides · OpenTopoData / Copernicus DEM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8686800" y="1078992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WHO DECIDES</a:t>
            </a:r>
          </a:p>
        </p:txBody>
      </p:sp>
      <p:cxnSp>
        <p:nvCxnSpPr>
          <p:cNvPr id="17446" name="Connector 17445"/>
          <p:cNvCxnSpPr/>
          <p:nvPr/>
        </p:nvCxnSpPr>
        <p:spPr>
          <a:xfrm>
            <a:off x="8686800" y="1353312"/>
            <a:ext cx="3063240" cy="0"/>
          </a:xfrm>
          <a:prstGeom prst="line">
            <a:avLst/>
          </a:prstGeom>
          <a:ln w="15240">
            <a:solidFill>
              <a:srgbClr val="0B1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7" name="Rectangle 17446"/>
          <p:cNvSpPr/>
          <p:nvPr/>
        </p:nvSpPr>
        <p:spPr>
          <a:xfrm>
            <a:off x="8686800" y="1490472"/>
            <a:ext cx="45720" cy="6035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8851392" y="1463040"/>
            <a:ext cx="289864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B1220"/>
                </a:solidFill>
                <a:latin typeface="Calibri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makes every operational decision</a:t>
            </a:r>
          </a:p>
        </p:txBody>
      </p:sp>
      <p:sp>
        <p:nvSpPr>
          <p:cNvPr id="17449" name="Rectangle 17448"/>
          <p:cNvSpPr/>
          <p:nvPr/>
        </p:nvSpPr>
        <p:spPr>
          <a:xfrm>
            <a:off x="8686800" y="2331720"/>
            <a:ext cx="45720" cy="60350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8851392" y="2304288"/>
            <a:ext cx="289864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B1220"/>
                </a:solidFill>
                <a:latin typeface="Calibri"/>
              </a:rPr>
              <a:t>GEMINI / OPENROUTER (LLM)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explains the decision in the driver's language — never decides</a:t>
            </a:r>
          </a:p>
        </p:txBody>
      </p:sp>
      <p:sp>
        <p:nvSpPr>
          <p:cNvPr id="17451" name="Rectangle 17450"/>
          <p:cNvSpPr/>
          <p:nvPr/>
        </p:nvSpPr>
        <p:spPr>
          <a:xfrm>
            <a:off x="8686800" y="3172968"/>
            <a:ext cx="45720" cy="60350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8851392" y="3145536"/>
            <a:ext cx="289864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B1220"/>
                </a:solidFill>
                <a:latin typeface="Calibri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research channel only; held outside routing by the safety gate</a:t>
            </a:r>
          </a:p>
        </p:txBody>
      </p:sp>
      <p:cxnSp>
        <p:nvCxnSpPr>
          <p:cNvPr id="17453" name="Connector 17452"/>
          <p:cNvCxnSpPr/>
          <p:nvPr/>
        </p:nvCxnSpPr>
        <p:spPr>
          <a:xfrm>
            <a:off x="8686800" y="4005072"/>
            <a:ext cx="3063240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4" name="TextBox 17453"/>
          <p:cNvSpPr txBox="1"/>
          <p:nvPr/>
        </p:nvSpPr>
        <p:spPr>
          <a:xfrm>
            <a:off x="8686800" y="4078224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GOVERNANCE CHAIN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8686800" y="4389120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B1220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56" name="Connector 17455"/>
          <p:cNvCxnSpPr/>
          <p:nvPr/>
        </p:nvCxnSpPr>
        <p:spPr>
          <a:xfrm>
            <a:off x="10218420" y="4690872"/>
            <a:ext cx="0" cy="109728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7" name="Rounded Rectangle 17456"/>
          <p:cNvSpPr/>
          <p:nvPr/>
        </p:nvSpPr>
        <p:spPr>
          <a:xfrm>
            <a:off x="8686800" y="4809744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B1220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10218420" y="5111496"/>
            <a:ext cx="0" cy="109728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Rounded Rectangle 17458"/>
          <p:cNvSpPr/>
          <p:nvPr/>
        </p:nvSpPr>
        <p:spPr>
          <a:xfrm>
            <a:off x="8686800" y="5230368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B1220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60" name="Connector 17459"/>
          <p:cNvCxnSpPr/>
          <p:nvPr/>
        </p:nvCxnSpPr>
        <p:spPr>
          <a:xfrm>
            <a:off x="10218420" y="5532120"/>
            <a:ext cx="0" cy="109728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1" name="Rounded Rectangle 17460"/>
          <p:cNvSpPr/>
          <p:nvPr/>
        </p:nvSpPr>
        <p:spPr>
          <a:xfrm>
            <a:off x="8686800" y="5650992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B1220"/>
                </a:solidFill>
                <a:latin typeface="Calibri"/>
              </a:rPr>
              <a:t>Driver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B12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05840"/>
            <a:ext cx="8686800" cy="4023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B1220"/>
                </a:solidFill>
                <a:latin typeface="Calibri"/>
              </a:rPr>
              <a:t>Not a concept. A working end-to-end prototype.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499616"/>
            <a:ext cx="749808" cy="31089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1225295" y="1655063"/>
            <a:ext cx="54865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Rounded Rectangle 17412"/>
          <p:cNvSpPr/>
          <p:nvPr/>
        </p:nvSpPr>
        <p:spPr>
          <a:xfrm>
            <a:off x="1298448" y="1499616"/>
            <a:ext cx="896112" cy="31089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2212848" y="1655063"/>
            <a:ext cx="54864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2286000" y="1499616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DISPATCH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3328416" y="1655063"/>
            <a:ext cx="54864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3401568" y="149961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ACCEPT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4334256" y="1655063"/>
            <a:ext cx="54864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4407408" y="1499616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TRUCK VERIFY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5669280" y="1655063"/>
            <a:ext cx="54864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5742432" y="1499616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NAVIGATE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6821424" y="1655063"/>
            <a:ext cx="54864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6894576" y="1499616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OFF-ROUTE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7973567" y="1655063"/>
            <a:ext cx="54864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Rounded Rectangle 17424"/>
          <p:cNvSpPr/>
          <p:nvPr/>
        </p:nvSpPr>
        <p:spPr>
          <a:xfrm>
            <a:off x="8046720" y="1499616"/>
            <a:ext cx="2084831" cy="31089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REROUTE APPROVAL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10149840" y="1655063"/>
            <a:ext cx="54864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10222992" y="1499616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cxnSp>
        <p:nvCxnSpPr>
          <p:cNvPr id="17428" name="Connector 17427"/>
          <p:cNvCxnSpPr/>
          <p:nvPr/>
        </p:nvCxnSpPr>
        <p:spPr>
          <a:xfrm>
            <a:off x="457200" y="2011680"/>
            <a:ext cx="11292840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9" name="Rounded Rectangle 17428"/>
          <p:cNvSpPr/>
          <p:nvPr/>
        </p:nvSpPr>
        <p:spPr>
          <a:xfrm>
            <a:off x="425196" y="2144268"/>
            <a:ext cx="2327148" cy="3355848"/>
          </a:xfrm>
          <a:prstGeom prst="roundRect">
            <a:avLst>
              <a:gd name="adj" fmla="val 2357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0" name="Picture 17429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76272"/>
            <a:ext cx="2263140" cy="3291840"/>
          </a:xfrm>
          <a:prstGeom prst="rect">
            <a:avLst/>
          </a:prstGeom>
        </p:spPr>
      </p:pic>
      <p:sp>
        <p:nvSpPr>
          <p:cNvPr id="17431" name="Rounded Rectangle 17430"/>
          <p:cNvSpPr/>
          <p:nvPr/>
        </p:nvSpPr>
        <p:spPr>
          <a:xfrm>
            <a:off x="2889504" y="2144268"/>
            <a:ext cx="1546235" cy="3355848"/>
          </a:xfrm>
          <a:prstGeom prst="roundRect">
            <a:avLst>
              <a:gd name="adj" fmla="val 3548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2" name="Picture 17431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1508" y="2176272"/>
            <a:ext cx="1482227" cy="3291840"/>
          </a:xfrm>
          <a:prstGeom prst="rect">
            <a:avLst/>
          </a:prstGeom>
        </p:spPr>
      </p:pic>
      <p:sp>
        <p:nvSpPr>
          <p:cNvPr id="17433" name="Rounded Rectangle 17432"/>
          <p:cNvSpPr/>
          <p:nvPr/>
        </p:nvSpPr>
        <p:spPr>
          <a:xfrm>
            <a:off x="4572899" y="2144268"/>
            <a:ext cx="1546235" cy="3355848"/>
          </a:xfrm>
          <a:prstGeom prst="roundRect">
            <a:avLst>
              <a:gd name="adj" fmla="val 3548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4" name="Picture 17433" descr="na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4903" y="2176272"/>
            <a:ext cx="1482227" cy="3291840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457200" y="5522976"/>
            <a:ext cx="22631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Calibri"/>
              </a:rPr>
              <a:t>Manager · route review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2921508" y="5522976"/>
            <a:ext cx="1482227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Calibri"/>
              </a:rPr>
              <a:t>Driver · truck check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604903" y="5522976"/>
            <a:ext cx="1482227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Calibri"/>
              </a:rPr>
              <a:t>Driver · navigation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6398026" y="2103120"/>
            <a:ext cx="5352013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PROOF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6398026" y="2377440"/>
            <a:ext cx="5352014" cy="0"/>
          </a:xfrm>
          <a:prstGeom prst="line">
            <a:avLst/>
          </a:prstGeom>
          <a:ln w="15240">
            <a:solidFill>
              <a:srgbClr val="0B1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TextBox 17439"/>
          <p:cNvSpPr txBox="1"/>
          <p:nvPr/>
        </p:nvSpPr>
        <p:spPr>
          <a:xfrm>
            <a:off x="6398026" y="2468880"/>
            <a:ext cx="5352013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0B1220"/>
                </a:solidFill>
                <a:latin typeface="Calibri"/>
              </a:rPr>
              <a:t>The whole lifecycle above was run end to end on a physical Android phone against the hosted backend, on the real road.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398026" y="3127248"/>
            <a:ext cx="85953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D4ED8"/>
                </a:solidFill>
                <a:latin typeface="Calibri"/>
              </a:rPr>
              <a:t>12/12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7330714" y="3127248"/>
            <a:ext cx="4419325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B1220"/>
                </a:solidFill>
                <a:latin typeface="Calibri"/>
              </a:rPr>
              <a:t>physical judge-flow steps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6398026" y="3529584"/>
            <a:ext cx="85953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D4ED8"/>
                </a:solidFill>
                <a:latin typeface="Calibri"/>
              </a:rPr>
              <a:t>9/9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7330714" y="3529584"/>
            <a:ext cx="4419325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B1220"/>
                </a:solidFill>
                <a:latin typeface="Calibri"/>
              </a:rPr>
              <a:t>physical role-flow steps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6398026" y="3968496"/>
            <a:ext cx="5352013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1138+ </a:t>
            </a:r>
            <a:r>
              <a:rPr sz="1050" b="0">
                <a:solidFill>
                  <a:srgbClr val="0B1220"/>
                </a:solidFill>
                <a:latin typeface="Calibri"/>
              </a:rPr>
              <a:t>backend  ·  </a:t>
            </a:r>
            <a:r>
              <a:rPr sz="1300" b="1">
                <a:solidFill>
                  <a:srgbClr val="1D4ED8"/>
                </a:solidFill>
                <a:latin typeface="Calibri"/>
              </a:rPr>
              <a:t>621+ </a:t>
            </a:r>
            <a:r>
              <a:rPr sz="1050" b="0">
                <a:solidFill>
                  <a:srgbClr val="0B1220"/>
                </a:solidFill>
                <a:latin typeface="Calibri"/>
              </a:rPr>
              <a:t>driver  ·  </a:t>
            </a:r>
            <a:r>
              <a:rPr sz="1300" b="1">
                <a:solidFill>
                  <a:srgbClr val="1D4ED8"/>
                </a:solidFill>
                <a:latin typeface="Calibri"/>
              </a:rPr>
              <a:t>170+ </a:t>
            </a:r>
            <a:r>
              <a:rPr sz="1050" b="0">
                <a:solidFill>
                  <a:srgbClr val="0B1220"/>
                </a:solidFill>
                <a:latin typeface="Calibri"/>
              </a:rPr>
              <a:t>manager tests</a:t>
            </a:r>
          </a:p>
        </p:txBody>
      </p:sp>
      <p:cxnSp>
        <p:nvCxnSpPr>
          <p:cNvPr id="17446" name="Connector 17445"/>
          <p:cNvCxnSpPr/>
          <p:nvPr/>
        </p:nvCxnSpPr>
        <p:spPr>
          <a:xfrm>
            <a:off x="6398026" y="4389120"/>
            <a:ext cx="5352014" cy="0"/>
          </a:xfrm>
          <a:prstGeom prst="line">
            <a:avLst/>
          </a:prstGeom>
          <a:ln w="19050">
            <a:solidFill>
              <a:srgbClr val="0478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7" name="TextBox 17446"/>
          <p:cNvSpPr txBox="1"/>
          <p:nvPr/>
        </p:nvSpPr>
        <p:spPr>
          <a:xfrm>
            <a:off x="6398026" y="4443983"/>
            <a:ext cx="535201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47857"/>
                </a:solidFill>
                <a:latin typeface="Calibri"/>
              </a:rPr>
              <a:t>PHYSICAL ANDROID · CERTIFIED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6398026" y="4791456"/>
            <a:ext cx="535201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94A3B8"/>
                </a:solidFill>
                <a:latin typeface="Calibri"/>
              </a:rPr>
              <a:t>Canonical demo  </a:t>
            </a:r>
            <a:r>
              <a:rPr sz="1100" b="1">
                <a:solidFill>
                  <a:srgbClr val="0B1220"/>
                </a:solidFill>
                <a:latin typeface="Calibri"/>
              </a:rPr>
              <a:t>Guwahati → Shillong · ≈ 98.8 km real route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457200" y="5870448"/>
            <a:ext cx="11292840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0" name="TextBox 17449"/>
          <p:cNvSpPr txBox="1"/>
          <p:nvPr/>
        </p:nvSpPr>
        <p:spPr>
          <a:xfrm>
            <a:off x="457200" y="5925312"/>
            <a:ext cx="112928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Calibri"/>
              </a:rPr>
              <a:t>KNOWN LIMITS → MITIGATION   </a:t>
            </a:r>
            <a:r>
              <a:rPr sz="950" b="0">
                <a:solidFill>
                  <a:srgbClr val="0B1220"/>
                </a:solidFill>
                <a:latin typeface="Calibri"/>
              </a:rPr>
              <a:t>Render cold start → warm /health before the demo  ·  provider rate limits → cached evidence + explicit UNKNOWN  ·  background push needs Firebase config → in-app alerts already work  ·  experimental ML → outside routing until the gate passes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B12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42415"/>
            <a:ext cx="8046720" cy="7863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64748B"/>
                </a:solidFill>
                <a:latin typeface="Calibri"/>
              </a:rPr>
              <a:t>RASTA AI does not ask only </a:t>
            </a:r>
            <a:r>
              <a:rPr sz="1800" b="1">
                <a:solidFill>
                  <a:srgbClr val="0B1220"/>
                </a:solidFill>
                <a:latin typeface="Calibri"/>
              </a:rPr>
              <a:t>“Which road is shortest?”</a:t>
            </a:r>
            <a:r>
              <a:rPr sz="1800" b="0">
                <a:solidFill>
                  <a:srgbClr val="64748B"/>
                </a:solidFill>
                <a:latin typeface="Calibri"/>
              </a:rPr>
              <a:t>  It asks  </a:t>
            </a:r>
            <a:r>
              <a:rPr sz="1800" b="1">
                <a:solidFill>
                  <a:srgbClr val="1D4ED8"/>
                </a:solidFill>
                <a:latin typeface="Calibri"/>
              </a:rPr>
              <a:t>“Can this truck reliably use this corridor now?”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883664"/>
            <a:ext cx="804672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047857"/>
                </a:solidFill>
                <a:latin typeface="Calibri"/>
              </a:rPr>
              <a:t>FOOD  ·  MEDICINE  ·  FUEL  ·  RELIEF SUPPLIES</a:t>
            </a:r>
            <a:r>
              <a:rPr sz="1100" b="0">
                <a:solidFill>
                  <a:srgbClr val="64748B"/>
                </a:solidFill>
                <a:latin typeface="Calibri"/>
              </a:rPr>
              <a:t>   — essential logistics for hill communities, decided on evidence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457200" y="2286000"/>
            <a:ext cx="8065008" cy="0"/>
          </a:xfrm>
          <a:prstGeom prst="line">
            <a:avLst/>
          </a:prstGeom>
          <a:ln w="15240">
            <a:solidFill>
              <a:srgbClr val="0B1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TextBox 17412"/>
          <p:cNvSpPr txBox="1"/>
          <p:nvPr/>
        </p:nvSpPr>
        <p:spPr>
          <a:xfrm>
            <a:off x="457200" y="2359152"/>
            <a:ext cx="3657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Calibri"/>
              </a:rPr>
              <a:t>WHO BENEFITS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2651760"/>
            <a:ext cx="189280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1D4ED8"/>
                </a:solidFill>
                <a:latin typeface="Calibri"/>
              </a:rPr>
              <a:t>FLEET MANAGERS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0B1220"/>
                </a:solidFill>
                <a:latin typeface="Calibri"/>
              </a:rPr>
              <a:t>Route usability and uncertainty visible before dispatch; auditable decisions.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496312" y="2651760"/>
            <a:ext cx="189280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1D4ED8"/>
                </a:solidFill>
                <a:latin typeface="Calibri"/>
              </a:rPr>
              <a:t>DRIVERS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0B1220"/>
                </a:solidFill>
                <a:latin typeface="Calibri"/>
              </a:rPr>
              <a:t>Safer navigation, danger context, emergency support, 23 languages.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535424" y="2651760"/>
            <a:ext cx="189280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1D4ED8"/>
                </a:solidFill>
                <a:latin typeface="Calibri"/>
              </a:rPr>
              <a:t>REMOTE COMMUNITIES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0B1220"/>
                </a:solidFill>
                <a:latin typeface="Calibri"/>
              </a:rPr>
              <a:t>More resilient access to food, medicine, fuel and relief supplies.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574536" y="2651760"/>
            <a:ext cx="189280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1D4ED8"/>
                </a:solidFill>
                <a:latin typeface="Calibri"/>
              </a:rPr>
              <a:t>GOVERNMENT / OPERATIONS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0B1220"/>
                </a:solidFill>
                <a:latin typeface="Calibri"/>
              </a:rPr>
              <a:t>Auditable route evidence and disruption visibility per corridor.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457200" y="3730752"/>
            <a:ext cx="8065008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TextBox 17418"/>
          <p:cNvSpPr txBox="1"/>
          <p:nvPr/>
        </p:nvSpPr>
        <p:spPr>
          <a:xfrm>
            <a:off x="457200" y="3785615"/>
            <a:ext cx="3657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Calibri"/>
              </a:rPr>
              <a:t>DEMONSTRATED TODAY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57200" y="4114800"/>
            <a:ext cx="88696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D4ED8"/>
                </a:solidFill>
                <a:latin typeface="Calibri"/>
              </a:rPr>
              <a:t>23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1417320" y="4114800"/>
            <a:ext cx="29718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B1220"/>
                </a:solidFill>
                <a:latin typeface="Calibri"/>
              </a:rPr>
              <a:t>selectable languages, explicit fallback status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57200" y="4517136"/>
            <a:ext cx="88696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D4ED8"/>
                </a:solidFill>
                <a:latin typeface="Calibri"/>
              </a:rPr>
              <a:t>11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417320" y="4517136"/>
            <a:ext cx="29718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B1220"/>
                </a:solidFill>
                <a:latin typeface="Calibri"/>
              </a:rPr>
              <a:t>route factors in every decision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57200" y="4919472"/>
            <a:ext cx="88696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D4ED8"/>
                </a:solidFill>
                <a:latin typeface="Calibri"/>
              </a:rPr>
              <a:t>60 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417320" y="4919472"/>
            <a:ext cx="29718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B1220"/>
                </a:solidFill>
                <a:latin typeface="Calibri"/>
              </a:rPr>
              <a:t>route-ahead monitor while driving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517136" y="4114800"/>
            <a:ext cx="88696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D4ED8"/>
                </a:solidFill>
                <a:latin typeface="Calibri"/>
              </a:rPr>
              <a:t>12/12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5477256" y="4114800"/>
            <a:ext cx="29718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B1220"/>
                </a:solidFill>
                <a:latin typeface="Calibri"/>
              </a:rPr>
              <a:t>judge-flow steps certified on a physical phone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517136" y="4517136"/>
            <a:ext cx="88696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D4ED8"/>
                </a:solidFill>
                <a:latin typeface="Calibri"/>
              </a:rPr>
              <a:t>100 %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477256" y="4517136"/>
            <a:ext cx="29718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B1220"/>
                </a:solidFill>
                <a:latin typeface="Calibri"/>
              </a:rPr>
              <a:t>of reroutes reviewed by a human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517136" y="4919472"/>
            <a:ext cx="88696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D4ED8"/>
                </a:solidFill>
                <a:latin typeface="Calibri"/>
              </a:rPr>
              <a:t>0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477256" y="4919472"/>
            <a:ext cx="29718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B1220"/>
                </a:solidFill>
                <a:latin typeface="Calibri"/>
              </a:rPr>
              <a:t>unknown factors counted as safe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457200" y="5413248"/>
            <a:ext cx="8065008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TextBox 17432"/>
          <p:cNvSpPr txBox="1"/>
          <p:nvPr/>
        </p:nvSpPr>
        <p:spPr>
          <a:xfrm>
            <a:off x="457200" y="5468112"/>
            <a:ext cx="54864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Calibri"/>
              </a:rPr>
              <a:t>HUMAN GOVERNANCE — AI HAS NO UNCONTROLLED AUTHORITY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457200" y="5760720"/>
            <a:ext cx="1865376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2340864" y="5925312"/>
            <a:ext cx="164592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2523744" y="5760720"/>
            <a:ext cx="1865376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B1220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4407408" y="5925312"/>
            <a:ext cx="164592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Rounded Rectangle 17437"/>
          <p:cNvSpPr/>
          <p:nvPr/>
        </p:nvSpPr>
        <p:spPr>
          <a:xfrm>
            <a:off x="4590288" y="5760720"/>
            <a:ext cx="1865376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B1220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6473952" y="5925312"/>
            <a:ext cx="164592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ounded Rectangle 17439"/>
          <p:cNvSpPr/>
          <p:nvPr/>
        </p:nvSpPr>
        <p:spPr>
          <a:xfrm>
            <a:off x="6656832" y="5760720"/>
            <a:ext cx="1865376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B1220"/>
                </a:solidFill>
                <a:latin typeface="Calibri"/>
              </a:rPr>
              <a:t>Driver action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8686800" y="1078992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Calibri"/>
              </a:rPr>
              <a:t>REAL SCREENS · APK 1.0.18</a:t>
            </a:r>
          </a:p>
        </p:txBody>
      </p:sp>
      <p:cxnSp>
        <p:nvCxnSpPr>
          <p:cNvPr id="17442" name="Connector 17441"/>
          <p:cNvCxnSpPr/>
          <p:nvPr/>
        </p:nvCxnSpPr>
        <p:spPr>
          <a:xfrm>
            <a:off x="8686800" y="1353312"/>
            <a:ext cx="3063240" cy="0"/>
          </a:xfrm>
          <a:prstGeom prst="line">
            <a:avLst/>
          </a:prstGeom>
          <a:ln w="15240">
            <a:solidFill>
              <a:srgbClr val="0B1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3" name="Rounded Rectangle 17442"/>
          <p:cNvSpPr/>
          <p:nvPr/>
        </p:nvSpPr>
        <p:spPr>
          <a:xfrm>
            <a:off x="8654796" y="1467612"/>
            <a:ext cx="1687324" cy="2350008"/>
          </a:xfrm>
          <a:prstGeom prst="roundRect">
            <a:avLst>
              <a:gd name="adj" fmla="val 3251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4" name="Picture 17443" descr="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99616"/>
            <a:ext cx="1623316" cy="2286000"/>
          </a:xfrm>
          <a:prstGeom prst="rect">
            <a:avLst/>
          </a:prstGeom>
        </p:spPr>
      </p:pic>
      <p:sp>
        <p:nvSpPr>
          <p:cNvPr id="17445" name="Rounded Rectangle 17444"/>
          <p:cNvSpPr/>
          <p:nvPr/>
        </p:nvSpPr>
        <p:spPr>
          <a:xfrm>
            <a:off x="10424416" y="1467612"/>
            <a:ext cx="1142181" cy="2350008"/>
          </a:xfrm>
          <a:prstGeom prst="roundRect">
            <a:avLst>
              <a:gd name="adj" fmla="val 4803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6420" y="1499616"/>
            <a:ext cx="1078173" cy="2286000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8686800" y="3877056"/>
            <a:ext cx="1623316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Driver · 23 languages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10456420" y="3877056"/>
            <a:ext cx="1078173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Manager · mobile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8686800" y="4224528"/>
            <a:ext cx="306324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Real screens, APK 1.0.18. One login, server-decided role: a manager gets a mobile fleet view, a driver gets navigation. Each language shows its status — Verified, Draft or English fallback — so nobody is misled.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B12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78992"/>
            <a:ext cx="67665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RESEARCH / EVIDENCE SOURCES BEHIND THE ROUTE DECISION</a:t>
            </a:r>
          </a:p>
        </p:txBody>
      </p:sp>
      <p:cxnSp>
        <p:nvCxnSpPr>
          <p:cNvPr id="17411" name="Connector 17410"/>
          <p:cNvCxnSpPr/>
          <p:nvPr/>
        </p:nvCxnSpPr>
        <p:spPr>
          <a:xfrm>
            <a:off x="457200" y="1353312"/>
            <a:ext cx="6784848" cy="0"/>
          </a:xfrm>
          <a:prstGeom prst="line">
            <a:avLst/>
          </a:prstGeom>
          <a:ln w="15240">
            <a:solidFill>
              <a:srgbClr val="0B1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TextBox 17411"/>
          <p:cNvSpPr txBox="1"/>
          <p:nvPr/>
        </p:nvSpPr>
        <p:spPr>
          <a:xfrm>
            <a:off x="457200" y="1481328"/>
            <a:ext cx="3200400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D4ED8"/>
                </a:solidFill>
                <a:latin typeface="Calibri"/>
              </a:rPr>
              <a:t>ROUTING / PLACES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0B1220"/>
                </a:solidFill>
                <a:latin typeface="Calibri"/>
              </a:rPr>
              <a:t>OSRM · OpenStreetMap · Nominatim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real road geometry, alternatives and turn steps; place search on the corridor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457200" y="2651760"/>
            <a:ext cx="3200400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TextBox 17413"/>
          <p:cNvSpPr txBox="1"/>
          <p:nvPr/>
        </p:nvSpPr>
        <p:spPr>
          <a:xfrm>
            <a:off x="4041648" y="1481328"/>
            <a:ext cx="3200400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D4ED8"/>
                </a:solidFill>
                <a:latin typeface="Calibri"/>
              </a:rPr>
              <a:t>WEATHER / TERRAIN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0B1220"/>
                </a:solidFill>
                <a:latin typeface="Calibri"/>
              </a:rPr>
              <a:t>Open-Meteo · MET Norway · Copernicus DEM · OpenTopoData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forecast sampled along the road; climb, gradient and steep segments (GLO-90)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4041648" y="2651760"/>
            <a:ext cx="3200400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TextBox 17415"/>
          <p:cNvSpPr txBox="1"/>
          <p:nvPr/>
        </p:nvSpPr>
        <p:spPr>
          <a:xfrm>
            <a:off x="457200" y="2816352"/>
            <a:ext cx="3200400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D4ED8"/>
                </a:solidFill>
                <a:latin typeface="Calibri"/>
              </a:rPr>
              <a:t>OFFICIAL / FLOOD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0B1220"/>
                </a:solidFill>
                <a:latin typeface="Calibri"/>
              </a:rPr>
              <a:t>NDMA SACHET (CAP) · Copernicus GloFAS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official warnings polled with freshness; river discharge against its 30-day mean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457200" y="3986784"/>
            <a:ext cx="3200400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TextBox 17417"/>
          <p:cNvSpPr txBox="1"/>
          <p:nvPr/>
        </p:nvSpPr>
        <p:spPr>
          <a:xfrm>
            <a:off x="4041648" y="2816352"/>
            <a:ext cx="3200400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D4ED8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0B1220"/>
                </a:solidFill>
                <a:latin typeface="Calibri"/>
              </a:rPr>
              <a:t>NASA Global Landslide Catalog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historical exposure; inventory 2007–2017, ≤5 km location-accuracy filter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4041648" y="3986784"/>
            <a:ext cx="3200400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TextBox 17419"/>
          <p:cNvSpPr txBox="1"/>
          <p:nvPr/>
        </p:nvSpPr>
        <p:spPr>
          <a:xfrm>
            <a:off x="457200" y="4151376"/>
            <a:ext cx="3200400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D4ED8"/>
                </a:solidFill>
                <a:latin typeface="Calibri"/>
              </a:rPr>
              <a:t>AI ASSISTANCE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0B1220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explains the decision in the driver's language — never safety authority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457200" y="5321808"/>
            <a:ext cx="3200400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TextBox 17421"/>
          <p:cNvSpPr txBox="1"/>
          <p:nvPr/>
        </p:nvSpPr>
        <p:spPr>
          <a:xfrm>
            <a:off x="4041648" y="4151376"/>
            <a:ext cx="3200400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D4ED8"/>
                </a:solidFill>
                <a:latin typeface="Calibri"/>
              </a:rPr>
              <a:t>PROBLEM STATEMENT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0B1220"/>
                </a:solidFill>
                <a:latin typeface="Calibri"/>
              </a:rPr>
              <a:t>MDoNER · SIH26002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AI-based smart logistics and accessibility intelligence for the NER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4041648" y="5321808"/>
            <a:ext cx="3200400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TextBox 17423"/>
          <p:cNvSpPr txBox="1"/>
          <p:nvPr/>
        </p:nvSpPr>
        <p:spPr>
          <a:xfrm>
            <a:off x="7772400" y="1078992"/>
            <a:ext cx="397763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EXPERIMENTAL LANDSLIDE RESEARCH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7772400" y="1353312"/>
            <a:ext cx="3977640" cy="0"/>
          </a:xfrm>
          <a:prstGeom prst="line">
            <a:avLst/>
          </a:prstGeom>
          <a:ln w="15240">
            <a:solidFill>
              <a:srgbClr val="0B1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TextBox 17425"/>
          <p:cNvSpPr txBox="1"/>
          <p:nvPr/>
        </p:nvSpPr>
        <p:spPr>
          <a:xfrm>
            <a:off x="7772400" y="1463040"/>
            <a:ext cx="1645920" cy="8412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>
                <a:solidFill>
                  <a:srgbClr val="0B1220"/>
                </a:solidFill>
                <a:latin typeface="Calibri"/>
              </a:rPr>
              <a:t>95 %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9418320" y="1499616"/>
            <a:ext cx="2331720" cy="7863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B1220"/>
                </a:solidFill>
                <a:latin typeface="Calibri"/>
              </a:rPr>
              <a:t>RECALL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Calibri"/>
              </a:rPr>
              <a:t>on the NER geographic holdout — 154 catalogued events, no NER row used in training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7772400" y="2432304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TextBox 17428"/>
          <p:cNvSpPr txBox="1"/>
          <p:nvPr/>
        </p:nvSpPr>
        <p:spPr>
          <a:xfrm>
            <a:off x="7772400" y="2487168"/>
            <a:ext cx="3977639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Calibri"/>
              </a:rPr>
              <a:t>SAFETY 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NOT DEPLOYED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7772400" y="3236976"/>
            <a:ext cx="3977639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DC2626"/>
                </a:solidFill>
                <a:latin typeface="Calibri"/>
              </a:rPr>
              <a:t>FPR 50 %</a:t>
            </a:r>
            <a:r>
              <a:rPr sz="1000" b="0">
                <a:solidFill>
                  <a:srgbClr val="64748B"/>
                </a:solidFill>
                <a:latin typeface="Calibri"/>
              </a:rPr>
              <a:t>   too high for production deployment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7772400" y="3621024"/>
            <a:ext cx="6766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B1220"/>
                </a:solidFill>
                <a:latin typeface="Calibri"/>
              </a:rPr>
              <a:t>TRAIN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8467344" y="3749039"/>
            <a:ext cx="36576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Rounded Rectangle 17432"/>
          <p:cNvSpPr/>
          <p:nvPr/>
        </p:nvSpPr>
        <p:spPr>
          <a:xfrm>
            <a:off x="8522208" y="3621024"/>
            <a:ext cx="140817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B1220"/>
                </a:solidFill>
                <a:latin typeface="Calibri"/>
              </a:rPr>
              <a:t>HELD-OUT NER TEST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9948672" y="3749039"/>
            <a:ext cx="36576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10003536" y="3621024"/>
            <a:ext cx="15544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B1220"/>
                </a:solidFill>
                <a:latin typeface="Calibri"/>
              </a:rPr>
              <a:t>USEFUL SIGNAL FOUND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7772400" y="3986784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B1220"/>
                </a:solidFill>
                <a:latin typeface="Calibri"/>
              </a:rPr>
              <a:t>FALSE POSITIVES TOO HIGH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9509759" y="4114800"/>
            <a:ext cx="36577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Rounded Rectangle 17437"/>
          <p:cNvSpPr/>
          <p:nvPr/>
        </p:nvSpPr>
        <p:spPr>
          <a:xfrm>
            <a:off x="9564624" y="3986784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B1220"/>
                </a:solidFill>
                <a:latin typeface="Calibri"/>
              </a:rPr>
              <a:t>SAFETY GATE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10515600" y="4114800"/>
            <a:ext cx="36576" cy="0"/>
          </a:xfrm>
          <a:prstGeom prst="line">
            <a:avLst/>
          </a:prstGeom>
          <a:ln w="15875">
            <a:solidFill>
              <a:srgbClr val="0B1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ounded Rectangle 17439"/>
          <p:cNvSpPr/>
          <p:nvPr/>
        </p:nvSpPr>
        <p:spPr>
          <a:xfrm>
            <a:off x="10570464" y="39867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B1220"/>
                </a:solidFill>
                <a:latin typeface="Calibri"/>
              </a:rPr>
              <a:t>NOT DEPLOYED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7772400" y="4389120"/>
            <a:ext cx="3977639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D4ED8"/>
                </a:solidFill>
                <a:latin typeface="Calibri"/>
              </a:rPr>
              <a:t>VALIDATION BEFORE AUTOMATION. </a:t>
            </a:r>
            <a:r>
              <a:rPr sz="1050" b="0">
                <a:solidFill>
                  <a:srgbClr val="0B1220"/>
                </a:solidFill>
                <a:latin typeface="Calibri"/>
              </a:rPr>
              <a:t>Strong recall was not enough. Held-out testing exposed the false-positive rate, so the gate keeps the model out of routing.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7772400" y="5029200"/>
            <a:ext cx="397763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Precision 0.32 · F1 0.48 · PR-AUC 0.55 · ROC-AUC 0.83 · Brier 0.12 · calibrated logistic regression on NASA GLC + ERA5-Land rain + DEM slope · docs/HAZARD_ERROR_ANALYSIS.md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457200" y="5632704"/>
            <a:ext cx="11292840" cy="0"/>
          </a:xfrm>
          <a:prstGeom prst="line">
            <a:avLst/>
          </a:prstGeom>
          <a:ln w="9525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TextBox 17443"/>
          <p:cNvSpPr txBox="1"/>
          <p:nvPr/>
        </p:nvSpPr>
        <p:spPr>
          <a:xfrm>
            <a:off x="457200" y="5687568"/>
            <a:ext cx="27432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Calibri"/>
              </a:rPr>
              <a:t>REFERENCES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457200" y="5907024"/>
            <a:ext cx="112928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Calibri"/>
              </a:rPr>
              <a:t>gpm.nasa.gov/landslides (NASA GLC)  ·  sachet.ndma.gov.in  ·  global-flood.emergency.copernicus.eu (GloFAS)  ·  open-meteo.com · api.met.no  ·  opentopodata.org · Copernicus DEM  ·  project-osrm.org · openstreetmap.org  ·  github.com/nxtlucifer/ner-ai-logistics (repository, tests, model registry)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RASTA AI — SIH26002 — Team NER-AI LOGISTICS (17)</dc:title>
  <dc:subject>AI-Based Smart Logistics and Accessibility Intelligence Platform for North Eastern Region (NER)</dc:subject>
  <dc:creator>NER-AI LOGISTICS</dc:creator>
  <cp:keywords>SIH26002, SIH 2026, RASTA AI, NER logistics, route intelligence</cp:keywords>
  <dc:description/>
  <cp:lastModifiedBy>NER-AI LOGISTICS</cp:lastModifiedBy>
  <cp:revision>148</cp:revision>
  <dcterms:created xsi:type="dcterms:W3CDTF">2013-12-12T18:46:50Z</dcterms:created>
  <dcterms:modified xsi:type="dcterms:W3CDTF">2026-06-02T09:29:39Z</dcterms:modified>
  <cp:category>Smart India Hackathon 2026 — Smart Automation — Software</cp:category>
</cp:coreProperties>
</file>