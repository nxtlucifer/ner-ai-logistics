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28116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34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84048" y="1078992"/>
            <a:ext cx="6309360" cy="5230368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3970">
            <a:solidFill>
              <a:srgbClr val="154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384048" y="1078992"/>
            <a:ext cx="6309360" cy="50292"/>
          </a:xfrm>
          <a:prstGeom prst="rect">
            <a:avLst/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512064" y="120700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12064" y="1188719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" y="1188719"/>
            <a:ext cx="566928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5437E"/>
                </a:solidFill>
                <a:latin typeface="Calibri"/>
              </a:rPr>
              <a:t>PROBLEM STATEMENT</a:t>
            </a:r>
            <a:r>
              <a:rPr sz="950" b="0">
                <a:solidFill>
                  <a:srgbClr val="55636E"/>
                </a:solidFill>
                <a:latin typeface="Calibri"/>
              </a:rPr>
              <a:t>   MDoNER</a:t>
            </a:r>
          </a:p>
        </p:txBody>
      </p:sp>
      <p:pic>
        <p:nvPicPr>
          <p:cNvPr id="42" name="Picture 41" descr="brand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664208"/>
            <a:ext cx="713232" cy="71323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08176" y="1627632"/>
            <a:ext cx="512064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4202B"/>
                </a:solidFill>
                <a:latin typeface="Calibri"/>
              </a:rPr>
              <a:t>RASTA 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26464" y="2103120"/>
            <a:ext cx="5120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55636E"/>
                </a:solidFill>
                <a:latin typeface="Calibri"/>
              </a:rPr>
              <a:t>Route Intelligence for Essential-Supply Logistics in North Eastern India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2542032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SIH26002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15184" y="2560320"/>
            <a:ext cx="393192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3A1AC"/>
                </a:solidFill>
                <a:latin typeface="Calibri"/>
              </a:rPr>
              <a:t>PROBLEM STATEMENT ID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4202B"/>
                </a:solidFill>
                <a:latin typeface="Calibri"/>
              </a:rPr>
              <a:t>Smart Automation  ·  Software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3255264"/>
            <a:ext cx="1792224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3A1AC"/>
                </a:solidFill>
                <a:latin typeface="Calibri"/>
              </a:rPr>
              <a:t>PROBLEM STATEMENT TITLE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0" y="3227832"/>
            <a:ext cx="4169663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4202B"/>
                </a:solidFill>
                <a:latin typeface="Calibri"/>
              </a:rPr>
              <a:t>AI-Based Smart Logistics and Accessibility Intelligence Platform for North Eastern Region (NER)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66928" y="3685032"/>
            <a:ext cx="5943600" cy="0"/>
          </a:xfrm>
          <a:prstGeom prst="line">
            <a:avLst/>
          </a:prstGeom>
          <a:ln w="9525">
            <a:solidFill>
              <a:srgbClr val="D4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66928" y="3721608"/>
            <a:ext cx="1792224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3A1AC"/>
                </a:solidFill>
                <a:latin typeface="Calibri"/>
              </a:rPr>
              <a:t>THEME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77440" y="3694176"/>
            <a:ext cx="4169663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4202B"/>
                </a:solidFill>
                <a:latin typeface="Calibri"/>
              </a:rPr>
              <a:t>Smart Automation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6928" y="3977639"/>
            <a:ext cx="5943600" cy="0"/>
          </a:xfrm>
          <a:prstGeom prst="line">
            <a:avLst/>
          </a:prstGeom>
          <a:ln w="9525">
            <a:solidFill>
              <a:srgbClr val="D4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66928" y="4014216"/>
            <a:ext cx="1792224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3A1AC"/>
                </a:solidFill>
                <a:latin typeface="Calibri"/>
              </a:rPr>
              <a:t>PS CATEGORY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77440" y="3986784"/>
            <a:ext cx="4169663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4202B"/>
                </a:solidFill>
                <a:latin typeface="Calibri"/>
              </a:rPr>
              <a:t>Software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6928" y="4270248"/>
            <a:ext cx="5943600" cy="0"/>
          </a:xfrm>
          <a:prstGeom prst="line">
            <a:avLst/>
          </a:prstGeom>
          <a:ln w="9525">
            <a:solidFill>
              <a:srgbClr val="D4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66928" y="4306824"/>
            <a:ext cx="1792224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3A1AC"/>
                </a:solidFill>
                <a:latin typeface="Calibri"/>
              </a:rPr>
              <a:t>TEAM 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40" y="4279392"/>
            <a:ext cx="4169663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4202B"/>
                </a:solidFill>
                <a:latin typeface="Calibri"/>
              </a:rPr>
              <a:t>17  (internal group no.)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66928" y="4562856"/>
            <a:ext cx="5943600" cy="0"/>
          </a:xfrm>
          <a:prstGeom prst="line">
            <a:avLst/>
          </a:prstGeom>
          <a:ln w="9525">
            <a:solidFill>
              <a:srgbClr val="D4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66928" y="4599432"/>
            <a:ext cx="1792224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3A1AC"/>
                </a:solidFill>
                <a:latin typeface="Calibri"/>
              </a:rPr>
              <a:t>TEAM NAME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77440" y="4572000"/>
            <a:ext cx="4169663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4202B"/>
                </a:solidFill>
                <a:latin typeface="Calibri"/>
              </a:rPr>
              <a:t>NER-AI LOGISTICS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66928" y="4855464"/>
            <a:ext cx="5943600" cy="0"/>
          </a:xfrm>
          <a:prstGeom prst="line">
            <a:avLst/>
          </a:prstGeom>
          <a:ln w="9525">
            <a:solidFill>
              <a:srgbClr val="D4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66928" y="5029200"/>
            <a:ext cx="822960" cy="50292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566928" y="5138928"/>
            <a:ext cx="594360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4202B"/>
                </a:solidFill>
                <a:latin typeface="Calibri"/>
              </a:rPr>
              <a:t>SHORTEST IS NOT ALWAYS USABLE.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" y="5559552"/>
            <a:ext cx="59436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5437E"/>
                </a:solidFill>
                <a:latin typeface="Calibri"/>
              </a:rPr>
              <a:t>“Can this essential-supply truck reliably use this corridor now?”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5888736"/>
            <a:ext cx="59436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2704A"/>
                </a:solidFill>
                <a:latin typeface="Calibri"/>
              </a:rPr>
              <a:t>End-to-end working prototype · physical-phone validated · live demo corridor Guwahati → Shillong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21424" y="1078992"/>
            <a:ext cx="4956048" cy="5230368"/>
          </a:xfrm>
          <a:prstGeom prst="roundRect">
            <a:avLst>
              <a:gd name="adj" fmla="val 1291"/>
            </a:avLst>
          </a:prstGeom>
          <a:solidFill>
            <a:srgbClr val="FFFFFF"/>
          </a:solidFill>
          <a:ln w="13970">
            <a:solidFill>
              <a:srgbClr val="154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6821424" y="1078992"/>
            <a:ext cx="4956048" cy="50292"/>
          </a:xfrm>
          <a:prstGeom prst="rect">
            <a:avLst/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6949440" y="120700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6949440" y="1188719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0" y="1188719"/>
            <a:ext cx="4315968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5437E"/>
                </a:solidFill>
                <a:latin typeface="Calibri"/>
              </a:rPr>
              <a:t>WORKING SYSTEM</a:t>
            </a:r>
            <a:r>
              <a:rPr sz="950" b="0">
                <a:solidFill>
                  <a:srgbClr val="55636E"/>
                </a:solidFill>
                <a:latin typeface="Calibri"/>
              </a:rPr>
              <a:t>   manager console + Android driver app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54012" y="2308860"/>
            <a:ext cx="2427732" cy="3502151"/>
          </a:xfrm>
          <a:prstGeom prst="roundRect">
            <a:avLst>
              <a:gd name="adj" fmla="val 2259"/>
            </a:avLst>
          </a:prstGeom>
          <a:solidFill>
            <a:srgbClr val="FFFFFF"/>
          </a:solidFill>
          <a:ln w="9525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2" name="Picture 71" descr="mg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016" y="2340864"/>
            <a:ext cx="2363724" cy="3438144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9532620" y="1650492"/>
            <a:ext cx="1908557" cy="4160520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9525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4" name="Picture 73" descr="na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4624" y="1682496"/>
            <a:ext cx="1844549" cy="409651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986016" y="5870448"/>
            <a:ext cx="462686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55636E"/>
                </a:solidFill>
                <a:latin typeface="Calibri"/>
              </a:rPr>
              <a:t>Real screens · real road · no mock-ups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RASTA AI — ROUTE INTELLIGENCE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4202B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84048" y="1060704"/>
            <a:ext cx="3913632" cy="2157984"/>
          </a:xfrm>
          <a:prstGeom prst="roundRect">
            <a:avLst>
              <a:gd name="adj" fmla="val 2966"/>
            </a:avLst>
          </a:prstGeom>
          <a:solidFill>
            <a:srgbClr val="F4F7F9"/>
          </a:solidFill>
          <a:ln w="1397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3" name="Rectangle 15362"/>
          <p:cNvSpPr/>
          <p:nvPr/>
        </p:nvSpPr>
        <p:spPr>
          <a:xfrm>
            <a:off x="384048" y="1060704"/>
            <a:ext cx="3913632" cy="5029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4" name="Rounded Rectangle 15363"/>
          <p:cNvSpPr/>
          <p:nvPr/>
        </p:nvSpPr>
        <p:spPr>
          <a:xfrm>
            <a:off x="512064" y="118871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5" name="TextBox 15364"/>
          <p:cNvSpPr txBox="1"/>
          <p:nvPr/>
        </p:nvSpPr>
        <p:spPr>
          <a:xfrm>
            <a:off x="512064" y="1170431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877824" y="1170431"/>
            <a:ext cx="3273552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B3261E"/>
                </a:solidFill>
                <a:latin typeface="Calibri"/>
              </a:rPr>
              <a:t>THE PROBLEM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548640" y="1499616"/>
            <a:ext cx="358444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4202B"/>
                </a:solidFill>
                <a:latin typeface="Calibri"/>
              </a:rPr>
              <a:t>Monsoon · landslides · floods · official warnings · single-lane hill roads · no signal.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548640" y="1810512"/>
            <a:ext cx="358444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B3261E"/>
                </a:solidFill>
                <a:latin typeface="Calibri"/>
              </a:rPr>
              <a:t>A shortest-path router still sends the truck.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548640" y="2157984"/>
            <a:ext cx="71323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B3261E"/>
                </a:solidFill>
                <a:latin typeface="Calibri"/>
              </a:rPr>
              <a:t>98.8 km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1335024" y="2157984"/>
            <a:ext cx="969264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14202B"/>
                </a:solidFill>
                <a:latin typeface="Calibri"/>
              </a:rPr>
              <a:t>real road on the demo corridor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2359152" y="2157984"/>
            <a:ext cx="71323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B3261E"/>
                </a:solidFill>
                <a:latin typeface="Calibri"/>
              </a:rPr>
              <a:t>22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3145536" y="2157984"/>
            <a:ext cx="969264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14202B"/>
                </a:solidFill>
                <a:latin typeface="Calibri"/>
              </a:rPr>
              <a:t>landslides within 5 km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548640" y="2542032"/>
            <a:ext cx="71323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B3261E"/>
                </a:solidFill>
                <a:latin typeface="Calibri"/>
              </a:rPr>
              <a:t>1975 m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1335024" y="2542032"/>
            <a:ext cx="969264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14202B"/>
                </a:solidFill>
                <a:latin typeface="Calibri"/>
              </a:rPr>
              <a:t>climb, steepest 10.3 %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2359152" y="2542032"/>
            <a:ext cx="71323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B3261E"/>
                </a:solidFill>
                <a:latin typeface="Calibri"/>
              </a:rPr>
              <a:t>154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3145536" y="2542032"/>
            <a:ext cx="969264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14202B"/>
                </a:solidFill>
                <a:latin typeface="Calibri"/>
              </a:rPr>
              <a:t>NER events, NASA GLC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4443984" y="1060704"/>
            <a:ext cx="4078224" cy="2157984"/>
          </a:xfrm>
          <a:prstGeom prst="roundRect">
            <a:avLst>
              <a:gd name="adj" fmla="val 2966"/>
            </a:avLst>
          </a:prstGeom>
          <a:solidFill>
            <a:srgbClr val="FFFFFF"/>
          </a:solidFill>
          <a:ln w="13970">
            <a:solidFill>
              <a:srgbClr val="154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8" name="Rectangle 15377"/>
          <p:cNvSpPr/>
          <p:nvPr/>
        </p:nvSpPr>
        <p:spPr>
          <a:xfrm>
            <a:off x="4443984" y="1060704"/>
            <a:ext cx="4078224" cy="50292"/>
          </a:xfrm>
          <a:prstGeom prst="rect">
            <a:avLst/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9" name="Rounded Rectangle 15378"/>
          <p:cNvSpPr/>
          <p:nvPr/>
        </p:nvSpPr>
        <p:spPr>
          <a:xfrm>
            <a:off x="4572000" y="118871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0" name="TextBox 15379"/>
          <p:cNvSpPr txBox="1"/>
          <p:nvPr/>
        </p:nvSpPr>
        <p:spPr>
          <a:xfrm>
            <a:off x="4572000" y="1170431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4937760" y="1170431"/>
            <a:ext cx="3438144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5437E"/>
                </a:solidFill>
                <a:latin typeface="Calibri"/>
              </a:rPr>
              <a:t>SHORTEST vs USABLE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4608576" y="151790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3A1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55636E"/>
                </a:solidFill>
                <a:latin typeface="Calibri"/>
              </a:rPr>
              <a:t>ORIGIN</a:t>
            </a:r>
          </a:p>
        </p:txBody>
      </p:sp>
      <p:cxnSp>
        <p:nvCxnSpPr>
          <p:cNvPr id="15383" name="Connector 15382"/>
          <p:cNvCxnSpPr/>
          <p:nvPr/>
        </p:nvCxnSpPr>
        <p:spPr>
          <a:xfrm>
            <a:off x="5449824" y="1645919"/>
            <a:ext cx="45720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4" name="Rounded Rectangle 15383"/>
          <p:cNvSpPr/>
          <p:nvPr/>
        </p:nvSpPr>
        <p:spPr>
          <a:xfrm>
            <a:off x="5513832" y="151790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3A1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55636E"/>
                </a:solidFill>
                <a:latin typeface="Calibri"/>
              </a:rPr>
              <a:t>SHORTEST ROAD</a:t>
            </a:r>
          </a:p>
        </p:txBody>
      </p:sp>
      <p:cxnSp>
        <p:nvCxnSpPr>
          <p:cNvPr id="15385" name="Connector 15384"/>
          <p:cNvCxnSpPr/>
          <p:nvPr/>
        </p:nvCxnSpPr>
        <p:spPr>
          <a:xfrm>
            <a:off x="6903720" y="1645919"/>
            <a:ext cx="45720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6" name="Rounded Rectangle 15385"/>
          <p:cNvSpPr/>
          <p:nvPr/>
        </p:nvSpPr>
        <p:spPr>
          <a:xfrm>
            <a:off x="6967728" y="1517904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3A1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55636E"/>
                </a:solidFill>
                <a:latin typeface="Calibri"/>
              </a:rPr>
              <a:t>TRUCK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4608576" y="1810512"/>
            <a:ext cx="3749039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93A1AC"/>
                </a:solidFill>
                <a:latin typeface="Calibri"/>
              </a:rPr>
              <a:t>no terrain, weather or hazard check · no governance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4608576" y="2084831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50" b="1">
                <a:solidFill>
                  <a:srgbClr val="14202B"/>
                </a:solidFill>
                <a:latin typeface="Calibri"/>
              </a:rPr>
              <a:t>ORIGIN</a:t>
            </a:r>
          </a:p>
        </p:txBody>
      </p:sp>
      <p:cxnSp>
        <p:nvCxnSpPr>
          <p:cNvPr id="15389" name="Connector 15388"/>
          <p:cNvCxnSpPr/>
          <p:nvPr/>
        </p:nvCxnSpPr>
        <p:spPr>
          <a:xfrm>
            <a:off x="5285231" y="2212848"/>
            <a:ext cx="18289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0" name="Rounded Rectangle 15389"/>
          <p:cNvSpPr/>
          <p:nvPr/>
        </p:nvSpPr>
        <p:spPr>
          <a:xfrm>
            <a:off x="5321808" y="2084831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50" b="1">
                <a:solidFill>
                  <a:srgbClr val="14202B"/>
                </a:solidFill>
                <a:latin typeface="Calibri"/>
              </a:rPr>
              <a:t>REAL ROUTE</a:t>
            </a:r>
          </a:p>
        </p:txBody>
      </p:sp>
      <p:cxnSp>
        <p:nvCxnSpPr>
          <p:cNvPr id="15391" name="Connector 15390"/>
          <p:cNvCxnSpPr/>
          <p:nvPr/>
        </p:nvCxnSpPr>
        <p:spPr>
          <a:xfrm>
            <a:off x="6254496" y="2212848"/>
            <a:ext cx="18288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2" name="Rounded Rectangle 15391"/>
          <p:cNvSpPr/>
          <p:nvPr/>
        </p:nvSpPr>
        <p:spPr>
          <a:xfrm>
            <a:off x="6291072" y="2084831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50" b="1">
                <a:solidFill>
                  <a:srgbClr val="14202B"/>
                </a:solidFill>
                <a:latin typeface="Calibri"/>
              </a:rPr>
              <a:t>EVIDENCE</a:t>
            </a:r>
          </a:p>
        </p:txBody>
      </p:sp>
      <p:cxnSp>
        <p:nvCxnSpPr>
          <p:cNvPr id="15393" name="Connector 15392"/>
          <p:cNvCxnSpPr/>
          <p:nvPr/>
        </p:nvCxnSpPr>
        <p:spPr>
          <a:xfrm>
            <a:off x="7205472" y="2212848"/>
            <a:ext cx="18288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4" name="Rounded Rectangle 15393"/>
          <p:cNvSpPr/>
          <p:nvPr/>
        </p:nvSpPr>
        <p:spPr>
          <a:xfrm>
            <a:off x="7242048" y="2084831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50" b="1">
                <a:solidFill>
                  <a:srgbClr val="14202B"/>
                </a:solidFill>
                <a:latin typeface="Calibri"/>
              </a:rPr>
              <a:t>POLICY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4608576" y="2414015"/>
            <a:ext cx="882395" cy="274320"/>
          </a:xfrm>
          <a:prstGeom prst="roundRect">
            <a:avLst>
              <a:gd name="adj" fmla="val 50000"/>
            </a:avLst>
          </a:prstGeom>
          <a:solidFill>
            <a:srgbClr val="12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CONTINUE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5564124" y="2414015"/>
            <a:ext cx="882395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CAUTION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6519672" y="2414015"/>
            <a:ext cx="882395" cy="2743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15398" name="Rounded Rectangle 15397"/>
          <p:cNvSpPr/>
          <p:nvPr/>
        </p:nvSpPr>
        <p:spPr>
          <a:xfrm>
            <a:off x="7475220" y="2414015"/>
            <a:ext cx="882395" cy="274320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REROUTE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4608576" y="2743200"/>
            <a:ext cx="3749039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55636E"/>
                </a:solidFill>
                <a:latin typeface="Calibri"/>
              </a:rPr>
              <a:t>Manager governance → driver navigation · 23 languages · offline</a:t>
            </a:r>
          </a:p>
        </p:txBody>
      </p:sp>
      <p:sp>
        <p:nvSpPr>
          <p:cNvPr id="15400" name="Rounded Rectangle 15399"/>
          <p:cNvSpPr/>
          <p:nvPr/>
        </p:nvSpPr>
        <p:spPr>
          <a:xfrm>
            <a:off x="384048" y="3346704"/>
            <a:ext cx="8138160" cy="1883664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1397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1" name="Rectangle 15400"/>
          <p:cNvSpPr/>
          <p:nvPr/>
        </p:nvSpPr>
        <p:spPr>
          <a:xfrm>
            <a:off x="384048" y="3346704"/>
            <a:ext cx="8138160" cy="50292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2" name="Rounded Rectangle 15401"/>
          <p:cNvSpPr/>
          <p:nvPr/>
        </p:nvSpPr>
        <p:spPr>
          <a:xfrm>
            <a:off x="512064" y="34747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3" name="TextBox 15402"/>
          <p:cNvSpPr txBox="1"/>
          <p:nvPr/>
        </p:nvSpPr>
        <p:spPr>
          <a:xfrm>
            <a:off x="512064" y="3456432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404" name="TextBox 15403"/>
          <p:cNvSpPr txBox="1"/>
          <p:nvPr/>
        </p:nvSpPr>
        <p:spPr>
          <a:xfrm>
            <a:off x="877824" y="3456432"/>
            <a:ext cx="749808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B26A00"/>
                </a:solidFill>
                <a:latin typeface="Calibri"/>
              </a:rPr>
              <a:t>WHAT MAKES IT DIFFERENT</a:t>
            </a:r>
            <a:r>
              <a:rPr sz="950" b="0">
                <a:solidFill>
                  <a:srgbClr val="55636E"/>
                </a:solidFill>
                <a:latin typeface="Calibri"/>
              </a:rPr>
              <a:t>   USP</a:t>
            </a:r>
          </a:p>
        </p:txBody>
      </p:sp>
      <p:sp>
        <p:nvSpPr>
          <p:cNvPr id="15405" name="Rectangle 15404"/>
          <p:cNvSpPr/>
          <p:nvPr/>
        </p:nvSpPr>
        <p:spPr>
          <a:xfrm>
            <a:off x="548640" y="3822191"/>
            <a:ext cx="45720" cy="54864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6" name="TextBox 15405"/>
          <p:cNvSpPr txBox="1"/>
          <p:nvPr/>
        </p:nvSpPr>
        <p:spPr>
          <a:xfrm>
            <a:off x="694944" y="3785615"/>
            <a:ext cx="3749039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14202B"/>
                </a:solidFill>
                <a:latin typeface="Calibri"/>
              </a:rPr>
              <a:t>CORRIDOR USABILITY, NOT SHORTEST PATH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55636E"/>
                </a:solidFill>
                <a:latin typeface="Calibri"/>
              </a:rPr>
              <a:t>11 factors scored on the selected road before dispatch</a:t>
            </a:r>
          </a:p>
        </p:txBody>
      </p:sp>
      <p:sp>
        <p:nvSpPr>
          <p:cNvPr id="15407" name="Rectangle 15406"/>
          <p:cNvSpPr/>
          <p:nvPr/>
        </p:nvSpPr>
        <p:spPr>
          <a:xfrm>
            <a:off x="4535424" y="3822191"/>
            <a:ext cx="45720" cy="54864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8" name="TextBox 15407"/>
          <p:cNvSpPr txBox="1"/>
          <p:nvPr/>
        </p:nvSpPr>
        <p:spPr>
          <a:xfrm>
            <a:off x="4681728" y="3785615"/>
            <a:ext cx="3749039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14202B"/>
                </a:solidFill>
                <a:latin typeface="Calibri"/>
              </a:rPr>
              <a:t>UNKNOWN IS NEVER SAFE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55636E"/>
                </a:solidFill>
                <a:latin typeface="Calibri"/>
              </a:rPr>
              <a:t>missing or stale evidence blocks selection until a reviewer authorises</a:t>
            </a:r>
          </a:p>
        </p:txBody>
      </p:sp>
      <p:sp>
        <p:nvSpPr>
          <p:cNvPr id="15409" name="Rectangle 15408"/>
          <p:cNvSpPr/>
          <p:nvPr/>
        </p:nvSpPr>
        <p:spPr>
          <a:xfrm>
            <a:off x="548640" y="4480559"/>
            <a:ext cx="45720" cy="54864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0" name="TextBox 15409"/>
          <p:cNvSpPr txBox="1"/>
          <p:nvPr/>
        </p:nvSpPr>
        <p:spPr>
          <a:xfrm>
            <a:off x="694944" y="4443983"/>
            <a:ext cx="3749039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14202B"/>
                </a:solidFill>
                <a:latin typeface="Calibri"/>
              </a:rPr>
              <a:t>HUMAN-GOVERNED REROUTE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55636E"/>
                </a:solidFill>
                <a:latin typeface="Calibri"/>
              </a:rPr>
              <a:t>a real off-route triggers a real alternative; a manager accepts before the phone follows</a:t>
            </a:r>
          </a:p>
        </p:txBody>
      </p:sp>
      <p:sp>
        <p:nvSpPr>
          <p:cNvPr id="15411" name="Rectangle 15410"/>
          <p:cNvSpPr/>
          <p:nvPr/>
        </p:nvSpPr>
        <p:spPr>
          <a:xfrm>
            <a:off x="4535424" y="4480559"/>
            <a:ext cx="45720" cy="54864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2" name="TextBox 15411"/>
          <p:cNvSpPr txBox="1"/>
          <p:nvPr/>
        </p:nvSpPr>
        <p:spPr>
          <a:xfrm>
            <a:off x="4681728" y="4443983"/>
            <a:ext cx="3749039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14202B"/>
                </a:solidFill>
                <a:latin typeface="Calibri"/>
              </a:rPr>
              <a:t>ONE APK, 23 LANGUAGES, OFFLINE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55636E"/>
                </a:solidFill>
                <a:latin typeface="Calibri"/>
              </a:rPr>
              <a:t>server-decided role; whole-trip package cached on the phone</a:t>
            </a:r>
          </a:p>
        </p:txBody>
      </p:sp>
      <p:sp>
        <p:nvSpPr>
          <p:cNvPr id="15413" name="Rounded Rectangle 15412"/>
          <p:cNvSpPr/>
          <p:nvPr/>
        </p:nvSpPr>
        <p:spPr>
          <a:xfrm>
            <a:off x="384048" y="5394960"/>
            <a:ext cx="8138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778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4" name="TextBox 15413"/>
          <p:cNvSpPr txBox="1"/>
          <p:nvPr/>
        </p:nvSpPr>
        <p:spPr>
          <a:xfrm>
            <a:off x="566928" y="5449824"/>
            <a:ext cx="237744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B3261E"/>
                </a:solidFill>
                <a:latin typeface="Calibri"/>
              </a:rPr>
              <a:t>UNKNOWN ≠ SAFE</a:t>
            </a:r>
          </a:p>
        </p:txBody>
      </p:sp>
      <p:sp>
        <p:nvSpPr>
          <p:cNvPr id="15415" name="TextBox 15414"/>
          <p:cNvSpPr txBox="1"/>
          <p:nvPr/>
        </p:nvSpPr>
        <p:spPr>
          <a:xfrm>
            <a:off x="2889504" y="5468112"/>
            <a:ext cx="5468112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4202B"/>
                </a:solidFill>
                <a:latin typeface="Calibri"/>
              </a:rPr>
              <a:t>Missing or stale evidence is marked UNKNOWN — never safe — and goes to an authorised reviewer.</a:t>
            </a:r>
          </a:p>
        </p:txBody>
      </p:sp>
      <p:sp>
        <p:nvSpPr>
          <p:cNvPr id="15416" name="Rounded Rectangle 15415"/>
          <p:cNvSpPr/>
          <p:nvPr/>
        </p:nvSpPr>
        <p:spPr>
          <a:xfrm>
            <a:off x="8650224" y="1060704"/>
            <a:ext cx="3127248" cy="4901184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3970">
            <a:solidFill>
              <a:srgbClr val="12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7" name="Rectangle 15416"/>
          <p:cNvSpPr/>
          <p:nvPr/>
        </p:nvSpPr>
        <p:spPr>
          <a:xfrm>
            <a:off x="8650224" y="1060704"/>
            <a:ext cx="3127248" cy="50292"/>
          </a:xfrm>
          <a:prstGeom prst="rect">
            <a:avLst/>
          </a:prstGeom>
          <a:solidFill>
            <a:srgbClr val="12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8" name="Rounded Rectangle 15417"/>
          <p:cNvSpPr/>
          <p:nvPr/>
        </p:nvSpPr>
        <p:spPr>
          <a:xfrm>
            <a:off x="8778240" y="118871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2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9" name="TextBox 15418"/>
          <p:cNvSpPr txBox="1"/>
          <p:nvPr/>
        </p:nvSpPr>
        <p:spPr>
          <a:xfrm>
            <a:off x="8778240" y="1170431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420" name="TextBox 15419"/>
          <p:cNvSpPr txBox="1"/>
          <p:nvPr/>
        </p:nvSpPr>
        <p:spPr>
          <a:xfrm>
            <a:off x="9144000" y="1170431"/>
            <a:ext cx="2487168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2704A"/>
                </a:solidFill>
                <a:latin typeface="Calibri"/>
              </a:rPr>
              <a:t>EVIDENCE SCREEN</a:t>
            </a:r>
          </a:p>
        </p:txBody>
      </p:sp>
      <p:sp>
        <p:nvSpPr>
          <p:cNvPr id="15421" name="Rounded Rectangle 15420"/>
          <p:cNvSpPr/>
          <p:nvPr/>
        </p:nvSpPr>
        <p:spPr>
          <a:xfrm>
            <a:off x="8782812" y="1577340"/>
            <a:ext cx="2625214" cy="4050792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9525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22" name="Picture 15421" descr="ev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16" y="1609344"/>
            <a:ext cx="2561206" cy="3986784"/>
          </a:xfrm>
          <a:prstGeom prst="rect">
            <a:avLst/>
          </a:prstGeom>
        </p:spPr>
      </p:pic>
      <p:sp>
        <p:nvSpPr>
          <p:cNvPr id="15423" name="TextBox 15422"/>
          <p:cNvSpPr txBox="1"/>
          <p:nvPr/>
        </p:nvSpPr>
        <p:spPr>
          <a:xfrm>
            <a:off x="8814816" y="5669280"/>
            <a:ext cx="279806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5636E"/>
                </a:solidFill>
                <a:latin typeface="Calibri"/>
              </a:rPr>
              <a:t>Manager · Check conditions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4202B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84048" y="1060704"/>
            <a:ext cx="8138160" cy="1042415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3970">
            <a:solidFill>
              <a:srgbClr val="154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ectangle 17410"/>
          <p:cNvSpPr/>
          <p:nvPr/>
        </p:nvSpPr>
        <p:spPr>
          <a:xfrm>
            <a:off x="384048" y="1060704"/>
            <a:ext cx="8138160" cy="50292"/>
          </a:xfrm>
          <a:prstGeom prst="rect">
            <a:avLst/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ounded Rectangle 17411"/>
          <p:cNvSpPr/>
          <p:nvPr/>
        </p:nvSpPr>
        <p:spPr>
          <a:xfrm>
            <a:off x="512064" y="118871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512064" y="1170431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77824" y="1170431"/>
            <a:ext cx="749808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5437E"/>
                </a:solidFill>
                <a:latin typeface="Calibri"/>
              </a:rPr>
              <a:t>INPUT</a:t>
            </a:r>
            <a:r>
              <a:rPr sz="950" b="0">
                <a:solidFill>
                  <a:srgbClr val="55636E"/>
                </a:solidFill>
                <a:latin typeface="Calibri"/>
              </a:rPr>
              <a:t>   verified sources, each with health + freshness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48640" y="1499616"/>
            <a:ext cx="1280160" cy="5120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4202B"/>
                </a:solidFill>
                <a:latin typeface="Calibri"/>
              </a:rPr>
              <a:t>WEATHER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5636E"/>
                </a:solidFill>
                <a:latin typeface="Calibri"/>
              </a:rPr>
              <a:t>Open-Meteo · MET Norway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874519" y="1499616"/>
            <a:ext cx="1280160" cy="5120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4202B"/>
                </a:solidFill>
                <a:latin typeface="Calibri"/>
              </a:rPr>
              <a:t>TERRAIN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5636E"/>
                </a:solidFill>
                <a:latin typeface="Calibri"/>
              </a:rPr>
              <a:t>Copernicus DEM · OpenTopoData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200400" y="1499616"/>
            <a:ext cx="1280160" cy="5120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4202B"/>
                </a:solidFill>
                <a:latin typeface="Calibri"/>
              </a:rPr>
              <a:t>WARNINGS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5636E"/>
                </a:solidFill>
                <a:latin typeface="Calibri"/>
              </a:rPr>
              <a:t>NDMA SACHET (CAP)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526280" y="1499616"/>
            <a:ext cx="1280160" cy="5120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4202B"/>
                </a:solidFill>
                <a:latin typeface="Calibri"/>
              </a:rPr>
              <a:t>FLOOD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5636E"/>
                </a:solidFill>
                <a:latin typeface="Calibri"/>
              </a:rPr>
              <a:t>GloFAS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852160" y="1499616"/>
            <a:ext cx="1280160" cy="5120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4202B"/>
                </a:solidFill>
                <a:latin typeface="Calibri"/>
              </a:rPr>
              <a:t>LANDSLIDE HISTORY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5636E"/>
                </a:solidFill>
                <a:latin typeface="Calibri"/>
              </a:rPr>
              <a:t>NASA GLC 2007–17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7178040" y="1499616"/>
            <a:ext cx="1280160" cy="5120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4202B"/>
                </a:solidFill>
                <a:latin typeface="Calibri"/>
              </a:rPr>
              <a:t>TRAFFIC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5636E"/>
                </a:solidFill>
                <a:latin typeface="Calibri"/>
              </a:rPr>
              <a:t>fleet GPS fixes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1188720" y="2139696"/>
            <a:ext cx="0" cy="146304"/>
          </a:xfrm>
          <a:prstGeom prst="line">
            <a:avLst/>
          </a:prstGeom>
          <a:ln w="11430">
            <a:solidFill>
              <a:srgbClr val="93A1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2" name="Connector 17421"/>
          <p:cNvCxnSpPr/>
          <p:nvPr/>
        </p:nvCxnSpPr>
        <p:spPr>
          <a:xfrm>
            <a:off x="2514600" y="2139696"/>
            <a:ext cx="0" cy="146304"/>
          </a:xfrm>
          <a:prstGeom prst="line">
            <a:avLst/>
          </a:prstGeom>
          <a:ln w="11430">
            <a:solidFill>
              <a:srgbClr val="93A1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3" name="Connector 17422"/>
          <p:cNvCxnSpPr/>
          <p:nvPr/>
        </p:nvCxnSpPr>
        <p:spPr>
          <a:xfrm>
            <a:off x="3840480" y="2139696"/>
            <a:ext cx="0" cy="146304"/>
          </a:xfrm>
          <a:prstGeom prst="line">
            <a:avLst/>
          </a:prstGeom>
          <a:ln w="11430">
            <a:solidFill>
              <a:srgbClr val="93A1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4" name="Connector 17423"/>
          <p:cNvCxnSpPr/>
          <p:nvPr/>
        </p:nvCxnSpPr>
        <p:spPr>
          <a:xfrm>
            <a:off x="5166360" y="2139696"/>
            <a:ext cx="0" cy="146304"/>
          </a:xfrm>
          <a:prstGeom prst="line">
            <a:avLst/>
          </a:prstGeom>
          <a:ln w="11430">
            <a:solidFill>
              <a:srgbClr val="93A1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5" name="Connector 17424"/>
          <p:cNvCxnSpPr/>
          <p:nvPr/>
        </p:nvCxnSpPr>
        <p:spPr>
          <a:xfrm>
            <a:off x="6492240" y="2139696"/>
            <a:ext cx="0" cy="146304"/>
          </a:xfrm>
          <a:prstGeom prst="line">
            <a:avLst/>
          </a:prstGeom>
          <a:ln w="11430">
            <a:solidFill>
              <a:srgbClr val="93A1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6" name="Connector 17425"/>
          <p:cNvCxnSpPr/>
          <p:nvPr/>
        </p:nvCxnSpPr>
        <p:spPr>
          <a:xfrm>
            <a:off x="7818120" y="2139696"/>
            <a:ext cx="0" cy="146304"/>
          </a:xfrm>
          <a:prstGeom prst="line">
            <a:avLst/>
          </a:prstGeom>
          <a:ln w="11430">
            <a:solidFill>
              <a:srgbClr val="93A1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384048" y="2322576"/>
            <a:ext cx="8138160" cy="2194560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 w="13970">
            <a:solidFill>
              <a:srgbClr val="154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Rectangle 17427"/>
          <p:cNvSpPr/>
          <p:nvPr/>
        </p:nvSpPr>
        <p:spPr>
          <a:xfrm>
            <a:off x="384048" y="2322576"/>
            <a:ext cx="8138160" cy="50292"/>
          </a:xfrm>
          <a:prstGeom prst="rect">
            <a:avLst/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Rounded Rectangle 17428"/>
          <p:cNvSpPr/>
          <p:nvPr/>
        </p:nvSpPr>
        <p:spPr>
          <a:xfrm>
            <a:off x="512064" y="245059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TextBox 17429"/>
          <p:cNvSpPr txBox="1"/>
          <p:nvPr/>
        </p:nvSpPr>
        <p:spPr>
          <a:xfrm>
            <a:off x="512064" y="2432304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877824" y="2432304"/>
            <a:ext cx="749808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5437E"/>
                </a:solidFill>
                <a:latin typeface="Calibri"/>
              </a:rPr>
              <a:t>PROCESS</a:t>
            </a:r>
            <a:r>
              <a:rPr sz="950" b="0">
                <a:solidFill>
                  <a:srgbClr val="55636E"/>
                </a:solidFill>
                <a:latin typeface="Calibri"/>
              </a:rPr>
              <a:t>   deterministic, auditable, no model in the loop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548640" y="2798064"/>
            <a:ext cx="7808975" cy="4572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9525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676656" y="2816352"/>
            <a:ext cx="758952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4202B"/>
                </a:solidFill>
                <a:latin typeface="Calibri"/>
              </a:rPr>
              <a:t>ROUTE-SPECIFIC EVIDENCE · FastAPI backend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5636E"/>
                </a:solidFill>
                <a:latin typeface="Calibri"/>
              </a:rPr>
              <a:t>every factor sampled along the selected road · freshness per factor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548640" y="3328416"/>
            <a:ext cx="7808975" cy="457200"/>
          </a:xfrm>
          <a:prstGeom prst="roundRect">
            <a:avLst>
              <a:gd name="adj" fmla="val 10000"/>
            </a:avLst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TextBox 17434"/>
          <p:cNvSpPr txBox="1"/>
          <p:nvPr/>
        </p:nvSpPr>
        <p:spPr>
          <a:xfrm>
            <a:off x="676656" y="3346704"/>
            <a:ext cx="758952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DETERMINISTIC SAFETY POLICY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C7D6E8"/>
                </a:solidFill>
                <a:latin typeface="Calibri"/>
              </a:rPr>
              <a:t>11 factors · reason codes · UNKNOWN ≠ SAFE · reviewer authorisation when data is missing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548640" y="3858768"/>
            <a:ext cx="1869948" cy="310896"/>
          </a:xfrm>
          <a:prstGeom prst="roundRect">
            <a:avLst>
              <a:gd name="adj" fmla="val 50000"/>
            </a:avLst>
          </a:prstGeom>
          <a:solidFill>
            <a:srgbClr val="12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CONTINUE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2528316" y="3858768"/>
            <a:ext cx="1869948" cy="310896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CAUTION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507992" y="3858768"/>
            <a:ext cx="1869948" cy="31089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487668" y="3858768"/>
            <a:ext cx="1869948" cy="310896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REROUTE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548640" y="427939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MANAGER REVIEW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1847088" y="4425696"/>
            <a:ext cx="36576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Rounded Rectangle 17441"/>
          <p:cNvSpPr/>
          <p:nvPr/>
        </p:nvSpPr>
        <p:spPr>
          <a:xfrm>
            <a:off x="1901952" y="4279392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4202B"/>
                </a:solidFill>
                <a:latin typeface="Calibri"/>
              </a:rPr>
              <a:t>DRIVER NAVIGATION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3310128" y="4425696"/>
            <a:ext cx="36576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Rounded Rectangle 17443"/>
          <p:cNvSpPr/>
          <p:nvPr/>
        </p:nvSpPr>
        <p:spPr>
          <a:xfrm>
            <a:off x="3364992" y="4279392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4202B"/>
                </a:solidFill>
                <a:latin typeface="Calibri"/>
              </a:rPr>
              <a:t>ROUTE-AHEAD 60 s</a:t>
            </a:r>
          </a:p>
        </p:txBody>
      </p:sp>
      <p:cxnSp>
        <p:nvCxnSpPr>
          <p:cNvPr id="17445" name="Connector 17444"/>
          <p:cNvCxnSpPr/>
          <p:nvPr/>
        </p:nvCxnSpPr>
        <p:spPr>
          <a:xfrm>
            <a:off x="4681727" y="4425696"/>
            <a:ext cx="36577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6" name="Rounded Rectangle 17445"/>
          <p:cNvSpPr/>
          <p:nvPr/>
        </p:nvSpPr>
        <p:spPr>
          <a:xfrm>
            <a:off x="4736592" y="427939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4202B"/>
                </a:solidFill>
                <a:latin typeface="Calibri"/>
              </a:rPr>
              <a:t>CONDITIONS CHANGE?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6217919" y="4425696"/>
            <a:ext cx="36577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Rounded Rectangle 17447"/>
          <p:cNvSpPr/>
          <p:nvPr/>
        </p:nvSpPr>
        <p:spPr>
          <a:xfrm>
            <a:off x="6272783" y="4279392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4202B"/>
                </a:solidFill>
                <a:latin typeface="Calibri"/>
              </a:rPr>
              <a:t>REASSESS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384048" y="4736592"/>
            <a:ext cx="8138160" cy="1554480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13970">
            <a:solidFill>
              <a:srgbClr val="154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0" name="Rectangle 17449"/>
          <p:cNvSpPr/>
          <p:nvPr/>
        </p:nvSpPr>
        <p:spPr>
          <a:xfrm>
            <a:off x="384048" y="4736592"/>
            <a:ext cx="8138160" cy="50292"/>
          </a:xfrm>
          <a:prstGeom prst="rect">
            <a:avLst/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1" name="Rounded Rectangle 17450"/>
          <p:cNvSpPr/>
          <p:nvPr/>
        </p:nvSpPr>
        <p:spPr>
          <a:xfrm>
            <a:off x="512064" y="486460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2" name="TextBox 17451"/>
          <p:cNvSpPr txBox="1"/>
          <p:nvPr/>
        </p:nvSpPr>
        <p:spPr>
          <a:xfrm>
            <a:off x="512064" y="4846320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877824" y="4846320"/>
            <a:ext cx="749808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5437E"/>
                </a:solidFill>
                <a:latin typeface="Calibri"/>
              </a:rPr>
              <a:t>OUTPUT · BUILT WITH</a:t>
            </a:r>
            <a:r>
              <a:rPr sz="950" b="0">
                <a:solidFill>
                  <a:srgbClr val="55636E"/>
                </a:solidFill>
                <a:latin typeface="Calibri"/>
              </a:rPr>
              <a:t>   seven technologies, nothing decorative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548640" y="5175503"/>
            <a:ext cx="7808975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5636E"/>
                </a:solidFill>
                <a:latin typeface="Calibri"/>
              </a:rPr>
              <a:t>Re-scored every 60 s on the road ahead. A reroute is proposed to the manager, never applied silently.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548640" y="5449823"/>
            <a:ext cx="7808975" cy="7863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1">
                <a:solidFill>
                  <a:srgbClr val="93A1AC"/>
                </a:solidFill>
                <a:latin typeface="Calibri"/>
              </a:rPr>
              <a:t>STACK  </a:t>
            </a:r>
            <a:r>
              <a:rPr sz="950" b="0">
                <a:solidFill>
                  <a:srgbClr val="14202B"/>
                </a:solidFill>
                <a:latin typeface="Calibri"/>
              </a:rPr>
              <a:t>FastAPI · PostgreSQL / PostGIS (Supabase) · React · React Native / Expo · OSRM · OpenStreetMap · Gemini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1">
                <a:solidFill>
                  <a:srgbClr val="93A1AC"/>
                </a:solidFill>
                <a:latin typeface="Calibri"/>
              </a:rPr>
              <a:t>CLIENTS  </a:t>
            </a:r>
            <a:r>
              <a:rPr sz="950" b="0">
                <a:solidFill>
                  <a:srgbClr val="14202B"/>
                </a:solidFill>
                <a:latin typeface="Calibri"/>
              </a:rPr>
              <a:t>Manager console (React + TS) · Driver app (React Native / Expo, Android) · one login, server-decided role, offline package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8650224" y="1060704"/>
            <a:ext cx="3127248" cy="5230368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397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7" name="Rectangle 17456"/>
          <p:cNvSpPr/>
          <p:nvPr/>
        </p:nvSpPr>
        <p:spPr>
          <a:xfrm>
            <a:off x="8650224" y="1060704"/>
            <a:ext cx="3127248" cy="50292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8" name="Rounded Rectangle 17457"/>
          <p:cNvSpPr/>
          <p:nvPr/>
        </p:nvSpPr>
        <p:spPr>
          <a:xfrm>
            <a:off x="8778240" y="118871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9" name="TextBox 17458"/>
          <p:cNvSpPr txBox="1"/>
          <p:nvPr/>
        </p:nvSpPr>
        <p:spPr>
          <a:xfrm>
            <a:off x="8778240" y="1170431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9144000" y="1170431"/>
            <a:ext cx="2487168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B26A00"/>
                </a:solidFill>
                <a:latin typeface="Calibri"/>
              </a:rPr>
              <a:t>WHO DECIDES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8814816" y="1554480"/>
            <a:ext cx="45720" cy="603504"/>
          </a:xfrm>
          <a:prstGeom prst="rect">
            <a:avLst/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2" name="TextBox 17461"/>
          <p:cNvSpPr txBox="1"/>
          <p:nvPr/>
        </p:nvSpPr>
        <p:spPr>
          <a:xfrm>
            <a:off x="8961120" y="1536192"/>
            <a:ext cx="2670048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4202B"/>
                </a:solidFill>
                <a:latin typeface="Calibri"/>
              </a:rPr>
              <a:t>DETERMINISTIC SAFETY ENGINE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5636E"/>
                </a:solidFill>
                <a:latin typeface="Calibri"/>
              </a:rPr>
              <a:t>makes every operational decision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8814816" y="2359152"/>
            <a:ext cx="45720" cy="603504"/>
          </a:xfrm>
          <a:prstGeom prst="rect">
            <a:avLst/>
          </a:prstGeom>
          <a:solidFill>
            <a:srgbClr val="12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4" name="TextBox 17463"/>
          <p:cNvSpPr txBox="1"/>
          <p:nvPr/>
        </p:nvSpPr>
        <p:spPr>
          <a:xfrm>
            <a:off x="8961120" y="2340864"/>
            <a:ext cx="2670048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4202B"/>
                </a:solidFill>
                <a:latin typeface="Calibri"/>
              </a:rPr>
              <a:t>GEMINI / OPENROUTER (LLM)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5636E"/>
                </a:solidFill>
                <a:latin typeface="Calibri"/>
              </a:rPr>
              <a:t>explains the decision in the driver's language — never decides</a:t>
            </a:r>
          </a:p>
        </p:txBody>
      </p:sp>
      <p:sp>
        <p:nvSpPr>
          <p:cNvPr id="17465" name="Rectangle 17464"/>
          <p:cNvSpPr/>
          <p:nvPr/>
        </p:nvSpPr>
        <p:spPr>
          <a:xfrm>
            <a:off x="8814816" y="3163824"/>
            <a:ext cx="45720" cy="603504"/>
          </a:xfrm>
          <a:prstGeom prst="rect">
            <a:avLst/>
          </a:prstGeom>
          <a:solidFill>
            <a:srgbClr val="93A1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6" name="TextBox 17465"/>
          <p:cNvSpPr txBox="1"/>
          <p:nvPr/>
        </p:nvSpPr>
        <p:spPr>
          <a:xfrm>
            <a:off x="8961120" y="3145536"/>
            <a:ext cx="2670048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4202B"/>
                </a:solidFill>
                <a:latin typeface="Calibri"/>
              </a:rPr>
              <a:t>EXPERIMENTAL ML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5636E"/>
                </a:solidFill>
                <a:latin typeface="Calibri"/>
              </a:rPr>
              <a:t>research channel only; held outside routing by the safety gate</a:t>
            </a:r>
          </a:p>
        </p:txBody>
      </p:sp>
      <p:cxnSp>
        <p:nvCxnSpPr>
          <p:cNvPr id="17467" name="Connector 17466"/>
          <p:cNvCxnSpPr/>
          <p:nvPr/>
        </p:nvCxnSpPr>
        <p:spPr>
          <a:xfrm>
            <a:off x="8814816" y="3968496"/>
            <a:ext cx="2798064" cy="0"/>
          </a:xfrm>
          <a:prstGeom prst="line">
            <a:avLst/>
          </a:prstGeom>
          <a:ln w="9525">
            <a:solidFill>
              <a:srgbClr val="D4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8" name="TextBox 17467"/>
          <p:cNvSpPr txBox="1"/>
          <p:nvPr/>
        </p:nvSpPr>
        <p:spPr>
          <a:xfrm>
            <a:off x="8814816" y="4041648"/>
            <a:ext cx="2798064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3A1AC"/>
                </a:solidFill>
                <a:latin typeface="Calibri"/>
              </a:rPr>
              <a:t>GOVERNANCE CHAIN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8814816" y="4315968"/>
            <a:ext cx="2798064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14202B"/>
                </a:solidFill>
                <a:latin typeface="Calibri"/>
              </a:rPr>
              <a:t>Verified evidence</a:t>
            </a:r>
          </a:p>
        </p:txBody>
      </p:sp>
      <p:cxnSp>
        <p:nvCxnSpPr>
          <p:cNvPr id="17470" name="Connector 17469"/>
          <p:cNvCxnSpPr/>
          <p:nvPr/>
        </p:nvCxnSpPr>
        <p:spPr>
          <a:xfrm>
            <a:off x="10213848" y="4599432"/>
            <a:ext cx="0" cy="9144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1" name="Rounded Rectangle 17470"/>
          <p:cNvSpPr/>
          <p:nvPr/>
        </p:nvSpPr>
        <p:spPr>
          <a:xfrm>
            <a:off x="8814816" y="4700016"/>
            <a:ext cx="2798064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14202B"/>
                </a:solidFill>
                <a:latin typeface="Calibri"/>
              </a:rPr>
              <a:t>Deterministic safety policy</a:t>
            </a:r>
          </a:p>
        </p:txBody>
      </p:sp>
      <p:cxnSp>
        <p:nvCxnSpPr>
          <p:cNvPr id="17472" name="Connector 17471"/>
          <p:cNvCxnSpPr/>
          <p:nvPr/>
        </p:nvCxnSpPr>
        <p:spPr>
          <a:xfrm>
            <a:off x="10213848" y="4983480"/>
            <a:ext cx="0" cy="9144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3" name="Rounded Rectangle 17472"/>
          <p:cNvSpPr/>
          <p:nvPr/>
        </p:nvSpPr>
        <p:spPr>
          <a:xfrm>
            <a:off x="8814816" y="5084064"/>
            <a:ext cx="2798064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14202B"/>
                </a:solidFill>
                <a:latin typeface="Calibri"/>
              </a:rPr>
              <a:t>Manager governance</a:t>
            </a:r>
          </a:p>
        </p:txBody>
      </p:sp>
      <p:cxnSp>
        <p:nvCxnSpPr>
          <p:cNvPr id="17474" name="Connector 17473"/>
          <p:cNvCxnSpPr/>
          <p:nvPr/>
        </p:nvCxnSpPr>
        <p:spPr>
          <a:xfrm>
            <a:off x="10213848" y="5367528"/>
            <a:ext cx="0" cy="9144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5" name="Rounded Rectangle 17474"/>
          <p:cNvSpPr/>
          <p:nvPr/>
        </p:nvSpPr>
        <p:spPr>
          <a:xfrm>
            <a:off x="8814816" y="5468112"/>
            <a:ext cx="2798064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14202B"/>
                </a:solidFill>
                <a:latin typeface="Calibri"/>
              </a:rPr>
              <a:t>Driver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4202B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84048" y="1060704"/>
            <a:ext cx="576072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3970">
            <a:solidFill>
              <a:srgbClr val="154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ectangle 17410"/>
          <p:cNvSpPr/>
          <p:nvPr/>
        </p:nvSpPr>
        <p:spPr>
          <a:xfrm>
            <a:off x="384048" y="1060704"/>
            <a:ext cx="5760720" cy="50292"/>
          </a:xfrm>
          <a:prstGeom prst="rect">
            <a:avLst/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ounded Rectangle 17411"/>
          <p:cNvSpPr/>
          <p:nvPr/>
        </p:nvSpPr>
        <p:spPr>
          <a:xfrm>
            <a:off x="512064" y="118871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512064" y="1170431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77824" y="1170431"/>
            <a:ext cx="51206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5437E"/>
                </a:solidFill>
                <a:latin typeface="Calibri"/>
              </a:rPr>
              <a:t>FEASIBILITY OF THE IDEA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548640" y="1536192"/>
            <a:ext cx="2651760" cy="0"/>
          </a:xfrm>
          <a:prstGeom prst="line">
            <a:avLst/>
          </a:prstGeom>
          <a:ln w="17780">
            <a:solidFill>
              <a:srgbClr val="154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TextBox 17415"/>
          <p:cNvSpPr txBox="1"/>
          <p:nvPr/>
        </p:nvSpPr>
        <p:spPr>
          <a:xfrm>
            <a:off x="548640" y="1581912"/>
            <a:ext cx="2651760" cy="7680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5437E"/>
                </a:solidFill>
                <a:latin typeface="Calibri"/>
              </a:rPr>
              <a:t>TECHNOLOGY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14202B"/>
                </a:solidFill>
                <a:latin typeface="Calibri"/>
              </a:rPr>
              <a:t>FastAPI + PostGIS, two clients on one REST API. Every part is built and running.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3346704" y="1536192"/>
            <a:ext cx="2651760" cy="0"/>
          </a:xfrm>
          <a:prstGeom prst="line">
            <a:avLst/>
          </a:prstGeom>
          <a:ln w="17780">
            <a:solidFill>
              <a:srgbClr val="154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TextBox 17417"/>
          <p:cNvSpPr txBox="1"/>
          <p:nvPr/>
        </p:nvSpPr>
        <p:spPr>
          <a:xfrm>
            <a:off x="3346704" y="1581912"/>
            <a:ext cx="2651760" cy="7680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5437E"/>
                </a:solidFill>
                <a:latin typeface="Calibri"/>
              </a:rPr>
              <a:t>IMPLEMENTATION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14202B"/>
                </a:solidFill>
                <a:latin typeface="Calibri"/>
              </a:rPr>
              <a:t>Hosted backend, manager console, Android APK 1.0.18. Certified on a physical phone.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548640" y="2377440"/>
            <a:ext cx="2651760" cy="0"/>
          </a:xfrm>
          <a:prstGeom prst="line">
            <a:avLst/>
          </a:prstGeom>
          <a:ln w="17780">
            <a:solidFill>
              <a:srgbClr val="154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TextBox 17419"/>
          <p:cNvSpPr txBox="1"/>
          <p:nvPr/>
        </p:nvSpPr>
        <p:spPr>
          <a:xfrm>
            <a:off x="548640" y="2423160"/>
            <a:ext cx="2651760" cy="7680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5437E"/>
                </a:solidFill>
                <a:latin typeface="Calibri"/>
              </a:rPr>
              <a:t>COST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14202B"/>
                </a:solidFill>
                <a:latin typeface="Calibri"/>
              </a:rPr>
              <a:t>No licensed map, traffic or weather feed — every source is public or open.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3346704" y="2377440"/>
            <a:ext cx="2651760" cy="0"/>
          </a:xfrm>
          <a:prstGeom prst="line">
            <a:avLst/>
          </a:prstGeom>
          <a:ln w="17780">
            <a:solidFill>
              <a:srgbClr val="154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TextBox 17421"/>
          <p:cNvSpPr txBox="1"/>
          <p:nvPr/>
        </p:nvSpPr>
        <p:spPr>
          <a:xfrm>
            <a:off x="3346704" y="2423160"/>
            <a:ext cx="2651760" cy="7680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5437E"/>
                </a:solidFill>
                <a:latin typeface="Calibri"/>
              </a:rPr>
              <a:t>SCALABILITY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14202B"/>
                </a:solidFill>
                <a:latin typeface="Calibri"/>
              </a:rPr>
              <a:t>A new source is a new provider adapter behind the same policy. Fleet traffic improves per truck.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84048" y="3474720"/>
            <a:ext cx="5760720" cy="2816352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1397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Rectangle 17423"/>
          <p:cNvSpPr/>
          <p:nvPr/>
        </p:nvSpPr>
        <p:spPr>
          <a:xfrm>
            <a:off x="384048" y="3474720"/>
            <a:ext cx="5760720" cy="50292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Rounded Rectangle 17424"/>
          <p:cNvSpPr/>
          <p:nvPr/>
        </p:nvSpPr>
        <p:spPr>
          <a:xfrm>
            <a:off x="512064" y="36027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512064" y="3584448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877824" y="3584448"/>
            <a:ext cx="51206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B26A00"/>
                </a:solidFill>
                <a:latin typeface="Calibri"/>
              </a:rPr>
              <a:t>RISKS → WHAT WE DO ABOUT THEM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48640" y="3950208"/>
            <a:ext cx="2432304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4202B"/>
                </a:solidFill>
                <a:latin typeface="Calibri"/>
              </a:rPr>
              <a:t>Provider rate limit or outage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3035808" y="4206240"/>
            <a:ext cx="164592" cy="0"/>
          </a:xfrm>
          <a:prstGeom prst="line">
            <a:avLst/>
          </a:prstGeom>
          <a:ln w="15875">
            <a:solidFill>
              <a:srgbClr val="B26A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TextBox 17429"/>
          <p:cNvSpPr txBox="1"/>
          <p:nvPr/>
        </p:nvSpPr>
        <p:spPr>
          <a:xfrm>
            <a:off x="3273552" y="3950208"/>
            <a:ext cx="283464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55636E"/>
                </a:solidFill>
                <a:latin typeface="Calibri"/>
              </a:rPr>
              <a:t>Cached evidence; the factor shows UNKNOWN, never assumed safe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548640" y="4480560"/>
            <a:ext cx="5486400" cy="0"/>
          </a:xfrm>
          <a:prstGeom prst="line">
            <a:avLst/>
          </a:prstGeom>
          <a:ln w="9525">
            <a:solidFill>
              <a:srgbClr val="D4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TextBox 17431"/>
          <p:cNvSpPr txBox="1"/>
          <p:nvPr/>
        </p:nvSpPr>
        <p:spPr>
          <a:xfrm>
            <a:off x="548640" y="4517136"/>
            <a:ext cx="2432304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4202B"/>
                </a:solidFill>
                <a:latin typeface="Calibri"/>
              </a:rPr>
              <a:t>Cold start on free hosting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3035808" y="4773168"/>
            <a:ext cx="164592" cy="0"/>
          </a:xfrm>
          <a:prstGeom prst="line">
            <a:avLst/>
          </a:prstGeom>
          <a:ln w="15875">
            <a:solidFill>
              <a:srgbClr val="B26A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4" name="TextBox 17433"/>
          <p:cNvSpPr txBox="1"/>
          <p:nvPr/>
        </p:nvSpPr>
        <p:spPr>
          <a:xfrm>
            <a:off x="3273552" y="4517136"/>
            <a:ext cx="283464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55636E"/>
                </a:solidFill>
                <a:latin typeface="Calibri"/>
              </a:rPr>
              <a:t>Warm /health before the slot; state is server-side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548640" y="5047488"/>
            <a:ext cx="5486400" cy="0"/>
          </a:xfrm>
          <a:prstGeom prst="line">
            <a:avLst/>
          </a:prstGeom>
          <a:ln w="9525">
            <a:solidFill>
              <a:srgbClr val="D4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TextBox 17435"/>
          <p:cNvSpPr txBox="1"/>
          <p:nvPr/>
        </p:nvSpPr>
        <p:spPr>
          <a:xfrm>
            <a:off x="548640" y="5084064"/>
            <a:ext cx="2432304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4202B"/>
                </a:solidFill>
                <a:latin typeface="Calibri"/>
              </a:rPr>
              <a:t>No phone signal on the corridor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3035808" y="5340096"/>
            <a:ext cx="164592" cy="0"/>
          </a:xfrm>
          <a:prstGeom prst="line">
            <a:avLst/>
          </a:prstGeom>
          <a:ln w="15875">
            <a:solidFill>
              <a:srgbClr val="B26A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TextBox 17437"/>
          <p:cNvSpPr txBox="1"/>
          <p:nvPr/>
        </p:nvSpPr>
        <p:spPr>
          <a:xfrm>
            <a:off x="3273552" y="5084064"/>
            <a:ext cx="283464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55636E"/>
                </a:solidFill>
                <a:latin typeface="Calibri"/>
              </a:rPr>
              <a:t>Whole-trip offline package; navigation continues, labelled OFFLINE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548640" y="5614416"/>
            <a:ext cx="5486400" cy="0"/>
          </a:xfrm>
          <a:prstGeom prst="line">
            <a:avLst/>
          </a:prstGeom>
          <a:ln w="9525">
            <a:solidFill>
              <a:srgbClr val="D4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TextBox 17439"/>
          <p:cNvSpPr txBox="1"/>
          <p:nvPr/>
        </p:nvSpPr>
        <p:spPr>
          <a:xfrm>
            <a:off x="548640" y="5650992"/>
            <a:ext cx="2432304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4202B"/>
                </a:solidFill>
                <a:latin typeface="Calibri"/>
              </a:rPr>
              <a:t>Experimental model unreliable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3035808" y="5907024"/>
            <a:ext cx="164592" cy="0"/>
          </a:xfrm>
          <a:prstGeom prst="line">
            <a:avLst/>
          </a:prstGeom>
          <a:ln w="15875">
            <a:solidFill>
              <a:srgbClr val="B26A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TextBox 17441"/>
          <p:cNvSpPr txBox="1"/>
          <p:nvPr/>
        </p:nvSpPr>
        <p:spPr>
          <a:xfrm>
            <a:off x="3273552" y="5650992"/>
            <a:ext cx="283464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55636E"/>
                </a:solidFill>
                <a:latin typeface="Calibri"/>
              </a:rPr>
              <a:t>Safety gate holds it outside routing until it passes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6291072" y="1060704"/>
            <a:ext cx="5486400" cy="5230368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3970">
            <a:solidFill>
              <a:srgbClr val="12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Rectangle 17443"/>
          <p:cNvSpPr/>
          <p:nvPr/>
        </p:nvSpPr>
        <p:spPr>
          <a:xfrm>
            <a:off x="6291072" y="1060704"/>
            <a:ext cx="5486400" cy="50292"/>
          </a:xfrm>
          <a:prstGeom prst="rect">
            <a:avLst/>
          </a:prstGeom>
          <a:solidFill>
            <a:srgbClr val="12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5" name="Rounded Rectangle 17444"/>
          <p:cNvSpPr/>
          <p:nvPr/>
        </p:nvSpPr>
        <p:spPr>
          <a:xfrm>
            <a:off x="6419088" y="118871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2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TextBox 17445"/>
          <p:cNvSpPr txBox="1"/>
          <p:nvPr/>
        </p:nvSpPr>
        <p:spPr>
          <a:xfrm>
            <a:off x="6419088" y="1170431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784848" y="1170431"/>
            <a:ext cx="484632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2704A"/>
                </a:solidFill>
                <a:latin typeface="Calibri"/>
              </a:rPr>
              <a:t>PROVEN, NOT PROPOSED</a:t>
            </a:r>
            <a:r>
              <a:rPr sz="950" b="0">
                <a:solidFill>
                  <a:srgbClr val="55636E"/>
                </a:solidFill>
                <a:latin typeface="Calibri"/>
              </a:rPr>
              <a:t>   physical phone · hosted backend · real road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6455664" y="149961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15437E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7040879" y="1627631"/>
            <a:ext cx="18289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Rounded Rectangle 17449"/>
          <p:cNvSpPr/>
          <p:nvPr/>
        </p:nvSpPr>
        <p:spPr>
          <a:xfrm>
            <a:off x="7077455" y="1499616"/>
            <a:ext cx="676656" cy="256032"/>
          </a:xfrm>
          <a:prstGeom prst="roundRect">
            <a:avLst>
              <a:gd name="adj" fmla="val 50000"/>
            </a:avLst>
          </a:prstGeom>
          <a:solidFill>
            <a:srgbClr val="15437E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7772399" y="1627631"/>
            <a:ext cx="18289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2" name="Rounded Rectangle 17451"/>
          <p:cNvSpPr/>
          <p:nvPr/>
        </p:nvSpPr>
        <p:spPr>
          <a:xfrm>
            <a:off x="7808975" y="1499616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00" b="1">
                <a:solidFill>
                  <a:srgbClr val="14202B"/>
                </a:solidFill>
                <a:latin typeface="Calibri"/>
              </a:rPr>
              <a:t>DISPATCH</a:t>
            </a:r>
          </a:p>
        </p:txBody>
      </p:sp>
      <p:cxnSp>
        <p:nvCxnSpPr>
          <p:cNvPr id="17453" name="Connector 17452"/>
          <p:cNvCxnSpPr/>
          <p:nvPr/>
        </p:nvCxnSpPr>
        <p:spPr>
          <a:xfrm>
            <a:off x="8631936" y="1627631"/>
            <a:ext cx="18288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4" name="Rounded Rectangle 17453"/>
          <p:cNvSpPr/>
          <p:nvPr/>
        </p:nvSpPr>
        <p:spPr>
          <a:xfrm>
            <a:off x="8668511" y="1499616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00" b="1">
                <a:solidFill>
                  <a:srgbClr val="14202B"/>
                </a:solidFill>
                <a:latin typeface="Calibri"/>
              </a:rPr>
              <a:t>ACCEPT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9418319" y="1627631"/>
            <a:ext cx="18289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Rounded Rectangle 17455"/>
          <p:cNvSpPr/>
          <p:nvPr/>
        </p:nvSpPr>
        <p:spPr>
          <a:xfrm>
            <a:off x="9454895" y="1499616"/>
            <a:ext cx="96926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00" b="1">
                <a:solidFill>
                  <a:srgbClr val="14202B"/>
                </a:solidFill>
                <a:latin typeface="Calibri"/>
              </a:rPr>
              <a:t>TRUCK VERIFY</a:t>
            </a:r>
          </a:p>
        </p:txBody>
      </p:sp>
      <p:cxnSp>
        <p:nvCxnSpPr>
          <p:cNvPr id="17457" name="Connector 17456"/>
          <p:cNvCxnSpPr/>
          <p:nvPr/>
        </p:nvCxnSpPr>
        <p:spPr>
          <a:xfrm>
            <a:off x="10442447" y="1627631"/>
            <a:ext cx="18289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8" name="Rounded Rectangle 17457"/>
          <p:cNvSpPr/>
          <p:nvPr/>
        </p:nvSpPr>
        <p:spPr>
          <a:xfrm>
            <a:off x="10479023" y="149961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00" b="1">
                <a:solidFill>
                  <a:srgbClr val="14202B"/>
                </a:solidFill>
                <a:latin typeface="Calibri"/>
              </a:rPr>
              <a:t>NAVIGATE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6455664" y="1810512"/>
            <a:ext cx="96926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00" b="1">
                <a:solidFill>
                  <a:srgbClr val="14202B"/>
                </a:solidFill>
                <a:latin typeface="Calibri"/>
              </a:rPr>
              <a:t>OFF-ROUTE</a:t>
            </a:r>
          </a:p>
        </p:txBody>
      </p:sp>
      <p:cxnSp>
        <p:nvCxnSpPr>
          <p:cNvPr id="17460" name="Connector 17459"/>
          <p:cNvCxnSpPr/>
          <p:nvPr/>
        </p:nvCxnSpPr>
        <p:spPr>
          <a:xfrm>
            <a:off x="7443215" y="1938528"/>
            <a:ext cx="18289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1" name="Rounded Rectangle 17460"/>
          <p:cNvSpPr/>
          <p:nvPr/>
        </p:nvSpPr>
        <p:spPr>
          <a:xfrm>
            <a:off x="7479792" y="181051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15437E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MANAGER REROUTE APPROVAL</a:t>
            </a:r>
          </a:p>
        </p:txBody>
      </p:sp>
      <p:cxnSp>
        <p:nvCxnSpPr>
          <p:cNvPr id="17462" name="Connector 17461"/>
          <p:cNvCxnSpPr/>
          <p:nvPr/>
        </p:nvCxnSpPr>
        <p:spPr>
          <a:xfrm>
            <a:off x="9509759" y="1938528"/>
            <a:ext cx="18289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3" name="Rounded Rectangle 17462"/>
          <p:cNvSpPr/>
          <p:nvPr/>
        </p:nvSpPr>
        <p:spPr>
          <a:xfrm>
            <a:off x="9546336" y="181051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2704A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6423659" y="2162556"/>
            <a:ext cx="1736217" cy="2496312"/>
          </a:xfrm>
          <a:prstGeom prst="roundRect">
            <a:avLst>
              <a:gd name="adj" fmla="val 3159"/>
            </a:avLst>
          </a:prstGeom>
          <a:solidFill>
            <a:srgbClr val="FFFFFF"/>
          </a:solidFill>
          <a:ln w="9525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5" name="Picture 17464" descr="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194560"/>
            <a:ext cx="1672209" cy="2432304"/>
          </a:xfrm>
          <a:prstGeom prst="rect">
            <a:avLst/>
          </a:prstGeom>
        </p:spPr>
      </p:pic>
      <p:sp>
        <p:nvSpPr>
          <p:cNvPr id="17466" name="Rounded Rectangle 17465"/>
          <p:cNvSpPr/>
          <p:nvPr/>
        </p:nvSpPr>
        <p:spPr>
          <a:xfrm>
            <a:off x="8242173" y="2162556"/>
            <a:ext cx="1159209" cy="2496312"/>
          </a:xfrm>
          <a:prstGeom prst="roundRect">
            <a:avLst>
              <a:gd name="adj" fmla="val 4732"/>
            </a:avLst>
          </a:prstGeom>
          <a:solidFill>
            <a:srgbClr val="FFFFFF"/>
          </a:solidFill>
          <a:ln w="9525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7" name="Picture 17466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4177" y="2194560"/>
            <a:ext cx="1095201" cy="2432304"/>
          </a:xfrm>
          <a:prstGeom prst="rect">
            <a:avLst/>
          </a:prstGeom>
        </p:spPr>
      </p:pic>
      <p:sp>
        <p:nvSpPr>
          <p:cNvPr id="17468" name="Rounded Rectangle 17467"/>
          <p:cNvSpPr/>
          <p:nvPr/>
        </p:nvSpPr>
        <p:spPr>
          <a:xfrm>
            <a:off x="9483678" y="2162556"/>
            <a:ext cx="1159209" cy="2496312"/>
          </a:xfrm>
          <a:prstGeom prst="roundRect">
            <a:avLst>
              <a:gd name="adj" fmla="val 4732"/>
            </a:avLst>
          </a:prstGeom>
          <a:solidFill>
            <a:srgbClr val="FFFFFF"/>
          </a:solidFill>
          <a:ln w="9525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9" name="Picture 17468" descr="na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5682" y="2194560"/>
            <a:ext cx="1095201" cy="2432304"/>
          </a:xfrm>
          <a:prstGeom prst="rect">
            <a:avLst/>
          </a:prstGeom>
        </p:spPr>
      </p:pic>
      <p:sp>
        <p:nvSpPr>
          <p:cNvPr id="17470" name="TextBox 17469"/>
          <p:cNvSpPr txBox="1"/>
          <p:nvPr/>
        </p:nvSpPr>
        <p:spPr>
          <a:xfrm>
            <a:off x="6455664" y="4663440"/>
            <a:ext cx="1672209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5636E"/>
                </a:solidFill>
                <a:latin typeface="Calibri"/>
              </a:rPr>
              <a:t>Manager · review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8274177" y="4663440"/>
            <a:ext cx="1095201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5636E"/>
                </a:solidFill>
                <a:latin typeface="Calibri"/>
              </a:rPr>
              <a:t>Driver · truck check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9515682" y="4663440"/>
            <a:ext cx="1095201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5636E"/>
                </a:solidFill>
                <a:latin typeface="Calibri"/>
              </a:rPr>
              <a:t>Driver · navigation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6455664" y="4937760"/>
            <a:ext cx="80467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704A"/>
                </a:solidFill>
                <a:latin typeface="Calibri"/>
              </a:rPr>
              <a:t>12/12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7333488" y="4937760"/>
            <a:ext cx="427939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4202B"/>
                </a:solidFill>
                <a:latin typeface="Calibri"/>
              </a:rPr>
              <a:t>physical judge-flow steps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6455664" y="5303520"/>
            <a:ext cx="80467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704A"/>
                </a:solidFill>
                <a:latin typeface="Calibri"/>
              </a:rPr>
              <a:t>9/9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7333488" y="5303520"/>
            <a:ext cx="427939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4202B"/>
                </a:solidFill>
                <a:latin typeface="Calibri"/>
              </a:rPr>
              <a:t>physical role-flow steps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6455664" y="5669280"/>
            <a:ext cx="5157216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5437E"/>
                </a:solidFill>
                <a:latin typeface="Calibri"/>
              </a:rPr>
              <a:t>1138+ </a:t>
            </a:r>
            <a:r>
              <a:rPr sz="1000" b="0">
                <a:solidFill>
                  <a:srgbClr val="14202B"/>
                </a:solidFill>
                <a:latin typeface="Calibri"/>
              </a:rPr>
              <a:t>backend  ·  </a:t>
            </a:r>
            <a:r>
              <a:rPr sz="1200" b="1">
                <a:solidFill>
                  <a:srgbClr val="15437E"/>
                </a:solidFill>
                <a:latin typeface="Calibri"/>
              </a:rPr>
              <a:t>621+ </a:t>
            </a:r>
            <a:r>
              <a:rPr sz="1000" b="0">
                <a:solidFill>
                  <a:srgbClr val="14202B"/>
                </a:solidFill>
                <a:latin typeface="Calibri"/>
              </a:rPr>
              <a:t>driver  ·  </a:t>
            </a:r>
            <a:r>
              <a:rPr sz="1200" b="1">
                <a:solidFill>
                  <a:srgbClr val="15437E"/>
                </a:solidFill>
                <a:latin typeface="Calibri"/>
              </a:rPr>
              <a:t>170+ </a:t>
            </a:r>
            <a:r>
              <a:rPr sz="1000" b="0">
                <a:solidFill>
                  <a:srgbClr val="14202B"/>
                </a:solidFill>
                <a:latin typeface="Calibri"/>
              </a:rPr>
              <a:t>manager tests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6455664" y="6016752"/>
            <a:ext cx="515721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3A1AC"/>
                </a:solidFill>
                <a:latin typeface="Calibri"/>
              </a:rPr>
              <a:t>Canonical demo  </a:t>
            </a:r>
            <a:r>
              <a:rPr sz="1000" b="1">
                <a:solidFill>
                  <a:srgbClr val="14202B"/>
                </a:solidFill>
                <a:latin typeface="Calibri"/>
              </a:rPr>
              <a:t>Guwahati → Shillong · ≈ 98.8 km real route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4202B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078992"/>
            <a:ext cx="8110727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2704A"/>
                </a:solidFill>
                <a:latin typeface="Calibri"/>
              </a:rPr>
              <a:t>FOOD  ·  MEDICINE  ·  FUEL  ·  RELIEF SUPPLIES</a:t>
            </a:r>
            <a:r>
              <a:rPr sz="1100" b="0">
                <a:solidFill>
                  <a:srgbClr val="55636E"/>
                </a:solidFill>
                <a:latin typeface="Calibri"/>
              </a:rPr>
              <a:t>   — essential logistics for hill communities, decided on evidence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84048" y="1463040"/>
            <a:ext cx="8138160" cy="1481328"/>
          </a:xfrm>
          <a:prstGeom prst="roundRect">
            <a:avLst>
              <a:gd name="adj" fmla="val 4320"/>
            </a:avLst>
          </a:prstGeom>
          <a:solidFill>
            <a:srgbClr val="FFFFFF"/>
          </a:solidFill>
          <a:ln w="13970">
            <a:solidFill>
              <a:srgbClr val="154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ectangle 17411"/>
          <p:cNvSpPr/>
          <p:nvPr/>
        </p:nvSpPr>
        <p:spPr>
          <a:xfrm>
            <a:off x="384048" y="1463040"/>
            <a:ext cx="8138160" cy="50292"/>
          </a:xfrm>
          <a:prstGeom prst="rect">
            <a:avLst/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Rounded Rectangle 17412"/>
          <p:cNvSpPr/>
          <p:nvPr/>
        </p:nvSpPr>
        <p:spPr>
          <a:xfrm>
            <a:off x="512064" y="15910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512064" y="1572768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77824" y="1572768"/>
            <a:ext cx="749808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5437E"/>
                </a:solidFill>
                <a:latin typeface="Calibri"/>
              </a:rPr>
              <a:t>WHO BENEFITS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548640" y="1920240"/>
            <a:ext cx="1865376" cy="0"/>
          </a:xfrm>
          <a:prstGeom prst="line">
            <a:avLst/>
          </a:prstGeom>
          <a:ln w="17780">
            <a:solidFill>
              <a:srgbClr val="154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TextBox 17416"/>
          <p:cNvSpPr txBox="1"/>
          <p:nvPr/>
        </p:nvSpPr>
        <p:spPr>
          <a:xfrm>
            <a:off x="548640" y="1975104"/>
            <a:ext cx="1865376" cy="9326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15437E"/>
                </a:solidFill>
                <a:latin typeface="Calibri"/>
              </a:rPr>
              <a:t>FLEET MANAGERS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4202B"/>
                </a:solidFill>
                <a:latin typeface="Calibri"/>
              </a:rPr>
              <a:t>Usability and uncertainty visible before dispatch. Auditable.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2560320" y="1920240"/>
            <a:ext cx="1865376" cy="0"/>
          </a:xfrm>
          <a:prstGeom prst="line">
            <a:avLst/>
          </a:prstGeom>
          <a:ln w="17780">
            <a:solidFill>
              <a:srgbClr val="154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TextBox 17418"/>
          <p:cNvSpPr txBox="1"/>
          <p:nvPr/>
        </p:nvSpPr>
        <p:spPr>
          <a:xfrm>
            <a:off x="2560320" y="1975104"/>
            <a:ext cx="1865376" cy="9326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15437E"/>
                </a:solidFill>
                <a:latin typeface="Calibri"/>
              </a:rPr>
              <a:t>DRIVERS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4202B"/>
                </a:solidFill>
                <a:latin typeface="Calibri"/>
              </a:rPr>
              <a:t>Danger context, emergency support, 23 languages.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4572000" y="1920240"/>
            <a:ext cx="1865376" cy="0"/>
          </a:xfrm>
          <a:prstGeom prst="line">
            <a:avLst/>
          </a:prstGeom>
          <a:ln w="17780">
            <a:solidFill>
              <a:srgbClr val="154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TextBox 17420"/>
          <p:cNvSpPr txBox="1"/>
          <p:nvPr/>
        </p:nvSpPr>
        <p:spPr>
          <a:xfrm>
            <a:off x="4572000" y="1975104"/>
            <a:ext cx="1865376" cy="9326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15437E"/>
                </a:solidFill>
                <a:latin typeface="Calibri"/>
              </a:rPr>
              <a:t>REMOTE COMMUNITIES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4202B"/>
                </a:solidFill>
                <a:latin typeface="Calibri"/>
              </a:rPr>
              <a:t>Resilient access to food, medicine, fuel, relief.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6583680" y="1920240"/>
            <a:ext cx="1865376" cy="0"/>
          </a:xfrm>
          <a:prstGeom prst="line">
            <a:avLst/>
          </a:prstGeom>
          <a:ln w="17780">
            <a:solidFill>
              <a:srgbClr val="154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TextBox 17422"/>
          <p:cNvSpPr txBox="1"/>
          <p:nvPr/>
        </p:nvSpPr>
        <p:spPr>
          <a:xfrm>
            <a:off x="6583680" y="1975104"/>
            <a:ext cx="1865376" cy="9326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15437E"/>
                </a:solidFill>
                <a:latin typeface="Calibri"/>
              </a:rPr>
              <a:t>GOVERNMENT / OPS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4202B"/>
                </a:solidFill>
                <a:latin typeface="Calibri"/>
              </a:rPr>
              <a:t>Auditable evidence and disruption per corridor.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84048" y="3054096"/>
            <a:ext cx="8138160" cy="1572768"/>
          </a:xfrm>
          <a:prstGeom prst="roundRect">
            <a:avLst>
              <a:gd name="adj" fmla="val 4069"/>
            </a:avLst>
          </a:prstGeom>
          <a:solidFill>
            <a:srgbClr val="FFFFFF"/>
          </a:solidFill>
          <a:ln w="1397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Rectangle 17424"/>
          <p:cNvSpPr/>
          <p:nvPr/>
        </p:nvSpPr>
        <p:spPr>
          <a:xfrm>
            <a:off x="384048" y="3054096"/>
            <a:ext cx="8138160" cy="50292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Rounded Rectangle 17425"/>
          <p:cNvSpPr/>
          <p:nvPr/>
        </p:nvSpPr>
        <p:spPr>
          <a:xfrm>
            <a:off x="512064" y="31821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512064" y="3163824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877824" y="3163824"/>
            <a:ext cx="749808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B26A00"/>
                </a:solidFill>
                <a:latin typeface="Calibri"/>
              </a:rPr>
              <a:t>MEASURABLE TODAY</a:t>
            </a:r>
            <a:r>
              <a:rPr sz="950" b="0">
                <a:solidFill>
                  <a:srgbClr val="55636E"/>
                </a:solidFill>
                <a:latin typeface="Calibri"/>
              </a:rPr>
              <a:t>   counted, not estimated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48640" y="3529584"/>
            <a:ext cx="82296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5437E"/>
                </a:solidFill>
                <a:latin typeface="Calibri"/>
              </a:rPr>
              <a:t>23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1444752" y="3529584"/>
            <a:ext cx="294436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4202B"/>
                </a:solidFill>
                <a:latin typeface="Calibri"/>
              </a:rPr>
              <a:t>selectable languages, explicit fallback status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48640" y="3895344"/>
            <a:ext cx="82296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5437E"/>
                </a:solidFill>
                <a:latin typeface="Calibri"/>
              </a:rPr>
              <a:t>11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1444752" y="3895344"/>
            <a:ext cx="294436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4202B"/>
                </a:solidFill>
                <a:latin typeface="Calibri"/>
              </a:rPr>
              <a:t>route factors in every decision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548640" y="4261104"/>
            <a:ext cx="82296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5437E"/>
                </a:solidFill>
                <a:latin typeface="Calibri"/>
              </a:rPr>
              <a:t>60 s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444752" y="4261104"/>
            <a:ext cx="294436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4202B"/>
                </a:solidFill>
                <a:latin typeface="Calibri"/>
              </a:rPr>
              <a:t>route-ahead monitor while driving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517136" y="3529584"/>
            <a:ext cx="82296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B26A00"/>
                </a:solidFill>
                <a:latin typeface="Calibri"/>
              </a:rPr>
              <a:t>12/12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413248" y="3529584"/>
            <a:ext cx="294436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4202B"/>
                </a:solidFill>
                <a:latin typeface="Calibri"/>
              </a:rPr>
              <a:t>judge-flow steps certified on a physical phone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517136" y="3895344"/>
            <a:ext cx="82296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B26A00"/>
                </a:solidFill>
                <a:latin typeface="Calibri"/>
              </a:rPr>
              <a:t>100 %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5413248" y="3895344"/>
            <a:ext cx="294436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4202B"/>
                </a:solidFill>
                <a:latin typeface="Calibri"/>
              </a:rPr>
              <a:t>of reroutes reviewed by a human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517136" y="4261104"/>
            <a:ext cx="82296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B26A00"/>
                </a:solidFill>
                <a:latin typeface="Calibri"/>
              </a:rPr>
              <a:t>0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5413248" y="4261104"/>
            <a:ext cx="294436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4202B"/>
                </a:solidFill>
                <a:latin typeface="Calibri"/>
              </a:rPr>
              <a:t>unknown factors counted as safe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384048" y="4736592"/>
            <a:ext cx="8138160" cy="1554480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13970">
            <a:solidFill>
              <a:srgbClr val="12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2" name="Rectangle 17441"/>
          <p:cNvSpPr/>
          <p:nvPr/>
        </p:nvSpPr>
        <p:spPr>
          <a:xfrm>
            <a:off x="384048" y="4736592"/>
            <a:ext cx="8138160" cy="50292"/>
          </a:xfrm>
          <a:prstGeom prst="rect">
            <a:avLst/>
          </a:prstGeom>
          <a:solidFill>
            <a:srgbClr val="12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Rounded Rectangle 17442"/>
          <p:cNvSpPr/>
          <p:nvPr/>
        </p:nvSpPr>
        <p:spPr>
          <a:xfrm>
            <a:off x="512064" y="486460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2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512064" y="4846320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877824" y="4846320"/>
            <a:ext cx="749808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2704A"/>
                </a:solidFill>
                <a:latin typeface="Calibri"/>
              </a:rPr>
              <a:t>HUMAN GOVERNANCE</a:t>
            </a:r>
            <a:r>
              <a:rPr sz="950" b="0">
                <a:solidFill>
                  <a:srgbClr val="55636E"/>
                </a:solidFill>
                <a:latin typeface="Calibri"/>
              </a:rPr>
              <a:t>   AI has no uncontrolled authority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548640" y="5212079"/>
            <a:ext cx="1847088" cy="310896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Verified evidence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2414016" y="5367527"/>
            <a:ext cx="146304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Rounded Rectangle 17447"/>
          <p:cNvSpPr/>
          <p:nvPr/>
        </p:nvSpPr>
        <p:spPr>
          <a:xfrm>
            <a:off x="2578608" y="5212079"/>
            <a:ext cx="18470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4202B"/>
                </a:solidFill>
                <a:latin typeface="Calibri"/>
              </a:rPr>
              <a:t>Deterministic safety policy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4443983" y="5367527"/>
            <a:ext cx="146305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Rounded Rectangle 17449"/>
          <p:cNvSpPr/>
          <p:nvPr/>
        </p:nvSpPr>
        <p:spPr>
          <a:xfrm>
            <a:off x="4608576" y="5212079"/>
            <a:ext cx="18470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4202B"/>
                </a:solidFill>
                <a:latin typeface="Calibri"/>
              </a:rPr>
              <a:t>Manager governance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6473952" y="5367527"/>
            <a:ext cx="146304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2" name="Rounded Rectangle 17451"/>
          <p:cNvSpPr/>
          <p:nvPr/>
        </p:nvSpPr>
        <p:spPr>
          <a:xfrm>
            <a:off x="6638544" y="5212079"/>
            <a:ext cx="18470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4202B"/>
                </a:solidFill>
                <a:latin typeface="Calibri"/>
              </a:rPr>
              <a:t>Driver action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548640" y="5614416"/>
            <a:ext cx="7808975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55636E"/>
                </a:solidFill>
                <a:latin typeface="Calibri"/>
              </a:rPr>
              <a:t>Every reroute is proposed, reviewed and accepted by a person. No invented percentages: impact is stated as who gains what.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8650224" y="1060704"/>
            <a:ext cx="3127248" cy="5230368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3970">
            <a:solidFill>
              <a:srgbClr val="154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5" name="Rectangle 17454"/>
          <p:cNvSpPr/>
          <p:nvPr/>
        </p:nvSpPr>
        <p:spPr>
          <a:xfrm>
            <a:off x="8650224" y="1060704"/>
            <a:ext cx="3127248" cy="50292"/>
          </a:xfrm>
          <a:prstGeom prst="rect">
            <a:avLst/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Rounded Rectangle 17455"/>
          <p:cNvSpPr/>
          <p:nvPr/>
        </p:nvSpPr>
        <p:spPr>
          <a:xfrm>
            <a:off x="8778240" y="118871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7" name="TextBox 17456"/>
          <p:cNvSpPr txBox="1"/>
          <p:nvPr/>
        </p:nvSpPr>
        <p:spPr>
          <a:xfrm>
            <a:off x="8778240" y="1170431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9144000" y="1170431"/>
            <a:ext cx="2487168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5437E"/>
                </a:solidFill>
                <a:latin typeface="Calibri"/>
              </a:rPr>
              <a:t>REAL SCREENS</a:t>
            </a:r>
            <a:r>
              <a:rPr sz="950" b="0">
                <a:solidFill>
                  <a:srgbClr val="55636E"/>
                </a:solidFill>
                <a:latin typeface="Calibri"/>
              </a:rPr>
              <a:t>   APK 1.0.18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8782812" y="1540764"/>
            <a:ext cx="1583432" cy="2203703"/>
          </a:xfrm>
          <a:prstGeom prst="roundRect">
            <a:avLst>
              <a:gd name="adj" fmla="val 3464"/>
            </a:avLst>
          </a:prstGeom>
          <a:solidFill>
            <a:srgbClr val="FFFFFF"/>
          </a:solidFill>
          <a:ln w="9525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0" name="Picture 17459" descr="la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16" y="1572768"/>
            <a:ext cx="1519424" cy="2139696"/>
          </a:xfrm>
          <a:prstGeom prst="rect">
            <a:avLst/>
          </a:prstGeom>
        </p:spPr>
      </p:pic>
      <p:sp>
        <p:nvSpPr>
          <p:cNvPr id="17461" name="Rounded Rectangle 17460"/>
          <p:cNvSpPr/>
          <p:nvPr/>
        </p:nvSpPr>
        <p:spPr>
          <a:xfrm>
            <a:off x="10430252" y="1540764"/>
            <a:ext cx="1073178" cy="2203703"/>
          </a:xfrm>
          <a:prstGeom prst="roundRect">
            <a:avLst>
              <a:gd name="adj" fmla="val 5112"/>
            </a:avLst>
          </a:prstGeom>
          <a:solidFill>
            <a:srgbClr val="FFFFFF"/>
          </a:solidFill>
          <a:ln w="9525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2" name="Picture 17461" descr="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2256" y="1572768"/>
            <a:ext cx="1009170" cy="2139696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8814816" y="3749039"/>
            <a:ext cx="1519424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55636E"/>
                </a:solidFill>
                <a:latin typeface="Calibri"/>
              </a:rPr>
              <a:t>23 languages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10462256" y="3749039"/>
            <a:ext cx="100917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55636E"/>
                </a:solidFill>
                <a:latin typeface="Calibri"/>
              </a:rPr>
              <a:t>Manager · mobile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8814816" y="4078224"/>
            <a:ext cx="2798064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55636E"/>
                </a:solidFill>
                <a:latin typeface="Calibri"/>
              </a:rPr>
              <a:t>APK 1.0.18. One login, server-decided role. Every language shows its status — Verified, Draft or English fallback.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4202B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84048" y="1060704"/>
            <a:ext cx="6766560" cy="4498848"/>
          </a:xfrm>
          <a:prstGeom prst="roundRect">
            <a:avLst>
              <a:gd name="adj" fmla="val 1422"/>
            </a:avLst>
          </a:prstGeom>
          <a:solidFill>
            <a:srgbClr val="FFFFFF"/>
          </a:solidFill>
          <a:ln w="13970">
            <a:solidFill>
              <a:srgbClr val="154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ectangle 17410"/>
          <p:cNvSpPr/>
          <p:nvPr/>
        </p:nvSpPr>
        <p:spPr>
          <a:xfrm>
            <a:off x="384048" y="1060704"/>
            <a:ext cx="6766560" cy="50292"/>
          </a:xfrm>
          <a:prstGeom prst="rect">
            <a:avLst/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ounded Rectangle 17411"/>
          <p:cNvSpPr/>
          <p:nvPr/>
        </p:nvSpPr>
        <p:spPr>
          <a:xfrm>
            <a:off x="512064" y="118871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5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512064" y="1170431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77824" y="1170431"/>
            <a:ext cx="612648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5437E"/>
                </a:solidFill>
                <a:latin typeface="Calibri"/>
              </a:rPr>
              <a:t>SOURCES BEHIND EVERY ROUTE DECISION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548640" y="1554480"/>
            <a:ext cx="3072384" cy="0"/>
          </a:xfrm>
          <a:prstGeom prst="line">
            <a:avLst/>
          </a:prstGeom>
          <a:ln w="17780">
            <a:solidFill>
              <a:srgbClr val="154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TextBox 17415"/>
          <p:cNvSpPr txBox="1"/>
          <p:nvPr/>
        </p:nvSpPr>
        <p:spPr>
          <a:xfrm>
            <a:off x="548640" y="1609344"/>
            <a:ext cx="3072384" cy="11338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15437E"/>
                </a:solidFill>
                <a:latin typeface="Calibri"/>
              </a:rPr>
              <a:t>ROUTING / PLACES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4202B"/>
                </a:solidFill>
                <a:latin typeface="Calibri"/>
              </a:rPr>
              <a:t>OSRM · OpenStreetMap · Nominatim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5636E"/>
                </a:solidFill>
                <a:latin typeface="Calibri"/>
              </a:rPr>
              <a:t>Road geometry, alternatives, turn steps.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3803904" y="1554480"/>
            <a:ext cx="3072384" cy="0"/>
          </a:xfrm>
          <a:prstGeom prst="line">
            <a:avLst/>
          </a:prstGeom>
          <a:ln w="17780">
            <a:solidFill>
              <a:srgbClr val="154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TextBox 17417"/>
          <p:cNvSpPr txBox="1"/>
          <p:nvPr/>
        </p:nvSpPr>
        <p:spPr>
          <a:xfrm>
            <a:off x="3803904" y="1609344"/>
            <a:ext cx="3072384" cy="11338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15437E"/>
                </a:solidFill>
                <a:latin typeface="Calibri"/>
              </a:rPr>
              <a:t>WEATHER / TERRAIN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4202B"/>
                </a:solidFill>
                <a:latin typeface="Calibri"/>
              </a:rPr>
              <a:t>Open-Meteo · MET Norway · Copernicus DEM · OpenTopoData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5636E"/>
                </a:solidFill>
                <a:latin typeface="Calibri"/>
              </a:rPr>
              <a:t>Forecast along the road; climb, gradient, steep segments.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548640" y="2871215"/>
            <a:ext cx="3072384" cy="0"/>
          </a:xfrm>
          <a:prstGeom prst="line">
            <a:avLst/>
          </a:prstGeom>
          <a:ln w="17780">
            <a:solidFill>
              <a:srgbClr val="154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TextBox 17419"/>
          <p:cNvSpPr txBox="1"/>
          <p:nvPr/>
        </p:nvSpPr>
        <p:spPr>
          <a:xfrm>
            <a:off x="548640" y="2926079"/>
            <a:ext cx="3072384" cy="11338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15437E"/>
                </a:solidFill>
                <a:latin typeface="Calibri"/>
              </a:rPr>
              <a:t>OFFICIAL / FLOOD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4202B"/>
                </a:solidFill>
                <a:latin typeface="Calibri"/>
              </a:rPr>
              <a:t>NDMA SACHET (CAP) · Copernicus GloFAS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5636E"/>
                </a:solidFill>
                <a:latin typeface="Calibri"/>
              </a:rPr>
              <a:t>Official warnings with freshness; discharge vs 30-day mean.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3803904" y="2871215"/>
            <a:ext cx="3072384" cy="0"/>
          </a:xfrm>
          <a:prstGeom prst="line">
            <a:avLst/>
          </a:prstGeom>
          <a:ln w="17780">
            <a:solidFill>
              <a:srgbClr val="154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TextBox 17421"/>
          <p:cNvSpPr txBox="1"/>
          <p:nvPr/>
        </p:nvSpPr>
        <p:spPr>
          <a:xfrm>
            <a:off x="3803904" y="2926079"/>
            <a:ext cx="3072384" cy="11338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15437E"/>
                </a:solidFill>
                <a:latin typeface="Calibri"/>
              </a:rPr>
              <a:t>LANDSLIDE HISTORY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4202B"/>
                </a:solidFill>
                <a:latin typeface="Calibri"/>
              </a:rPr>
              <a:t>NASA Global Landslide Catalog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5636E"/>
                </a:solidFill>
                <a:latin typeface="Calibri"/>
              </a:rPr>
              <a:t>Historical exposure, 2007–2017, ≤5 km accuracy.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548640" y="4187952"/>
            <a:ext cx="3072384" cy="0"/>
          </a:xfrm>
          <a:prstGeom prst="line">
            <a:avLst/>
          </a:prstGeom>
          <a:ln w="17780">
            <a:solidFill>
              <a:srgbClr val="154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TextBox 17423"/>
          <p:cNvSpPr txBox="1"/>
          <p:nvPr/>
        </p:nvSpPr>
        <p:spPr>
          <a:xfrm>
            <a:off x="548640" y="4242816"/>
            <a:ext cx="3072384" cy="11338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15437E"/>
                </a:solidFill>
                <a:latin typeface="Calibri"/>
              </a:rPr>
              <a:t>AI ASSISTANCE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4202B"/>
                </a:solidFill>
                <a:latin typeface="Calibri"/>
              </a:rPr>
              <a:t>Google Gemini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5636E"/>
                </a:solidFill>
                <a:latin typeface="Calibri"/>
              </a:rPr>
              <a:t>Explains in the driver's language. Never safety authority.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3803904" y="4187952"/>
            <a:ext cx="3072384" cy="0"/>
          </a:xfrm>
          <a:prstGeom prst="line">
            <a:avLst/>
          </a:prstGeom>
          <a:ln w="17780">
            <a:solidFill>
              <a:srgbClr val="154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TextBox 17425"/>
          <p:cNvSpPr txBox="1"/>
          <p:nvPr/>
        </p:nvSpPr>
        <p:spPr>
          <a:xfrm>
            <a:off x="3803904" y="4242816"/>
            <a:ext cx="3072384" cy="11338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15437E"/>
                </a:solidFill>
                <a:latin typeface="Calibri"/>
              </a:rPr>
              <a:t>PROBLEM STATEMENT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4202B"/>
                </a:solidFill>
                <a:latin typeface="Calibri"/>
              </a:rPr>
              <a:t>MDoNER · SIH26002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5636E"/>
                </a:solidFill>
                <a:latin typeface="Calibri"/>
              </a:rPr>
              <a:t>Smart logistics and accessibility intelligence for the NER.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7370064" y="1060704"/>
            <a:ext cx="4407408" cy="4498848"/>
          </a:xfrm>
          <a:prstGeom prst="roundRect">
            <a:avLst>
              <a:gd name="adj" fmla="val 1452"/>
            </a:avLst>
          </a:prstGeom>
          <a:solidFill>
            <a:srgbClr val="FFFFFF"/>
          </a:solidFill>
          <a:ln w="1397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Rectangle 17427"/>
          <p:cNvSpPr/>
          <p:nvPr/>
        </p:nvSpPr>
        <p:spPr>
          <a:xfrm>
            <a:off x="7370064" y="1060704"/>
            <a:ext cx="4407408" cy="50292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Rounded Rectangle 17428"/>
          <p:cNvSpPr/>
          <p:nvPr/>
        </p:nvSpPr>
        <p:spPr>
          <a:xfrm>
            <a:off x="7498080" y="118871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TextBox 17429"/>
          <p:cNvSpPr txBox="1"/>
          <p:nvPr/>
        </p:nvSpPr>
        <p:spPr>
          <a:xfrm>
            <a:off x="7498080" y="1170431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863840" y="1170431"/>
            <a:ext cx="3767328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B26A00"/>
                </a:solidFill>
                <a:latin typeface="Calibri"/>
              </a:rPr>
              <a:t>EXPERIMENTAL ML</a:t>
            </a:r>
            <a:r>
              <a:rPr sz="950" b="0">
                <a:solidFill>
                  <a:srgbClr val="55636E"/>
                </a:solidFill>
                <a:latin typeface="Calibri"/>
              </a:rPr>
              <a:t>   research only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7534656" y="1554480"/>
            <a:ext cx="1645920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200" b="1">
                <a:solidFill>
                  <a:srgbClr val="14202B"/>
                </a:solidFill>
                <a:latin typeface="Calibri"/>
              </a:rPr>
              <a:t>95 %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9180576" y="1591056"/>
            <a:ext cx="2432304" cy="7680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4202B"/>
                </a:solidFill>
                <a:latin typeface="Calibri"/>
              </a:rPr>
              <a:t>RECALL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5636E"/>
                </a:solidFill>
                <a:latin typeface="Calibri"/>
              </a:rPr>
              <a:t>NER geographic holdout · 154 events · no NER row in training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7534656" y="2468880"/>
            <a:ext cx="4078224" cy="713232"/>
          </a:xfrm>
          <a:prstGeom prst="roundRect">
            <a:avLst>
              <a:gd name="adj" fmla="val 7692"/>
            </a:avLst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TextBox 17434"/>
          <p:cNvSpPr txBox="1"/>
          <p:nvPr/>
        </p:nvSpPr>
        <p:spPr>
          <a:xfrm>
            <a:off x="7534656" y="2523744"/>
            <a:ext cx="4078224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93A1AC"/>
                </a:solidFill>
                <a:latin typeface="Calibri"/>
              </a:rPr>
              <a:t>SAFETY GATE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NOT DEPLOYED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7534656" y="3255263"/>
            <a:ext cx="4078224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B3261E"/>
                </a:solidFill>
                <a:latin typeface="Calibri"/>
              </a:rPr>
              <a:t>FPR 50 %</a:t>
            </a:r>
            <a:r>
              <a:rPr sz="950" b="0">
                <a:solidFill>
                  <a:srgbClr val="55636E"/>
                </a:solidFill>
                <a:latin typeface="Calibri"/>
              </a:rPr>
              <a:t>   too high for production deployment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7534656" y="3602735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50" b="1">
                <a:solidFill>
                  <a:srgbClr val="14202B"/>
                </a:solidFill>
                <a:latin typeface="Calibri"/>
              </a:rPr>
              <a:t>TRAIN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8247888" y="3726179"/>
            <a:ext cx="27432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Rounded Rectangle 17438"/>
          <p:cNvSpPr/>
          <p:nvPr/>
        </p:nvSpPr>
        <p:spPr>
          <a:xfrm>
            <a:off x="8293608" y="3602735"/>
            <a:ext cx="142646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50" b="1">
                <a:solidFill>
                  <a:srgbClr val="14202B"/>
                </a:solidFill>
                <a:latin typeface="Calibri"/>
              </a:rPr>
              <a:t>HELD-OUT NER TEST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9738360" y="3726179"/>
            <a:ext cx="27432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9784080" y="3602735"/>
            <a:ext cx="157276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50" b="1">
                <a:solidFill>
                  <a:srgbClr val="14202B"/>
                </a:solidFill>
                <a:latin typeface="Calibri"/>
              </a:rPr>
              <a:t>USEFUL SIGNAL FOUND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7534656" y="3931920"/>
            <a:ext cx="175564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50" b="1">
                <a:solidFill>
                  <a:srgbClr val="14202B"/>
                </a:solidFill>
                <a:latin typeface="Calibri"/>
              </a:rPr>
              <a:t>FALSE POSITIVES TOO HIGH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9308592" y="4055363"/>
            <a:ext cx="27432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Rounded Rectangle 17443"/>
          <p:cNvSpPr/>
          <p:nvPr/>
        </p:nvSpPr>
        <p:spPr>
          <a:xfrm>
            <a:off x="9354312" y="3931920"/>
            <a:ext cx="950976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50" b="1">
                <a:solidFill>
                  <a:srgbClr val="14202B"/>
                </a:solidFill>
                <a:latin typeface="Calibri"/>
              </a:rPr>
              <a:t>SAFETY GATE</a:t>
            </a:r>
          </a:p>
        </p:txBody>
      </p:sp>
      <p:cxnSp>
        <p:nvCxnSpPr>
          <p:cNvPr id="17445" name="Connector 17444"/>
          <p:cNvCxnSpPr/>
          <p:nvPr/>
        </p:nvCxnSpPr>
        <p:spPr>
          <a:xfrm>
            <a:off x="10323576" y="4055363"/>
            <a:ext cx="27432" cy="0"/>
          </a:xfrm>
          <a:prstGeom prst="line">
            <a:avLst/>
          </a:prstGeom>
          <a:ln w="15875">
            <a:solidFill>
              <a:srgbClr val="14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6" name="Rounded Rectangle 17445"/>
          <p:cNvSpPr/>
          <p:nvPr/>
        </p:nvSpPr>
        <p:spPr>
          <a:xfrm>
            <a:off x="10369296" y="3931920"/>
            <a:ext cx="111556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50" b="1">
                <a:solidFill>
                  <a:srgbClr val="14202B"/>
                </a:solidFill>
                <a:latin typeface="Calibri"/>
              </a:rPr>
              <a:t>NOT DEPLOYED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7534656" y="4297680"/>
            <a:ext cx="4078224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5437E"/>
                </a:solidFill>
                <a:latin typeface="Calibri"/>
              </a:rPr>
              <a:t>VALIDATION BEFORE AUTOMATION. </a:t>
            </a:r>
            <a:r>
              <a:rPr sz="950" b="0">
                <a:solidFill>
                  <a:srgbClr val="14202B"/>
                </a:solidFill>
                <a:latin typeface="Calibri"/>
              </a:rPr>
              <a:t>Recall was not enough. Held-out testing exposed the false-positive rate. The gate keeps it out of routing.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7534656" y="4864608"/>
            <a:ext cx="407822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5636E"/>
                </a:solidFill>
                <a:latin typeface="Calibri"/>
              </a:rPr>
              <a:t>Precision 0.32 · F1 0.48 · PR-AUC 0.55 · ROC-AUC 0.83 · Brier 0.12  —  calibrated logistic regression, NASA GLC + ERA5-Land rain + DEM slope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384048" y="5669280"/>
            <a:ext cx="11393424" cy="0"/>
          </a:xfrm>
          <a:prstGeom prst="line">
            <a:avLst/>
          </a:prstGeom>
          <a:ln w="9525">
            <a:solidFill>
              <a:srgbClr val="D4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TextBox 17449"/>
          <p:cNvSpPr txBox="1"/>
          <p:nvPr/>
        </p:nvSpPr>
        <p:spPr>
          <a:xfrm>
            <a:off x="384048" y="5742432"/>
            <a:ext cx="11393424" cy="5120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93A1AC"/>
                </a:solidFill>
                <a:latin typeface="Calibri"/>
              </a:rPr>
              <a:t>REFERENCES   </a:t>
            </a:r>
            <a:r>
              <a:rPr sz="850" b="0">
                <a:solidFill>
                  <a:srgbClr val="55636E"/>
                </a:solidFill>
                <a:latin typeface="Calibri"/>
              </a:rPr>
              <a:t>gpm.nasa.gov/landslides  ·  sachet.ndma.gov.in  ·  global-flood.emergency.copernicus.eu  ·  open-meteo.com  ·  api.met.no  ·  opentopodata.org  ·  project-osrm.org  ·  openstreetmap.org  ·  github.com/nxtlucifer/ner-ai-logistics</a:t>
            </a:r>
            <a:r>
              <a:rPr sz="850" b="1">
                <a:solidFill>
                  <a:srgbClr val="15437E"/>
                </a:solidFill>
                <a:latin typeface="Calibri"/>
              </a:rPr>
              <a:t>    PS ID SIH26002 · Team NER-AI LOGISTICS (17)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RASTA AI — SIH26002 — Team NER-AI LOGISTICS (17)</dc:title>
  <dc:subject>AI-Based Smart Logistics and Accessibility Intelligence Platform for North Eastern Region (NER)</dc:subject>
  <dc:creator>NER-AI LOGISTICS</dc:creator>
  <cp:keywords>SIH26002, SIH 2026, RASTA AI, NER logistics, route intelligence</cp:keywords>
  <dc:description/>
  <cp:lastModifiedBy>NER-AI LOGISTICS</cp:lastModifiedBy>
  <cp:revision>148</cp:revision>
  <dcterms:created xsi:type="dcterms:W3CDTF">2013-12-12T18:46:50Z</dcterms:created>
  <dcterms:modified xsi:type="dcterms:W3CDTF">2026-06-02T09:29:39Z</dcterms:modified>
  <cp:category>Smart India Hackathon 2026 — Smart Automation — Software</cp:category>
</cp:coreProperties>
</file>