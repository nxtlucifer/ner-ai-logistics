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281160" cy="2076450"/>
          </a:xfrm>
        </p:spPr>
        <p:txBody>
          <a:bodyPr/>
          <a:lstStyle/>
          <a:p>
            <a:r>
              <a:rPr lang="en-US" sz="34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4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34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-18288" y="1097280"/>
            <a:ext cx="12228545" cy="52578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02920" y="1280160"/>
            <a:ext cx="6035040" cy="6583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200" b="1">
                <a:solidFill>
                  <a:srgbClr val="E6EDF6"/>
                </a:solidFill>
                <a:latin typeface="Calibri"/>
              </a:rPr>
              <a:t>RASTA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1938528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93A4BC"/>
                </a:solidFill>
                <a:latin typeface="Calibri"/>
              </a:rPr>
              <a:t>Route Intelligence for Essential-Supply Logistics in North Eastern India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2432304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2300" b="1">
                <a:solidFill>
                  <a:srgbClr val="06121F"/>
                </a:solidFill>
                <a:latin typeface="Calibri"/>
              </a:rPr>
              <a:t>SIH26002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78608" y="2450592"/>
            <a:ext cx="3931920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64748B"/>
                </a:solidFill>
                <a:latin typeface="Calibri"/>
              </a:rPr>
              <a:t>PROBLEM STATEMENT ID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6EDF6"/>
                </a:solidFill>
                <a:latin typeface="Calibri"/>
              </a:rPr>
              <a:t>MDoNER · Smart Automation · Software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3127248"/>
            <a:ext cx="182880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Calibri"/>
              </a:rPr>
              <a:t>PROBLEM STATEMENT TITLE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40" y="3099816"/>
            <a:ext cx="416052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6EDF6"/>
                </a:solidFill>
                <a:latin typeface="Calibri"/>
              </a:rPr>
              <a:t>AI-Based Smart Logistics and Accessibility Intelligence Platform for North Eastern Region (NER)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3557015"/>
            <a:ext cx="6035039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02920" y="3611880"/>
            <a:ext cx="18288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Calibri"/>
              </a:rPr>
              <a:t>THEME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77440" y="3584448"/>
            <a:ext cx="416052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6EDF6"/>
                </a:solidFill>
                <a:latin typeface="Calibri"/>
              </a:rPr>
              <a:t>Smart Automation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3877056"/>
            <a:ext cx="6035039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3931920"/>
            <a:ext cx="18288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Calibri"/>
              </a:rPr>
              <a:t>PS CATEGORY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77440" y="3904487"/>
            <a:ext cx="416052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6EDF6"/>
                </a:solidFill>
                <a:latin typeface="Calibri"/>
              </a:rPr>
              <a:t>Software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02920" y="4197096"/>
            <a:ext cx="6035039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2920" y="4251959"/>
            <a:ext cx="18288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Calibri"/>
              </a:rPr>
              <a:t>TEAM 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77440" y="4224527"/>
            <a:ext cx="416052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E6EDF6"/>
                </a:solidFill>
                <a:latin typeface="Calibri"/>
              </a:rPr>
              <a:t>17  (internal group no.)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02920" y="4517136"/>
            <a:ext cx="6035039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02920" y="4571999"/>
            <a:ext cx="18288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Calibri"/>
              </a:rPr>
              <a:t>TEAM NAME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77440" y="4544567"/>
            <a:ext cx="416052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E6EDF6"/>
                </a:solidFill>
                <a:latin typeface="Calibri"/>
              </a:rPr>
              <a:t>NER-AI LOGISTICS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02920" y="4837175"/>
            <a:ext cx="6035039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02920" y="4974336"/>
            <a:ext cx="603504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E6EDF6"/>
                </a:solidFill>
                <a:latin typeface="Calibri"/>
              </a:rPr>
              <a:t>SHORTEST IS NOT ALWAYS USABLE.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5413248"/>
            <a:ext cx="603504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38BDF8"/>
                </a:solidFill>
                <a:latin typeface="Calibri"/>
              </a:rPr>
              <a:t>“Can this essential-supply truck reliably use this corridor now?”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5797296"/>
            <a:ext cx="60350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4D399"/>
                </a:solidFill>
                <a:latin typeface="Calibri"/>
              </a:rPr>
              <a:t>End-to-end working prototype · physical-phone validated · live demo corridor Guwahati → Shillong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0" y="1243584"/>
            <a:ext cx="4892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Calibri"/>
              </a:rPr>
              <a:t>LIVE WORKING SYSTEM</a:t>
            </a:r>
            <a:r>
              <a:rPr sz="950" b="0">
                <a:solidFill>
                  <a:srgbClr val="64748B"/>
                </a:solidFill>
                <a:latin typeface="Calibri"/>
              </a:rPr>
              <a:t>   manager console + Android driver app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935724" y="2253996"/>
            <a:ext cx="2515743" cy="3630168"/>
          </a:xfrm>
          <a:prstGeom prst="roundRect">
            <a:avLst>
              <a:gd name="adj" fmla="val 2180"/>
            </a:avLst>
          </a:prstGeom>
          <a:solidFill>
            <a:srgbClr val="FFFFF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2" name="Picture 61" descr="mg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286000"/>
            <a:ext cx="2451735" cy="3566160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9550908" y="1577340"/>
            <a:ext cx="1974434" cy="430682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4" name="Picture 63" descr="na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2912" y="1609344"/>
            <a:ext cx="1910426" cy="424281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6858000" y="5943600"/>
            <a:ext cx="4892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Manager route review · Driver navigation — real screens, real road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RASTA AI — ROUTE INTELLIGENCE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E6EDF6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ectangle 15361"/>
          <p:cNvSpPr/>
          <p:nvPr/>
        </p:nvSpPr>
        <p:spPr>
          <a:xfrm>
            <a:off x="-18288" y="1060704"/>
            <a:ext cx="12228545" cy="529437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3" name="TextBox 15362"/>
          <p:cNvSpPr txBox="1"/>
          <p:nvPr/>
        </p:nvSpPr>
        <p:spPr>
          <a:xfrm>
            <a:off x="457200" y="1152144"/>
            <a:ext cx="36576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PROPOSED SOLUTION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457200" y="1389888"/>
            <a:ext cx="7955279" cy="8412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E6EDF6"/>
                </a:solidFill>
                <a:latin typeface="Calibri"/>
              </a:rPr>
              <a:t>NOT THE SHORTEST ROAD. </a:t>
            </a:r>
            <a:r>
              <a:rPr sz="2400" b="1">
                <a:solidFill>
                  <a:srgbClr val="38BDF8"/>
                </a:solidFill>
                <a:latin typeface="Calibri"/>
              </a:rPr>
              <a:t>THE ROAD THAT IS USABLE NOW.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457200" y="2212848"/>
            <a:ext cx="8065008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93A4BC"/>
                </a:solidFill>
                <a:latin typeface="Calibri"/>
              </a:rPr>
              <a:t>Monsoon · landslides · floods · official warnings · single-lane hill roads · no signal.  </a:t>
            </a:r>
            <a:r>
              <a:rPr sz="1100" b="1">
                <a:solidFill>
                  <a:srgbClr val="F87171"/>
                </a:solidFill>
                <a:latin typeface="Calibri"/>
              </a:rPr>
              <a:t>A shortest-path router still sends the truck.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411480" y="2670048"/>
            <a:ext cx="2395728" cy="3035808"/>
          </a:xfrm>
          <a:prstGeom prst="roundRect">
            <a:avLst>
              <a:gd name="adj" fmla="val 3053"/>
            </a:avLst>
          </a:prstGeom>
          <a:solidFill>
            <a:srgbClr val="111C2E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7" name="Rectangle 15366"/>
          <p:cNvSpPr/>
          <p:nvPr/>
        </p:nvSpPr>
        <p:spPr>
          <a:xfrm>
            <a:off x="411480" y="2670048"/>
            <a:ext cx="54864" cy="3035808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8" name="TextBox 15367"/>
          <p:cNvSpPr txBox="1"/>
          <p:nvPr/>
        </p:nvSpPr>
        <p:spPr>
          <a:xfrm>
            <a:off x="576072" y="2743200"/>
            <a:ext cx="20665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64748B"/>
                </a:solidFill>
                <a:latin typeface="Calibri"/>
              </a:rPr>
              <a:t>A NORMAL ROUTER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566928" y="3108960"/>
            <a:ext cx="2084831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93A4BC"/>
                </a:solidFill>
                <a:latin typeface="Calibri"/>
              </a:rPr>
              <a:t>Origin</a:t>
            </a:r>
          </a:p>
        </p:txBody>
      </p:sp>
      <p:cxnSp>
        <p:nvCxnSpPr>
          <p:cNvPr id="15370" name="Connector 15369"/>
          <p:cNvCxnSpPr/>
          <p:nvPr/>
        </p:nvCxnSpPr>
        <p:spPr>
          <a:xfrm>
            <a:off x="1609343" y="3392423"/>
            <a:ext cx="0" cy="201168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1" name="Rounded Rectangle 15370"/>
          <p:cNvSpPr/>
          <p:nvPr/>
        </p:nvSpPr>
        <p:spPr>
          <a:xfrm>
            <a:off x="566928" y="3602736"/>
            <a:ext cx="2084831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93A4BC"/>
                </a:solidFill>
                <a:latin typeface="Calibri"/>
              </a:rPr>
              <a:t>Shortest / fastest road</a:t>
            </a:r>
          </a:p>
        </p:txBody>
      </p:sp>
      <p:cxnSp>
        <p:nvCxnSpPr>
          <p:cNvPr id="15372" name="Connector 15371"/>
          <p:cNvCxnSpPr/>
          <p:nvPr/>
        </p:nvCxnSpPr>
        <p:spPr>
          <a:xfrm>
            <a:off x="1609343" y="3886200"/>
            <a:ext cx="0" cy="201168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3" name="Rounded Rectangle 15372"/>
          <p:cNvSpPr/>
          <p:nvPr/>
        </p:nvSpPr>
        <p:spPr>
          <a:xfrm>
            <a:off x="566928" y="4096512"/>
            <a:ext cx="2084831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93A4BC"/>
                </a:solidFill>
                <a:latin typeface="Calibri"/>
              </a:rPr>
              <a:t>Truck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566928" y="4626864"/>
            <a:ext cx="2084831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No terrain, weather or hazard check.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No governance. No answer when data is missing.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2926080" y="2670048"/>
            <a:ext cx="5596128" cy="3035808"/>
          </a:xfrm>
          <a:prstGeom prst="roundRect">
            <a:avLst>
              <a:gd name="adj" fmla="val 2409"/>
            </a:avLst>
          </a:prstGeom>
          <a:solidFill>
            <a:srgbClr val="111C2E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6" name="TextBox 15375"/>
          <p:cNvSpPr txBox="1"/>
          <p:nvPr/>
        </p:nvSpPr>
        <p:spPr>
          <a:xfrm>
            <a:off x="3090672" y="2743200"/>
            <a:ext cx="5266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38BDF8"/>
                </a:solidFill>
                <a:latin typeface="Calibri"/>
              </a:rPr>
              <a:t>RASTA AI</a:t>
            </a:r>
            <a:r>
              <a:rPr sz="950" b="0">
                <a:solidFill>
                  <a:srgbClr val="64748B"/>
                </a:solidFill>
                <a:latin typeface="Calibri"/>
              </a:rPr>
              <a:t>   evidence before the road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3072384" y="3108960"/>
            <a:ext cx="5303520" cy="25603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E6EDF6"/>
                </a:solidFill>
                <a:latin typeface="Calibri"/>
              </a:rPr>
              <a:t>Origin</a:t>
            </a:r>
          </a:p>
        </p:txBody>
      </p:sp>
      <p:cxnSp>
        <p:nvCxnSpPr>
          <p:cNvPr id="15378" name="Connector 15377"/>
          <p:cNvCxnSpPr/>
          <p:nvPr/>
        </p:nvCxnSpPr>
        <p:spPr>
          <a:xfrm>
            <a:off x="5724144" y="3374135"/>
            <a:ext cx="0" cy="73153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9" name="Rounded Rectangle 15378"/>
          <p:cNvSpPr/>
          <p:nvPr/>
        </p:nvSpPr>
        <p:spPr>
          <a:xfrm>
            <a:off x="3072384" y="3456432"/>
            <a:ext cx="5303520" cy="25603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E6EDF6"/>
                </a:solidFill>
                <a:latin typeface="Calibri"/>
              </a:rPr>
              <a:t>Real route  ·  OSRM road, alternatives, turn steps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3072384" y="3803904"/>
            <a:ext cx="5303520" cy="822960"/>
          </a:xfrm>
          <a:prstGeom prst="roundRect">
            <a:avLst>
              <a:gd name="adj" fmla="val 6666"/>
            </a:avLst>
          </a:prstGeom>
          <a:solidFill>
            <a:srgbClr val="0B1220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1" name="TextBox 15380"/>
          <p:cNvSpPr txBox="1"/>
          <p:nvPr/>
        </p:nvSpPr>
        <p:spPr>
          <a:xfrm>
            <a:off x="3182112" y="3840480"/>
            <a:ext cx="5084064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E6EDF6"/>
                </a:solidFill>
                <a:latin typeface="Calibri"/>
              </a:rPr>
              <a:t>ROUTE-SPECIFIC EVIDENCE  </a:t>
            </a:r>
            <a:r>
              <a:rPr sz="950" b="0">
                <a:solidFill>
                  <a:srgbClr val="64748B"/>
                </a:solidFill>
                <a:latin typeface="Calibri"/>
              </a:rPr>
              <a:t>each factor with its freshness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3182112" y="4078224"/>
            <a:ext cx="786384" cy="21945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E6EDF6"/>
                </a:solidFill>
                <a:latin typeface="Calibri"/>
              </a:rPr>
              <a:t>Terrain</a:t>
            </a:r>
          </a:p>
        </p:txBody>
      </p:sp>
      <p:sp>
        <p:nvSpPr>
          <p:cNvPr id="15383" name="Rounded Rectangle 15382"/>
          <p:cNvSpPr/>
          <p:nvPr/>
        </p:nvSpPr>
        <p:spPr>
          <a:xfrm>
            <a:off x="4041648" y="4078224"/>
            <a:ext cx="786384" cy="21945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E6EDF6"/>
                </a:solidFill>
                <a:latin typeface="Calibri"/>
              </a:rPr>
              <a:t>Weather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4901183" y="4078224"/>
            <a:ext cx="1261872" cy="21945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E6EDF6"/>
                </a:solidFill>
                <a:latin typeface="Calibri"/>
              </a:rPr>
              <a:t>Landslide exposure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6236207" y="4078224"/>
            <a:ext cx="1005840" cy="21945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E6EDF6"/>
                </a:solidFill>
                <a:latin typeface="Calibri"/>
              </a:rPr>
              <a:t>Flood context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3182112" y="4334256"/>
            <a:ext cx="1152144" cy="21945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E6EDF6"/>
                </a:solidFill>
                <a:latin typeface="Calibri"/>
              </a:rPr>
              <a:t>Official warnings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4407408" y="4334256"/>
            <a:ext cx="914400" cy="21945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E6EDF6"/>
                </a:solidFill>
                <a:latin typeface="Calibri"/>
              </a:rPr>
              <a:t>Fleet traffic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5394960" y="4334256"/>
            <a:ext cx="1243584" cy="21945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E6EDF6"/>
                </a:solidFill>
                <a:latin typeface="Calibri"/>
              </a:rPr>
              <a:t>Evidence freshness</a:t>
            </a:r>
          </a:p>
        </p:txBody>
      </p:sp>
      <p:sp>
        <p:nvSpPr>
          <p:cNvPr id="15389" name="Rounded Rectangle 15388"/>
          <p:cNvSpPr/>
          <p:nvPr/>
        </p:nvSpPr>
        <p:spPr>
          <a:xfrm>
            <a:off x="3072384" y="4718304"/>
            <a:ext cx="5303520" cy="256032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06121F"/>
                </a:solidFill>
                <a:latin typeface="Calibri"/>
              </a:rPr>
              <a:t>OPERATIONAL DECISION  ·  CONTINUE / CAUTION / HOLD / REROUTE</a:t>
            </a:r>
          </a:p>
        </p:txBody>
      </p:sp>
      <p:cxnSp>
        <p:nvCxnSpPr>
          <p:cNvPr id="15390" name="Connector 15389"/>
          <p:cNvCxnSpPr/>
          <p:nvPr/>
        </p:nvCxnSpPr>
        <p:spPr>
          <a:xfrm>
            <a:off x="5724144" y="4983480"/>
            <a:ext cx="0" cy="73152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1" name="Rounded Rectangle 15390"/>
          <p:cNvSpPr/>
          <p:nvPr/>
        </p:nvSpPr>
        <p:spPr>
          <a:xfrm>
            <a:off x="3072384" y="5065776"/>
            <a:ext cx="5303520" cy="25603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E6EDF6"/>
                </a:solidFill>
                <a:latin typeface="Calibri"/>
              </a:rPr>
              <a:t>Manager governance  ·  authorises, dispatches, approves reroutes</a:t>
            </a:r>
          </a:p>
        </p:txBody>
      </p:sp>
      <p:cxnSp>
        <p:nvCxnSpPr>
          <p:cNvPr id="15392" name="Connector 15391"/>
          <p:cNvCxnSpPr/>
          <p:nvPr/>
        </p:nvCxnSpPr>
        <p:spPr>
          <a:xfrm>
            <a:off x="5724144" y="5330952"/>
            <a:ext cx="0" cy="73152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3" name="Rounded Rectangle 15392"/>
          <p:cNvSpPr/>
          <p:nvPr/>
        </p:nvSpPr>
        <p:spPr>
          <a:xfrm>
            <a:off x="3072384" y="5413248"/>
            <a:ext cx="5303520" cy="25603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E6EDF6"/>
                </a:solidFill>
                <a:latin typeface="Calibri"/>
              </a:rPr>
              <a:t>Driver  ·  navigation, danger context, 23 languages, offline</a:t>
            </a:r>
          </a:p>
        </p:txBody>
      </p:sp>
      <p:sp>
        <p:nvSpPr>
          <p:cNvPr id="15394" name="Rounded Rectangle 15393"/>
          <p:cNvSpPr/>
          <p:nvPr/>
        </p:nvSpPr>
        <p:spPr>
          <a:xfrm>
            <a:off x="411480" y="5797296"/>
            <a:ext cx="8110727" cy="493776"/>
          </a:xfrm>
          <a:prstGeom prst="roundRect">
            <a:avLst>
              <a:gd name="adj" fmla="val 14814"/>
            </a:avLst>
          </a:prstGeom>
          <a:solidFill>
            <a:srgbClr val="111C2E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5" name="TextBox 15394"/>
          <p:cNvSpPr txBox="1"/>
          <p:nvPr/>
        </p:nvSpPr>
        <p:spPr>
          <a:xfrm>
            <a:off x="566928" y="5833872"/>
            <a:ext cx="2286000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87171"/>
                </a:solidFill>
                <a:latin typeface="Calibri"/>
              </a:rPr>
              <a:t>UNKNOWN ≠ SAFE</a:t>
            </a:r>
          </a:p>
        </p:txBody>
      </p:sp>
      <p:sp>
        <p:nvSpPr>
          <p:cNvPr id="15396" name="TextBox 15395"/>
          <p:cNvSpPr txBox="1"/>
          <p:nvPr/>
        </p:nvSpPr>
        <p:spPr>
          <a:xfrm>
            <a:off x="2834640" y="5852160"/>
            <a:ext cx="5532120" cy="4023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6EDF6"/>
                </a:solidFill>
                <a:latin typeface="Calibri"/>
              </a:rPr>
              <a:t>Missing or stale evidence is marked UNKNOWN — never safe — and goes to an authorised reviewer.</a:t>
            </a:r>
          </a:p>
        </p:txBody>
      </p:sp>
      <p:sp>
        <p:nvSpPr>
          <p:cNvPr id="15397" name="Rounded Rectangle 15396"/>
          <p:cNvSpPr/>
          <p:nvPr/>
        </p:nvSpPr>
        <p:spPr>
          <a:xfrm>
            <a:off x="8641080" y="1133856"/>
            <a:ext cx="3136392" cy="5157216"/>
          </a:xfrm>
          <a:prstGeom prst="roundRect">
            <a:avLst>
              <a:gd name="adj" fmla="val 2332"/>
            </a:avLst>
          </a:prstGeom>
          <a:solidFill>
            <a:srgbClr val="111C2E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8" name="TextBox 15397"/>
          <p:cNvSpPr txBox="1"/>
          <p:nvPr/>
        </p:nvSpPr>
        <p:spPr>
          <a:xfrm>
            <a:off x="8805672" y="1207008"/>
            <a:ext cx="280720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38BDF8"/>
                </a:solidFill>
                <a:latin typeface="Calibri"/>
              </a:rPr>
              <a:t>MANAGER · CHECK CONDITIONS</a:t>
            </a:r>
          </a:p>
        </p:txBody>
      </p:sp>
      <p:sp>
        <p:nvSpPr>
          <p:cNvPr id="15399" name="Rounded Rectangle 15398"/>
          <p:cNvSpPr/>
          <p:nvPr/>
        </p:nvSpPr>
        <p:spPr>
          <a:xfrm>
            <a:off x="8791956" y="1559052"/>
            <a:ext cx="2742701" cy="42336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00" name="Picture 15399" descr="ev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0" y="1591056"/>
            <a:ext cx="2678693" cy="4169663"/>
          </a:xfrm>
          <a:prstGeom prst="rect">
            <a:avLst/>
          </a:prstGeom>
        </p:spPr>
      </p:pic>
      <p:sp>
        <p:nvSpPr>
          <p:cNvPr id="15401" name="TextBox 15400"/>
          <p:cNvSpPr txBox="1"/>
          <p:nvPr/>
        </p:nvSpPr>
        <p:spPr>
          <a:xfrm>
            <a:off x="8796528" y="5852160"/>
            <a:ext cx="28346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Real screen · evidence · freshness ·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E6EDF6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-18288" y="1060704"/>
            <a:ext cx="12228545" cy="529437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Rounded Rectangle 17410"/>
          <p:cNvSpPr/>
          <p:nvPr/>
        </p:nvSpPr>
        <p:spPr>
          <a:xfrm>
            <a:off x="365760" y="1115568"/>
            <a:ext cx="8138160" cy="3566160"/>
          </a:xfrm>
          <a:prstGeom prst="roundRect">
            <a:avLst>
              <a:gd name="adj" fmla="val 2051"/>
            </a:avLst>
          </a:prstGeom>
          <a:solidFill>
            <a:srgbClr val="111C2E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530352" y="1188720"/>
            <a:ext cx="7808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38BDF8"/>
                </a:solidFill>
                <a:latin typeface="Calibri"/>
              </a:rPr>
              <a:t>VERIFIED DATA → DECISION → DRIVER</a:t>
            </a:r>
            <a:r>
              <a:rPr sz="950" b="0">
                <a:solidFill>
                  <a:srgbClr val="64748B"/>
                </a:solidFill>
                <a:latin typeface="Calibri"/>
              </a:rPr>
              <a:t>   provider adapters with health + freshness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02920" y="1536192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0B1220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594360" y="1572768"/>
            <a:ext cx="1097280" cy="4937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E6EDF6"/>
                </a:solidFill>
                <a:latin typeface="Calibri"/>
              </a:rPr>
              <a:t>WEATHER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Open-Meteo · MET Norway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1143000" y="2121408"/>
            <a:ext cx="0" cy="128016"/>
          </a:xfrm>
          <a:prstGeom prst="line">
            <a:avLst/>
          </a:prstGeom>
          <a:ln w="1143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Rounded Rectangle 17415"/>
          <p:cNvSpPr/>
          <p:nvPr/>
        </p:nvSpPr>
        <p:spPr>
          <a:xfrm>
            <a:off x="1856232" y="1536192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0B1220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1947672" y="1572768"/>
            <a:ext cx="1097280" cy="4937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E6EDF6"/>
                </a:solidFill>
                <a:latin typeface="Calibri"/>
              </a:rPr>
              <a:t>TERRAIN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Copernicus DEM · OpenTopoData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2496312" y="2121408"/>
            <a:ext cx="0" cy="128016"/>
          </a:xfrm>
          <a:prstGeom prst="line">
            <a:avLst/>
          </a:prstGeom>
          <a:ln w="1143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Rounded Rectangle 17418"/>
          <p:cNvSpPr/>
          <p:nvPr/>
        </p:nvSpPr>
        <p:spPr>
          <a:xfrm>
            <a:off x="3209544" y="1536192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0B1220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3300984" y="1572768"/>
            <a:ext cx="1097280" cy="4937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E6EDF6"/>
                </a:solidFill>
                <a:latin typeface="Calibri"/>
              </a:rPr>
              <a:t>WARNINGS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NDMA SACHET (CAP)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3849624" y="2121408"/>
            <a:ext cx="0" cy="128016"/>
          </a:xfrm>
          <a:prstGeom prst="line">
            <a:avLst/>
          </a:prstGeom>
          <a:ln w="1143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Rounded Rectangle 17421"/>
          <p:cNvSpPr/>
          <p:nvPr/>
        </p:nvSpPr>
        <p:spPr>
          <a:xfrm>
            <a:off x="4562856" y="1536192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0B1220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4654296" y="1572768"/>
            <a:ext cx="1097280" cy="4937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E6EDF6"/>
                </a:solidFill>
                <a:latin typeface="Calibri"/>
              </a:rPr>
              <a:t>FLOOD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GloFAS</a:t>
            </a:r>
          </a:p>
        </p:txBody>
      </p:sp>
      <p:cxnSp>
        <p:nvCxnSpPr>
          <p:cNvPr id="17424" name="Connector 17423"/>
          <p:cNvCxnSpPr/>
          <p:nvPr/>
        </p:nvCxnSpPr>
        <p:spPr>
          <a:xfrm>
            <a:off x="5202936" y="2121408"/>
            <a:ext cx="0" cy="128016"/>
          </a:xfrm>
          <a:prstGeom prst="line">
            <a:avLst/>
          </a:prstGeom>
          <a:ln w="1143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5" name="Rounded Rectangle 17424"/>
          <p:cNvSpPr/>
          <p:nvPr/>
        </p:nvSpPr>
        <p:spPr>
          <a:xfrm>
            <a:off x="5916168" y="1536192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0B1220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6" name="TextBox 17425"/>
          <p:cNvSpPr txBox="1"/>
          <p:nvPr/>
        </p:nvSpPr>
        <p:spPr>
          <a:xfrm>
            <a:off x="6007608" y="1572768"/>
            <a:ext cx="1097280" cy="4937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E6EDF6"/>
                </a:solidFill>
                <a:latin typeface="Calibri"/>
              </a:rPr>
              <a:t>LANDSLIDE HISTORY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NASA GLC 2007–17</a:t>
            </a:r>
          </a:p>
        </p:txBody>
      </p:sp>
      <p:cxnSp>
        <p:nvCxnSpPr>
          <p:cNvPr id="17427" name="Connector 17426"/>
          <p:cNvCxnSpPr/>
          <p:nvPr/>
        </p:nvCxnSpPr>
        <p:spPr>
          <a:xfrm>
            <a:off x="6556248" y="2121408"/>
            <a:ext cx="0" cy="128016"/>
          </a:xfrm>
          <a:prstGeom prst="line">
            <a:avLst/>
          </a:prstGeom>
          <a:ln w="1143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8" name="Rounded Rectangle 17427"/>
          <p:cNvSpPr/>
          <p:nvPr/>
        </p:nvSpPr>
        <p:spPr>
          <a:xfrm>
            <a:off x="7269480" y="1536192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0B1220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TextBox 17428"/>
          <p:cNvSpPr txBox="1"/>
          <p:nvPr/>
        </p:nvSpPr>
        <p:spPr>
          <a:xfrm>
            <a:off x="7360920" y="1572768"/>
            <a:ext cx="1097280" cy="4937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E6EDF6"/>
                </a:solidFill>
                <a:latin typeface="Calibri"/>
              </a:rPr>
              <a:t>TRAFFIC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fleet GPS fixes</a:t>
            </a:r>
          </a:p>
        </p:txBody>
      </p:sp>
      <p:cxnSp>
        <p:nvCxnSpPr>
          <p:cNvPr id="17430" name="Connector 17429"/>
          <p:cNvCxnSpPr/>
          <p:nvPr/>
        </p:nvCxnSpPr>
        <p:spPr>
          <a:xfrm>
            <a:off x="7909560" y="2121408"/>
            <a:ext cx="0" cy="128016"/>
          </a:xfrm>
          <a:prstGeom prst="line">
            <a:avLst/>
          </a:prstGeom>
          <a:ln w="1143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1" name="Rounded Rectangle 17430"/>
          <p:cNvSpPr/>
          <p:nvPr/>
        </p:nvSpPr>
        <p:spPr>
          <a:xfrm>
            <a:off x="502920" y="2286000"/>
            <a:ext cx="7863840" cy="475488"/>
          </a:xfrm>
          <a:prstGeom prst="roundRect">
            <a:avLst>
              <a:gd name="adj" fmla="val 11538"/>
            </a:avLst>
          </a:prstGeom>
          <a:solidFill>
            <a:srgbClr val="0B1220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2" name="TextBox 17431"/>
          <p:cNvSpPr txBox="1"/>
          <p:nvPr/>
        </p:nvSpPr>
        <p:spPr>
          <a:xfrm>
            <a:off x="621792" y="2322576"/>
            <a:ext cx="768096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6EDF6"/>
                </a:solidFill>
                <a:latin typeface="Calibri"/>
              </a:rPr>
              <a:t>ROUTE-SPECIFIC EVIDENCE  ·  FastAPI backend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every factor sampled along the selected road · PostgreSQL + PostGIS (Supabase) · OSRM routes, alternatives, turn steps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502920" y="2852928"/>
            <a:ext cx="7863840" cy="475488"/>
          </a:xfrm>
          <a:prstGeom prst="roundRect">
            <a:avLst>
              <a:gd name="adj" fmla="val 11538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4" name="TextBox 17433"/>
          <p:cNvSpPr txBox="1"/>
          <p:nvPr/>
        </p:nvSpPr>
        <p:spPr>
          <a:xfrm>
            <a:off x="621792" y="2889504"/>
            <a:ext cx="768096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6121F"/>
                </a:solidFill>
                <a:latin typeface="Calibri"/>
              </a:rPr>
              <a:t>DETERMINISTIC SAFETY POLICY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0B2B45"/>
                </a:solidFill>
                <a:latin typeface="Calibri"/>
              </a:rPr>
              <a:t>11 factors · reason codes · UNKNOWN ≠ SAFE · reviewer authorisation when hazard data is missing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502920" y="3438144"/>
            <a:ext cx="1869948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00" b="1">
                <a:solidFill>
                  <a:srgbClr val="06121F"/>
                </a:solidFill>
                <a:latin typeface="Calibri"/>
              </a:rPr>
              <a:t>CONTINUE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2500884" y="3438144"/>
            <a:ext cx="1869948" cy="3108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00" b="1">
                <a:solidFill>
                  <a:srgbClr val="06121F"/>
                </a:solidFill>
                <a:latin typeface="Calibri"/>
              </a:rPr>
              <a:t>CAUTION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4498848" y="3438144"/>
            <a:ext cx="1869948" cy="310896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00" b="1">
                <a:solidFill>
                  <a:srgbClr val="06121F"/>
                </a:solidFill>
                <a:latin typeface="Calibri"/>
              </a:rPr>
              <a:t>HOLD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6496812" y="3438144"/>
            <a:ext cx="1869948" cy="31089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00" b="1">
                <a:solidFill>
                  <a:srgbClr val="06121F"/>
                </a:solidFill>
                <a:latin typeface="Calibri"/>
              </a:rPr>
              <a:t>REROUTE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502920" y="384048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9525">
            <a:solidFill>
              <a:srgbClr val="E6ED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06121F"/>
                </a:solidFill>
                <a:latin typeface="Calibri"/>
              </a:rPr>
              <a:t>MANAGER REVIEW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1874520" y="3995928"/>
            <a:ext cx="54864" cy="0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Rounded Rectangle 17440"/>
          <p:cNvSpPr/>
          <p:nvPr/>
        </p:nvSpPr>
        <p:spPr>
          <a:xfrm>
            <a:off x="1947672" y="384048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E6EDF6"/>
                </a:solidFill>
                <a:latin typeface="Calibri"/>
              </a:rPr>
              <a:t>DRIVER NAVIGATION</a:t>
            </a:r>
          </a:p>
        </p:txBody>
      </p:sp>
      <p:cxnSp>
        <p:nvCxnSpPr>
          <p:cNvPr id="17442" name="Connector 17441"/>
          <p:cNvCxnSpPr/>
          <p:nvPr/>
        </p:nvCxnSpPr>
        <p:spPr>
          <a:xfrm>
            <a:off x="3429000" y="3995928"/>
            <a:ext cx="54864" cy="0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3" name="Rounded Rectangle 17442"/>
          <p:cNvSpPr/>
          <p:nvPr/>
        </p:nvSpPr>
        <p:spPr>
          <a:xfrm>
            <a:off x="3502152" y="384048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E6EDF6"/>
                </a:solidFill>
                <a:latin typeface="Calibri"/>
              </a:rPr>
              <a:t>ROUTE-AHEAD MONITOR (60 s)</a:t>
            </a:r>
          </a:p>
        </p:txBody>
      </p:sp>
      <p:cxnSp>
        <p:nvCxnSpPr>
          <p:cNvPr id="17444" name="Connector 17443"/>
          <p:cNvCxnSpPr/>
          <p:nvPr/>
        </p:nvCxnSpPr>
        <p:spPr>
          <a:xfrm>
            <a:off x="5349240" y="3995928"/>
            <a:ext cx="54864" cy="0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5" name="Rounded Rectangle 17444"/>
          <p:cNvSpPr/>
          <p:nvPr/>
        </p:nvSpPr>
        <p:spPr>
          <a:xfrm>
            <a:off x="5422392" y="3840480"/>
            <a:ext cx="1426464" cy="310896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E6EDF6"/>
                </a:solidFill>
                <a:latin typeface="Calibri"/>
              </a:rPr>
              <a:t>CONDITIONS CHANGE?</a:t>
            </a:r>
          </a:p>
        </p:txBody>
      </p:sp>
      <p:cxnSp>
        <p:nvCxnSpPr>
          <p:cNvPr id="17446" name="Connector 17445"/>
          <p:cNvCxnSpPr/>
          <p:nvPr/>
        </p:nvCxnSpPr>
        <p:spPr>
          <a:xfrm>
            <a:off x="6867144" y="3995928"/>
            <a:ext cx="54864" cy="0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7" name="Rounded Rectangle 17446"/>
          <p:cNvSpPr/>
          <p:nvPr/>
        </p:nvSpPr>
        <p:spPr>
          <a:xfrm>
            <a:off x="6940296" y="3840480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E6EDF6"/>
                </a:solidFill>
                <a:latin typeface="Calibri"/>
              </a:rPr>
              <a:t>REASSESS / REROUTE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502920" y="4242816"/>
            <a:ext cx="786384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Re-scored every 60 s on the road ahead. A reroute is proposed to the manager, never applied silently.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365760" y="4791456"/>
            <a:ext cx="8138160" cy="1499616"/>
          </a:xfrm>
          <a:prstGeom prst="roundRect">
            <a:avLst>
              <a:gd name="adj" fmla="val 4878"/>
            </a:avLst>
          </a:prstGeom>
          <a:solidFill>
            <a:srgbClr val="111C2E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0" name="TextBox 17449"/>
          <p:cNvSpPr txBox="1"/>
          <p:nvPr/>
        </p:nvSpPr>
        <p:spPr>
          <a:xfrm>
            <a:off x="530352" y="4864608"/>
            <a:ext cx="7808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38BDF8"/>
                </a:solidFill>
                <a:latin typeface="Calibri"/>
              </a:rPr>
              <a:t>BUILT WITH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530352" y="5175504"/>
            <a:ext cx="7808975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00" b="1">
                <a:solidFill>
                  <a:srgbClr val="64748B"/>
                </a:solidFill>
                <a:latin typeface="Calibri"/>
              </a:rPr>
              <a:t>CLIENTS  </a:t>
            </a:r>
            <a:r>
              <a:rPr sz="1000" b="0">
                <a:solidFill>
                  <a:srgbClr val="E6EDF6"/>
                </a:solidFill>
                <a:latin typeface="Calibri"/>
              </a:rPr>
              <a:t>Manager console (React + TS) · Driver app (React Native / Expo, Android) · one login, server-decided role, offline package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00" b="1">
                <a:solidFill>
                  <a:srgbClr val="64748B"/>
                </a:solidFill>
                <a:latin typeface="Calibri"/>
              </a:rPr>
              <a:t>STACK  </a:t>
            </a:r>
            <a:r>
              <a:rPr sz="1000" b="0">
                <a:solidFill>
                  <a:srgbClr val="E6EDF6"/>
                </a:solidFill>
                <a:latin typeface="Calibri"/>
              </a:rPr>
              <a:t>FastAPI · PostgreSQL / PostGIS (Supabase) · React · React Native / Expo · OSRM · OpenStreetMap · Gemini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8613648" y="1115568"/>
            <a:ext cx="3163824" cy="5175504"/>
          </a:xfrm>
          <a:prstGeom prst="roundRect">
            <a:avLst>
              <a:gd name="adj" fmla="val 2312"/>
            </a:avLst>
          </a:prstGeom>
          <a:solidFill>
            <a:srgbClr val="111C2E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3" name="TextBox 17452"/>
          <p:cNvSpPr txBox="1"/>
          <p:nvPr/>
        </p:nvSpPr>
        <p:spPr>
          <a:xfrm>
            <a:off x="8778240" y="1188720"/>
            <a:ext cx="28346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38BDF8"/>
                </a:solidFill>
                <a:latin typeface="Calibri"/>
              </a:rPr>
              <a:t>WHO DECIDES</a:t>
            </a:r>
            <a:r>
              <a:rPr sz="950" b="0">
                <a:solidFill>
                  <a:srgbClr val="64748B"/>
                </a:solidFill>
                <a:latin typeface="Calibri"/>
              </a:rPr>
              <a:t>   AI is supporting</a:t>
            </a:r>
          </a:p>
        </p:txBody>
      </p:sp>
      <p:sp>
        <p:nvSpPr>
          <p:cNvPr id="17454" name="Rectangle 17453"/>
          <p:cNvSpPr/>
          <p:nvPr/>
        </p:nvSpPr>
        <p:spPr>
          <a:xfrm>
            <a:off x="8759952" y="1591056"/>
            <a:ext cx="45720" cy="6217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5" name="TextBox 17454"/>
          <p:cNvSpPr txBox="1"/>
          <p:nvPr/>
        </p:nvSpPr>
        <p:spPr>
          <a:xfrm>
            <a:off x="8906256" y="1572768"/>
            <a:ext cx="27432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E6EDF6"/>
                </a:solidFill>
                <a:latin typeface="Calibri"/>
              </a:rPr>
              <a:t>DETERMINISTIC SAFETY ENGINE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3A4BC"/>
                </a:solidFill>
                <a:latin typeface="Calibri"/>
              </a:rPr>
              <a:t>makes every operational decision</a:t>
            </a:r>
          </a:p>
        </p:txBody>
      </p:sp>
      <p:sp>
        <p:nvSpPr>
          <p:cNvPr id="17456" name="Rectangle 17455"/>
          <p:cNvSpPr/>
          <p:nvPr/>
        </p:nvSpPr>
        <p:spPr>
          <a:xfrm>
            <a:off x="8759952" y="2414016"/>
            <a:ext cx="45720" cy="6217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7" name="TextBox 17456"/>
          <p:cNvSpPr txBox="1"/>
          <p:nvPr/>
        </p:nvSpPr>
        <p:spPr>
          <a:xfrm>
            <a:off x="8906256" y="2395728"/>
            <a:ext cx="27432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E6EDF6"/>
                </a:solidFill>
                <a:latin typeface="Calibri"/>
              </a:rPr>
              <a:t>GEMINI / OPENROUTER (LLM)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3A4BC"/>
                </a:solidFill>
                <a:latin typeface="Calibri"/>
              </a:rPr>
              <a:t>explains the decision in the driver's language — never decides</a:t>
            </a:r>
          </a:p>
        </p:txBody>
      </p:sp>
      <p:sp>
        <p:nvSpPr>
          <p:cNvPr id="17458" name="Rectangle 17457"/>
          <p:cNvSpPr/>
          <p:nvPr/>
        </p:nvSpPr>
        <p:spPr>
          <a:xfrm>
            <a:off x="8759952" y="3236976"/>
            <a:ext cx="45720" cy="62179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9" name="TextBox 17458"/>
          <p:cNvSpPr txBox="1"/>
          <p:nvPr/>
        </p:nvSpPr>
        <p:spPr>
          <a:xfrm>
            <a:off x="8906256" y="3218688"/>
            <a:ext cx="27432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E6EDF6"/>
                </a:solidFill>
                <a:latin typeface="Calibri"/>
              </a:rPr>
              <a:t>EXPERIMENTAL ML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3A4BC"/>
                </a:solidFill>
                <a:latin typeface="Calibri"/>
              </a:rPr>
              <a:t>research channel only; held outside routing by the safety gate</a:t>
            </a:r>
          </a:p>
        </p:txBody>
      </p:sp>
      <p:cxnSp>
        <p:nvCxnSpPr>
          <p:cNvPr id="17460" name="Connector 17459"/>
          <p:cNvCxnSpPr/>
          <p:nvPr/>
        </p:nvCxnSpPr>
        <p:spPr>
          <a:xfrm>
            <a:off x="8759952" y="4059935"/>
            <a:ext cx="2871216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1" name="TextBox 17460"/>
          <p:cNvSpPr txBox="1"/>
          <p:nvPr/>
        </p:nvSpPr>
        <p:spPr>
          <a:xfrm>
            <a:off x="8759952" y="4133087"/>
            <a:ext cx="2871216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64748B"/>
                </a:solidFill>
                <a:latin typeface="Calibri"/>
              </a:rPr>
              <a:t>GOVERNANCE CHAIN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8759952" y="4443984"/>
            <a:ext cx="2871216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E6EDF6"/>
                </a:solidFill>
                <a:latin typeface="Calibri"/>
              </a:rPr>
              <a:t>Verified evidence</a:t>
            </a:r>
          </a:p>
        </p:txBody>
      </p:sp>
      <p:cxnSp>
        <p:nvCxnSpPr>
          <p:cNvPr id="17463" name="Connector 17462"/>
          <p:cNvCxnSpPr/>
          <p:nvPr/>
        </p:nvCxnSpPr>
        <p:spPr>
          <a:xfrm>
            <a:off x="10195560" y="4745736"/>
            <a:ext cx="0" cy="109728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4" name="Rounded Rectangle 17463"/>
          <p:cNvSpPr/>
          <p:nvPr/>
        </p:nvSpPr>
        <p:spPr>
          <a:xfrm>
            <a:off x="8759952" y="4864608"/>
            <a:ext cx="2871216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E6EDF6"/>
                </a:solidFill>
                <a:latin typeface="Calibri"/>
              </a:rPr>
              <a:t>Deterministic safety policy</a:t>
            </a:r>
          </a:p>
        </p:txBody>
      </p:sp>
      <p:cxnSp>
        <p:nvCxnSpPr>
          <p:cNvPr id="17465" name="Connector 17464"/>
          <p:cNvCxnSpPr/>
          <p:nvPr/>
        </p:nvCxnSpPr>
        <p:spPr>
          <a:xfrm>
            <a:off x="10195560" y="5166360"/>
            <a:ext cx="0" cy="109728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6" name="Rounded Rectangle 17465"/>
          <p:cNvSpPr/>
          <p:nvPr/>
        </p:nvSpPr>
        <p:spPr>
          <a:xfrm>
            <a:off x="8759952" y="5285232"/>
            <a:ext cx="2871216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E6EDF6"/>
                </a:solidFill>
                <a:latin typeface="Calibri"/>
              </a:rPr>
              <a:t>Manager governance</a:t>
            </a:r>
          </a:p>
        </p:txBody>
      </p:sp>
      <p:cxnSp>
        <p:nvCxnSpPr>
          <p:cNvPr id="17467" name="Connector 17466"/>
          <p:cNvCxnSpPr/>
          <p:nvPr/>
        </p:nvCxnSpPr>
        <p:spPr>
          <a:xfrm>
            <a:off x="10195560" y="5586984"/>
            <a:ext cx="0" cy="109728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8" name="Rounded Rectangle 17467"/>
          <p:cNvSpPr/>
          <p:nvPr/>
        </p:nvSpPr>
        <p:spPr>
          <a:xfrm>
            <a:off x="8759952" y="5705856"/>
            <a:ext cx="2871216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E6EDF6"/>
                </a:solidFill>
                <a:latin typeface="Calibri"/>
              </a:rPr>
              <a:t>Driver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E6EDF6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-18288" y="1060704"/>
            <a:ext cx="12228545" cy="529437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457200" y="1097280"/>
            <a:ext cx="8686800" cy="4023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E6EDF6"/>
                </a:solidFill>
                <a:latin typeface="Calibri"/>
              </a:rPr>
              <a:t>NOT A CONCEPT. A WORKING END-TO-END PROTOTYPE.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57200" y="1572768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9525">
            <a:solidFill>
              <a:srgbClr val="E6ED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06121F"/>
                </a:solidFill>
                <a:latin typeface="Calibri"/>
              </a:rPr>
              <a:t>PLAN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1207008" y="1728216"/>
            <a:ext cx="64008" cy="0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Rounded Rectangle 17413"/>
          <p:cNvSpPr/>
          <p:nvPr/>
        </p:nvSpPr>
        <p:spPr>
          <a:xfrm>
            <a:off x="1289304" y="157276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9525">
            <a:solidFill>
              <a:srgbClr val="E6ED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06121F"/>
                </a:solidFill>
                <a:latin typeface="Calibri"/>
              </a:rPr>
              <a:t>REVIEW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2176272" y="1728216"/>
            <a:ext cx="64008" cy="0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Rounded Rectangle 17415"/>
          <p:cNvSpPr/>
          <p:nvPr/>
        </p:nvSpPr>
        <p:spPr>
          <a:xfrm>
            <a:off x="2258568" y="157276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E6EDF6"/>
                </a:solidFill>
                <a:latin typeface="Calibri"/>
              </a:rPr>
              <a:t>DISPATCH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3282696" y="1728216"/>
            <a:ext cx="64008" cy="0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Rounded Rectangle 17417"/>
          <p:cNvSpPr/>
          <p:nvPr/>
        </p:nvSpPr>
        <p:spPr>
          <a:xfrm>
            <a:off x="3364992" y="157276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E6EDF6"/>
                </a:solidFill>
                <a:latin typeface="Calibri"/>
              </a:rPr>
              <a:t>ACCEPT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4297680" y="1728216"/>
            <a:ext cx="64008" cy="0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Rounded Rectangle 17419"/>
          <p:cNvSpPr/>
          <p:nvPr/>
        </p:nvSpPr>
        <p:spPr>
          <a:xfrm>
            <a:off x="4379976" y="157276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E6EDF6"/>
                </a:solidFill>
                <a:latin typeface="Calibri"/>
              </a:rPr>
              <a:t>TRUCK VERIFY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5632704" y="1728216"/>
            <a:ext cx="64008" cy="0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Rounded Rectangle 17421"/>
          <p:cNvSpPr/>
          <p:nvPr/>
        </p:nvSpPr>
        <p:spPr>
          <a:xfrm>
            <a:off x="5715000" y="157276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E6EDF6"/>
                </a:solidFill>
                <a:latin typeface="Calibri"/>
              </a:rPr>
              <a:t>NAVIGATE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6784848" y="1728216"/>
            <a:ext cx="64008" cy="0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Rounded Rectangle 17423"/>
          <p:cNvSpPr/>
          <p:nvPr/>
        </p:nvSpPr>
        <p:spPr>
          <a:xfrm>
            <a:off x="6867144" y="157276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E6EDF6"/>
                </a:solidFill>
                <a:latin typeface="Calibri"/>
              </a:rPr>
              <a:t>OFF-ROUTE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7936992" y="1728216"/>
            <a:ext cx="64008" cy="0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6" name="Rounded Rectangle 17425"/>
          <p:cNvSpPr/>
          <p:nvPr/>
        </p:nvSpPr>
        <p:spPr>
          <a:xfrm>
            <a:off x="8019288" y="1572768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9525">
            <a:solidFill>
              <a:srgbClr val="E6ED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06121F"/>
                </a:solidFill>
                <a:latin typeface="Calibri"/>
              </a:rPr>
              <a:t>MANAGER REROUTE APPROVAL</a:t>
            </a:r>
          </a:p>
        </p:txBody>
      </p:sp>
      <p:cxnSp>
        <p:nvCxnSpPr>
          <p:cNvPr id="17427" name="Connector 17426"/>
          <p:cNvCxnSpPr/>
          <p:nvPr/>
        </p:nvCxnSpPr>
        <p:spPr>
          <a:xfrm>
            <a:off x="10094976" y="1728216"/>
            <a:ext cx="64008" cy="0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8" name="Rounded Rectangle 17427"/>
          <p:cNvSpPr/>
          <p:nvPr/>
        </p:nvSpPr>
        <p:spPr>
          <a:xfrm>
            <a:off x="10177272" y="157276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9525">
            <a:solidFill>
              <a:srgbClr val="E6ED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06121F"/>
                </a:solidFill>
                <a:latin typeface="Calibri"/>
              </a:rPr>
              <a:t>DELIVERY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365760" y="2029968"/>
            <a:ext cx="5669280" cy="3840480"/>
          </a:xfrm>
          <a:prstGeom prst="roundRect">
            <a:avLst>
              <a:gd name="adj" fmla="val 1904"/>
            </a:avLst>
          </a:prstGeom>
          <a:solidFill>
            <a:srgbClr val="111C2E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TextBox 17429"/>
          <p:cNvSpPr txBox="1"/>
          <p:nvPr/>
        </p:nvSpPr>
        <p:spPr>
          <a:xfrm>
            <a:off x="530352" y="2103120"/>
            <a:ext cx="534009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38BDF8"/>
                </a:solidFill>
                <a:latin typeface="Calibri"/>
              </a:rPr>
              <a:t>REAL SCREENS FROM THE CERTIFIED RUN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98347" y="2418588"/>
            <a:ext cx="2151126" cy="3099815"/>
          </a:xfrm>
          <a:prstGeom prst="roundRect">
            <a:avLst>
              <a:gd name="adj" fmla="val 2550"/>
            </a:avLst>
          </a:prstGeom>
          <a:solidFill>
            <a:srgbClr val="FFFFF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2" name="Picture 17431" descr="mg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450592"/>
            <a:ext cx="2087118" cy="3035808"/>
          </a:xfrm>
          <a:prstGeom prst="rect">
            <a:avLst/>
          </a:prstGeom>
        </p:spPr>
      </p:pic>
      <p:sp>
        <p:nvSpPr>
          <p:cNvPr id="17433" name="Rounded Rectangle 17432"/>
          <p:cNvSpPr/>
          <p:nvPr/>
        </p:nvSpPr>
        <p:spPr>
          <a:xfrm>
            <a:off x="2768346" y="2418588"/>
            <a:ext cx="1430951" cy="3099815"/>
          </a:xfrm>
          <a:prstGeom prst="roundRect">
            <a:avLst>
              <a:gd name="adj" fmla="val 3834"/>
            </a:avLst>
          </a:prstGeom>
          <a:solidFill>
            <a:srgbClr val="FFFFF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4" name="Picture 17433" descr="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0350" y="2450592"/>
            <a:ext cx="1366943" cy="3035808"/>
          </a:xfrm>
          <a:prstGeom prst="rect">
            <a:avLst/>
          </a:prstGeom>
        </p:spPr>
      </p:pic>
      <p:sp>
        <p:nvSpPr>
          <p:cNvPr id="17435" name="Rounded Rectangle 17434"/>
          <p:cNvSpPr/>
          <p:nvPr/>
        </p:nvSpPr>
        <p:spPr>
          <a:xfrm>
            <a:off x="4318169" y="2418588"/>
            <a:ext cx="1430951" cy="3099815"/>
          </a:xfrm>
          <a:prstGeom prst="roundRect">
            <a:avLst>
              <a:gd name="adj" fmla="val 3834"/>
            </a:avLst>
          </a:prstGeom>
          <a:solidFill>
            <a:srgbClr val="FFFFF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6" name="Picture 17435" descr="na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0173" y="2450592"/>
            <a:ext cx="1366943" cy="3035808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530352" y="5541264"/>
            <a:ext cx="2087118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Manager · route review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2800350" y="5541264"/>
            <a:ext cx="1366943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Driver · truck check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4350173" y="5541264"/>
            <a:ext cx="1366943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Driver · navigation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6172200" y="2029968"/>
            <a:ext cx="5605272" cy="3840480"/>
          </a:xfrm>
          <a:prstGeom prst="roundRect">
            <a:avLst>
              <a:gd name="adj" fmla="val 1904"/>
            </a:avLst>
          </a:prstGeom>
          <a:solidFill>
            <a:srgbClr val="111C2E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1" name="TextBox 17440"/>
          <p:cNvSpPr txBox="1"/>
          <p:nvPr/>
        </p:nvSpPr>
        <p:spPr>
          <a:xfrm>
            <a:off x="6336792" y="2103120"/>
            <a:ext cx="52760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38BDF8"/>
                </a:solidFill>
                <a:latin typeface="Calibri"/>
              </a:rPr>
              <a:t>PROOF</a:t>
            </a:r>
            <a:r>
              <a:rPr sz="950" b="0">
                <a:solidFill>
                  <a:srgbClr val="64748B"/>
                </a:solidFill>
                <a:latin typeface="Calibri"/>
              </a:rPr>
              <a:t>   physical Android phone · hosted backend · real road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6336792" y="2487168"/>
            <a:ext cx="5276088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6EDF6"/>
                </a:solidFill>
                <a:latin typeface="Calibri"/>
              </a:rPr>
              <a:t>Run end to end on a physical Android phone, hosted backend, real road.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6336792" y="3127248"/>
            <a:ext cx="859536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12/12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7269479" y="3127248"/>
            <a:ext cx="43434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DF6"/>
                </a:solidFill>
                <a:latin typeface="Calibri"/>
              </a:rPr>
              <a:t>physical judge-flow steps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6336792" y="3529584"/>
            <a:ext cx="859536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9/9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7269479" y="3529584"/>
            <a:ext cx="43434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E6EDF6"/>
                </a:solidFill>
                <a:latin typeface="Calibri"/>
              </a:rPr>
              <a:t>physical role-flow steps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336792" y="3950207"/>
            <a:ext cx="527608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38BDF8"/>
                </a:solidFill>
                <a:latin typeface="Calibri"/>
              </a:rPr>
              <a:t>1138+ </a:t>
            </a:r>
            <a:r>
              <a:rPr sz="1050" b="0">
                <a:solidFill>
                  <a:srgbClr val="E6EDF6"/>
                </a:solidFill>
                <a:latin typeface="Calibri"/>
              </a:rPr>
              <a:t>backend  ·  </a:t>
            </a:r>
            <a:r>
              <a:rPr sz="1300" b="1">
                <a:solidFill>
                  <a:srgbClr val="38BDF8"/>
                </a:solidFill>
                <a:latin typeface="Calibri"/>
              </a:rPr>
              <a:t>621+ </a:t>
            </a:r>
            <a:r>
              <a:rPr sz="1050" b="0">
                <a:solidFill>
                  <a:srgbClr val="E6EDF6"/>
                </a:solidFill>
                <a:latin typeface="Calibri"/>
              </a:rPr>
              <a:t>driver  ·  </a:t>
            </a:r>
            <a:r>
              <a:rPr sz="1300" b="1">
                <a:solidFill>
                  <a:srgbClr val="38BDF8"/>
                </a:solidFill>
                <a:latin typeface="Calibri"/>
              </a:rPr>
              <a:t>170+ </a:t>
            </a:r>
            <a:r>
              <a:rPr sz="1050" b="0">
                <a:solidFill>
                  <a:srgbClr val="E6EDF6"/>
                </a:solidFill>
                <a:latin typeface="Calibri"/>
              </a:rPr>
              <a:t>manager tests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6336792" y="4389120"/>
            <a:ext cx="5276088" cy="34747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50" b="1">
                <a:solidFill>
                  <a:srgbClr val="06121F"/>
                </a:solidFill>
                <a:latin typeface="Calibri"/>
              </a:rPr>
              <a:t>PHYSICAL ANDROID · CERTIFIED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6336792" y="4846320"/>
            <a:ext cx="5276088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64748B"/>
                </a:solidFill>
                <a:latin typeface="Calibri"/>
              </a:rPr>
              <a:t>Canonical demo  </a:t>
            </a:r>
            <a:r>
              <a:rPr sz="1100" b="1">
                <a:solidFill>
                  <a:srgbClr val="E6EDF6"/>
                </a:solidFill>
                <a:latin typeface="Calibri"/>
              </a:rPr>
              <a:t>Guwahati → Shillong · ≈ 98.8 km real route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457200" y="5943600"/>
            <a:ext cx="1129284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Calibri"/>
              </a:rPr>
              <a:t>KNOWN LIMITS → MITIGATION   </a:t>
            </a:r>
            <a:r>
              <a:rPr sz="900" b="0">
                <a:solidFill>
                  <a:srgbClr val="93A4BC"/>
                </a:solidFill>
                <a:latin typeface="Calibri"/>
              </a:rPr>
              <a:t>Cold start → warm /health first  ·  rate limits → cached evidence + explicit UNKNOWN  ·  push needs Firebase → in-app alerts work  ·  experimental ML → outside routing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E6EDF6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-18288" y="1060704"/>
            <a:ext cx="12228545" cy="529437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457200" y="1133856"/>
            <a:ext cx="8046720" cy="7680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93A4BC"/>
                </a:solidFill>
                <a:latin typeface="Calibri"/>
              </a:rPr>
              <a:t>RASTA AI does not ask only </a:t>
            </a:r>
            <a:r>
              <a:rPr sz="1800" b="1">
                <a:solidFill>
                  <a:srgbClr val="E6EDF6"/>
                </a:solidFill>
                <a:latin typeface="Calibri"/>
              </a:rPr>
              <a:t>“Which road is shortest?”</a:t>
            </a:r>
            <a:r>
              <a:rPr sz="1800" b="0">
                <a:solidFill>
                  <a:srgbClr val="93A4BC"/>
                </a:solidFill>
                <a:latin typeface="Calibri"/>
              </a:rPr>
              <a:t>  It asks  </a:t>
            </a:r>
            <a:r>
              <a:rPr sz="1800" b="1">
                <a:solidFill>
                  <a:srgbClr val="38BDF8"/>
                </a:solidFill>
                <a:latin typeface="Calibri"/>
              </a:rPr>
              <a:t>“Can this truck reliably use this corridor now?”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1956816"/>
            <a:ext cx="804672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34D399"/>
                </a:solidFill>
                <a:latin typeface="Calibri"/>
              </a:rPr>
              <a:t>FOOD  ·  MEDICINE  ·  FUEL  ·  RELIEF SUPPLIES</a:t>
            </a:r>
            <a:r>
              <a:rPr sz="1100" b="0">
                <a:solidFill>
                  <a:srgbClr val="93A4BC"/>
                </a:solidFill>
                <a:latin typeface="Calibri"/>
              </a:rPr>
              <a:t>   — essential logistics for hill communities, decided on evidence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84048" y="2340864"/>
            <a:ext cx="8183879" cy="1463040"/>
          </a:xfrm>
          <a:prstGeom prst="roundRect">
            <a:avLst>
              <a:gd name="adj" fmla="val 5000"/>
            </a:avLst>
          </a:prstGeom>
          <a:solidFill>
            <a:srgbClr val="111C2E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548640" y="2414016"/>
            <a:ext cx="785469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38BDF8"/>
                </a:solidFill>
                <a:latin typeface="Calibri"/>
              </a:rPr>
              <a:t>WHO BENEFITS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530352" y="2779776"/>
            <a:ext cx="1865376" cy="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TextBox 17415"/>
          <p:cNvSpPr txBox="1"/>
          <p:nvPr/>
        </p:nvSpPr>
        <p:spPr>
          <a:xfrm>
            <a:off x="530352" y="2834640"/>
            <a:ext cx="1865376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Calibri"/>
              </a:rPr>
              <a:t>FLEET MANAGERS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E6EDF6"/>
                </a:solidFill>
                <a:latin typeface="Calibri"/>
              </a:rPr>
              <a:t>Usability and uncertainty visible before dispatch. Auditable.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2542032" y="2779776"/>
            <a:ext cx="1865376" cy="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TextBox 17417"/>
          <p:cNvSpPr txBox="1"/>
          <p:nvPr/>
        </p:nvSpPr>
        <p:spPr>
          <a:xfrm>
            <a:off x="2542032" y="2834640"/>
            <a:ext cx="1865376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Calibri"/>
              </a:rPr>
              <a:t>DRIVERS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E6EDF6"/>
                </a:solidFill>
                <a:latin typeface="Calibri"/>
              </a:rPr>
              <a:t>Danger context, emergency support, 23 languages.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4553712" y="2779776"/>
            <a:ext cx="1865376" cy="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TextBox 17419"/>
          <p:cNvSpPr txBox="1"/>
          <p:nvPr/>
        </p:nvSpPr>
        <p:spPr>
          <a:xfrm>
            <a:off x="4553712" y="2834640"/>
            <a:ext cx="1865376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Calibri"/>
              </a:rPr>
              <a:t>REMOTE COMMUNITIES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E6EDF6"/>
                </a:solidFill>
                <a:latin typeface="Calibri"/>
              </a:rPr>
              <a:t>Resilient access to food, medicine, fuel, relief.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6565392" y="2779776"/>
            <a:ext cx="1865376" cy="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TextBox 17421"/>
          <p:cNvSpPr txBox="1"/>
          <p:nvPr/>
        </p:nvSpPr>
        <p:spPr>
          <a:xfrm>
            <a:off x="6565392" y="2834640"/>
            <a:ext cx="1865376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Calibri"/>
              </a:rPr>
              <a:t>GOVERNMENT / OPS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E6EDF6"/>
                </a:solidFill>
                <a:latin typeface="Calibri"/>
              </a:rPr>
              <a:t>Auditable evidence and disruption per corridor.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84048" y="3895344"/>
            <a:ext cx="8183879" cy="1499616"/>
          </a:xfrm>
          <a:prstGeom prst="roundRect">
            <a:avLst>
              <a:gd name="adj" fmla="val 4878"/>
            </a:avLst>
          </a:prstGeom>
          <a:solidFill>
            <a:srgbClr val="111C2E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TextBox 17423"/>
          <p:cNvSpPr txBox="1"/>
          <p:nvPr/>
        </p:nvSpPr>
        <p:spPr>
          <a:xfrm>
            <a:off x="548640" y="3968496"/>
            <a:ext cx="785469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38BDF8"/>
                </a:solidFill>
                <a:latin typeface="Calibri"/>
              </a:rPr>
              <a:t>DEMONSTRATED TODAY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66928" y="4279392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23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1481328" y="4279392"/>
            <a:ext cx="292608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E6EDF6"/>
                </a:solidFill>
                <a:latin typeface="Calibri"/>
              </a:rPr>
              <a:t>selectable languages, explicit fallback status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66928" y="4645152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11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1481328" y="4645152"/>
            <a:ext cx="292608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E6EDF6"/>
                </a:solidFill>
                <a:latin typeface="Calibri"/>
              </a:rPr>
              <a:t>route factors in every decision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566928" y="5010912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60 s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1481328" y="5010912"/>
            <a:ext cx="292608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E6EDF6"/>
                </a:solidFill>
                <a:latin typeface="Calibri"/>
              </a:rPr>
              <a:t>route-ahead monitor while driving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544568" y="4279392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12/12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5458968" y="4279392"/>
            <a:ext cx="292608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E6EDF6"/>
                </a:solidFill>
                <a:latin typeface="Calibri"/>
              </a:rPr>
              <a:t>judge-flow steps certified on a physical phone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4544568" y="4645152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100 %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5458968" y="4645152"/>
            <a:ext cx="292608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E6EDF6"/>
                </a:solidFill>
                <a:latin typeface="Calibri"/>
              </a:rPr>
              <a:t>of reroutes reviewed by a human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544568" y="5010912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38BDF8"/>
                </a:solidFill>
                <a:latin typeface="Calibri"/>
              </a:rPr>
              <a:t>0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5458968" y="5010912"/>
            <a:ext cx="292608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E6EDF6"/>
                </a:solidFill>
                <a:latin typeface="Calibri"/>
              </a:rPr>
              <a:t>unknown factors counted as safe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384048" y="5486400"/>
            <a:ext cx="8183879" cy="804672"/>
          </a:xfrm>
          <a:prstGeom prst="roundRect">
            <a:avLst>
              <a:gd name="adj" fmla="val 9090"/>
            </a:avLst>
          </a:prstGeom>
          <a:solidFill>
            <a:srgbClr val="111C2E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8" name="TextBox 17437"/>
          <p:cNvSpPr txBox="1"/>
          <p:nvPr/>
        </p:nvSpPr>
        <p:spPr>
          <a:xfrm>
            <a:off x="548640" y="5559552"/>
            <a:ext cx="785469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38BDF8"/>
                </a:solidFill>
                <a:latin typeface="Calibri"/>
              </a:rPr>
              <a:t>HUMAN GOVERNANCE</a:t>
            </a:r>
            <a:r>
              <a:rPr sz="950" b="0">
                <a:solidFill>
                  <a:srgbClr val="64748B"/>
                </a:solidFill>
                <a:latin typeface="Calibri"/>
              </a:rPr>
              <a:t>   AI has no uncontrolled authority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548640" y="587044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9525">
            <a:solidFill>
              <a:srgbClr val="E6ED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06121F"/>
                </a:solidFill>
                <a:latin typeface="Calibri"/>
              </a:rPr>
              <a:t>Verified evidence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2350008" y="6025896"/>
            <a:ext cx="201167" cy="0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Rounded Rectangle 17440"/>
          <p:cNvSpPr/>
          <p:nvPr/>
        </p:nvSpPr>
        <p:spPr>
          <a:xfrm>
            <a:off x="2569464" y="587044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E6EDF6"/>
                </a:solidFill>
                <a:latin typeface="Calibri"/>
              </a:rPr>
              <a:t>Deterministic safety policy</a:t>
            </a:r>
          </a:p>
        </p:txBody>
      </p:sp>
      <p:cxnSp>
        <p:nvCxnSpPr>
          <p:cNvPr id="17442" name="Connector 17441"/>
          <p:cNvCxnSpPr/>
          <p:nvPr/>
        </p:nvCxnSpPr>
        <p:spPr>
          <a:xfrm>
            <a:off x="4370831" y="6025896"/>
            <a:ext cx="201169" cy="0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3" name="Rounded Rectangle 17442"/>
          <p:cNvSpPr/>
          <p:nvPr/>
        </p:nvSpPr>
        <p:spPr>
          <a:xfrm>
            <a:off x="4590288" y="587044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E6EDF6"/>
                </a:solidFill>
                <a:latin typeface="Calibri"/>
              </a:rPr>
              <a:t>Manager governance</a:t>
            </a:r>
          </a:p>
        </p:txBody>
      </p:sp>
      <p:cxnSp>
        <p:nvCxnSpPr>
          <p:cNvPr id="17444" name="Connector 17443"/>
          <p:cNvCxnSpPr/>
          <p:nvPr/>
        </p:nvCxnSpPr>
        <p:spPr>
          <a:xfrm>
            <a:off x="6391655" y="6025896"/>
            <a:ext cx="201169" cy="0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5" name="Rounded Rectangle 17444"/>
          <p:cNvSpPr/>
          <p:nvPr/>
        </p:nvSpPr>
        <p:spPr>
          <a:xfrm>
            <a:off x="6611112" y="587044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E6EDF6"/>
                </a:solidFill>
                <a:latin typeface="Calibri"/>
              </a:rPr>
              <a:t>Driver action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8641080" y="1115568"/>
            <a:ext cx="3136392" cy="5175504"/>
          </a:xfrm>
          <a:prstGeom prst="roundRect">
            <a:avLst>
              <a:gd name="adj" fmla="val 2332"/>
            </a:avLst>
          </a:prstGeom>
          <a:solidFill>
            <a:srgbClr val="111C2E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7" name="TextBox 17446"/>
          <p:cNvSpPr txBox="1"/>
          <p:nvPr/>
        </p:nvSpPr>
        <p:spPr>
          <a:xfrm>
            <a:off x="8805672" y="1188720"/>
            <a:ext cx="280720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38BDF8"/>
                </a:solidFill>
                <a:latin typeface="Calibri"/>
              </a:rPr>
              <a:t>REAL SCREENS · APK 1.0.18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8764524" y="1540764"/>
            <a:ext cx="1687324" cy="2350008"/>
          </a:xfrm>
          <a:prstGeom prst="roundRect">
            <a:avLst>
              <a:gd name="adj" fmla="val 3251"/>
            </a:avLst>
          </a:prstGeom>
          <a:solidFill>
            <a:srgbClr val="FFFFF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9" name="Picture 17448" descr="la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28" y="1572768"/>
            <a:ext cx="1623316" cy="2286000"/>
          </a:xfrm>
          <a:prstGeom prst="rect">
            <a:avLst/>
          </a:prstGeom>
        </p:spPr>
      </p:pic>
      <p:sp>
        <p:nvSpPr>
          <p:cNvPr id="17450" name="Rounded Rectangle 17449"/>
          <p:cNvSpPr/>
          <p:nvPr/>
        </p:nvSpPr>
        <p:spPr>
          <a:xfrm>
            <a:off x="10534144" y="1540764"/>
            <a:ext cx="1142181" cy="2350008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1" name="Picture 17450" descr="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6148" y="1572768"/>
            <a:ext cx="1078173" cy="2286000"/>
          </a:xfrm>
          <a:prstGeom prst="rect">
            <a:avLst/>
          </a:prstGeom>
        </p:spPr>
      </p:pic>
      <p:sp>
        <p:nvSpPr>
          <p:cNvPr id="17452" name="TextBox 17451"/>
          <p:cNvSpPr txBox="1"/>
          <p:nvPr/>
        </p:nvSpPr>
        <p:spPr>
          <a:xfrm>
            <a:off x="8796528" y="3931920"/>
            <a:ext cx="1623316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Driver · 23 languages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10566148" y="3931920"/>
            <a:ext cx="1078173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Manager · mobile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8796528" y="4261104"/>
            <a:ext cx="283464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93A4BC"/>
                </a:solidFill>
                <a:latin typeface="Calibri"/>
              </a:rPr>
              <a:t>APK 1.0.18. One login, server-decided role. Every language shows its status — Verified, Draft or English fallback.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E6EDF6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-18288" y="1060704"/>
            <a:ext cx="12228545" cy="529437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Rounded Rectangle 17410"/>
          <p:cNvSpPr/>
          <p:nvPr/>
        </p:nvSpPr>
        <p:spPr>
          <a:xfrm>
            <a:off x="384048" y="1115568"/>
            <a:ext cx="6766560" cy="4443984"/>
          </a:xfrm>
          <a:prstGeom prst="roundRect">
            <a:avLst>
              <a:gd name="adj" fmla="val 1646"/>
            </a:avLst>
          </a:prstGeom>
          <a:solidFill>
            <a:srgbClr val="111C2E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548640" y="1188720"/>
            <a:ext cx="64373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38BDF8"/>
                </a:solidFill>
                <a:latin typeface="Calibri"/>
              </a:rPr>
              <a:t>RESEARCH / EVIDENCE SOURCES BEHIND THE ROUTE DECISION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530352" y="1572768"/>
            <a:ext cx="3108960" cy="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TextBox 17413"/>
          <p:cNvSpPr txBox="1"/>
          <p:nvPr/>
        </p:nvSpPr>
        <p:spPr>
          <a:xfrm>
            <a:off x="530352" y="1627632"/>
            <a:ext cx="310896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38BDF8"/>
                </a:solidFill>
                <a:latin typeface="Calibri"/>
              </a:rPr>
              <a:t>ROUTING / PLACES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E6EDF6"/>
                </a:solidFill>
                <a:latin typeface="Calibri"/>
              </a:rPr>
              <a:t>OSRM · OpenStreetMap · Nominatim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93A4BC"/>
                </a:solidFill>
                <a:latin typeface="Calibri"/>
              </a:rPr>
              <a:t>Road geometry, alternatives, turn steps.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3858768" y="1572768"/>
            <a:ext cx="3108959" cy="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TextBox 17415"/>
          <p:cNvSpPr txBox="1"/>
          <p:nvPr/>
        </p:nvSpPr>
        <p:spPr>
          <a:xfrm>
            <a:off x="3858768" y="1627632"/>
            <a:ext cx="310896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38BDF8"/>
                </a:solidFill>
                <a:latin typeface="Calibri"/>
              </a:rPr>
              <a:t>WEATHER / TERRAIN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E6EDF6"/>
                </a:solidFill>
                <a:latin typeface="Calibri"/>
              </a:rPr>
              <a:t>Open-Meteo · MET Norway · Copernicus DEM · OpenTopoData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93A4BC"/>
                </a:solidFill>
                <a:latin typeface="Calibri"/>
              </a:rPr>
              <a:t>Forecast along the road; climb, gradient, steep segments.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530352" y="2871215"/>
            <a:ext cx="3108960" cy="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TextBox 17417"/>
          <p:cNvSpPr txBox="1"/>
          <p:nvPr/>
        </p:nvSpPr>
        <p:spPr>
          <a:xfrm>
            <a:off x="530352" y="2926079"/>
            <a:ext cx="310896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38BDF8"/>
                </a:solidFill>
                <a:latin typeface="Calibri"/>
              </a:rPr>
              <a:t>OFFICIAL / FLOOD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E6EDF6"/>
                </a:solidFill>
                <a:latin typeface="Calibri"/>
              </a:rPr>
              <a:t>NDMA SACHET (CAP) · Copernicus GloFAS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93A4BC"/>
                </a:solidFill>
                <a:latin typeface="Calibri"/>
              </a:rPr>
              <a:t>Official warnings with freshness; discharge vs 30-day mean.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3858768" y="2871215"/>
            <a:ext cx="3108959" cy="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TextBox 17419"/>
          <p:cNvSpPr txBox="1"/>
          <p:nvPr/>
        </p:nvSpPr>
        <p:spPr>
          <a:xfrm>
            <a:off x="3858768" y="2926079"/>
            <a:ext cx="310896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38BDF8"/>
                </a:solidFill>
                <a:latin typeface="Calibri"/>
              </a:rPr>
              <a:t>LANDSLIDE HISTORY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E6EDF6"/>
                </a:solidFill>
                <a:latin typeface="Calibri"/>
              </a:rPr>
              <a:t>NASA Global Landslide Catalog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93A4BC"/>
                </a:solidFill>
                <a:latin typeface="Calibri"/>
              </a:rPr>
              <a:t>Historical exposure, 2007–2017, ≤5 km accuracy.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530352" y="4169663"/>
            <a:ext cx="3108960" cy="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TextBox 17421"/>
          <p:cNvSpPr txBox="1"/>
          <p:nvPr/>
        </p:nvSpPr>
        <p:spPr>
          <a:xfrm>
            <a:off x="530352" y="4224527"/>
            <a:ext cx="310896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38BDF8"/>
                </a:solidFill>
                <a:latin typeface="Calibri"/>
              </a:rPr>
              <a:t>AI ASSISTANCE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E6EDF6"/>
                </a:solidFill>
                <a:latin typeface="Calibri"/>
              </a:rPr>
              <a:t>Google Gemini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93A4BC"/>
                </a:solidFill>
                <a:latin typeface="Calibri"/>
              </a:rPr>
              <a:t>Explains in the driver's language. Never safety authority.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3858768" y="4169663"/>
            <a:ext cx="3108959" cy="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TextBox 17423"/>
          <p:cNvSpPr txBox="1"/>
          <p:nvPr/>
        </p:nvSpPr>
        <p:spPr>
          <a:xfrm>
            <a:off x="3858768" y="4224527"/>
            <a:ext cx="310896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38BDF8"/>
                </a:solidFill>
                <a:latin typeface="Calibri"/>
              </a:rPr>
              <a:t>PROBLEM STATEMENT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E6EDF6"/>
                </a:solidFill>
                <a:latin typeface="Calibri"/>
              </a:rPr>
              <a:t>MDoNER · SIH26002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93A4BC"/>
                </a:solidFill>
                <a:latin typeface="Calibri"/>
              </a:rPr>
              <a:t>Smart logistics and accessibility intelligence for the NER.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7360920" y="1115568"/>
            <a:ext cx="4416552" cy="4443984"/>
          </a:xfrm>
          <a:prstGeom prst="roundRect">
            <a:avLst>
              <a:gd name="adj" fmla="val 1656"/>
            </a:avLst>
          </a:prstGeom>
          <a:solidFill>
            <a:srgbClr val="111C2E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6" name="Rectangle 17425"/>
          <p:cNvSpPr/>
          <p:nvPr/>
        </p:nvSpPr>
        <p:spPr>
          <a:xfrm>
            <a:off x="7360920" y="1115568"/>
            <a:ext cx="54864" cy="4443984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TextBox 17426"/>
          <p:cNvSpPr txBox="1"/>
          <p:nvPr/>
        </p:nvSpPr>
        <p:spPr>
          <a:xfrm>
            <a:off x="7525512" y="1188720"/>
            <a:ext cx="408736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64748B"/>
                </a:solidFill>
                <a:latin typeface="Calibri"/>
              </a:rPr>
              <a:t>EXPERIMENTAL LANDSLIDE RESEARCH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7516368" y="1517904"/>
            <a:ext cx="1691640" cy="8595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E6EDF6"/>
                </a:solidFill>
                <a:latin typeface="Calibri"/>
              </a:rPr>
              <a:t>95 %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9208008" y="1554480"/>
            <a:ext cx="2423160" cy="8046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E6EDF6"/>
                </a:solidFill>
                <a:latin typeface="Calibri"/>
              </a:rPr>
              <a:t>RECALL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93A4BC"/>
                </a:solidFill>
                <a:latin typeface="Calibri"/>
              </a:rPr>
              <a:t>NER geographic holdout · 154 events · no NER row in training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7516368" y="2505456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05080F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1" name="TextBox 17430"/>
          <p:cNvSpPr txBox="1"/>
          <p:nvPr/>
        </p:nvSpPr>
        <p:spPr>
          <a:xfrm>
            <a:off x="7516368" y="2560320"/>
            <a:ext cx="4114800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64748B"/>
                </a:solidFill>
                <a:latin typeface="Calibri"/>
              </a:rPr>
              <a:t>SAFETY GATE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NOT DEPLOYED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7516368" y="3310128"/>
            <a:ext cx="411480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F87171"/>
                </a:solidFill>
                <a:latin typeface="Calibri"/>
              </a:rPr>
              <a:t>FPR 50 %</a:t>
            </a:r>
            <a:r>
              <a:rPr sz="1000" b="0">
                <a:solidFill>
                  <a:srgbClr val="93A4BC"/>
                </a:solidFill>
                <a:latin typeface="Calibri"/>
              </a:rPr>
              <a:t>   too high for production deployment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7516368" y="3675887"/>
            <a:ext cx="694944" cy="256032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E6EDF6"/>
                </a:solidFill>
                <a:latin typeface="Calibri"/>
              </a:rPr>
              <a:t>TRAIN</a:t>
            </a:r>
          </a:p>
        </p:txBody>
      </p:sp>
      <p:cxnSp>
        <p:nvCxnSpPr>
          <p:cNvPr id="17434" name="Connector 17433"/>
          <p:cNvCxnSpPr/>
          <p:nvPr/>
        </p:nvCxnSpPr>
        <p:spPr>
          <a:xfrm>
            <a:off x="8229600" y="3803903"/>
            <a:ext cx="36576" cy="0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Rounded Rectangle 17434"/>
          <p:cNvSpPr/>
          <p:nvPr/>
        </p:nvSpPr>
        <p:spPr>
          <a:xfrm>
            <a:off x="8284464" y="3675887"/>
            <a:ext cx="1444752" cy="256032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E6EDF6"/>
                </a:solidFill>
                <a:latin typeface="Calibri"/>
              </a:rPr>
              <a:t>HELD-OUT NER TEST</a:t>
            </a:r>
          </a:p>
        </p:txBody>
      </p:sp>
      <p:cxnSp>
        <p:nvCxnSpPr>
          <p:cNvPr id="17436" name="Connector 17435"/>
          <p:cNvCxnSpPr/>
          <p:nvPr/>
        </p:nvCxnSpPr>
        <p:spPr>
          <a:xfrm>
            <a:off x="9747504" y="3803903"/>
            <a:ext cx="36576" cy="0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7" name="Rounded Rectangle 17436"/>
          <p:cNvSpPr/>
          <p:nvPr/>
        </p:nvSpPr>
        <p:spPr>
          <a:xfrm>
            <a:off x="9802368" y="3675887"/>
            <a:ext cx="1591056" cy="256032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E6EDF6"/>
                </a:solidFill>
                <a:latin typeface="Calibri"/>
              </a:rPr>
              <a:t>USEFUL SIGNAL FOUND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7516368" y="4023359"/>
            <a:ext cx="1773936" cy="256032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E6EDF6"/>
                </a:solidFill>
                <a:latin typeface="Calibri"/>
              </a:rPr>
              <a:t>FALSE POSITIVES TOO HIGH</a:t>
            </a:r>
          </a:p>
        </p:txBody>
      </p:sp>
      <p:cxnSp>
        <p:nvCxnSpPr>
          <p:cNvPr id="17439" name="Connector 17438"/>
          <p:cNvCxnSpPr/>
          <p:nvPr/>
        </p:nvCxnSpPr>
        <p:spPr>
          <a:xfrm>
            <a:off x="9308592" y="4151375"/>
            <a:ext cx="36576" cy="0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0" name="Rounded Rectangle 17439"/>
          <p:cNvSpPr/>
          <p:nvPr/>
        </p:nvSpPr>
        <p:spPr>
          <a:xfrm>
            <a:off x="9363456" y="4023359"/>
            <a:ext cx="969264" cy="256032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E6EDF6"/>
                </a:solidFill>
                <a:latin typeface="Calibri"/>
              </a:rPr>
              <a:t>SAFETY GATE</a:t>
            </a:r>
          </a:p>
        </p:txBody>
      </p:sp>
      <p:cxnSp>
        <p:nvCxnSpPr>
          <p:cNvPr id="17441" name="Connector 17440"/>
          <p:cNvCxnSpPr/>
          <p:nvPr/>
        </p:nvCxnSpPr>
        <p:spPr>
          <a:xfrm>
            <a:off x="10351008" y="4151375"/>
            <a:ext cx="36576" cy="0"/>
          </a:xfrm>
          <a:prstGeom prst="line">
            <a:avLst/>
          </a:prstGeom>
          <a:ln w="15875">
            <a:solidFill>
              <a:srgbClr val="E6ED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2" name="Rounded Rectangle 17441"/>
          <p:cNvSpPr/>
          <p:nvPr/>
        </p:nvSpPr>
        <p:spPr>
          <a:xfrm>
            <a:off x="10405872" y="4023359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E6EDF6"/>
                </a:solidFill>
                <a:latin typeface="Calibri"/>
              </a:rPr>
              <a:t>NOT DEPLOYED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7516368" y="4407408"/>
            <a:ext cx="41148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Calibri"/>
              </a:rPr>
              <a:t>VALIDATION BEFORE AUTOMATION. </a:t>
            </a:r>
            <a:r>
              <a:rPr sz="1000" b="0">
                <a:solidFill>
                  <a:srgbClr val="E6EDF6"/>
                </a:solidFill>
                <a:latin typeface="Calibri"/>
              </a:rPr>
              <a:t>Recall was not enough. Held-out testing exposed the false-positive rate. The gate keeps it out of routing.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7516368" y="5029200"/>
            <a:ext cx="4114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Precision 0.32 · F1 0.48 · PR-AUC 0.55 · ROC-AUC 0.83 · Brier 0.12  —  calibrated logistic regression, NASA GLC + ERA5-Land rain + DEM slope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457200" y="5650992"/>
            <a:ext cx="27432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64748B"/>
                </a:solidFill>
                <a:latin typeface="Calibri"/>
              </a:rPr>
              <a:t>REFERENCES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457200" y="5888736"/>
            <a:ext cx="11292840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93A4BC"/>
                </a:solidFill>
                <a:latin typeface="Calibri"/>
              </a:rPr>
              <a:t>gpm.nasa.gov/landslides  ·  sachet.ndma.gov.in  ·  global-flood.emergency.copernicus.eu  ·  open-meteo.com  ·  api.met.no  ·  opentopodata.org  ·  project-osrm.org  ·  openstreetmap.org  ·  github.com/nxtlucifer/ner-ai-logistics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RASTA AI — SIH26002 — Team NER-AI LOGISTICS (17)</dc:title>
  <dc:subject>AI-Based Smart Logistics and Accessibility Intelligence Platform for North Eastern Region (NER)</dc:subject>
  <dc:creator>NER-AI LOGISTICS</dc:creator>
  <cp:keywords>SIH26002, SIH 2026, RASTA AI, NER logistics, route intelligence</cp:keywords>
  <dc:description/>
  <cp:lastModifiedBy>NER-AI LOGISTICS</cp:lastModifiedBy>
  <cp:revision>148</cp:revision>
  <dcterms:created xsi:type="dcterms:W3CDTF">2013-12-12T18:46:50Z</dcterms:created>
  <dcterms:modified xsi:type="dcterms:W3CDTF">2026-06-02T09:29:39Z</dcterms:modified>
  <cp:category>Smart India Hackathon 2026 — Smart Automation — Software</cp:category>
</cp:coreProperties>
</file>