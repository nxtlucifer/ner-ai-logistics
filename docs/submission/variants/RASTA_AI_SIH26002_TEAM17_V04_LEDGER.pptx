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9281160" cy="2076450"/>
          </a:xfrm>
        </p:spPr>
        <p:txBody>
          <a:bodyPr/>
          <a:lstStyle/>
          <a:p>
            <a:r>
              <a:rPr lang="en-US" sz="34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34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34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02920" y="1152144"/>
            <a:ext cx="36576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0F766E"/>
                </a:solidFill>
                <a:latin typeface="Courier New"/>
              </a:rPr>
              <a:t>RECORD / SIH26002 / TEAM-17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1371600"/>
            <a:ext cx="6035040" cy="60350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800" b="1">
                <a:solidFill>
                  <a:srgbClr val="111827"/>
                </a:solidFill>
                <a:latin typeface="Arial"/>
              </a:rPr>
              <a:t>RASTA AI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1975104"/>
            <a:ext cx="6035040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4B5563"/>
                </a:solidFill>
                <a:latin typeface="Arial"/>
              </a:rPr>
              <a:t>Route Intelligence for Essential-Supply Logistics in North Eastern India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02920" y="2432304"/>
            <a:ext cx="6035039" cy="0"/>
          </a:xfrm>
          <a:prstGeom prst="line">
            <a:avLst/>
          </a:prstGeom>
          <a:ln w="1905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02920" y="2551175"/>
            <a:ext cx="13716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9CA3AF"/>
                </a:solidFill>
                <a:latin typeface="Courier New"/>
              </a:rPr>
              <a:t>PS.ID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84248" y="2505456"/>
            <a:ext cx="4553712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F766E"/>
                </a:solidFill>
                <a:latin typeface="Arial"/>
              </a:rPr>
              <a:t>SIH26002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02920" y="2834639"/>
            <a:ext cx="6035039" cy="0"/>
          </a:xfrm>
          <a:prstGeom prst="line">
            <a:avLst/>
          </a:prstGeom>
          <a:ln w="9525">
            <a:solidFill>
              <a:srgbClr val="D8DE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02920" y="2916935"/>
            <a:ext cx="13716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9CA3AF"/>
                </a:solidFill>
                <a:latin typeface="Courier New"/>
              </a:rPr>
              <a:t>PS.TITLE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84248" y="2871215"/>
            <a:ext cx="4553712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111827"/>
                </a:solidFill>
                <a:latin typeface="Arial"/>
              </a:rPr>
              <a:t>AI-Based Smart Logistics and Accessibility Intelligence Platform for North Eastern Region (NER)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02920" y="3346703"/>
            <a:ext cx="6035039" cy="0"/>
          </a:xfrm>
          <a:prstGeom prst="line">
            <a:avLst/>
          </a:prstGeom>
          <a:ln w="9525">
            <a:solidFill>
              <a:srgbClr val="D8DE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02920" y="3428999"/>
            <a:ext cx="13716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9CA3AF"/>
                </a:solidFill>
                <a:latin typeface="Courier New"/>
              </a:rPr>
              <a:t>THEME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84248" y="3383279"/>
            <a:ext cx="4553712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111827"/>
                </a:solidFill>
                <a:latin typeface="Arial"/>
              </a:rPr>
              <a:t>Smart Automation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02920" y="3712463"/>
            <a:ext cx="6035039" cy="0"/>
          </a:xfrm>
          <a:prstGeom prst="line">
            <a:avLst/>
          </a:prstGeom>
          <a:ln w="9525">
            <a:solidFill>
              <a:srgbClr val="D8DE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02920" y="3794760"/>
            <a:ext cx="13716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9CA3AF"/>
                </a:solidFill>
                <a:latin typeface="Courier New"/>
              </a:rPr>
              <a:t>CATEGORY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984248" y="3749040"/>
            <a:ext cx="4553712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111827"/>
                </a:solidFill>
                <a:latin typeface="Arial"/>
              </a:rPr>
              <a:t>Software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502920" y="4078224"/>
            <a:ext cx="6035039" cy="0"/>
          </a:xfrm>
          <a:prstGeom prst="line">
            <a:avLst/>
          </a:prstGeom>
          <a:ln w="9525">
            <a:solidFill>
              <a:srgbClr val="D8DE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502920" y="4160520"/>
            <a:ext cx="13716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9CA3AF"/>
                </a:solidFill>
                <a:latin typeface="Courier New"/>
              </a:rPr>
              <a:t>TEAM.ID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84248" y="4114800"/>
            <a:ext cx="4553712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11827"/>
                </a:solidFill>
                <a:latin typeface="Arial"/>
              </a:rPr>
              <a:t>17  (internal group no.)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502920" y="4443984"/>
            <a:ext cx="6035039" cy="0"/>
          </a:xfrm>
          <a:prstGeom prst="line">
            <a:avLst/>
          </a:prstGeom>
          <a:ln w="9525">
            <a:solidFill>
              <a:srgbClr val="D8DE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02920" y="4526280"/>
            <a:ext cx="13716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9CA3AF"/>
                </a:solidFill>
                <a:latin typeface="Courier New"/>
              </a:rPr>
              <a:t>TEAM.NAME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984248" y="4480560"/>
            <a:ext cx="4553712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11827"/>
                </a:solidFill>
                <a:latin typeface="Arial"/>
              </a:rPr>
              <a:t>NER-AI LOGISTICS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502920" y="4809744"/>
            <a:ext cx="6035039" cy="0"/>
          </a:xfrm>
          <a:prstGeom prst="line">
            <a:avLst/>
          </a:prstGeom>
          <a:ln w="9525">
            <a:solidFill>
              <a:srgbClr val="D8DE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502920" y="4892040"/>
            <a:ext cx="13716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9CA3AF"/>
                </a:solidFill>
                <a:latin typeface="Courier New"/>
              </a:rPr>
              <a:t>MINISTRY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984248" y="4846320"/>
            <a:ext cx="4553712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111827"/>
                </a:solidFill>
                <a:latin typeface="Arial"/>
              </a:rPr>
              <a:t>MDoNER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502920" y="5175504"/>
            <a:ext cx="6035039" cy="0"/>
          </a:xfrm>
          <a:prstGeom prst="line">
            <a:avLst/>
          </a:prstGeom>
          <a:ln w="9525">
            <a:solidFill>
              <a:srgbClr val="D8DE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502920" y="5175504"/>
            <a:ext cx="6035039" cy="0"/>
          </a:xfrm>
          <a:prstGeom prst="line">
            <a:avLst/>
          </a:prstGeom>
          <a:ln w="1905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502920" y="5266944"/>
            <a:ext cx="6035040" cy="40233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>
                <a:solidFill>
                  <a:srgbClr val="111827"/>
                </a:solidFill>
                <a:latin typeface="Arial"/>
              </a:rPr>
              <a:t>SHORTEST IS NOT ALWAYS USABLE.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02920" y="5669280"/>
            <a:ext cx="6035040" cy="32918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0F766E"/>
                </a:solidFill>
                <a:latin typeface="Arial"/>
              </a:rPr>
              <a:t>“Can this essential-supply truck reliably use this corridor now?”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02920" y="6053328"/>
            <a:ext cx="603504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5803D"/>
                </a:solidFill>
                <a:latin typeface="Courier New"/>
              </a:rPr>
              <a:t>STATUS: WORKING PROTOTYPE / PHYSICAL-PHONE VALIDATED / CORRIDOR GUWAHATI-SHILLONG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0" y="1152144"/>
            <a:ext cx="489204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0F766E"/>
                </a:solidFill>
                <a:latin typeface="Courier New"/>
              </a:rPr>
              <a:t>EXHIBIT A — LIVE WORKING SYSTEM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6858000" y="1389888"/>
            <a:ext cx="4892040" cy="0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ounded Rectangle 67"/>
          <p:cNvSpPr/>
          <p:nvPr/>
        </p:nvSpPr>
        <p:spPr>
          <a:xfrm>
            <a:off x="6871716" y="2235708"/>
            <a:ext cx="2528315" cy="3648456"/>
          </a:xfrm>
          <a:prstGeom prst="roundRect">
            <a:avLst>
              <a:gd name="adj" fmla="val 2169"/>
            </a:avLst>
          </a:prstGeom>
          <a:solidFill>
            <a:srgbClr val="FFFFFF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9" name="Picture 68" descr="mg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2267712"/>
            <a:ext cx="2464308" cy="3584448"/>
          </a:xfrm>
          <a:prstGeom prst="rect">
            <a:avLst/>
          </a:prstGeom>
        </p:spPr>
      </p:pic>
      <p:sp>
        <p:nvSpPr>
          <p:cNvPr id="70" name="Rounded Rectangle 69"/>
          <p:cNvSpPr/>
          <p:nvPr/>
        </p:nvSpPr>
        <p:spPr>
          <a:xfrm>
            <a:off x="9514332" y="1540764"/>
            <a:ext cx="1990903" cy="4343400"/>
          </a:xfrm>
          <a:prstGeom prst="roundRect">
            <a:avLst>
              <a:gd name="adj" fmla="val 2755"/>
            </a:avLst>
          </a:prstGeom>
          <a:solidFill>
            <a:srgbClr val="FFFFFF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1" name="Picture 70" descr="nav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6336" y="1572768"/>
            <a:ext cx="1926895" cy="4279392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6858000" y="5943600"/>
            <a:ext cx="489204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9CA3AF"/>
                </a:solidFill>
                <a:latin typeface="Courier New"/>
              </a:rPr>
              <a:t>MANAGER ROUTE REVIEW / DRIVER NAVIGATION — REAL SCREENS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920240" y="0"/>
            <a:ext cx="7772400" cy="1060704"/>
          </a:xfrm>
        </p:spPr>
        <p:txBody>
          <a:bodyPr anchor="ctr"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RASTA AI — ROUTE INTELLIGENCE</a:t>
            </a:r>
            <a:endParaRPr sz="2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74320" y="274320"/>
            <a:ext cx="1554480" cy="73152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36576" rIns="36576"/>
          <a:lstStyle/>
          <a:p>
            <a:pPr algn="ctr"/>
            <a:r>
              <a:rPr sz="1000" b="1">
                <a:solidFill>
                  <a:srgbClr val="111827"/>
                </a:solidFill>
                <a:latin typeface="Arial"/>
              </a:rPr>
              <a:t>NER-AI LOGISTICS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457200" y="1097280"/>
            <a:ext cx="36576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0F766E"/>
                </a:solidFill>
                <a:latin typeface="Courier New"/>
              </a:rPr>
              <a:t>IDEA / PROPOSED SOLUTION</a:t>
            </a:r>
          </a:p>
        </p:txBody>
      </p:sp>
      <p:sp>
        <p:nvSpPr>
          <p:cNvPr id="15363" name="TextBox 15362"/>
          <p:cNvSpPr txBox="1"/>
          <p:nvPr/>
        </p:nvSpPr>
        <p:spPr>
          <a:xfrm>
            <a:off x="457200" y="1316736"/>
            <a:ext cx="804672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111827"/>
                </a:solidFill>
                <a:latin typeface="Arial"/>
              </a:rPr>
              <a:t>Not the shortest road. </a:t>
            </a:r>
            <a:r>
              <a:rPr sz="2400" b="1">
                <a:solidFill>
                  <a:srgbClr val="0F766E"/>
                </a:solidFill>
                <a:latin typeface="Arial"/>
              </a:rPr>
              <a:t>The road that is operationally usable now.</a:t>
            </a:r>
          </a:p>
        </p:txBody>
      </p:sp>
      <p:cxnSp>
        <p:nvCxnSpPr>
          <p:cNvPr id="15364" name="Connector 15363"/>
          <p:cNvCxnSpPr/>
          <p:nvPr/>
        </p:nvCxnSpPr>
        <p:spPr>
          <a:xfrm>
            <a:off x="457200" y="2157984"/>
            <a:ext cx="8065008" cy="0"/>
          </a:xfrm>
          <a:prstGeom prst="line">
            <a:avLst/>
          </a:prstGeom>
          <a:ln w="1905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65" name="TextBox 15364"/>
          <p:cNvSpPr txBox="1"/>
          <p:nvPr/>
        </p:nvSpPr>
        <p:spPr>
          <a:xfrm>
            <a:off x="457200" y="2249424"/>
            <a:ext cx="13716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9CA3AF"/>
                </a:solidFill>
                <a:latin typeface="Courier New"/>
              </a:rPr>
              <a:t>PROBLEM</a:t>
            </a:r>
          </a:p>
        </p:txBody>
      </p:sp>
      <p:sp>
        <p:nvSpPr>
          <p:cNvPr id="15366" name="TextBox 15365"/>
          <p:cNvSpPr txBox="1"/>
          <p:nvPr/>
        </p:nvSpPr>
        <p:spPr>
          <a:xfrm>
            <a:off x="1938528" y="2231136"/>
            <a:ext cx="65836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4B5563"/>
                </a:solidFill>
                <a:latin typeface="Arial"/>
              </a:rPr>
              <a:t>NER corridors close without notice: monsoon rain, landslides, floods, official warnings, single-lane hill roads, no phone signal. A shortest-path router still sends the truck.</a:t>
            </a:r>
          </a:p>
        </p:txBody>
      </p:sp>
      <p:cxnSp>
        <p:nvCxnSpPr>
          <p:cNvPr id="15367" name="Connector 15366"/>
          <p:cNvCxnSpPr/>
          <p:nvPr/>
        </p:nvCxnSpPr>
        <p:spPr>
          <a:xfrm>
            <a:off x="457200" y="2523744"/>
            <a:ext cx="8065008" cy="0"/>
          </a:xfrm>
          <a:prstGeom prst="line">
            <a:avLst/>
          </a:prstGeom>
          <a:ln w="9525">
            <a:solidFill>
              <a:srgbClr val="D8DE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68" name="Rectangle 15367"/>
          <p:cNvSpPr/>
          <p:nvPr/>
        </p:nvSpPr>
        <p:spPr>
          <a:xfrm>
            <a:off x="457200" y="2633472"/>
            <a:ext cx="45720" cy="1225296"/>
          </a:xfrm>
          <a:prstGeom prst="rect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69" name="TextBox 15368"/>
          <p:cNvSpPr txBox="1"/>
          <p:nvPr/>
        </p:nvSpPr>
        <p:spPr>
          <a:xfrm>
            <a:off x="621792" y="2633472"/>
            <a:ext cx="210312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9CA3AF"/>
                </a:solidFill>
                <a:latin typeface="Courier New"/>
              </a:rPr>
              <a:t>BASELINE / NORMAL ROUTER</a:t>
            </a:r>
          </a:p>
        </p:txBody>
      </p:sp>
      <p:sp>
        <p:nvSpPr>
          <p:cNvPr id="15370" name="TextBox 15369"/>
          <p:cNvSpPr txBox="1"/>
          <p:nvPr/>
        </p:nvSpPr>
        <p:spPr>
          <a:xfrm>
            <a:off x="621792" y="2871215"/>
            <a:ext cx="3017520" cy="42062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11827"/>
                </a:solidFill>
                <a:latin typeface="Arial"/>
              </a:rPr>
              <a:t>Origin  →  Shortest / fastest road  →  Truck</a:t>
            </a:r>
          </a:p>
        </p:txBody>
      </p:sp>
      <p:sp>
        <p:nvSpPr>
          <p:cNvPr id="15371" name="TextBox 15370"/>
          <p:cNvSpPr txBox="1"/>
          <p:nvPr/>
        </p:nvSpPr>
        <p:spPr>
          <a:xfrm>
            <a:off x="621792" y="3200400"/>
            <a:ext cx="786384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4B5563"/>
                </a:solidFill>
                <a:latin typeface="Arial"/>
              </a:rPr>
              <a:t>No terrain, weather, hazard or freshness check.  No governance. No answer when data is missing.</a:t>
            </a:r>
          </a:p>
        </p:txBody>
      </p:sp>
      <p:cxnSp>
        <p:nvCxnSpPr>
          <p:cNvPr id="15372" name="Connector 15371"/>
          <p:cNvCxnSpPr/>
          <p:nvPr/>
        </p:nvCxnSpPr>
        <p:spPr>
          <a:xfrm>
            <a:off x="457200" y="3840480"/>
            <a:ext cx="8065008" cy="0"/>
          </a:xfrm>
          <a:prstGeom prst="line">
            <a:avLst/>
          </a:prstGeom>
          <a:ln w="9525">
            <a:solidFill>
              <a:srgbClr val="D8DE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73" name="Rectangle 15372"/>
          <p:cNvSpPr/>
          <p:nvPr/>
        </p:nvSpPr>
        <p:spPr>
          <a:xfrm>
            <a:off x="457200" y="3931920"/>
            <a:ext cx="45720" cy="18836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74" name="TextBox 15373"/>
          <p:cNvSpPr txBox="1"/>
          <p:nvPr/>
        </p:nvSpPr>
        <p:spPr>
          <a:xfrm>
            <a:off x="621792" y="3931920"/>
            <a:ext cx="310896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0F766E"/>
                </a:solidFill>
                <a:latin typeface="Courier New"/>
              </a:rPr>
              <a:t>RASTA AI / EVIDENCE BEFORE THE ROAD</a:t>
            </a:r>
          </a:p>
        </p:txBody>
      </p:sp>
      <p:sp>
        <p:nvSpPr>
          <p:cNvPr id="15375" name="TextBox 15374"/>
          <p:cNvSpPr txBox="1"/>
          <p:nvPr/>
        </p:nvSpPr>
        <p:spPr>
          <a:xfrm>
            <a:off x="621792" y="4169663"/>
            <a:ext cx="7772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11827"/>
                </a:solidFill>
                <a:latin typeface="Arial"/>
              </a:rPr>
              <a:t>Origin  →  real OSRM route, alternatives, turn steps  →  route-specific evidence</a:t>
            </a:r>
          </a:p>
        </p:txBody>
      </p:sp>
      <p:sp>
        <p:nvSpPr>
          <p:cNvPr id="15376" name="Rectangle 15375"/>
          <p:cNvSpPr/>
          <p:nvPr/>
        </p:nvSpPr>
        <p:spPr>
          <a:xfrm>
            <a:off x="621792" y="4480559"/>
            <a:ext cx="804672" cy="237744"/>
          </a:xfrm>
          <a:prstGeom prst="rect">
            <a:avLst/>
          </a:prstGeom>
          <a:noFill/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0">
                <a:solidFill>
                  <a:srgbClr val="111827"/>
                </a:solidFill>
                <a:latin typeface="Arial"/>
              </a:rPr>
              <a:t>Terrain</a:t>
            </a:r>
          </a:p>
        </p:txBody>
      </p:sp>
      <p:sp>
        <p:nvSpPr>
          <p:cNvPr id="15377" name="Rectangle 15376"/>
          <p:cNvSpPr/>
          <p:nvPr/>
        </p:nvSpPr>
        <p:spPr>
          <a:xfrm>
            <a:off x="1499616" y="4480559"/>
            <a:ext cx="804672" cy="237744"/>
          </a:xfrm>
          <a:prstGeom prst="rect">
            <a:avLst/>
          </a:prstGeom>
          <a:noFill/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0">
                <a:solidFill>
                  <a:srgbClr val="111827"/>
                </a:solidFill>
                <a:latin typeface="Arial"/>
              </a:rPr>
              <a:t>Weather</a:t>
            </a:r>
          </a:p>
        </p:txBody>
      </p:sp>
      <p:sp>
        <p:nvSpPr>
          <p:cNvPr id="15378" name="Rectangle 15377"/>
          <p:cNvSpPr/>
          <p:nvPr/>
        </p:nvSpPr>
        <p:spPr>
          <a:xfrm>
            <a:off x="2377440" y="4480559"/>
            <a:ext cx="1280160" cy="237744"/>
          </a:xfrm>
          <a:prstGeom prst="rect">
            <a:avLst/>
          </a:prstGeom>
          <a:noFill/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0">
                <a:solidFill>
                  <a:srgbClr val="111827"/>
                </a:solidFill>
                <a:latin typeface="Arial"/>
              </a:rPr>
              <a:t>Landslide exposure</a:t>
            </a:r>
          </a:p>
        </p:txBody>
      </p:sp>
      <p:sp>
        <p:nvSpPr>
          <p:cNvPr id="15379" name="Rectangle 15378"/>
          <p:cNvSpPr/>
          <p:nvPr/>
        </p:nvSpPr>
        <p:spPr>
          <a:xfrm>
            <a:off x="3730752" y="4480559"/>
            <a:ext cx="1042415" cy="237744"/>
          </a:xfrm>
          <a:prstGeom prst="rect">
            <a:avLst/>
          </a:prstGeom>
          <a:noFill/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0">
                <a:solidFill>
                  <a:srgbClr val="111827"/>
                </a:solidFill>
                <a:latin typeface="Arial"/>
              </a:rPr>
              <a:t>Flood context</a:t>
            </a:r>
          </a:p>
        </p:txBody>
      </p:sp>
      <p:sp>
        <p:nvSpPr>
          <p:cNvPr id="15380" name="Rectangle 15379"/>
          <p:cNvSpPr/>
          <p:nvPr/>
        </p:nvSpPr>
        <p:spPr>
          <a:xfrm>
            <a:off x="4846320" y="4480559"/>
            <a:ext cx="1188720" cy="237744"/>
          </a:xfrm>
          <a:prstGeom prst="rect">
            <a:avLst/>
          </a:prstGeom>
          <a:noFill/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0">
                <a:solidFill>
                  <a:srgbClr val="111827"/>
                </a:solidFill>
                <a:latin typeface="Arial"/>
              </a:rPr>
              <a:t>Official warnings</a:t>
            </a:r>
          </a:p>
        </p:txBody>
      </p:sp>
      <p:sp>
        <p:nvSpPr>
          <p:cNvPr id="15381" name="Rectangle 15380"/>
          <p:cNvSpPr/>
          <p:nvPr/>
        </p:nvSpPr>
        <p:spPr>
          <a:xfrm>
            <a:off x="6108192" y="4480559"/>
            <a:ext cx="950976" cy="237744"/>
          </a:xfrm>
          <a:prstGeom prst="rect">
            <a:avLst/>
          </a:prstGeom>
          <a:noFill/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0">
                <a:solidFill>
                  <a:srgbClr val="111827"/>
                </a:solidFill>
                <a:latin typeface="Arial"/>
              </a:rPr>
              <a:t>Fleet traffic</a:t>
            </a:r>
          </a:p>
        </p:txBody>
      </p:sp>
      <p:sp>
        <p:nvSpPr>
          <p:cNvPr id="15382" name="Rectangle 15381"/>
          <p:cNvSpPr/>
          <p:nvPr/>
        </p:nvSpPr>
        <p:spPr>
          <a:xfrm>
            <a:off x="7132320" y="4480559"/>
            <a:ext cx="1280160" cy="237744"/>
          </a:xfrm>
          <a:prstGeom prst="rect">
            <a:avLst/>
          </a:prstGeom>
          <a:noFill/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0">
                <a:solidFill>
                  <a:srgbClr val="111827"/>
                </a:solidFill>
                <a:latin typeface="Arial"/>
              </a:rPr>
              <a:t>Evidence freshness</a:t>
            </a:r>
          </a:p>
        </p:txBody>
      </p:sp>
      <p:sp>
        <p:nvSpPr>
          <p:cNvPr id="15383" name="Rectangle 15382"/>
          <p:cNvSpPr/>
          <p:nvPr/>
        </p:nvSpPr>
        <p:spPr>
          <a:xfrm>
            <a:off x="621792" y="4828031"/>
            <a:ext cx="1892808" cy="310896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CONTINUE</a:t>
            </a:r>
          </a:p>
        </p:txBody>
      </p:sp>
      <p:sp>
        <p:nvSpPr>
          <p:cNvPr id="15384" name="Rectangle 15383"/>
          <p:cNvSpPr/>
          <p:nvPr/>
        </p:nvSpPr>
        <p:spPr>
          <a:xfrm>
            <a:off x="2624328" y="4828031"/>
            <a:ext cx="1892808" cy="31089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CAUTION</a:t>
            </a:r>
          </a:p>
        </p:txBody>
      </p:sp>
      <p:sp>
        <p:nvSpPr>
          <p:cNvPr id="15385" name="Rectangle 15384"/>
          <p:cNvSpPr/>
          <p:nvPr/>
        </p:nvSpPr>
        <p:spPr>
          <a:xfrm>
            <a:off x="4626864" y="4828031"/>
            <a:ext cx="1892808" cy="310896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HOLD</a:t>
            </a:r>
          </a:p>
        </p:txBody>
      </p:sp>
      <p:sp>
        <p:nvSpPr>
          <p:cNvPr id="15386" name="Rectangle 15385"/>
          <p:cNvSpPr/>
          <p:nvPr/>
        </p:nvSpPr>
        <p:spPr>
          <a:xfrm>
            <a:off x="6629400" y="4828031"/>
            <a:ext cx="1892808" cy="31089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REROUTE</a:t>
            </a:r>
          </a:p>
        </p:txBody>
      </p:sp>
      <p:sp>
        <p:nvSpPr>
          <p:cNvPr id="15387" name="TextBox 15386"/>
          <p:cNvSpPr txBox="1"/>
          <p:nvPr/>
        </p:nvSpPr>
        <p:spPr>
          <a:xfrm>
            <a:off x="621792" y="5212079"/>
            <a:ext cx="7863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11827"/>
                </a:solidFill>
                <a:latin typeface="Arial"/>
              </a:rPr>
              <a:t>Manager governance  →  driver navigation, danger context, 23 languages, offline package</a:t>
            </a:r>
          </a:p>
        </p:txBody>
      </p:sp>
      <p:cxnSp>
        <p:nvCxnSpPr>
          <p:cNvPr id="15388" name="Connector 15387"/>
          <p:cNvCxnSpPr/>
          <p:nvPr/>
        </p:nvCxnSpPr>
        <p:spPr>
          <a:xfrm>
            <a:off x="457200" y="5724144"/>
            <a:ext cx="8065008" cy="0"/>
          </a:xfrm>
          <a:prstGeom prst="line">
            <a:avLst/>
          </a:prstGeom>
          <a:ln w="1905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89" name="TextBox 15388"/>
          <p:cNvSpPr txBox="1"/>
          <p:nvPr/>
        </p:nvSpPr>
        <p:spPr>
          <a:xfrm>
            <a:off x="457200" y="5797296"/>
            <a:ext cx="23774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B91C1C"/>
                </a:solidFill>
                <a:latin typeface="Arial"/>
              </a:rPr>
              <a:t>UNKNOWN ≠ SAFE</a:t>
            </a:r>
          </a:p>
        </p:txBody>
      </p:sp>
      <p:sp>
        <p:nvSpPr>
          <p:cNvPr id="15390" name="TextBox 15389"/>
          <p:cNvSpPr txBox="1"/>
          <p:nvPr/>
        </p:nvSpPr>
        <p:spPr>
          <a:xfrm>
            <a:off x="2834640" y="5833872"/>
            <a:ext cx="5687568" cy="42062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11827"/>
                </a:solidFill>
                <a:latin typeface="Arial"/>
              </a:rPr>
              <a:t>Missing or stale evidence is marked UNKNOWN, never counted as safe, and the route goes to an authorised reviewer.</a:t>
            </a:r>
          </a:p>
        </p:txBody>
      </p:sp>
      <p:sp>
        <p:nvSpPr>
          <p:cNvPr id="15391" name="TextBox 15390"/>
          <p:cNvSpPr txBox="1"/>
          <p:nvPr/>
        </p:nvSpPr>
        <p:spPr>
          <a:xfrm>
            <a:off x="8686800" y="1097280"/>
            <a:ext cx="306324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0F766E"/>
                </a:solidFill>
                <a:latin typeface="Courier New"/>
              </a:rPr>
              <a:t>EXHIBIT B — CHECK CONDITIONS</a:t>
            </a:r>
          </a:p>
        </p:txBody>
      </p:sp>
      <p:cxnSp>
        <p:nvCxnSpPr>
          <p:cNvPr id="15392" name="Connector 15391"/>
          <p:cNvCxnSpPr/>
          <p:nvPr/>
        </p:nvCxnSpPr>
        <p:spPr>
          <a:xfrm>
            <a:off x="8686800" y="1335024"/>
            <a:ext cx="3063240" cy="0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93" name="Rounded Rectangle 15392"/>
          <p:cNvSpPr/>
          <p:nvPr/>
        </p:nvSpPr>
        <p:spPr>
          <a:xfrm>
            <a:off x="8654796" y="1431036"/>
            <a:ext cx="2918931" cy="4507992"/>
          </a:xfrm>
          <a:prstGeom prst="roundRect">
            <a:avLst>
              <a:gd name="adj" fmla="val 1879"/>
            </a:avLst>
          </a:prstGeom>
          <a:solidFill>
            <a:srgbClr val="FFFFFF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394" name="Picture 15393" descr="ev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1463040"/>
            <a:ext cx="2854923" cy="4443984"/>
          </a:xfrm>
          <a:prstGeom prst="rect">
            <a:avLst/>
          </a:prstGeom>
        </p:spPr>
      </p:pic>
      <p:sp>
        <p:nvSpPr>
          <p:cNvPr id="15395" name="TextBox 15394"/>
          <p:cNvSpPr txBox="1"/>
          <p:nvPr/>
        </p:nvSpPr>
        <p:spPr>
          <a:xfrm>
            <a:off x="8686800" y="5980176"/>
            <a:ext cx="306324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9CA3AF"/>
                </a:solidFill>
                <a:latin typeface="Courier New"/>
              </a:rPr>
              <a:t>REAL SCREEN / EVIDENCE / FRESHNESS /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920240" y="0"/>
            <a:ext cx="7772400" cy="1060704"/>
          </a:xfrm>
        </p:spPr>
        <p:txBody>
          <a:bodyPr anchor="ctr"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  <a:endParaRPr sz="2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74320" y="274320"/>
            <a:ext cx="1554480" cy="73152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36576" rIns="36576"/>
          <a:lstStyle/>
          <a:p>
            <a:pPr algn="ctr"/>
            <a:r>
              <a:rPr sz="1000" b="1">
                <a:solidFill>
                  <a:srgbClr val="111827"/>
                </a:solidFill>
                <a:latin typeface="Arial"/>
              </a:rPr>
              <a:t>NER-AI LOGISTICS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57200" y="1078992"/>
            <a:ext cx="54864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0F766E"/>
                </a:solidFill>
                <a:latin typeface="Courier New"/>
              </a:rPr>
              <a:t>PIPELINE / VERIFIED DATA → DECISION → DRIVER</a:t>
            </a:r>
          </a:p>
        </p:txBody>
      </p:sp>
      <p:cxnSp>
        <p:nvCxnSpPr>
          <p:cNvPr id="17411" name="Connector 17410"/>
          <p:cNvCxnSpPr/>
          <p:nvPr/>
        </p:nvCxnSpPr>
        <p:spPr>
          <a:xfrm>
            <a:off x="457200" y="1316736"/>
            <a:ext cx="8065008" cy="0"/>
          </a:xfrm>
          <a:prstGeom prst="line">
            <a:avLst/>
          </a:prstGeom>
          <a:ln w="1905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2" name="TextBox 17411"/>
          <p:cNvSpPr txBox="1"/>
          <p:nvPr/>
        </p:nvSpPr>
        <p:spPr>
          <a:xfrm>
            <a:off x="457200" y="1408176"/>
            <a:ext cx="13716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9CA3AF"/>
                </a:solidFill>
                <a:latin typeface="Courier New"/>
              </a:rPr>
              <a:t>WEATHER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1938528" y="1371600"/>
            <a:ext cx="65836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11827"/>
                </a:solidFill>
                <a:latin typeface="Arial"/>
              </a:rPr>
              <a:t>Open-Meteo · MET Norway</a:t>
            </a:r>
          </a:p>
        </p:txBody>
      </p:sp>
      <p:cxnSp>
        <p:nvCxnSpPr>
          <p:cNvPr id="17414" name="Connector 17413"/>
          <p:cNvCxnSpPr/>
          <p:nvPr/>
        </p:nvCxnSpPr>
        <p:spPr>
          <a:xfrm>
            <a:off x="457200" y="1645920"/>
            <a:ext cx="8065008" cy="0"/>
          </a:xfrm>
          <a:prstGeom prst="line">
            <a:avLst/>
          </a:prstGeom>
          <a:ln w="9525">
            <a:solidFill>
              <a:srgbClr val="D8DE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5" name="TextBox 17414"/>
          <p:cNvSpPr txBox="1"/>
          <p:nvPr/>
        </p:nvSpPr>
        <p:spPr>
          <a:xfrm>
            <a:off x="457200" y="1719072"/>
            <a:ext cx="13716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9CA3AF"/>
                </a:solidFill>
                <a:latin typeface="Courier New"/>
              </a:rPr>
              <a:t>TERRAIN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1938528" y="1682496"/>
            <a:ext cx="65836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11827"/>
                </a:solidFill>
                <a:latin typeface="Arial"/>
              </a:rPr>
              <a:t>Copernicus DEM · OpenTopoData</a:t>
            </a:r>
          </a:p>
        </p:txBody>
      </p:sp>
      <p:cxnSp>
        <p:nvCxnSpPr>
          <p:cNvPr id="17417" name="Connector 17416"/>
          <p:cNvCxnSpPr/>
          <p:nvPr/>
        </p:nvCxnSpPr>
        <p:spPr>
          <a:xfrm>
            <a:off x="457200" y="1956816"/>
            <a:ext cx="8065008" cy="0"/>
          </a:xfrm>
          <a:prstGeom prst="line">
            <a:avLst/>
          </a:prstGeom>
          <a:ln w="9525">
            <a:solidFill>
              <a:srgbClr val="D8DE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8" name="TextBox 17417"/>
          <p:cNvSpPr txBox="1"/>
          <p:nvPr/>
        </p:nvSpPr>
        <p:spPr>
          <a:xfrm>
            <a:off x="457200" y="2029968"/>
            <a:ext cx="13716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9CA3AF"/>
                </a:solidFill>
                <a:latin typeface="Courier New"/>
              </a:rPr>
              <a:t>WARNINGS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1938528" y="1993392"/>
            <a:ext cx="65836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11827"/>
                </a:solidFill>
                <a:latin typeface="Arial"/>
              </a:rPr>
              <a:t>NDMA SACHET (CAP)</a:t>
            </a:r>
          </a:p>
        </p:txBody>
      </p:sp>
      <p:cxnSp>
        <p:nvCxnSpPr>
          <p:cNvPr id="17420" name="Connector 17419"/>
          <p:cNvCxnSpPr/>
          <p:nvPr/>
        </p:nvCxnSpPr>
        <p:spPr>
          <a:xfrm>
            <a:off x="457200" y="2267712"/>
            <a:ext cx="8065008" cy="0"/>
          </a:xfrm>
          <a:prstGeom prst="line">
            <a:avLst/>
          </a:prstGeom>
          <a:ln w="9525">
            <a:solidFill>
              <a:srgbClr val="D8DE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1" name="TextBox 17420"/>
          <p:cNvSpPr txBox="1"/>
          <p:nvPr/>
        </p:nvSpPr>
        <p:spPr>
          <a:xfrm>
            <a:off x="457200" y="2340864"/>
            <a:ext cx="13716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9CA3AF"/>
                </a:solidFill>
                <a:latin typeface="Courier New"/>
              </a:rPr>
              <a:t>FLOOD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1938528" y="2304288"/>
            <a:ext cx="65836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11827"/>
                </a:solidFill>
                <a:latin typeface="Arial"/>
              </a:rPr>
              <a:t>GloFAS</a:t>
            </a:r>
          </a:p>
        </p:txBody>
      </p:sp>
      <p:cxnSp>
        <p:nvCxnSpPr>
          <p:cNvPr id="17423" name="Connector 17422"/>
          <p:cNvCxnSpPr/>
          <p:nvPr/>
        </p:nvCxnSpPr>
        <p:spPr>
          <a:xfrm>
            <a:off x="457200" y="2578608"/>
            <a:ext cx="8065008" cy="0"/>
          </a:xfrm>
          <a:prstGeom prst="line">
            <a:avLst/>
          </a:prstGeom>
          <a:ln w="9525">
            <a:solidFill>
              <a:srgbClr val="D8DE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4" name="TextBox 17423"/>
          <p:cNvSpPr txBox="1"/>
          <p:nvPr/>
        </p:nvSpPr>
        <p:spPr>
          <a:xfrm>
            <a:off x="457200" y="2651760"/>
            <a:ext cx="13716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9CA3AF"/>
                </a:solidFill>
                <a:latin typeface="Courier New"/>
              </a:rPr>
              <a:t>LANDSLIDE.HISTORY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1938528" y="2615184"/>
            <a:ext cx="65836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11827"/>
                </a:solidFill>
                <a:latin typeface="Arial"/>
              </a:rPr>
              <a:t>NASA GLC 2007–17</a:t>
            </a:r>
          </a:p>
        </p:txBody>
      </p:sp>
      <p:cxnSp>
        <p:nvCxnSpPr>
          <p:cNvPr id="17426" name="Connector 17425"/>
          <p:cNvCxnSpPr/>
          <p:nvPr/>
        </p:nvCxnSpPr>
        <p:spPr>
          <a:xfrm>
            <a:off x="457200" y="2889504"/>
            <a:ext cx="8065008" cy="0"/>
          </a:xfrm>
          <a:prstGeom prst="line">
            <a:avLst/>
          </a:prstGeom>
          <a:ln w="9525">
            <a:solidFill>
              <a:srgbClr val="D8DE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7" name="TextBox 17426"/>
          <p:cNvSpPr txBox="1"/>
          <p:nvPr/>
        </p:nvSpPr>
        <p:spPr>
          <a:xfrm>
            <a:off x="457200" y="2962656"/>
            <a:ext cx="13716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9CA3AF"/>
                </a:solidFill>
                <a:latin typeface="Courier New"/>
              </a:rPr>
              <a:t>TRAFFIC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1938528" y="2926079"/>
            <a:ext cx="65836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11827"/>
                </a:solidFill>
                <a:latin typeface="Arial"/>
              </a:rPr>
              <a:t>fleet GPS fixes</a:t>
            </a:r>
          </a:p>
        </p:txBody>
      </p:sp>
      <p:cxnSp>
        <p:nvCxnSpPr>
          <p:cNvPr id="17429" name="Connector 17428"/>
          <p:cNvCxnSpPr/>
          <p:nvPr/>
        </p:nvCxnSpPr>
        <p:spPr>
          <a:xfrm>
            <a:off x="457200" y="3200400"/>
            <a:ext cx="8065008" cy="0"/>
          </a:xfrm>
          <a:prstGeom prst="line">
            <a:avLst/>
          </a:prstGeom>
          <a:ln w="9525">
            <a:solidFill>
              <a:srgbClr val="D8DE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0" name="TextBox 17429"/>
          <p:cNvSpPr txBox="1"/>
          <p:nvPr/>
        </p:nvSpPr>
        <p:spPr>
          <a:xfrm>
            <a:off x="457200" y="3346703"/>
            <a:ext cx="13716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9CA3AF"/>
                </a:solidFill>
                <a:latin typeface="Courier New"/>
              </a:rPr>
              <a:t>EVIDENCE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1938528" y="3310127"/>
            <a:ext cx="658368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11827"/>
                </a:solidFill>
                <a:latin typeface="Arial"/>
              </a:rPr>
              <a:t>ROUTE-SPECIFIC EVIDENCE · FastAPI backend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4B5563"/>
                </a:solidFill>
                <a:latin typeface="Arial"/>
              </a:rPr>
              <a:t>every factor sampled along the selected road · PostgreSQL + PostGIS (Supabase) · OSRM routes, alternatives, turn steps</a:t>
            </a:r>
          </a:p>
        </p:txBody>
      </p:sp>
      <p:cxnSp>
        <p:nvCxnSpPr>
          <p:cNvPr id="17432" name="Connector 17431"/>
          <p:cNvCxnSpPr/>
          <p:nvPr/>
        </p:nvCxnSpPr>
        <p:spPr>
          <a:xfrm>
            <a:off x="457200" y="3785615"/>
            <a:ext cx="8065008" cy="0"/>
          </a:xfrm>
          <a:prstGeom prst="line">
            <a:avLst/>
          </a:prstGeom>
          <a:ln w="9525">
            <a:solidFill>
              <a:srgbClr val="D8DE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3" name="TextBox 17432"/>
          <p:cNvSpPr txBox="1"/>
          <p:nvPr/>
        </p:nvSpPr>
        <p:spPr>
          <a:xfrm>
            <a:off x="457200" y="3895344"/>
            <a:ext cx="13716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0F766E"/>
                </a:solidFill>
                <a:latin typeface="Courier New"/>
              </a:rPr>
              <a:t>POLICY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1938528" y="3858768"/>
            <a:ext cx="658368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Arial"/>
              </a:rPr>
              <a:t>DETERMINISTIC SAFETY POLICY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4B5563"/>
                </a:solidFill>
                <a:latin typeface="Arial"/>
              </a:rPr>
              <a:t>11 factors · reason codes · UNKNOWN ≠ SAFE · reviewer authorisation when hazard data is missing</a:t>
            </a:r>
          </a:p>
        </p:txBody>
      </p:sp>
      <p:cxnSp>
        <p:nvCxnSpPr>
          <p:cNvPr id="17435" name="Connector 17434"/>
          <p:cNvCxnSpPr/>
          <p:nvPr/>
        </p:nvCxnSpPr>
        <p:spPr>
          <a:xfrm>
            <a:off x="457200" y="4334256"/>
            <a:ext cx="8065008" cy="0"/>
          </a:xfrm>
          <a:prstGeom prst="line">
            <a:avLst/>
          </a:prstGeom>
          <a:ln w="9525">
            <a:solidFill>
              <a:srgbClr val="D8DE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6" name="TextBox 17435"/>
          <p:cNvSpPr txBox="1"/>
          <p:nvPr/>
        </p:nvSpPr>
        <p:spPr>
          <a:xfrm>
            <a:off x="457200" y="4462271"/>
            <a:ext cx="13716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9CA3AF"/>
                </a:solidFill>
                <a:latin typeface="Courier New"/>
              </a:rPr>
              <a:t>DECISION</a:t>
            </a:r>
          </a:p>
        </p:txBody>
      </p:sp>
      <p:sp>
        <p:nvSpPr>
          <p:cNvPr id="17437" name="Rectangle 17436"/>
          <p:cNvSpPr/>
          <p:nvPr/>
        </p:nvSpPr>
        <p:spPr>
          <a:xfrm>
            <a:off x="1938528" y="4407407"/>
            <a:ext cx="1563624" cy="310896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CONTINUE</a:t>
            </a:r>
          </a:p>
        </p:txBody>
      </p:sp>
      <p:sp>
        <p:nvSpPr>
          <p:cNvPr id="17438" name="Rectangle 17437"/>
          <p:cNvSpPr/>
          <p:nvPr/>
        </p:nvSpPr>
        <p:spPr>
          <a:xfrm>
            <a:off x="3611880" y="4407407"/>
            <a:ext cx="1563624" cy="31089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CAUTION</a:t>
            </a:r>
          </a:p>
        </p:txBody>
      </p:sp>
      <p:sp>
        <p:nvSpPr>
          <p:cNvPr id="17439" name="Rectangle 17438"/>
          <p:cNvSpPr/>
          <p:nvPr/>
        </p:nvSpPr>
        <p:spPr>
          <a:xfrm>
            <a:off x="5285232" y="4407407"/>
            <a:ext cx="1563624" cy="310896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HOLD</a:t>
            </a:r>
          </a:p>
        </p:txBody>
      </p:sp>
      <p:sp>
        <p:nvSpPr>
          <p:cNvPr id="17440" name="Rectangle 17439"/>
          <p:cNvSpPr/>
          <p:nvPr/>
        </p:nvSpPr>
        <p:spPr>
          <a:xfrm>
            <a:off x="6958584" y="4407407"/>
            <a:ext cx="1563624" cy="31089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REROUTE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457200" y="4864607"/>
            <a:ext cx="13716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9CA3AF"/>
                </a:solidFill>
                <a:latin typeface="Courier New"/>
              </a:rPr>
              <a:t>LOOP</a:t>
            </a:r>
          </a:p>
        </p:txBody>
      </p:sp>
      <p:sp>
        <p:nvSpPr>
          <p:cNvPr id="17442" name="Rounded Rectangle 17441"/>
          <p:cNvSpPr/>
          <p:nvPr/>
        </p:nvSpPr>
        <p:spPr>
          <a:xfrm>
            <a:off x="1938528" y="480974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9525">
            <a:solidFill>
              <a:srgbClr val="1118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MANAGER REVIEW</a:t>
            </a:r>
          </a:p>
        </p:txBody>
      </p:sp>
      <p:cxnSp>
        <p:nvCxnSpPr>
          <p:cNvPr id="17443" name="Connector 17442"/>
          <p:cNvCxnSpPr/>
          <p:nvPr/>
        </p:nvCxnSpPr>
        <p:spPr>
          <a:xfrm>
            <a:off x="3145536" y="4956048"/>
            <a:ext cx="27432" cy="0"/>
          </a:xfrm>
          <a:prstGeom prst="line">
            <a:avLst/>
          </a:prstGeom>
          <a:ln w="15875">
            <a:solidFill>
              <a:srgbClr val="1118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4" name="Rounded Rectangle 17443"/>
          <p:cNvSpPr/>
          <p:nvPr/>
        </p:nvSpPr>
        <p:spPr>
          <a:xfrm>
            <a:off x="3191256" y="4809744"/>
            <a:ext cx="129844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118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111827"/>
                </a:solidFill>
                <a:latin typeface="Arial"/>
              </a:rPr>
              <a:t>DRIVER NAVIGATION</a:t>
            </a:r>
          </a:p>
        </p:txBody>
      </p:sp>
      <p:cxnSp>
        <p:nvCxnSpPr>
          <p:cNvPr id="17445" name="Connector 17444"/>
          <p:cNvCxnSpPr/>
          <p:nvPr/>
        </p:nvCxnSpPr>
        <p:spPr>
          <a:xfrm>
            <a:off x="4507992" y="4956048"/>
            <a:ext cx="27432" cy="0"/>
          </a:xfrm>
          <a:prstGeom prst="line">
            <a:avLst/>
          </a:prstGeom>
          <a:ln w="15875">
            <a:solidFill>
              <a:srgbClr val="1118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6" name="Rounded Rectangle 17445"/>
          <p:cNvSpPr/>
          <p:nvPr/>
        </p:nvSpPr>
        <p:spPr>
          <a:xfrm>
            <a:off x="4553712" y="4809744"/>
            <a:ext cx="124358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118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111827"/>
                </a:solidFill>
                <a:latin typeface="Arial"/>
              </a:rPr>
              <a:t>ROUTE-AHEAD 60 s</a:t>
            </a:r>
          </a:p>
        </p:txBody>
      </p:sp>
      <p:cxnSp>
        <p:nvCxnSpPr>
          <p:cNvPr id="17447" name="Connector 17446"/>
          <p:cNvCxnSpPr/>
          <p:nvPr/>
        </p:nvCxnSpPr>
        <p:spPr>
          <a:xfrm>
            <a:off x="5815584" y="4956048"/>
            <a:ext cx="27432" cy="0"/>
          </a:xfrm>
          <a:prstGeom prst="line">
            <a:avLst/>
          </a:prstGeom>
          <a:ln w="15875">
            <a:solidFill>
              <a:srgbClr val="1118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8" name="Rounded Rectangle 17447"/>
          <p:cNvSpPr/>
          <p:nvPr/>
        </p:nvSpPr>
        <p:spPr>
          <a:xfrm>
            <a:off x="5861304" y="4809744"/>
            <a:ext cx="142646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118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111827"/>
                </a:solidFill>
                <a:latin typeface="Arial"/>
              </a:rPr>
              <a:t>CONDITIONS CHANGE?</a:t>
            </a:r>
          </a:p>
        </p:txBody>
      </p:sp>
      <p:cxnSp>
        <p:nvCxnSpPr>
          <p:cNvPr id="17449" name="Connector 17448"/>
          <p:cNvCxnSpPr/>
          <p:nvPr/>
        </p:nvCxnSpPr>
        <p:spPr>
          <a:xfrm>
            <a:off x="7306056" y="4956048"/>
            <a:ext cx="27432" cy="0"/>
          </a:xfrm>
          <a:prstGeom prst="line">
            <a:avLst/>
          </a:prstGeom>
          <a:ln w="15875">
            <a:solidFill>
              <a:srgbClr val="1118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0" name="Rounded Rectangle 17449"/>
          <p:cNvSpPr/>
          <p:nvPr/>
        </p:nvSpPr>
        <p:spPr>
          <a:xfrm>
            <a:off x="7351776" y="4809744"/>
            <a:ext cx="87782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118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111827"/>
                </a:solidFill>
                <a:latin typeface="Arial"/>
              </a:rPr>
              <a:t>REASSESS</a:t>
            </a:r>
          </a:p>
        </p:txBody>
      </p:sp>
      <p:cxnSp>
        <p:nvCxnSpPr>
          <p:cNvPr id="17451" name="Connector 17450"/>
          <p:cNvCxnSpPr/>
          <p:nvPr/>
        </p:nvCxnSpPr>
        <p:spPr>
          <a:xfrm>
            <a:off x="457200" y="5230368"/>
            <a:ext cx="8065008" cy="0"/>
          </a:xfrm>
          <a:prstGeom prst="line">
            <a:avLst/>
          </a:prstGeom>
          <a:ln w="9525">
            <a:solidFill>
              <a:srgbClr val="D8DE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2" name="TextBox 17451"/>
          <p:cNvSpPr txBox="1"/>
          <p:nvPr/>
        </p:nvSpPr>
        <p:spPr>
          <a:xfrm>
            <a:off x="457200" y="5321807"/>
            <a:ext cx="13716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9CA3AF"/>
                </a:solidFill>
                <a:latin typeface="Courier New"/>
              </a:rPr>
              <a:t>CLIENTS</a:t>
            </a:r>
          </a:p>
        </p:txBody>
      </p:sp>
      <p:sp>
        <p:nvSpPr>
          <p:cNvPr id="17453" name="TextBox 17452"/>
          <p:cNvSpPr txBox="1"/>
          <p:nvPr/>
        </p:nvSpPr>
        <p:spPr>
          <a:xfrm>
            <a:off x="1938528" y="5285231"/>
            <a:ext cx="6583680" cy="40233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111827"/>
                </a:solidFill>
                <a:latin typeface="Arial"/>
              </a:rPr>
              <a:t>Manager console — React + TypeScript, manager accounts only · Driver app — React Native / Expo, Android; one login, server-decided role, offline trip package</a:t>
            </a:r>
          </a:p>
        </p:txBody>
      </p:sp>
      <p:sp>
        <p:nvSpPr>
          <p:cNvPr id="17454" name="TextBox 17453"/>
          <p:cNvSpPr txBox="1"/>
          <p:nvPr/>
        </p:nvSpPr>
        <p:spPr>
          <a:xfrm>
            <a:off x="457200" y="5742431"/>
            <a:ext cx="13716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9CA3AF"/>
                </a:solidFill>
                <a:latin typeface="Courier New"/>
              </a:rPr>
              <a:t>STACK</a:t>
            </a:r>
          </a:p>
        </p:txBody>
      </p:sp>
      <p:sp>
        <p:nvSpPr>
          <p:cNvPr id="17455" name="TextBox 17454"/>
          <p:cNvSpPr txBox="1"/>
          <p:nvPr/>
        </p:nvSpPr>
        <p:spPr>
          <a:xfrm>
            <a:off x="1938528" y="5705855"/>
            <a:ext cx="6583680" cy="40233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111827"/>
                </a:solidFill>
                <a:latin typeface="Arial"/>
              </a:rPr>
              <a:t>FastAPI · PostgreSQL / PostGIS (Supabase) · React · React Native / Expo · OSRM · OpenStreetMap · Gemini</a:t>
            </a:r>
          </a:p>
        </p:txBody>
      </p:sp>
      <p:sp>
        <p:nvSpPr>
          <p:cNvPr id="17456" name="TextBox 17455"/>
          <p:cNvSpPr txBox="1"/>
          <p:nvPr/>
        </p:nvSpPr>
        <p:spPr>
          <a:xfrm>
            <a:off x="8686800" y="1078992"/>
            <a:ext cx="306324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0F766E"/>
                </a:solidFill>
                <a:latin typeface="Courier New"/>
              </a:rPr>
              <a:t>AUTHORITY / WHO DECIDES</a:t>
            </a:r>
          </a:p>
        </p:txBody>
      </p:sp>
      <p:cxnSp>
        <p:nvCxnSpPr>
          <p:cNvPr id="17457" name="Connector 17456"/>
          <p:cNvCxnSpPr/>
          <p:nvPr/>
        </p:nvCxnSpPr>
        <p:spPr>
          <a:xfrm>
            <a:off x="8686800" y="1316736"/>
            <a:ext cx="3063240" cy="0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8" name="Rectangle 17457"/>
          <p:cNvSpPr/>
          <p:nvPr/>
        </p:nvSpPr>
        <p:spPr>
          <a:xfrm>
            <a:off x="8686800" y="1426464"/>
            <a:ext cx="45720" cy="6217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9" name="TextBox 17458"/>
          <p:cNvSpPr txBox="1"/>
          <p:nvPr/>
        </p:nvSpPr>
        <p:spPr>
          <a:xfrm>
            <a:off x="8833104" y="1408176"/>
            <a:ext cx="2916936" cy="7498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11827"/>
                </a:solidFill>
                <a:latin typeface="Arial"/>
              </a:rPr>
              <a:t>DETERMINISTIC SAFETY ENGINE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4B5563"/>
                </a:solidFill>
                <a:latin typeface="Arial"/>
              </a:rPr>
              <a:t>makes every operational decision</a:t>
            </a:r>
          </a:p>
        </p:txBody>
      </p:sp>
      <p:sp>
        <p:nvSpPr>
          <p:cNvPr id="17460" name="Rectangle 17459"/>
          <p:cNvSpPr/>
          <p:nvPr/>
        </p:nvSpPr>
        <p:spPr>
          <a:xfrm>
            <a:off x="8686800" y="2267712"/>
            <a:ext cx="45720" cy="621792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1" name="TextBox 17460"/>
          <p:cNvSpPr txBox="1"/>
          <p:nvPr/>
        </p:nvSpPr>
        <p:spPr>
          <a:xfrm>
            <a:off x="8833104" y="2249424"/>
            <a:ext cx="2916936" cy="7498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11827"/>
                </a:solidFill>
                <a:latin typeface="Arial"/>
              </a:rPr>
              <a:t>GEMINI / OPENROUTER (LLM)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4B5563"/>
                </a:solidFill>
                <a:latin typeface="Arial"/>
              </a:rPr>
              <a:t>explains the decision in the driver's language — never decides</a:t>
            </a:r>
          </a:p>
        </p:txBody>
      </p:sp>
      <p:sp>
        <p:nvSpPr>
          <p:cNvPr id="17462" name="Rectangle 17461"/>
          <p:cNvSpPr/>
          <p:nvPr/>
        </p:nvSpPr>
        <p:spPr>
          <a:xfrm>
            <a:off x="8686800" y="3108960"/>
            <a:ext cx="45720" cy="621792"/>
          </a:xfrm>
          <a:prstGeom prst="rect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3" name="TextBox 17462"/>
          <p:cNvSpPr txBox="1"/>
          <p:nvPr/>
        </p:nvSpPr>
        <p:spPr>
          <a:xfrm>
            <a:off x="8833104" y="3090672"/>
            <a:ext cx="2916936" cy="7498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11827"/>
                </a:solidFill>
                <a:latin typeface="Arial"/>
              </a:rPr>
              <a:t>EXPERIMENTAL ML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4B5563"/>
                </a:solidFill>
                <a:latin typeface="Arial"/>
              </a:rPr>
              <a:t>research channel only; held outside routing by the safety gate</a:t>
            </a:r>
          </a:p>
        </p:txBody>
      </p:sp>
      <p:cxnSp>
        <p:nvCxnSpPr>
          <p:cNvPr id="17464" name="Connector 17463"/>
          <p:cNvCxnSpPr/>
          <p:nvPr/>
        </p:nvCxnSpPr>
        <p:spPr>
          <a:xfrm>
            <a:off x="8686800" y="3931920"/>
            <a:ext cx="3063240" cy="0"/>
          </a:xfrm>
          <a:prstGeom prst="line">
            <a:avLst/>
          </a:prstGeom>
          <a:ln w="9525">
            <a:solidFill>
              <a:srgbClr val="D8DE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65" name="TextBox 17464"/>
          <p:cNvSpPr txBox="1"/>
          <p:nvPr/>
        </p:nvSpPr>
        <p:spPr>
          <a:xfrm>
            <a:off x="8686800" y="4005072"/>
            <a:ext cx="306324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9CA3AF"/>
                </a:solidFill>
                <a:latin typeface="Courier New"/>
              </a:rPr>
              <a:t>GOVERNANCE CHAIN</a:t>
            </a:r>
          </a:p>
        </p:txBody>
      </p:sp>
      <p:sp>
        <p:nvSpPr>
          <p:cNvPr id="17466" name="Rectangle 17465"/>
          <p:cNvSpPr/>
          <p:nvPr/>
        </p:nvSpPr>
        <p:spPr>
          <a:xfrm>
            <a:off x="8686800" y="4261104"/>
            <a:ext cx="3063240" cy="292608"/>
          </a:xfrm>
          <a:prstGeom prst="rect">
            <a:avLst/>
          </a:prstGeom>
          <a:noFill/>
          <a:ln w="9525">
            <a:solidFill>
              <a:srgbClr val="1118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00" b="1">
                <a:solidFill>
                  <a:srgbClr val="111827"/>
                </a:solidFill>
                <a:latin typeface="Arial"/>
              </a:rPr>
              <a:t>Verified evidence</a:t>
            </a:r>
          </a:p>
        </p:txBody>
      </p:sp>
      <p:cxnSp>
        <p:nvCxnSpPr>
          <p:cNvPr id="17467" name="Connector 17466"/>
          <p:cNvCxnSpPr/>
          <p:nvPr/>
        </p:nvCxnSpPr>
        <p:spPr>
          <a:xfrm>
            <a:off x="10213848" y="4562856"/>
            <a:ext cx="0" cy="100584"/>
          </a:xfrm>
          <a:prstGeom prst="line">
            <a:avLst/>
          </a:prstGeom>
          <a:ln w="15875">
            <a:solidFill>
              <a:srgbClr val="1118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68" name="Rectangle 17467"/>
          <p:cNvSpPr/>
          <p:nvPr/>
        </p:nvSpPr>
        <p:spPr>
          <a:xfrm>
            <a:off x="8686800" y="4672584"/>
            <a:ext cx="3063240" cy="292608"/>
          </a:xfrm>
          <a:prstGeom prst="rect">
            <a:avLst/>
          </a:prstGeom>
          <a:noFill/>
          <a:ln w="9525">
            <a:solidFill>
              <a:srgbClr val="1118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00" b="1">
                <a:solidFill>
                  <a:srgbClr val="111827"/>
                </a:solidFill>
                <a:latin typeface="Arial"/>
              </a:rPr>
              <a:t>Deterministic safety policy</a:t>
            </a:r>
          </a:p>
        </p:txBody>
      </p:sp>
      <p:cxnSp>
        <p:nvCxnSpPr>
          <p:cNvPr id="17469" name="Connector 17468"/>
          <p:cNvCxnSpPr/>
          <p:nvPr/>
        </p:nvCxnSpPr>
        <p:spPr>
          <a:xfrm>
            <a:off x="10213848" y="4974336"/>
            <a:ext cx="0" cy="100584"/>
          </a:xfrm>
          <a:prstGeom prst="line">
            <a:avLst/>
          </a:prstGeom>
          <a:ln w="15875">
            <a:solidFill>
              <a:srgbClr val="1118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70" name="Rectangle 17469"/>
          <p:cNvSpPr/>
          <p:nvPr/>
        </p:nvSpPr>
        <p:spPr>
          <a:xfrm>
            <a:off x="8686800" y="5084064"/>
            <a:ext cx="3063240" cy="292608"/>
          </a:xfrm>
          <a:prstGeom prst="rect">
            <a:avLst/>
          </a:prstGeom>
          <a:noFill/>
          <a:ln w="9525">
            <a:solidFill>
              <a:srgbClr val="1118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00" b="1">
                <a:solidFill>
                  <a:srgbClr val="111827"/>
                </a:solidFill>
                <a:latin typeface="Arial"/>
              </a:rPr>
              <a:t>Manager governance</a:t>
            </a:r>
          </a:p>
        </p:txBody>
      </p:sp>
      <p:cxnSp>
        <p:nvCxnSpPr>
          <p:cNvPr id="17471" name="Connector 17470"/>
          <p:cNvCxnSpPr/>
          <p:nvPr/>
        </p:nvCxnSpPr>
        <p:spPr>
          <a:xfrm>
            <a:off x="10213848" y="5385816"/>
            <a:ext cx="0" cy="100584"/>
          </a:xfrm>
          <a:prstGeom prst="line">
            <a:avLst/>
          </a:prstGeom>
          <a:ln w="15875">
            <a:solidFill>
              <a:srgbClr val="1118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72" name="Rectangle 17471"/>
          <p:cNvSpPr/>
          <p:nvPr/>
        </p:nvSpPr>
        <p:spPr>
          <a:xfrm>
            <a:off x="8686800" y="5495544"/>
            <a:ext cx="3063240" cy="292608"/>
          </a:xfrm>
          <a:prstGeom prst="rect">
            <a:avLst/>
          </a:prstGeom>
          <a:noFill/>
          <a:ln w="9525">
            <a:solidFill>
              <a:srgbClr val="1118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00" b="1">
                <a:solidFill>
                  <a:srgbClr val="111827"/>
                </a:solidFill>
                <a:latin typeface="Arial"/>
              </a:rPr>
              <a:t>Driver 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920240" y="0"/>
            <a:ext cx="7772400" cy="1060704"/>
          </a:xfrm>
        </p:spPr>
        <p:txBody>
          <a:bodyPr anchor="ctr"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  <a:endParaRPr sz="2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74320" y="274320"/>
            <a:ext cx="1554480" cy="73152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36576" rIns="36576"/>
          <a:lstStyle/>
          <a:p>
            <a:pPr algn="ctr"/>
            <a:r>
              <a:rPr sz="1000" b="1">
                <a:solidFill>
                  <a:srgbClr val="111827"/>
                </a:solidFill>
                <a:latin typeface="Arial"/>
              </a:rPr>
              <a:t>NER-AI LOGISTICS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57200" y="1024128"/>
            <a:ext cx="54864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0F766E"/>
                </a:solidFill>
                <a:latin typeface="Courier New"/>
              </a:rPr>
              <a:t>RUN LOG / PHYSICAL ANDROID / HOSTED BACKEND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457200" y="1225296"/>
            <a:ext cx="868680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111827"/>
                </a:solidFill>
                <a:latin typeface="Arial"/>
              </a:rPr>
              <a:t>Not a concept. A working end-to-end prototype.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457200" y="1682496"/>
            <a:ext cx="731520" cy="29260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9525">
            <a:solidFill>
              <a:srgbClr val="1118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PLAN</a:t>
            </a:r>
          </a:p>
        </p:txBody>
      </p:sp>
      <p:cxnSp>
        <p:nvCxnSpPr>
          <p:cNvPr id="17413" name="Connector 17412"/>
          <p:cNvCxnSpPr/>
          <p:nvPr/>
        </p:nvCxnSpPr>
        <p:spPr>
          <a:xfrm>
            <a:off x="1207008" y="1828800"/>
            <a:ext cx="64008" cy="0"/>
          </a:xfrm>
          <a:prstGeom prst="line">
            <a:avLst/>
          </a:prstGeom>
          <a:ln w="15875">
            <a:solidFill>
              <a:srgbClr val="1118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4" name="Rounded Rectangle 17413"/>
          <p:cNvSpPr/>
          <p:nvPr/>
        </p:nvSpPr>
        <p:spPr>
          <a:xfrm>
            <a:off x="1289304" y="1682496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9525">
            <a:solidFill>
              <a:srgbClr val="1118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REVIEW</a:t>
            </a:r>
          </a:p>
        </p:txBody>
      </p:sp>
      <p:cxnSp>
        <p:nvCxnSpPr>
          <p:cNvPr id="17415" name="Connector 17414"/>
          <p:cNvCxnSpPr/>
          <p:nvPr/>
        </p:nvCxnSpPr>
        <p:spPr>
          <a:xfrm>
            <a:off x="2176272" y="1828800"/>
            <a:ext cx="64008" cy="0"/>
          </a:xfrm>
          <a:prstGeom prst="line">
            <a:avLst/>
          </a:prstGeom>
          <a:ln w="15875">
            <a:solidFill>
              <a:srgbClr val="1118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6" name="Rounded Rectangle 17415"/>
          <p:cNvSpPr/>
          <p:nvPr/>
        </p:nvSpPr>
        <p:spPr>
          <a:xfrm>
            <a:off x="2258568" y="1682496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118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50" b="1">
                <a:solidFill>
                  <a:srgbClr val="111827"/>
                </a:solidFill>
                <a:latin typeface="Arial"/>
              </a:rPr>
              <a:t>DISPATCH</a:t>
            </a:r>
          </a:p>
        </p:txBody>
      </p:sp>
      <p:cxnSp>
        <p:nvCxnSpPr>
          <p:cNvPr id="17417" name="Connector 17416"/>
          <p:cNvCxnSpPr/>
          <p:nvPr/>
        </p:nvCxnSpPr>
        <p:spPr>
          <a:xfrm>
            <a:off x="3282696" y="1828800"/>
            <a:ext cx="64008" cy="0"/>
          </a:xfrm>
          <a:prstGeom prst="line">
            <a:avLst/>
          </a:prstGeom>
          <a:ln w="15875">
            <a:solidFill>
              <a:srgbClr val="1118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8" name="Rounded Rectangle 17417"/>
          <p:cNvSpPr/>
          <p:nvPr/>
        </p:nvSpPr>
        <p:spPr>
          <a:xfrm>
            <a:off x="3364992" y="1682496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118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50" b="1">
                <a:solidFill>
                  <a:srgbClr val="111827"/>
                </a:solidFill>
                <a:latin typeface="Arial"/>
              </a:rPr>
              <a:t>ACCEPT</a:t>
            </a:r>
          </a:p>
        </p:txBody>
      </p:sp>
      <p:cxnSp>
        <p:nvCxnSpPr>
          <p:cNvPr id="17419" name="Connector 17418"/>
          <p:cNvCxnSpPr/>
          <p:nvPr/>
        </p:nvCxnSpPr>
        <p:spPr>
          <a:xfrm>
            <a:off x="4297680" y="1828800"/>
            <a:ext cx="64008" cy="0"/>
          </a:xfrm>
          <a:prstGeom prst="line">
            <a:avLst/>
          </a:prstGeom>
          <a:ln w="15875">
            <a:solidFill>
              <a:srgbClr val="1118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0" name="Rounded Rectangle 17419"/>
          <p:cNvSpPr/>
          <p:nvPr/>
        </p:nvSpPr>
        <p:spPr>
          <a:xfrm>
            <a:off x="4379976" y="1682496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118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50" b="1">
                <a:solidFill>
                  <a:srgbClr val="111827"/>
                </a:solidFill>
                <a:latin typeface="Arial"/>
              </a:rPr>
              <a:t>TRUCK VERIFY</a:t>
            </a:r>
          </a:p>
        </p:txBody>
      </p:sp>
      <p:cxnSp>
        <p:nvCxnSpPr>
          <p:cNvPr id="17421" name="Connector 17420"/>
          <p:cNvCxnSpPr/>
          <p:nvPr/>
        </p:nvCxnSpPr>
        <p:spPr>
          <a:xfrm>
            <a:off x="5632704" y="1828800"/>
            <a:ext cx="64008" cy="0"/>
          </a:xfrm>
          <a:prstGeom prst="line">
            <a:avLst/>
          </a:prstGeom>
          <a:ln w="15875">
            <a:solidFill>
              <a:srgbClr val="1118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2" name="Rounded Rectangle 17421"/>
          <p:cNvSpPr/>
          <p:nvPr/>
        </p:nvSpPr>
        <p:spPr>
          <a:xfrm>
            <a:off x="5715000" y="1682496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118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50" b="1">
                <a:solidFill>
                  <a:srgbClr val="111827"/>
                </a:solidFill>
                <a:latin typeface="Arial"/>
              </a:rPr>
              <a:t>NAVIGATE</a:t>
            </a:r>
          </a:p>
        </p:txBody>
      </p:sp>
      <p:cxnSp>
        <p:nvCxnSpPr>
          <p:cNvPr id="17423" name="Connector 17422"/>
          <p:cNvCxnSpPr/>
          <p:nvPr/>
        </p:nvCxnSpPr>
        <p:spPr>
          <a:xfrm>
            <a:off x="6784848" y="1828800"/>
            <a:ext cx="64008" cy="0"/>
          </a:xfrm>
          <a:prstGeom prst="line">
            <a:avLst/>
          </a:prstGeom>
          <a:ln w="15875">
            <a:solidFill>
              <a:srgbClr val="1118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4" name="Rounded Rectangle 17423"/>
          <p:cNvSpPr/>
          <p:nvPr/>
        </p:nvSpPr>
        <p:spPr>
          <a:xfrm>
            <a:off x="6867144" y="1682496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118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50" b="1">
                <a:solidFill>
                  <a:srgbClr val="111827"/>
                </a:solidFill>
                <a:latin typeface="Arial"/>
              </a:rPr>
              <a:t>OFF-ROUTE</a:t>
            </a:r>
          </a:p>
        </p:txBody>
      </p:sp>
      <p:cxnSp>
        <p:nvCxnSpPr>
          <p:cNvPr id="17425" name="Connector 17424"/>
          <p:cNvCxnSpPr/>
          <p:nvPr/>
        </p:nvCxnSpPr>
        <p:spPr>
          <a:xfrm>
            <a:off x="7936992" y="1828800"/>
            <a:ext cx="64008" cy="0"/>
          </a:xfrm>
          <a:prstGeom prst="line">
            <a:avLst/>
          </a:prstGeom>
          <a:ln w="15875">
            <a:solidFill>
              <a:srgbClr val="1118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6" name="Rounded Rectangle 17425"/>
          <p:cNvSpPr/>
          <p:nvPr/>
        </p:nvSpPr>
        <p:spPr>
          <a:xfrm>
            <a:off x="8019288" y="1682496"/>
            <a:ext cx="2057400" cy="29260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9525">
            <a:solidFill>
              <a:srgbClr val="1118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MANAGER REROUTE APPROVAL</a:t>
            </a:r>
          </a:p>
        </p:txBody>
      </p:sp>
      <p:cxnSp>
        <p:nvCxnSpPr>
          <p:cNvPr id="17427" name="Connector 17426"/>
          <p:cNvCxnSpPr/>
          <p:nvPr/>
        </p:nvCxnSpPr>
        <p:spPr>
          <a:xfrm>
            <a:off x="10094976" y="1828800"/>
            <a:ext cx="64008" cy="0"/>
          </a:xfrm>
          <a:prstGeom prst="line">
            <a:avLst/>
          </a:prstGeom>
          <a:ln w="15875">
            <a:solidFill>
              <a:srgbClr val="1118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8" name="Rounded Rectangle 17427"/>
          <p:cNvSpPr/>
          <p:nvPr/>
        </p:nvSpPr>
        <p:spPr>
          <a:xfrm>
            <a:off x="10177272" y="1682496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 w="9525">
            <a:solidFill>
              <a:srgbClr val="1118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DELIVERY</a:t>
            </a:r>
          </a:p>
        </p:txBody>
      </p:sp>
      <p:cxnSp>
        <p:nvCxnSpPr>
          <p:cNvPr id="17429" name="Connector 17428"/>
          <p:cNvCxnSpPr/>
          <p:nvPr/>
        </p:nvCxnSpPr>
        <p:spPr>
          <a:xfrm>
            <a:off x="457200" y="2103120"/>
            <a:ext cx="11292840" cy="0"/>
          </a:xfrm>
          <a:prstGeom prst="line">
            <a:avLst/>
          </a:prstGeom>
          <a:ln w="1905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0" name="Rounded Rectangle 17429"/>
          <p:cNvSpPr/>
          <p:nvPr/>
        </p:nvSpPr>
        <p:spPr>
          <a:xfrm>
            <a:off x="425196" y="2217420"/>
            <a:ext cx="2264283" cy="3264408"/>
          </a:xfrm>
          <a:prstGeom prst="roundRect">
            <a:avLst>
              <a:gd name="adj" fmla="val 2423"/>
            </a:avLst>
          </a:prstGeom>
          <a:solidFill>
            <a:srgbClr val="FFFFFF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31" name="Picture 17430" descr="mg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249424"/>
            <a:ext cx="2200275" cy="3200400"/>
          </a:xfrm>
          <a:prstGeom prst="rect">
            <a:avLst/>
          </a:prstGeom>
        </p:spPr>
      </p:pic>
      <p:sp>
        <p:nvSpPr>
          <p:cNvPr id="17432" name="Rounded Rectangle 17431"/>
          <p:cNvSpPr/>
          <p:nvPr/>
        </p:nvSpPr>
        <p:spPr>
          <a:xfrm>
            <a:off x="2808351" y="2217420"/>
            <a:ext cx="1505062" cy="3264408"/>
          </a:xfrm>
          <a:prstGeom prst="roundRect">
            <a:avLst>
              <a:gd name="adj" fmla="val 3645"/>
            </a:avLst>
          </a:prstGeom>
          <a:solidFill>
            <a:srgbClr val="FFFFFF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33" name="Picture 17432" descr="tru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0355" y="2249424"/>
            <a:ext cx="1441054" cy="3200400"/>
          </a:xfrm>
          <a:prstGeom prst="rect">
            <a:avLst/>
          </a:prstGeom>
        </p:spPr>
      </p:pic>
      <p:sp>
        <p:nvSpPr>
          <p:cNvPr id="17434" name="Rounded Rectangle 17433"/>
          <p:cNvSpPr/>
          <p:nvPr/>
        </p:nvSpPr>
        <p:spPr>
          <a:xfrm>
            <a:off x="4432285" y="2217420"/>
            <a:ext cx="1505062" cy="3264408"/>
          </a:xfrm>
          <a:prstGeom prst="roundRect">
            <a:avLst>
              <a:gd name="adj" fmla="val 3645"/>
            </a:avLst>
          </a:prstGeom>
          <a:solidFill>
            <a:srgbClr val="FFFFFF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35" name="Picture 17434" descr="nav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4289" y="2249424"/>
            <a:ext cx="1441054" cy="3200400"/>
          </a:xfrm>
          <a:prstGeom prst="rect">
            <a:avLst/>
          </a:prstGeom>
        </p:spPr>
      </p:pic>
      <p:sp>
        <p:nvSpPr>
          <p:cNvPr id="17436" name="TextBox 17435"/>
          <p:cNvSpPr txBox="1"/>
          <p:nvPr/>
        </p:nvSpPr>
        <p:spPr>
          <a:xfrm>
            <a:off x="457200" y="5504688"/>
            <a:ext cx="2200275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9CA3AF"/>
                </a:solidFill>
                <a:latin typeface="Courier New"/>
              </a:rPr>
              <a:t>MANAGER / ROUTE REVIEW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2840355" y="5504688"/>
            <a:ext cx="1441054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9CA3AF"/>
                </a:solidFill>
                <a:latin typeface="Courier New"/>
              </a:rPr>
              <a:t>DRIVER / TRUCK CHECK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4464289" y="5504688"/>
            <a:ext cx="1441054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9CA3AF"/>
                </a:solidFill>
                <a:latin typeface="Courier New"/>
              </a:rPr>
              <a:t>DRIVER / NAVIGATION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6216239" y="2231136"/>
            <a:ext cx="55338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0F766E"/>
                </a:solidFill>
                <a:latin typeface="Courier New"/>
              </a:rPr>
              <a:t>EVIDENCE OF EXECUTION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6216239" y="2468880"/>
            <a:ext cx="553380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111827"/>
                </a:solidFill>
                <a:latin typeface="Arial"/>
              </a:rPr>
              <a:t>The whole lifecycle above was run end to end on a physical Android phone against the hosted backend, on the real road.</a:t>
            </a:r>
          </a:p>
        </p:txBody>
      </p:sp>
      <p:cxnSp>
        <p:nvCxnSpPr>
          <p:cNvPr id="17441" name="Connector 17440"/>
          <p:cNvCxnSpPr/>
          <p:nvPr/>
        </p:nvCxnSpPr>
        <p:spPr>
          <a:xfrm>
            <a:off x="6216239" y="3072384"/>
            <a:ext cx="5533801" cy="0"/>
          </a:xfrm>
          <a:prstGeom prst="line">
            <a:avLst/>
          </a:prstGeom>
          <a:ln w="9525">
            <a:solidFill>
              <a:srgbClr val="D8DE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2" name="TextBox 17441"/>
          <p:cNvSpPr txBox="1"/>
          <p:nvPr/>
        </p:nvSpPr>
        <p:spPr>
          <a:xfrm>
            <a:off x="6216239" y="3108960"/>
            <a:ext cx="859536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0F766E"/>
                </a:solidFill>
                <a:latin typeface="Arial"/>
              </a:rPr>
              <a:t>12/12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7148927" y="3108960"/>
            <a:ext cx="4601112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11827"/>
                </a:solidFill>
                <a:latin typeface="Arial"/>
              </a:rPr>
              <a:t>physical judge-flow steps</a:t>
            </a:r>
          </a:p>
        </p:txBody>
      </p:sp>
      <p:cxnSp>
        <p:nvCxnSpPr>
          <p:cNvPr id="17444" name="Connector 17443"/>
          <p:cNvCxnSpPr/>
          <p:nvPr/>
        </p:nvCxnSpPr>
        <p:spPr>
          <a:xfrm>
            <a:off x="6216239" y="3474720"/>
            <a:ext cx="5533801" cy="0"/>
          </a:xfrm>
          <a:prstGeom prst="line">
            <a:avLst/>
          </a:prstGeom>
          <a:ln w="9525">
            <a:solidFill>
              <a:srgbClr val="D8DE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5" name="TextBox 17444"/>
          <p:cNvSpPr txBox="1"/>
          <p:nvPr/>
        </p:nvSpPr>
        <p:spPr>
          <a:xfrm>
            <a:off x="6216239" y="3511296"/>
            <a:ext cx="859536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0F766E"/>
                </a:solidFill>
                <a:latin typeface="Arial"/>
              </a:rPr>
              <a:t>9/9</a:t>
            </a:r>
          </a:p>
        </p:txBody>
      </p:sp>
      <p:sp>
        <p:nvSpPr>
          <p:cNvPr id="17446" name="TextBox 17445"/>
          <p:cNvSpPr txBox="1"/>
          <p:nvPr/>
        </p:nvSpPr>
        <p:spPr>
          <a:xfrm>
            <a:off x="7148927" y="3511296"/>
            <a:ext cx="4601112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11827"/>
                </a:solidFill>
                <a:latin typeface="Arial"/>
              </a:rPr>
              <a:t>physical role-flow steps</a:t>
            </a:r>
          </a:p>
        </p:txBody>
      </p:sp>
      <p:cxnSp>
        <p:nvCxnSpPr>
          <p:cNvPr id="17447" name="Connector 17446"/>
          <p:cNvCxnSpPr/>
          <p:nvPr/>
        </p:nvCxnSpPr>
        <p:spPr>
          <a:xfrm>
            <a:off x="6216239" y="3877056"/>
            <a:ext cx="5533801" cy="0"/>
          </a:xfrm>
          <a:prstGeom prst="line">
            <a:avLst/>
          </a:prstGeom>
          <a:ln w="9525">
            <a:solidFill>
              <a:srgbClr val="D8DE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8" name="TextBox 17447"/>
          <p:cNvSpPr txBox="1"/>
          <p:nvPr/>
        </p:nvSpPr>
        <p:spPr>
          <a:xfrm>
            <a:off x="6216239" y="3913632"/>
            <a:ext cx="5533800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Arial"/>
              </a:rPr>
              <a:t>1138+ </a:t>
            </a:r>
            <a:r>
              <a:rPr sz="1050" b="0">
                <a:solidFill>
                  <a:srgbClr val="111827"/>
                </a:solidFill>
                <a:latin typeface="Arial"/>
              </a:rPr>
              <a:t>backend  ·  </a:t>
            </a:r>
            <a:r>
              <a:rPr sz="1300" b="1">
                <a:solidFill>
                  <a:srgbClr val="0F766E"/>
                </a:solidFill>
                <a:latin typeface="Arial"/>
              </a:rPr>
              <a:t>621+ </a:t>
            </a:r>
            <a:r>
              <a:rPr sz="1050" b="0">
                <a:solidFill>
                  <a:srgbClr val="111827"/>
                </a:solidFill>
                <a:latin typeface="Arial"/>
              </a:rPr>
              <a:t>driver  ·  </a:t>
            </a:r>
            <a:r>
              <a:rPr sz="1300" b="1">
                <a:solidFill>
                  <a:srgbClr val="0F766E"/>
                </a:solidFill>
                <a:latin typeface="Arial"/>
              </a:rPr>
              <a:t>170+ </a:t>
            </a:r>
            <a:r>
              <a:rPr sz="1050" b="0">
                <a:solidFill>
                  <a:srgbClr val="111827"/>
                </a:solidFill>
                <a:latin typeface="Arial"/>
              </a:rPr>
              <a:t>manager tests</a:t>
            </a:r>
          </a:p>
        </p:txBody>
      </p:sp>
      <p:sp>
        <p:nvSpPr>
          <p:cNvPr id="17449" name="Rectangle 17448"/>
          <p:cNvSpPr/>
          <p:nvPr/>
        </p:nvSpPr>
        <p:spPr>
          <a:xfrm>
            <a:off x="6216239" y="4334256"/>
            <a:ext cx="5533800" cy="329184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PHYSICAL ANDROID · CERTIFIED</a:t>
            </a:r>
          </a:p>
        </p:txBody>
      </p:sp>
      <p:sp>
        <p:nvSpPr>
          <p:cNvPr id="17450" name="TextBox 17449"/>
          <p:cNvSpPr txBox="1"/>
          <p:nvPr/>
        </p:nvSpPr>
        <p:spPr>
          <a:xfrm>
            <a:off x="6216239" y="4754880"/>
            <a:ext cx="55338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9CA3AF"/>
                </a:solidFill>
                <a:latin typeface="Courier New"/>
              </a:rPr>
              <a:t>CANONICAL DEMO: GUWAHATI → SHILLONG / ≈ 98.8 KM REAL ROUTE</a:t>
            </a:r>
          </a:p>
        </p:txBody>
      </p:sp>
      <p:cxnSp>
        <p:nvCxnSpPr>
          <p:cNvPr id="17451" name="Connector 17450"/>
          <p:cNvCxnSpPr/>
          <p:nvPr/>
        </p:nvCxnSpPr>
        <p:spPr>
          <a:xfrm>
            <a:off x="457200" y="5870448"/>
            <a:ext cx="11292840" cy="0"/>
          </a:xfrm>
          <a:prstGeom prst="line">
            <a:avLst/>
          </a:prstGeom>
          <a:ln w="9525">
            <a:solidFill>
              <a:srgbClr val="D8DE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2" name="TextBox 17451"/>
          <p:cNvSpPr txBox="1"/>
          <p:nvPr/>
        </p:nvSpPr>
        <p:spPr>
          <a:xfrm>
            <a:off x="457200" y="5925312"/>
            <a:ext cx="201168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B45309"/>
                </a:solidFill>
                <a:latin typeface="Courier New"/>
              </a:rPr>
              <a:t>KNOWN LIMITS</a:t>
            </a:r>
          </a:p>
        </p:txBody>
      </p:sp>
      <p:sp>
        <p:nvSpPr>
          <p:cNvPr id="17453" name="TextBox 17452"/>
          <p:cNvSpPr txBox="1"/>
          <p:nvPr/>
        </p:nvSpPr>
        <p:spPr>
          <a:xfrm>
            <a:off x="2304288" y="5907024"/>
            <a:ext cx="9445752" cy="42062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4B5563"/>
                </a:solidFill>
                <a:latin typeface="Arial"/>
              </a:rPr>
              <a:t>Render cold start → warm /health before the demo  ·  provider rate limits → cached evidence + explicit UNKNOWN  ·  background push needs Firebase config → in-app alerts already work  ·  experimental ML → outside routing until the gate passes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920240" y="0"/>
            <a:ext cx="7772400" cy="1060704"/>
          </a:xfrm>
        </p:spPr>
        <p:txBody>
          <a:bodyPr anchor="ctr"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  <a:endParaRPr sz="2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74320" y="274320"/>
            <a:ext cx="1554480" cy="73152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36576" rIns="36576"/>
          <a:lstStyle/>
          <a:p>
            <a:pPr algn="ctr"/>
            <a:r>
              <a:rPr sz="1000" b="1">
                <a:solidFill>
                  <a:srgbClr val="111827"/>
                </a:solidFill>
                <a:latin typeface="Arial"/>
              </a:rPr>
              <a:t>NER-AI LOGISTICS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57200" y="1042415"/>
            <a:ext cx="54864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0F766E"/>
                </a:solidFill>
                <a:latin typeface="Courier New"/>
              </a:rPr>
              <a:t>IMPACT / WHO GAINS WHAT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457200" y="1261872"/>
            <a:ext cx="8046720" cy="7498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50" b="0">
                <a:solidFill>
                  <a:srgbClr val="4B5563"/>
                </a:solidFill>
                <a:latin typeface="Arial"/>
              </a:rPr>
              <a:t>RASTA AI does not ask only </a:t>
            </a:r>
            <a:r>
              <a:rPr sz="1750" b="1">
                <a:solidFill>
                  <a:srgbClr val="111827"/>
                </a:solidFill>
                <a:latin typeface="Arial"/>
              </a:rPr>
              <a:t>“Which road is shortest?”</a:t>
            </a:r>
            <a:r>
              <a:rPr sz="1750" b="0">
                <a:solidFill>
                  <a:srgbClr val="4B5563"/>
                </a:solidFill>
                <a:latin typeface="Arial"/>
              </a:rPr>
              <a:t>  It asks  </a:t>
            </a:r>
            <a:r>
              <a:rPr sz="1750" b="1">
                <a:solidFill>
                  <a:srgbClr val="0F766E"/>
                </a:solidFill>
                <a:latin typeface="Arial"/>
              </a:rPr>
              <a:t>“Can this truck reliably use this corridor now?”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457200" y="2048256"/>
            <a:ext cx="8046720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15803D"/>
                </a:solidFill>
                <a:latin typeface="Arial"/>
              </a:rPr>
              <a:t>FOOD  ·  MEDICINE  ·  FUEL  ·  RELIEF SUPPLIES</a:t>
            </a:r>
            <a:r>
              <a:rPr sz="1100" b="0">
                <a:solidFill>
                  <a:srgbClr val="4B5563"/>
                </a:solidFill>
                <a:latin typeface="Arial"/>
              </a:rPr>
              <a:t>   — essential logistics for hill communities, decided on evidence</a:t>
            </a:r>
          </a:p>
        </p:txBody>
      </p:sp>
      <p:cxnSp>
        <p:nvCxnSpPr>
          <p:cNvPr id="17413" name="Connector 17412"/>
          <p:cNvCxnSpPr/>
          <p:nvPr/>
        </p:nvCxnSpPr>
        <p:spPr>
          <a:xfrm>
            <a:off x="457200" y="2432304"/>
            <a:ext cx="8065008" cy="0"/>
          </a:xfrm>
          <a:prstGeom prst="line">
            <a:avLst/>
          </a:prstGeom>
          <a:ln w="1905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4" name="TextBox 17413"/>
          <p:cNvSpPr txBox="1"/>
          <p:nvPr/>
        </p:nvSpPr>
        <p:spPr>
          <a:xfrm>
            <a:off x="457200" y="2560320"/>
            <a:ext cx="192024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0F766E"/>
                </a:solidFill>
                <a:latin typeface="Courier New"/>
              </a:rPr>
              <a:t>FLEET.MANAGERS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2468880" y="2523744"/>
            <a:ext cx="6053328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11827"/>
                </a:solidFill>
                <a:latin typeface="Arial"/>
              </a:rPr>
              <a:t>Route usability and uncertainty visible before dispatch; auditable decisions.</a:t>
            </a:r>
          </a:p>
        </p:txBody>
      </p:sp>
      <p:cxnSp>
        <p:nvCxnSpPr>
          <p:cNvPr id="17416" name="Connector 17415"/>
          <p:cNvCxnSpPr/>
          <p:nvPr/>
        </p:nvCxnSpPr>
        <p:spPr>
          <a:xfrm>
            <a:off x="457200" y="2834639"/>
            <a:ext cx="8065008" cy="0"/>
          </a:xfrm>
          <a:prstGeom prst="line">
            <a:avLst/>
          </a:prstGeom>
          <a:ln w="9525">
            <a:solidFill>
              <a:srgbClr val="D8DE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7" name="TextBox 17416"/>
          <p:cNvSpPr txBox="1"/>
          <p:nvPr/>
        </p:nvSpPr>
        <p:spPr>
          <a:xfrm>
            <a:off x="457200" y="2944368"/>
            <a:ext cx="192024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0F766E"/>
                </a:solidFill>
                <a:latin typeface="Courier New"/>
              </a:rPr>
              <a:t>DRIVERS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2468880" y="2907791"/>
            <a:ext cx="6053328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11827"/>
                </a:solidFill>
                <a:latin typeface="Arial"/>
              </a:rPr>
              <a:t>Safer navigation, danger context, emergency support, 23 languages.</a:t>
            </a:r>
          </a:p>
        </p:txBody>
      </p:sp>
      <p:cxnSp>
        <p:nvCxnSpPr>
          <p:cNvPr id="17419" name="Connector 17418"/>
          <p:cNvCxnSpPr/>
          <p:nvPr/>
        </p:nvCxnSpPr>
        <p:spPr>
          <a:xfrm>
            <a:off x="457200" y="3218687"/>
            <a:ext cx="8065008" cy="0"/>
          </a:xfrm>
          <a:prstGeom prst="line">
            <a:avLst/>
          </a:prstGeom>
          <a:ln w="9525">
            <a:solidFill>
              <a:srgbClr val="D8DE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0" name="TextBox 17419"/>
          <p:cNvSpPr txBox="1"/>
          <p:nvPr/>
        </p:nvSpPr>
        <p:spPr>
          <a:xfrm>
            <a:off x="457200" y="3328415"/>
            <a:ext cx="192024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0F766E"/>
                </a:solidFill>
                <a:latin typeface="Courier New"/>
              </a:rPr>
              <a:t>REMOTE.COMMUNITIES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2468880" y="3291839"/>
            <a:ext cx="6053328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11827"/>
                </a:solidFill>
                <a:latin typeface="Arial"/>
              </a:rPr>
              <a:t>More resilient access to food, medicine, fuel and relief supplies.</a:t>
            </a:r>
          </a:p>
        </p:txBody>
      </p:sp>
      <p:cxnSp>
        <p:nvCxnSpPr>
          <p:cNvPr id="17422" name="Connector 17421"/>
          <p:cNvCxnSpPr/>
          <p:nvPr/>
        </p:nvCxnSpPr>
        <p:spPr>
          <a:xfrm>
            <a:off x="457200" y="3602735"/>
            <a:ext cx="8065008" cy="0"/>
          </a:xfrm>
          <a:prstGeom prst="line">
            <a:avLst/>
          </a:prstGeom>
          <a:ln w="9525">
            <a:solidFill>
              <a:srgbClr val="D8DE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3" name="TextBox 17422"/>
          <p:cNvSpPr txBox="1"/>
          <p:nvPr/>
        </p:nvSpPr>
        <p:spPr>
          <a:xfrm>
            <a:off x="457200" y="3712463"/>
            <a:ext cx="192024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0F766E"/>
                </a:solidFill>
                <a:latin typeface="Courier New"/>
              </a:rPr>
              <a:t>GOVERNMENT/OPERATIONS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2468880" y="3675887"/>
            <a:ext cx="6053328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11827"/>
                </a:solidFill>
                <a:latin typeface="Arial"/>
              </a:rPr>
              <a:t>Auditable route evidence and disruption visibility per corridor.</a:t>
            </a:r>
          </a:p>
        </p:txBody>
      </p:sp>
      <p:cxnSp>
        <p:nvCxnSpPr>
          <p:cNvPr id="17425" name="Connector 17424"/>
          <p:cNvCxnSpPr/>
          <p:nvPr/>
        </p:nvCxnSpPr>
        <p:spPr>
          <a:xfrm>
            <a:off x="457200" y="3986783"/>
            <a:ext cx="8065008" cy="0"/>
          </a:xfrm>
          <a:prstGeom prst="line">
            <a:avLst/>
          </a:prstGeom>
          <a:ln w="9525">
            <a:solidFill>
              <a:srgbClr val="D8DE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6" name="TextBox 17425"/>
          <p:cNvSpPr txBox="1"/>
          <p:nvPr/>
        </p:nvSpPr>
        <p:spPr>
          <a:xfrm>
            <a:off x="457200" y="4114799"/>
            <a:ext cx="54864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0F766E"/>
                </a:solidFill>
                <a:latin typeface="Courier New"/>
              </a:rPr>
              <a:t>DEMONSTRATED TODAY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457200" y="4352544"/>
            <a:ext cx="841248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0F766E"/>
                </a:solidFill>
                <a:latin typeface="Arial"/>
              </a:rPr>
              <a:t>23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1371600" y="4352544"/>
            <a:ext cx="301752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11827"/>
                </a:solidFill>
                <a:latin typeface="Arial"/>
              </a:rPr>
              <a:t>selectable languages, explicit fallback status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457200" y="4736592"/>
            <a:ext cx="841248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0F766E"/>
                </a:solidFill>
                <a:latin typeface="Arial"/>
              </a:rPr>
              <a:t>11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1371600" y="4736592"/>
            <a:ext cx="301752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11827"/>
                </a:solidFill>
                <a:latin typeface="Arial"/>
              </a:rPr>
              <a:t>route factors in every decision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457200" y="5120640"/>
            <a:ext cx="841248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0F766E"/>
                </a:solidFill>
                <a:latin typeface="Arial"/>
              </a:rPr>
              <a:t>60 s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1371600" y="5120640"/>
            <a:ext cx="301752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11827"/>
                </a:solidFill>
                <a:latin typeface="Arial"/>
              </a:rPr>
              <a:t>route-ahead monitor while driving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4517136" y="4352544"/>
            <a:ext cx="841248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0F766E"/>
                </a:solidFill>
                <a:latin typeface="Arial"/>
              </a:rPr>
              <a:t>12/12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5431536" y="4352544"/>
            <a:ext cx="301752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11827"/>
                </a:solidFill>
                <a:latin typeface="Arial"/>
              </a:rPr>
              <a:t>judge-flow steps certified on a physical phone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4517136" y="4736592"/>
            <a:ext cx="841248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0F766E"/>
                </a:solidFill>
                <a:latin typeface="Arial"/>
              </a:rPr>
              <a:t>100 %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5431536" y="4736592"/>
            <a:ext cx="301752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11827"/>
                </a:solidFill>
                <a:latin typeface="Arial"/>
              </a:rPr>
              <a:t>of reroutes reviewed by a human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4517136" y="5120640"/>
            <a:ext cx="841248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0F766E"/>
                </a:solidFill>
                <a:latin typeface="Arial"/>
              </a:rPr>
              <a:t>0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5431536" y="5120640"/>
            <a:ext cx="301752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11827"/>
                </a:solidFill>
                <a:latin typeface="Arial"/>
              </a:rPr>
              <a:t>unknown factors counted as safe</a:t>
            </a:r>
          </a:p>
        </p:txBody>
      </p:sp>
      <p:cxnSp>
        <p:nvCxnSpPr>
          <p:cNvPr id="17439" name="Connector 17438"/>
          <p:cNvCxnSpPr/>
          <p:nvPr/>
        </p:nvCxnSpPr>
        <p:spPr>
          <a:xfrm>
            <a:off x="457200" y="5596128"/>
            <a:ext cx="8065008" cy="0"/>
          </a:xfrm>
          <a:prstGeom prst="line">
            <a:avLst/>
          </a:prstGeom>
          <a:ln w="1905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0" name="TextBox 17439"/>
          <p:cNvSpPr txBox="1"/>
          <p:nvPr/>
        </p:nvSpPr>
        <p:spPr>
          <a:xfrm>
            <a:off x="457200" y="5650992"/>
            <a:ext cx="54864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9CA3AF"/>
                </a:solidFill>
                <a:latin typeface="Courier New"/>
              </a:rPr>
              <a:t>HUMAN GOVERNANCE — AI HAS NO UNCONTROLLED AUTHORITY</a:t>
            </a:r>
          </a:p>
        </p:txBody>
      </p:sp>
      <p:sp>
        <p:nvSpPr>
          <p:cNvPr id="17441" name="Rounded Rectangle 17440"/>
          <p:cNvSpPr/>
          <p:nvPr/>
        </p:nvSpPr>
        <p:spPr>
          <a:xfrm>
            <a:off x="457200" y="5907024"/>
            <a:ext cx="1865376" cy="310896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9525">
            <a:solidFill>
              <a:srgbClr val="1118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Verified evidence</a:t>
            </a:r>
          </a:p>
        </p:txBody>
      </p:sp>
      <p:cxnSp>
        <p:nvCxnSpPr>
          <p:cNvPr id="17442" name="Connector 17441"/>
          <p:cNvCxnSpPr/>
          <p:nvPr/>
        </p:nvCxnSpPr>
        <p:spPr>
          <a:xfrm>
            <a:off x="2340864" y="6062472"/>
            <a:ext cx="164592" cy="0"/>
          </a:xfrm>
          <a:prstGeom prst="line">
            <a:avLst/>
          </a:prstGeom>
          <a:ln w="15875">
            <a:solidFill>
              <a:srgbClr val="1118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3" name="Rounded Rectangle 17442"/>
          <p:cNvSpPr/>
          <p:nvPr/>
        </p:nvSpPr>
        <p:spPr>
          <a:xfrm>
            <a:off x="2523744" y="5907024"/>
            <a:ext cx="186537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118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00" b="1">
                <a:solidFill>
                  <a:srgbClr val="111827"/>
                </a:solidFill>
                <a:latin typeface="Arial"/>
              </a:rPr>
              <a:t>Deterministic safety policy</a:t>
            </a:r>
          </a:p>
        </p:txBody>
      </p:sp>
      <p:cxnSp>
        <p:nvCxnSpPr>
          <p:cNvPr id="17444" name="Connector 17443"/>
          <p:cNvCxnSpPr/>
          <p:nvPr/>
        </p:nvCxnSpPr>
        <p:spPr>
          <a:xfrm>
            <a:off x="4407408" y="6062472"/>
            <a:ext cx="164592" cy="0"/>
          </a:xfrm>
          <a:prstGeom prst="line">
            <a:avLst/>
          </a:prstGeom>
          <a:ln w="15875">
            <a:solidFill>
              <a:srgbClr val="1118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5" name="Rounded Rectangle 17444"/>
          <p:cNvSpPr/>
          <p:nvPr/>
        </p:nvSpPr>
        <p:spPr>
          <a:xfrm>
            <a:off x="4590288" y="5907024"/>
            <a:ext cx="186537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118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00" b="1">
                <a:solidFill>
                  <a:srgbClr val="111827"/>
                </a:solidFill>
                <a:latin typeface="Arial"/>
              </a:rPr>
              <a:t>Manager governance</a:t>
            </a:r>
          </a:p>
        </p:txBody>
      </p:sp>
      <p:cxnSp>
        <p:nvCxnSpPr>
          <p:cNvPr id="17446" name="Connector 17445"/>
          <p:cNvCxnSpPr/>
          <p:nvPr/>
        </p:nvCxnSpPr>
        <p:spPr>
          <a:xfrm>
            <a:off x="6473952" y="6062472"/>
            <a:ext cx="164592" cy="0"/>
          </a:xfrm>
          <a:prstGeom prst="line">
            <a:avLst/>
          </a:prstGeom>
          <a:ln w="15875">
            <a:solidFill>
              <a:srgbClr val="1118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7" name="Rounded Rectangle 17446"/>
          <p:cNvSpPr/>
          <p:nvPr/>
        </p:nvSpPr>
        <p:spPr>
          <a:xfrm>
            <a:off x="6656832" y="5907024"/>
            <a:ext cx="186537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118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00" b="1">
                <a:solidFill>
                  <a:srgbClr val="111827"/>
                </a:solidFill>
                <a:latin typeface="Arial"/>
              </a:rPr>
              <a:t>Driver action</a:t>
            </a:r>
          </a:p>
        </p:txBody>
      </p:sp>
      <p:sp>
        <p:nvSpPr>
          <p:cNvPr id="17448" name="TextBox 17447"/>
          <p:cNvSpPr txBox="1"/>
          <p:nvPr/>
        </p:nvSpPr>
        <p:spPr>
          <a:xfrm>
            <a:off x="8686800" y="1042415"/>
            <a:ext cx="306324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0F766E"/>
                </a:solidFill>
                <a:latin typeface="Courier New"/>
              </a:rPr>
              <a:t>EXHIBIT C — REAL SCREENS / APK 1.0.18</a:t>
            </a:r>
          </a:p>
        </p:txBody>
      </p:sp>
      <p:cxnSp>
        <p:nvCxnSpPr>
          <p:cNvPr id="17449" name="Connector 17448"/>
          <p:cNvCxnSpPr/>
          <p:nvPr/>
        </p:nvCxnSpPr>
        <p:spPr>
          <a:xfrm>
            <a:off x="8686800" y="1280160"/>
            <a:ext cx="3063240" cy="0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0" name="Rounded Rectangle 17449"/>
          <p:cNvSpPr/>
          <p:nvPr/>
        </p:nvSpPr>
        <p:spPr>
          <a:xfrm>
            <a:off x="8654796" y="1376172"/>
            <a:ext cx="1687324" cy="2350008"/>
          </a:xfrm>
          <a:prstGeom prst="roundRect">
            <a:avLst>
              <a:gd name="adj" fmla="val 3251"/>
            </a:avLst>
          </a:prstGeom>
          <a:solidFill>
            <a:srgbClr val="FFFFFF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51" name="Picture 17450" descr="la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1408176"/>
            <a:ext cx="1623316" cy="2286000"/>
          </a:xfrm>
          <a:prstGeom prst="rect">
            <a:avLst/>
          </a:prstGeom>
        </p:spPr>
      </p:pic>
      <p:sp>
        <p:nvSpPr>
          <p:cNvPr id="17452" name="Rounded Rectangle 17451"/>
          <p:cNvSpPr/>
          <p:nvPr/>
        </p:nvSpPr>
        <p:spPr>
          <a:xfrm>
            <a:off x="10424416" y="1376172"/>
            <a:ext cx="1142181" cy="2350008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53" name="Picture 17452" descr="mob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6420" y="1408176"/>
            <a:ext cx="1078173" cy="2286000"/>
          </a:xfrm>
          <a:prstGeom prst="rect">
            <a:avLst/>
          </a:prstGeom>
        </p:spPr>
      </p:pic>
      <p:sp>
        <p:nvSpPr>
          <p:cNvPr id="17454" name="TextBox 17453"/>
          <p:cNvSpPr txBox="1"/>
          <p:nvPr/>
        </p:nvSpPr>
        <p:spPr>
          <a:xfrm>
            <a:off x="8686800" y="3785615"/>
            <a:ext cx="1623316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9CA3AF"/>
                </a:solidFill>
                <a:latin typeface="Courier New"/>
              </a:rPr>
              <a:t>DRIVER / 23 LANGUAGES</a:t>
            </a:r>
          </a:p>
        </p:txBody>
      </p:sp>
      <p:sp>
        <p:nvSpPr>
          <p:cNvPr id="17455" name="TextBox 17454"/>
          <p:cNvSpPr txBox="1"/>
          <p:nvPr/>
        </p:nvSpPr>
        <p:spPr>
          <a:xfrm>
            <a:off x="10456420" y="3785615"/>
            <a:ext cx="1078173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9CA3AF"/>
                </a:solidFill>
                <a:latin typeface="Courier New"/>
              </a:rPr>
              <a:t>MANAGER / MOBILE</a:t>
            </a:r>
          </a:p>
        </p:txBody>
      </p:sp>
      <p:sp>
        <p:nvSpPr>
          <p:cNvPr id="17456" name="TextBox 17455"/>
          <p:cNvSpPr txBox="1"/>
          <p:nvPr/>
        </p:nvSpPr>
        <p:spPr>
          <a:xfrm>
            <a:off x="8686800" y="4078224"/>
            <a:ext cx="3063240" cy="1828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4B5563"/>
                </a:solidFill>
                <a:latin typeface="Arial"/>
              </a:rPr>
              <a:t>Real screens, APK 1.0.18. One login, server-decided role: a manager gets a mobile fleet view, a driver gets navigation. Each language shows its status — Verified, Draft or English fallback — so nobody is misled.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920240" y="0"/>
            <a:ext cx="7772400" cy="1060704"/>
          </a:xfrm>
        </p:spPr>
        <p:txBody>
          <a:bodyPr anchor="ctr"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  <a:endParaRPr sz="2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74320" y="274320"/>
            <a:ext cx="1554480" cy="73152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36576" rIns="36576"/>
          <a:lstStyle/>
          <a:p>
            <a:pPr algn="ctr"/>
            <a:r>
              <a:rPr sz="1000" b="1">
                <a:solidFill>
                  <a:srgbClr val="111827"/>
                </a:solidFill>
                <a:latin typeface="Arial"/>
              </a:rPr>
              <a:t>NER-AI LOGISTICS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57200" y="1078992"/>
            <a:ext cx="676656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0F766E"/>
                </a:solidFill>
                <a:latin typeface="Courier New"/>
              </a:rPr>
              <a:t>SOURCE REGISTER / EVIDENCE BEHIND THE ROUTE DECISION</a:t>
            </a:r>
          </a:p>
        </p:txBody>
      </p:sp>
      <p:cxnSp>
        <p:nvCxnSpPr>
          <p:cNvPr id="17411" name="Connector 17410"/>
          <p:cNvCxnSpPr/>
          <p:nvPr/>
        </p:nvCxnSpPr>
        <p:spPr>
          <a:xfrm>
            <a:off x="457200" y="1316736"/>
            <a:ext cx="6784848" cy="0"/>
          </a:xfrm>
          <a:prstGeom prst="line">
            <a:avLst/>
          </a:prstGeom>
          <a:ln w="1905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2" name="TextBox 17411"/>
          <p:cNvSpPr txBox="1"/>
          <p:nvPr/>
        </p:nvSpPr>
        <p:spPr>
          <a:xfrm>
            <a:off x="457200" y="1417320"/>
            <a:ext cx="173736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0F766E"/>
                </a:solidFill>
                <a:latin typeface="Courier New"/>
              </a:rPr>
              <a:t>ROUTING/PLACES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2240280" y="1389888"/>
            <a:ext cx="4544568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11827"/>
                </a:solidFill>
                <a:latin typeface="Arial"/>
              </a:rPr>
              <a:t>OSRM · OpenStreetMap · Nominatim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4B5563"/>
                </a:solidFill>
                <a:latin typeface="Arial"/>
              </a:rPr>
              <a:t>real road geometry, alternatives and turn steps; place search on the corridor</a:t>
            </a:r>
          </a:p>
        </p:txBody>
      </p:sp>
      <p:cxnSp>
        <p:nvCxnSpPr>
          <p:cNvPr id="17414" name="Connector 17413"/>
          <p:cNvCxnSpPr/>
          <p:nvPr/>
        </p:nvCxnSpPr>
        <p:spPr>
          <a:xfrm>
            <a:off x="457200" y="2066543"/>
            <a:ext cx="6784848" cy="0"/>
          </a:xfrm>
          <a:prstGeom prst="line">
            <a:avLst/>
          </a:prstGeom>
          <a:ln w="9525">
            <a:solidFill>
              <a:srgbClr val="D8DE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5" name="TextBox 17414"/>
          <p:cNvSpPr txBox="1"/>
          <p:nvPr/>
        </p:nvSpPr>
        <p:spPr>
          <a:xfrm>
            <a:off x="457200" y="2167127"/>
            <a:ext cx="173736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0F766E"/>
                </a:solidFill>
                <a:latin typeface="Courier New"/>
              </a:rPr>
              <a:t>WEATHER/TERRAIN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2240280" y="2139696"/>
            <a:ext cx="4544568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11827"/>
                </a:solidFill>
                <a:latin typeface="Arial"/>
              </a:rPr>
              <a:t>Open-Meteo · MET Norway · Copernicus DEM · OpenTopoData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4B5563"/>
                </a:solidFill>
                <a:latin typeface="Arial"/>
              </a:rPr>
              <a:t>forecast sampled along the road; climb, gradient and steep segments (GLO-90)</a:t>
            </a:r>
          </a:p>
        </p:txBody>
      </p:sp>
      <p:cxnSp>
        <p:nvCxnSpPr>
          <p:cNvPr id="17417" name="Connector 17416"/>
          <p:cNvCxnSpPr/>
          <p:nvPr/>
        </p:nvCxnSpPr>
        <p:spPr>
          <a:xfrm>
            <a:off x="457200" y="2816352"/>
            <a:ext cx="6784848" cy="0"/>
          </a:xfrm>
          <a:prstGeom prst="line">
            <a:avLst/>
          </a:prstGeom>
          <a:ln w="9525">
            <a:solidFill>
              <a:srgbClr val="D8DE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8" name="TextBox 17417"/>
          <p:cNvSpPr txBox="1"/>
          <p:nvPr/>
        </p:nvSpPr>
        <p:spPr>
          <a:xfrm>
            <a:off x="457200" y="2916935"/>
            <a:ext cx="173736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0F766E"/>
                </a:solidFill>
                <a:latin typeface="Courier New"/>
              </a:rPr>
              <a:t>OFFICIAL/FLOOD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2240280" y="2889503"/>
            <a:ext cx="4544568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11827"/>
                </a:solidFill>
                <a:latin typeface="Arial"/>
              </a:rPr>
              <a:t>NDMA SACHET (CAP) · Copernicus GloFAS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4B5563"/>
                </a:solidFill>
                <a:latin typeface="Arial"/>
              </a:rPr>
              <a:t>official warnings polled with freshness; river discharge against its 30-day mean</a:t>
            </a:r>
          </a:p>
        </p:txBody>
      </p:sp>
      <p:cxnSp>
        <p:nvCxnSpPr>
          <p:cNvPr id="17420" name="Connector 17419"/>
          <p:cNvCxnSpPr/>
          <p:nvPr/>
        </p:nvCxnSpPr>
        <p:spPr>
          <a:xfrm>
            <a:off x="457200" y="3566159"/>
            <a:ext cx="6784848" cy="0"/>
          </a:xfrm>
          <a:prstGeom prst="line">
            <a:avLst/>
          </a:prstGeom>
          <a:ln w="9525">
            <a:solidFill>
              <a:srgbClr val="D8DE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1" name="TextBox 17420"/>
          <p:cNvSpPr txBox="1"/>
          <p:nvPr/>
        </p:nvSpPr>
        <p:spPr>
          <a:xfrm>
            <a:off x="457200" y="3666744"/>
            <a:ext cx="173736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0F766E"/>
                </a:solidFill>
                <a:latin typeface="Courier New"/>
              </a:rPr>
              <a:t>LANDSLIDE.HISTORY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2240280" y="3639311"/>
            <a:ext cx="4544568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11827"/>
                </a:solidFill>
                <a:latin typeface="Arial"/>
              </a:rPr>
              <a:t>NASA Global Landslide Catalog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4B5563"/>
                </a:solidFill>
                <a:latin typeface="Arial"/>
              </a:rPr>
              <a:t>historical exposure; inventory 2007–2017, ≤5 km location-accuracy filter</a:t>
            </a:r>
          </a:p>
        </p:txBody>
      </p:sp>
      <p:cxnSp>
        <p:nvCxnSpPr>
          <p:cNvPr id="17423" name="Connector 17422"/>
          <p:cNvCxnSpPr/>
          <p:nvPr/>
        </p:nvCxnSpPr>
        <p:spPr>
          <a:xfrm>
            <a:off x="457200" y="4315968"/>
            <a:ext cx="6784848" cy="0"/>
          </a:xfrm>
          <a:prstGeom prst="line">
            <a:avLst/>
          </a:prstGeom>
          <a:ln w="9525">
            <a:solidFill>
              <a:srgbClr val="D8DE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4" name="TextBox 17423"/>
          <p:cNvSpPr txBox="1"/>
          <p:nvPr/>
        </p:nvSpPr>
        <p:spPr>
          <a:xfrm>
            <a:off x="457200" y="4416552"/>
            <a:ext cx="173736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0F766E"/>
                </a:solidFill>
                <a:latin typeface="Courier New"/>
              </a:rPr>
              <a:t>AI.ASSISTANCE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2240280" y="4389120"/>
            <a:ext cx="4544568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11827"/>
                </a:solidFill>
                <a:latin typeface="Arial"/>
              </a:rPr>
              <a:t>Google Gemini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4B5563"/>
                </a:solidFill>
                <a:latin typeface="Arial"/>
              </a:rPr>
              <a:t>explains the decision in the driver's language — never safety authority</a:t>
            </a:r>
          </a:p>
        </p:txBody>
      </p:sp>
      <p:cxnSp>
        <p:nvCxnSpPr>
          <p:cNvPr id="17426" name="Connector 17425"/>
          <p:cNvCxnSpPr/>
          <p:nvPr/>
        </p:nvCxnSpPr>
        <p:spPr>
          <a:xfrm>
            <a:off x="457200" y="5065776"/>
            <a:ext cx="6784848" cy="0"/>
          </a:xfrm>
          <a:prstGeom prst="line">
            <a:avLst/>
          </a:prstGeom>
          <a:ln w="9525">
            <a:solidFill>
              <a:srgbClr val="D8DE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7" name="TextBox 17426"/>
          <p:cNvSpPr txBox="1"/>
          <p:nvPr/>
        </p:nvSpPr>
        <p:spPr>
          <a:xfrm>
            <a:off x="457200" y="5166360"/>
            <a:ext cx="173736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0F766E"/>
                </a:solidFill>
                <a:latin typeface="Courier New"/>
              </a:rPr>
              <a:t>PROBLEM.STATEMENT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2240280" y="5138928"/>
            <a:ext cx="4544568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11827"/>
                </a:solidFill>
                <a:latin typeface="Arial"/>
              </a:rPr>
              <a:t>MDoNER · SIH26002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4B5563"/>
                </a:solidFill>
                <a:latin typeface="Arial"/>
              </a:rPr>
              <a:t>AI-based smart logistics and accessibility intelligence for the NER</a:t>
            </a:r>
          </a:p>
        </p:txBody>
      </p:sp>
      <p:cxnSp>
        <p:nvCxnSpPr>
          <p:cNvPr id="17429" name="Connector 17428"/>
          <p:cNvCxnSpPr/>
          <p:nvPr/>
        </p:nvCxnSpPr>
        <p:spPr>
          <a:xfrm>
            <a:off x="457200" y="5815584"/>
            <a:ext cx="6784848" cy="0"/>
          </a:xfrm>
          <a:prstGeom prst="line">
            <a:avLst/>
          </a:prstGeom>
          <a:ln w="9525">
            <a:solidFill>
              <a:srgbClr val="D8DE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0" name="TextBox 17429"/>
          <p:cNvSpPr txBox="1"/>
          <p:nvPr/>
        </p:nvSpPr>
        <p:spPr>
          <a:xfrm>
            <a:off x="7498079" y="1078992"/>
            <a:ext cx="425196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0F766E"/>
                </a:solidFill>
                <a:latin typeface="Courier New"/>
              </a:rPr>
              <a:t>EXPERIMENTAL LANDSLIDE RESEARCH</a:t>
            </a:r>
          </a:p>
        </p:txBody>
      </p:sp>
      <p:cxnSp>
        <p:nvCxnSpPr>
          <p:cNvPr id="17431" name="Connector 17430"/>
          <p:cNvCxnSpPr/>
          <p:nvPr/>
        </p:nvCxnSpPr>
        <p:spPr>
          <a:xfrm>
            <a:off x="7498079" y="1316736"/>
            <a:ext cx="4251961" cy="0"/>
          </a:xfrm>
          <a:prstGeom prst="line">
            <a:avLst/>
          </a:prstGeom>
          <a:ln w="1905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2" name="TextBox 17431"/>
          <p:cNvSpPr txBox="1"/>
          <p:nvPr/>
        </p:nvSpPr>
        <p:spPr>
          <a:xfrm>
            <a:off x="7498079" y="1426464"/>
            <a:ext cx="1737360" cy="85953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400" b="1">
                <a:solidFill>
                  <a:srgbClr val="111827"/>
                </a:solidFill>
                <a:latin typeface="Arial"/>
              </a:rPr>
              <a:t>95 %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9235440" y="1463040"/>
            <a:ext cx="2514600" cy="80467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111827"/>
                </a:solidFill>
                <a:latin typeface="Arial"/>
              </a:rPr>
              <a:t>RECALL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4B5563"/>
                </a:solidFill>
                <a:latin typeface="Arial"/>
              </a:rPr>
              <a:t>on the NER geographic holdout — 154 catalogued events, no NER row used in training</a:t>
            </a:r>
          </a:p>
        </p:txBody>
      </p:sp>
      <p:sp>
        <p:nvSpPr>
          <p:cNvPr id="17434" name="Rectangle 17433"/>
          <p:cNvSpPr/>
          <p:nvPr/>
        </p:nvSpPr>
        <p:spPr>
          <a:xfrm>
            <a:off x="7498079" y="2395728"/>
            <a:ext cx="4251960" cy="7315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5" name="TextBox 17434"/>
          <p:cNvSpPr txBox="1"/>
          <p:nvPr/>
        </p:nvSpPr>
        <p:spPr>
          <a:xfrm>
            <a:off x="7498079" y="2450592"/>
            <a:ext cx="4251960" cy="6400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9CA3AF"/>
                </a:solidFill>
                <a:latin typeface="Courier New"/>
              </a:rPr>
              <a:t>SAFETY GATE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NOT DEPLOYED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7498079" y="3200400"/>
            <a:ext cx="4251960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B91C1C"/>
                </a:solidFill>
                <a:latin typeface="Arial"/>
              </a:rPr>
              <a:t>FPR 50 %</a:t>
            </a:r>
            <a:r>
              <a:rPr sz="1000" b="0">
                <a:solidFill>
                  <a:srgbClr val="4B5563"/>
                </a:solidFill>
                <a:latin typeface="Arial"/>
              </a:rPr>
              <a:t>   too high for production deployment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7498079" y="3566160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118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111827"/>
                </a:solidFill>
                <a:latin typeface="Arial"/>
              </a:rPr>
              <a:t>TRAIN</a:t>
            </a:r>
          </a:p>
        </p:txBody>
      </p:sp>
      <p:cxnSp>
        <p:nvCxnSpPr>
          <p:cNvPr id="17438" name="Connector 17437"/>
          <p:cNvCxnSpPr/>
          <p:nvPr/>
        </p:nvCxnSpPr>
        <p:spPr>
          <a:xfrm>
            <a:off x="8247888" y="3694176"/>
            <a:ext cx="36576" cy="0"/>
          </a:xfrm>
          <a:prstGeom prst="line">
            <a:avLst/>
          </a:prstGeom>
          <a:ln w="15875">
            <a:solidFill>
              <a:srgbClr val="1118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9" name="Rounded Rectangle 17438"/>
          <p:cNvSpPr/>
          <p:nvPr/>
        </p:nvSpPr>
        <p:spPr>
          <a:xfrm>
            <a:off x="8302752" y="3566160"/>
            <a:ext cx="1499616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118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111827"/>
                </a:solidFill>
                <a:latin typeface="Arial"/>
              </a:rPr>
              <a:t>HELD-OUT NER TEST</a:t>
            </a:r>
          </a:p>
        </p:txBody>
      </p:sp>
      <p:cxnSp>
        <p:nvCxnSpPr>
          <p:cNvPr id="17440" name="Connector 17439"/>
          <p:cNvCxnSpPr/>
          <p:nvPr/>
        </p:nvCxnSpPr>
        <p:spPr>
          <a:xfrm>
            <a:off x="9820656" y="3694176"/>
            <a:ext cx="36576" cy="0"/>
          </a:xfrm>
          <a:prstGeom prst="line">
            <a:avLst/>
          </a:prstGeom>
          <a:ln w="15875">
            <a:solidFill>
              <a:srgbClr val="1118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1" name="Rounded Rectangle 17440"/>
          <p:cNvSpPr/>
          <p:nvPr/>
        </p:nvSpPr>
        <p:spPr>
          <a:xfrm>
            <a:off x="9875520" y="3566160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118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111827"/>
                </a:solidFill>
                <a:latin typeface="Arial"/>
              </a:rPr>
              <a:t>USEFUL SIGNAL FOUND</a:t>
            </a:r>
          </a:p>
        </p:txBody>
      </p:sp>
      <p:sp>
        <p:nvSpPr>
          <p:cNvPr id="17442" name="Rounded Rectangle 17441"/>
          <p:cNvSpPr/>
          <p:nvPr/>
        </p:nvSpPr>
        <p:spPr>
          <a:xfrm>
            <a:off x="7498079" y="3913632"/>
            <a:ext cx="1810512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118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111827"/>
                </a:solidFill>
                <a:latin typeface="Arial"/>
              </a:rPr>
              <a:t>FALSE POSITIVES TOO HIGH</a:t>
            </a:r>
          </a:p>
        </p:txBody>
      </p:sp>
      <p:cxnSp>
        <p:nvCxnSpPr>
          <p:cNvPr id="17443" name="Connector 17442"/>
          <p:cNvCxnSpPr/>
          <p:nvPr/>
        </p:nvCxnSpPr>
        <p:spPr>
          <a:xfrm>
            <a:off x="9326880" y="4041648"/>
            <a:ext cx="36576" cy="0"/>
          </a:xfrm>
          <a:prstGeom prst="line">
            <a:avLst/>
          </a:prstGeom>
          <a:ln w="15875">
            <a:solidFill>
              <a:srgbClr val="1118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4" name="Rounded Rectangle 17443"/>
          <p:cNvSpPr/>
          <p:nvPr/>
        </p:nvSpPr>
        <p:spPr>
          <a:xfrm>
            <a:off x="9381744" y="3913632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118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111827"/>
                </a:solidFill>
                <a:latin typeface="Arial"/>
              </a:rPr>
              <a:t>SAFETY GATE</a:t>
            </a:r>
          </a:p>
        </p:txBody>
      </p:sp>
      <p:cxnSp>
        <p:nvCxnSpPr>
          <p:cNvPr id="17445" name="Connector 17444"/>
          <p:cNvCxnSpPr/>
          <p:nvPr/>
        </p:nvCxnSpPr>
        <p:spPr>
          <a:xfrm>
            <a:off x="10405872" y="4041648"/>
            <a:ext cx="36576" cy="0"/>
          </a:xfrm>
          <a:prstGeom prst="line">
            <a:avLst/>
          </a:prstGeom>
          <a:ln w="15875">
            <a:solidFill>
              <a:srgbClr val="1118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6" name="Rounded Rectangle 17445"/>
          <p:cNvSpPr/>
          <p:nvPr/>
        </p:nvSpPr>
        <p:spPr>
          <a:xfrm>
            <a:off x="10460736" y="3913632"/>
            <a:ext cx="1170432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118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111827"/>
                </a:solidFill>
                <a:latin typeface="Arial"/>
              </a:rPr>
              <a:t>NOT DEPLOYED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7498079" y="4297680"/>
            <a:ext cx="4251960" cy="6217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Arial"/>
              </a:rPr>
              <a:t>VALIDATION BEFORE AUTOMATION. </a:t>
            </a:r>
            <a:r>
              <a:rPr sz="1050" b="0">
                <a:solidFill>
                  <a:srgbClr val="111827"/>
                </a:solidFill>
                <a:latin typeface="Arial"/>
              </a:rPr>
              <a:t>Strong recall was not enough. Held-out testing exposed the false-positive rate, so the gate keeps the model out of routing.</a:t>
            </a:r>
          </a:p>
        </p:txBody>
      </p:sp>
      <p:sp>
        <p:nvSpPr>
          <p:cNvPr id="17448" name="TextBox 17447"/>
          <p:cNvSpPr txBox="1"/>
          <p:nvPr/>
        </p:nvSpPr>
        <p:spPr>
          <a:xfrm>
            <a:off x="7498079" y="4919472"/>
            <a:ext cx="425196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50" b="0">
                <a:solidFill>
                  <a:srgbClr val="4B5563"/>
                </a:solidFill>
                <a:latin typeface="Courier New"/>
              </a:rPr>
              <a:t>Precision 0.32 · F1 0.48 · PR-AUC 0.55 · ROC-AUC 0.83 · Brier 0.12 · calibrated logistic regression on NASA GLC + ERA5-Land rain + DEM slope · docs/HAZARD_ERROR_ANALYSIS.md</a:t>
            </a:r>
          </a:p>
        </p:txBody>
      </p:sp>
      <p:cxnSp>
        <p:nvCxnSpPr>
          <p:cNvPr id="17449" name="Connector 17448"/>
          <p:cNvCxnSpPr/>
          <p:nvPr/>
        </p:nvCxnSpPr>
        <p:spPr>
          <a:xfrm>
            <a:off x="457200" y="5632704"/>
            <a:ext cx="11292840" cy="0"/>
          </a:xfrm>
          <a:prstGeom prst="line">
            <a:avLst/>
          </a:prstGeom>
          <a:ln w="1905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0" name="TextBox 17449"/>
          <p:cNvSpPr txBox="1"/>
          <p:nvPr/>
        </p:nvSpPr>
        <p:spPr>
          <a:xfrm>
            <a:off x="457200" y="5687568"/>
            <a:ext cx="27432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9CA3AF"/>
                </a:solidFill>
                <a:latin typeface="Courier New"/>
              </a:rPr>
              <a:t>REFERENCES</a:t>
            </a:r>
          </a:p>
        </p:txBody>
      </p:sp>
      <p:sp>
        <p:nvSpPr>
          <p:cNvPr id="17451" name="TextBox 17450"/>
          <p:cNvSpPr txBox="1"/>
          <p:nvPr/>
        </p:nvSpPr>
        <p:spPr>
          <a:xfrm>
            <a:off x="457200" y="5888736"/>
            <a:ext cx="11292840" cy="4389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4B5563"/>
                </a:solidFill>
                <a:latin typeface="Arial"/>
              </a:rPr>
              <a:t>gpm.nasa.gov/landslides (NASA GLC)  ·  sachet.ndma.gov.in  ·  global-flood.emergency.copernicus.eu (GloFAS)  ·  open-meteo.com · api.met.no  ·  opentopodata.org · Copernicus DEM  ·  project-osrm.org · openstreetmap.org  ·  github.com/nxtlucifer/ner-ai-logistics (repository, tests, model registry)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RASTA AI — SIH26002 — Team NER-AI LOGISTICS (17)</dc:title>
  <dc:subject>AI-Based Smart Logistics and Accessibility Intelligence Platform for North Eastern Region (NER)</dc:subject>
  <dc:creator>NER-AI LOGISTICS</dc:creator>
  <cp:keywords>SIH26002, SIH 2026, RASTA AI, NER logistics, route intelligence</cp:keywords>
  <dc:description/>
  <cp:lastModifiedBy>NER-AI LOGISTICS</cp:lastModifiedBy>
  <cp:revision>148</cp:revision>
  <dcterms:created xsi:type="dcterms:W3CDTF">2013-12-12T18:46:50Z</dcterms:created>
  <dcterms:modified xsi:type="dcterms:W3CDTF">2026-06-02T09:29:39Z</dcterms:modified>
  <cp:category>Smart India Hackathon 2026 — Smart Automation — Software</cp:category>
</cp:coreProperties>
</file>