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1152144"/>
            <a:ext cx="3657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RECORD / SIH26002 / TEAM-17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1371600"/>
            <a:ext cx="603504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111827"/>
                </a:solidFill>
                <a:latin typeface="Arial"/>
              </a:rPr>
              <a:t>RASTA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975104"/>
            <a:ext cx="6035040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  <a:latin typeface="Arial"/>
              </a:rPr>
              <a:t>Route Intelligence for Essential-Supply Logistics in North Eastern India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2920" y="2432304"/>
            <a:ext cx="6035039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02920" y="2551175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PS.ID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84248" y="2505456"/>
            <a:ext cx="45537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F766E"/>
                </a:solidFill>
                <a:latin typeface="Arial"/>
              </a:rPr>
              <a:t>SIH26002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2834639"/>
            <a:ext cx="6035039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2920" y="2916935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PS.TITLE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84248" y="2871215"/>
            <a:ext cx="4553712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11827"/>
                </a:solidFill>
                <a:latin typeface="Arial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02920" y="3346703"/>
            <a:ext cx="6035039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02920" y="3428999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THEME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84248" y="3383279"/>
            <a:ext cx="45537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11827"/>
                </a:solidFill>
                <a:latin typeface="Arial"/>
              </a:rPr>
              <a:t>Smart Automation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3712463"/>
            <a:ext cx="6035039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3794760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CATEGORY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84248" y="3749040"/>
            <a:ext cx="45537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11827"/>
                </a:solidFill>
                <a:latin typeface="Arial"/>
              </a:rPr>
              <a:t>Software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02920" y="4078224"/>
            <a:ext cx="6035039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02920" y="4160520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TEAM.ID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84248" y="4114800"/>
            <a:ext cx="45537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11827"/>
                </a:solidFill>
                <a:latin typeface="Arial"/>
              </a:rPr>
              <a:t>17  (internal group no.)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02920" y="4443984"/>
            <a:ext cx="6035039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2920" y="4526280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TEAM.NAME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84248" y="4480560"/>
            <a:ext cx="45537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111827"/>
                </a:solidFill>
                <a:latin typeface="Arial"/>
              </a:rPr>
              <a:t>NER-AI LOGISTICS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2920" y="4809744"/>
            <a:ext cx="6035039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2920" y="4892040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MINISTRY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84248" y="4846320"/>
            <a:ext cx="45537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11827"/>
                </a:solidFill>
                <a:latin typeface="Arial"/>
              </a:rPr>
              <a:t>MDoNER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02920" y="5175504"/>
            <a:ext cx="6035039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02920" y="5175504"/>
            <a:ext cx="6035039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02920" y="5266944"/>
            <a:ext cx="603504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11827"/>
                </a:solidFill>
                <a:latin typeface="Arial"/>
              </a:rPr>
              <a:t>SHORTEST IS NOT ALWAYS USABLE.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669280"/>
            <a:ext cx="60350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0F766E"/>
                </a:solidFill>
                <a:latin typeface="Arial"/>
              </a:rPr>
              <a:t>“Can this essential-supply truck reliably use this corridor now?”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053328"/>
            <a:ext cx="60350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15803D"/>
                </a:solidFill>
                <a:latin typeface="Courier New"/>
              </a:rPr>
              <a:t>STATUS: WORKING PROTOTYPE / PHYSICAL-PHONE VALIDATED / CORRIDOR GUWAHATI-SHILLONG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1152144"/>
            <a:ext cx="48920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EXHIBIT A — LIVE WORKING SYSTEM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0" y="1389888"/>
            <a:ext cx="4892040" cy="0"/>
          </a:xfrm>
          <a:prstGeom prst="line">
            <a:avLst/>
          </a:prstGeom>
          <a:ln w="1524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871716" y="2235708"/>
            <a:ext cx="2528315" cy="3648456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9" name="Picture 68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267712"/>
            <a:ext cx="2464308" cy="3584448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9514332" y="1540764"/>
            <a:ext cx="1990903" cy="4343400"/>
          </a:xfrm>
          <a:prstGeom prst="roundRect">
            <a:avLst>
              <a:gd name="adj" fmla="val 2755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1" name="Picture 70" descr="na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1572768"/>
            <a:ext cx="1926895" cy="427939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858000" y="5943600"/>
            <a:ext cx="48920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MANAGER ROUTE REVIEW /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3657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IDEA / 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316736"/>
            <a:ext cx="80467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11827"/>
                </a:solidFill>
                <a:latin typeface="Arial"/>
              </a:rPr>
              <a:t>Not the shortest road. </a:t>
            </a:r>
            <a:r>
              <a:rPr sz="2400" b="1">
                <a:solidFill>
                  <a:srgbClr val="0F766E"/>
                </a:solidFill>
                <a:latin typeface="Arial"/>
              </a:rPr>
              <a:t>The road that is operationally usable now.</a:t>
            </a:r>
          </a:p>
        </p:txBody>
      </p:sp>
      <p:cxnSp>
        <p:nvCxnSpPr>
          <p:cNvPr id="15364" name="Connector 15363"/>
          <p:cNvCxnSpPr/>
          <p:nvPr/>
        </p:nvCxnSpPr>
        <p:spPr>
          <a:xfrm>
            <a:off x="457200" y="2157984"/>
            <a:ext cx="8065008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5" name="TextBox 15364"/>
          <p:cNvSpPr txBox="1"/>
          <p:nvPr/>
        </p:nvSpPr>
        <p:spPr>
          <a:xfrm>
            <a:off x="457200" y="2249424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PROBLEM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1938528" y="2231136"/>
            <a:ext cx="6583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4B5563"/>
                </a:solidFill>
                <a:latin typeface="Arial"/>
              </a:rPr>
              <a:t>Monsoon · landslides · floods · official warnings · single-lane hill roads · no signal.  </a:t>
            </a:r>
            <a:r>
              <a:rPr sz="1050" b="1">
                <a:solidFill>
                  <a:srgbClr val="B91C1C"/>
                </a:solidFill>
                <a:latin typeface="Arial"/>
              </a:rPr>
              <a:t>A shortest-path router still sends the truck.</a:t>
            </a:r>
          </a:p>
        </p:txBody>
      </p:sp>
      <p:cxnSp>
        <p:nvCxnSpPr>
          <p:cNvPr id="15367" name="Connector 15366"/>
          <p:cNvCxnSpPr/>
          <p:nvPr/>
        </p:nvCxnSpPr>
        <p:spPr>
          <a:xfrm>
            <a:off x="457200" y="2523744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8" name="Rectangle 15367"/>
          <p:cNvSpPr/>
          <p:nvPr/>
        </p:nvSpPr>
        <p:spPr>
          <a:xfrm>
            <a:off x="457200" y="2633472"/>
            <a:ext cx="45720" cy="1225296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TextBox 15368"/>
          <p:cNvSpPr txBox="1"/>
          <p:nvPr/>
        </p:nvSpPr>
        <p:spPr>
          <a:xfrm>
            <a:off x="621792" y="2633472"/>
            <a:ext cx="210312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BASELINE / NORMAL ROUTER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21792" y="2871215"/>
            <a:ext cx="301752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Origin  →  Shortest / fastest road  →  Truck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621792" y="3200400"/>
            <a:ext cx="786384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4B5563"/>
                </a:solidFill>
                <a:latin typeface="Arial"/>
              </a:rPr>
              <a:t>No terrain, weather or hazard check.  No governance. No answer when data is missing.</a:t>
            </a:r>
          </a:p>
        </p:txBody>
      </p:sp>
      <p:cxnSp>
        <p:nvCxnSpPr>
          <p:cNvPr id="15372" name="Connector 15371"/>
          <p:cNvCxnSpPr/>
          <p:nvPr/>
        </p:nvCxnSpPr>
        <p:spPr>
          <a:xfrm>
            <a:off x="457200" y="3840480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Rectangle 15372"/>
          <p:cNvSpPr/>
          <p:nvPr/>
        </p:nvSpPr>
        <p:spPr>
          <a:xfrm>
            <a:off x="457200" y="3931920"/>
            <a:ext cx="45720" cy="18836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4" name="TextBox 15373"/>
          <p:cNvSpPr txBox="1"/>
          <p:nvPr/>
        </p:nvSpPr>
        <p:spPr>
          <a:xfrm>
            <a:off x="621792" y="3931920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RASTA AI / EVIDENCE BEFORE THE ROAD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621792" y="4169663"/>
            <a:ext cx="7772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Origin  →  real OSRM route, alternatives, turn steps  →  route-specific evidence</a:t>
            </a:r>
          </a:p>
        </p:txBody>
      </p:sp>
      <p:sp>
        <p:nvSpPr>
          <p:cNvPr id="15376" name="Rectangle 15375"/>
          <p:cNvSpPr/>
          <p:nvPr/>
        </p:nvSpPr>
        <p:spPr>
          <a:xfrm>
            <a:off x="621792" y="4480559"/>
            <a:ext cx="804672" cy="237744"/>
          </a:xfrm>
          <a:prstGeom prst="rect">
            <a:avLst/>
          </a:prstGeom>
          <a:noFill/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11827"/>
                </a:solidFill>
                <a:latin typeface="Arial"/>
              </a:rPr>
              <a:t>Terrain</a:t>
            </a:r>
          </a:p>
        </p:txBody>
      </p:sp>
      <p:sp>
        <p:nvSpPr>
          <p:cNvPr id="15377" name="Rectangle 15376"/>
          <p:cNvSpPr/>
          <p:nvPr/>
        </p:nvSpPr>
        <p:spPr>
          <a:xfrm>
            <a:off x="1499616" y="4480559"/>
            <a:ext cx="804672" cy="237744"/>
          </a:xfrm>
          <a:prstGeom prst="rect">
            <a:avLst/>
          </a:prstGeom>
          <a:noFill/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11827"/>
                </a:solidFill>
                <a:latin typeface="Arial"/>
              </a:rPr>
              <a:t>Weather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2377440" y="4480559"/>
            <a:ext cx="1280160" cy="237744"/>
          </a:xfrm>
          <a:prstGeom prst="rect">
            <a:avLst/>
          </a:prstGeom>
          <a:noFill/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11827"/>
                </a:solidFill>
                <a:latin typeface="Arial"/>
              </a:rPr>
              <a:t>Landslide exposure</a:t>
            </a:r>
          </a:p>
        </p:txBody>
      </p:sp>
      <p:sp>
        <p:nvSpPr>
          <p:cNvPr id="15379" name="Rectangle 15378"/>
          <p:cNvSpPr/>
          <p:nvPr/>
        </p:nvSpPr>
        <p:spPr>
          <a:xfrm>
            <a:off x="3730752" y="4480559"/>
            <a:ext cx="1042415" cy="237744"/>
          </a:xfrm>
          <a:prstGeom prst="rect">
            <a:avLst/>
          </a:prstGeom>
          <a:noFill/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11827"/>
                </a:solidFill>
                <a:latin typeface="Arial"/>
              </a:rPr>
              <a:t>Flood context</a:t>
            </a:r>
          </a:p>
        </p:txBody>
      </p:sp>
      <p:sp>
        <p:nvSpPr>
          <p:cNvPr id="15380" name="Rectangle 15379"/>
          <p:cNvSpPr/>
          <p:nvPr/>
        </p:nvSpPr>
        <p:spPr>
          <a:xfrm>
            <a:off x="4846320" y="4480559"/>
            <a:ext cx="1188720" cy="237744"/>
          </a:xfrm>
          <a:prstGeom prst="rect">
            <a:avLst/>
          </a:prstGeom>
          <a:noFill/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11827"/>
                </a:solidFill>
                <a:latin typeface="Arial"/>
              </a:rPr>
              <a:t>Official warnings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6108192" y="4480559"/>
            <a:ext cx="950976" cy="237744"/>
          </a:xfrm>
          <a:prstGeom prst="rect">
            <a:avLst/>
          </a:prstGeom>
          <a:noFill/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11827"/>
                </a:solidFill>
                <a:latin typeface="Arial"/>
              </a:rPr>
              <a:t>Fleet traffic</a:t>
            </a:r>
          </a:p>
        </p:txBody>
      </p:sp>
      <p:sp>
        <p:nvSpPr>
          <p:cNvPr id="15382" name="Rectangle 15381"/>
          <p:cNvSpPr/>
          <p:nvPr/>
        </p:nvSpPr>
        <p:spPr>
          <a:xfrm>
            <a:off x="7132320" y="4480559"/>
            <a:ext cx="1280160" cy="237744"/>
          </a:xfrm>
          <a:prstGeom prst="rect">
            <a:avLst/>
          </a:prstGeom>
          <a:noFill/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11827"/>
                </a:solidFill>
                <a:latin typeface="Arial"/>
              </a:rPr>
              <a:t>Evidence freshness</a:t>
            </a:r>
          </a:p>
        </p:txBody>
      </p:sp>
      <p:sp>
        <p:nvSpPr>
          <p:cNvPr id="15383" name="Rectangle 15382"/>
          <p:cNvSpPr/>
          <p:nvPr/>
        </p:nvSpPr>
        <p:spPr>
          <a:xfrm>
            <a:off x="621792" y="4828031"/>
            <a:ext cx="1892808" cy="31089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CONTINUE</a:t>
            </a:r>
          </a:p>
        </p:txBody>
      </p:sp>
      <p:sp>
        <p:nvSpPr>
          <p:cNvPr id="15384" name="Rectangle 15383"/>
          <p:cNvSpPr/>
          <p:nvPr/>
        </p:nvSpPr>
        <p:spPr>
          <a:xfrm>
            <a:off x="2624328" y="4828031"/>
            <a:ext cx="1892808" cy="3108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CAUTION</a:t>
            </a:r>
          </a:p>
        </p:txBody>
      </p:sp>
      <p:sp>
        <p:nvSpPr>
          <p:cNvPr id="15385" name="Rectangle 15384"/>
          <p:cNvSpPr/>
          <p:nvPr/>
        </p:nvSpPr>
        <p:spPr>
          <a:xfrm>
            <a:off x="4626864" y="4828031"/>
            <a:ext cx="1892808" cy="3108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HOLD</a:t>
            </a:r>
          </a:p>
        </p:txBody>
      </p:sp>
      <p:sp>
        <p:nvSpPr>
          <p:cNvPr id="15386" name="Rectangle 15385"/>
          <p:cNvSpPr/>
          <p:nvPr/>
        </p:nvSpPr>
        <p:spPr>
          <a:xfrm>
            <a:off x="6629400" y="4828031"/>
            <a:ext cx="1892808" cy="31089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REROUTE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621792" y="5212079"/>
            <a:ext cx="7863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Manager governance  →  driver navigation, danger context, 23 languages, offline package</a:t>
            </a:r>
          </a:p>
        </p:txBody>
      </p:sp>
      <p:cxnSp>
        <p:nvCxnSpPr>
          <p:cNvPr id="15388" name="Connector 15387"/>
          <p:cNvCxnSpPr/>
          <p:nvPr/>
        </p:nvCxnSpPr>
        <p:spPr>
          <a:xfrm>
            <a:off x="457200" y="5724144"/>
            <a:ext cx="8065008" cy="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9" name="TextBox 15388"/>
          <p:cNvSpPr txBox="1"/>
          <p:nvPr/>
        </p:nvSpPr>
        <p:spPr>
          <a:xfrm>
            <a:off x="457200" y="5797296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Arial"/>
              </a:rPr>
              <a:t>UNKNOWN ≠ SAFE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2834640" y="5833872"/>
            <a:ext cx="5687568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Missing or stale evidence is marked UNKNOWN — never safe — and goes to an authorised reviewer.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8686800" y="1097280"/>
            <a:ext cx="3063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EXHIBIT B — CHECK CONDITIONS</a:t>
            </a:r>
          </a:p>
        </p:txBody>
      </p:sp>
      <p:cxnSp>
        <p:nvCxnSpPr>
          <p:cNvPr id="15392" name="Connector 15391"/>
          <p:cNvCxnSpPr/>
          <p:nvPr/>
        </p:nvCxnSpPr>
        <p:spPr>
          <a:xfrm>
            <a:off x="8686800" y="1335024"/>
            <a:ext cx="3063240" cy="0"/>
          </a:xfrm>
          <a:prstGeom prst="line">
            <a:avLst/>
          </a:prstGeom>
          <a:ln w="1524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3" name="Rounded Rectangle 15392"/>
          <p:cNvSpPr/>
          <p:nvPr/>
        </p:nvSpPr>
        <p:spPr>
          <a:xfrm>
            <a:off x="8654796" y="1431036"/>
            <a:ext cx="2918931" cy="4507992"/>
          </a:xfrm>
          <a:prstGeom prst="roundRect">
            <a:avLst>
              <a:gd name="adj" fmla="val 1879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4" name="Picture 15393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63040"/>
            <a:ext cx="2854923" cy="4443984"/>
          </a:xfrm>
          <a:prstGeom prst="rect">
            <a:avLst/>
          </a:prstGeom>
        </p:spPr>
      </p:pic>
      <p:sp>
        <p:nvSpPr>
          <p:cNvPr id="15395" name="TextBox 15394"/>
          <p:cNvSpPr txBox="1"/>
          <p:nvPr/>
        </p:nvSpPr>
        <p:spPr>
          <a:xfrm>
            <a:off x="8686800" y="5980176"/>
            <a:ext cx="3063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REAL SCREEN / EVIDENCE / FRESHNESS /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78992"/>
            <a:ext cx="54864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PIPELINE / VERIFIED DATA → DECISION → DRIVER</a:t>
            </a:r>
          </a:p>
        </p:txBody>
      </p:sp>
      <p:cxnSp>
        <p:nvCxnSpPr>
          <p:cNvPr id="17411" name="Connector 17410"/>
          <p:cNvCxnSpPr/>
          <p:nvPr/>
        </p:nvCxnSpPr>
        <p:spPr>
          <a:xfrm>
            <a:off x="457200" y="1316736"/>
            <a:ext cx="8065008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457200" y="1408176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WEATHER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938528" y="1371600"/>
            <a:ext cx="6583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Open-Meteo · MET Norway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457200" y="1645920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TextBox 17414"/>
          <p:cNvSpPr txBox="1"/>
          <p:nvPr/>
        </p:nvSpPr>
        <p:spPr>
          <a:xfrm>
            <a:off x="457200" y="1719072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TERRAIN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938528" y="1682496"/>
            <a:ext cx="6583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Copernicus DEM · OpenTopoData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457200" y="1956816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57200" y="2029968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WARNINGS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938528" y="1993392"/>
            <a:ext cx="6583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NDMA SACHET (CAP)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457200" y="2267712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457200" y="2340864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FLOOD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938528" y="2304288"/>
            <a:ext cx="6583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GloFAS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457200" y="2578608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457200" y="2651760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LANDSLIDE.HISTORY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938528" y="2615184"/>
            <a:ext cx="6583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NASA GLC 2007–17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457200" y="2889504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TextBox 17426"/>
          <p:cNvSpPr txBox="1"/>
          <p:nvPr/>
        </p:nvSpPr>
        <p:spPr>
          <a:xfrm>
            <a:off x="457200" y="2962656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TRAFFIC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938528" y="2926079"/>
            <a:ext cx="65836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fleet GPS fixes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457200" y="3200400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TextBox 17429"/>
          <p:cNvSpPr txBox="1"/>
          <p:nvPr/>
        </p:nvSpPr>
        <p:spPr>
          <a:xfrm>
            <a:off x="457200" y="3346703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EVIDENCE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938528" y="3310127"/>
            <a:ext cx="6583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every factor sampled along the selected road · PostgreSQL + PostGIS (Supabase) · OSRM routes, alternatives, turn steps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457200" y="3785615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TextBox 17432"/>
          <p:cNvSpPr txBox="1"/>
          <p:nvPr/>
        </p:nvSpPr>
        <p:spPr>
          <a:xfrm>
            <a:off x="457200" y="3895344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POLICY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938528" y="3858768"/>
            <a:ext cx="6583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Arial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11 factors · reason codes · UNKNOWN ≠ SAFE · reviewer authorisation when hazard data is missing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457200" y="4334256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TextBox 17435"/>
          <p:cNvSpPr txBox="1"/>
          <p:nvPr/>
        </p:nvSpPr>
        <p:spPr>
          <a:xfrm>
            <a:off x="457200" y="4462271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DECISION</a:t>
            </a:r>
          </a:p>
        </p:txBody>
      </p:sp>
      <p:sp>
        <p:nvSpPr>
          <p:cNvPr id="17437" name="Rectangle 17436"/>
          <p:cNvSpPr/>
          <p:nvPr/>
        </p:nvSpPr>
        <p:spPr>
          <a:xfrm>
            <a:off x="1938528" y="4407407"/>
            <a:ext cx="1563624" cy="31089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CONTINUE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3611880" y="4407407"/>
            <a:ext cx="1563624" cy="3108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CAUTION</a:t>
            </a:r>
          </a:p>
        </p:txBody>
      </p:sp>
      <p:sp>
        <p:nvSpPr>
          <p:cNvPr id="17439" name="Rectangle 17438"/>
          <p:cNvSpPr/>
          <p:nvPr/>
        </p:nvSpPr>
        <p:spPr>
          <a:xfrm>
            <a:off x="5285232" y="4407407"/>
            <a:ext cx="1563624" cy="3108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HOLD</a:t>
            </a:r>
          </a:p>
        </p:txBody>
      </p:sp>
      <p:sp>
        <p:nvSpPr>
          <p:cNvPr id="17440" name="Rectangle 17439"/>
          <p:cNvSpPr/>
          <p:nvPr/>
        </p:nvSpPr>
        <p:spPr>
          <a:xfrm>
            <a:off x="6958584" y="4407407"/>
            <a:ext cx="1563624" cy="310896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REROUTE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57200" y="4864607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LOOP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938528" y="4809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MANAGER REVIEW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3145536" y="4956048"/>
            <a:ext cx="27432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3191256" y="4809744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DRIVER NAVIGATION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4507992" y="4956048"/>
            <a:ext cx="27432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4553712" y="48097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ROUTE-AHEAD 60 s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815584" y="4956048"/>
            <a:ext cx="27432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5861304" y="4809744"/>
            <a:ext cx="14264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CONDITIONS CHANGE?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7306056" y="4956048"/>
            <a:ext cx="27432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7351776" y="4809744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REASSESS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457200" y="5230368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TextBox 17451"/>
          <p:cNvSpPr txBox="1"/>
          <p:nvPr/>
        </p:nvSpPr>
        <p:spPr>
          <a:xfrm>
            <a:off x="457200" y="5321807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CLIENTS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938528" y="5285231"/>
            <a:ext cx="658368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Manager console (React + TS) · Driver app (React Native / Expo, Android) · one login, server-decided role, offline package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57200" y="5742431"/>
            <a:ext cx="1371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STACK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938528" y="5705855"/>
            <a:ext cx="658368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111827"/>
                </a:solidFill>
                <a:latin typeface="Arial"/>
              </a:rPr>
              <a:t>FastAPI · PostgreSQL / PostGIS (Supabase) · React · React Native / Expo · OSRM · OpenStreetMap · Gemini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8686800" y="1078992"/>
            <a:ext cx="3063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AUTHORITY / WHO DECIDES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8686800" y="1316736"/>
            <a:ext cx="3063240" cy="0"/>
          </a:xfrm>
          <a:prstGeom prst="line">
            <a:avLst/>
          </a:prstGeom>
          <a:ln w="1524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Rectangle 17457"/>
          <p:cNvSpPr/>
          <p:nvPr/>
        </p:nvSpPr>
        <p:spPr>
          <a:xfrm>
            <a:off x="8686800" y="1426464"/>
            <a:ext cx="45720" cy="6217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TextBox 17458"/>
          <p:cNvSpPr txBox="1"/>
          <p:nvPr/>
        </p:nvSpPr>
        <p:spPr>
          <a:xfrm>
            <a:off x="8833104" y="1408176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Arial"/>
              </a:rPr>
              <a:t>makes every operational decision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8686800" y="2267712"/>
            <a:ext cx="45720" cy="62179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833104" y="2249424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Arial"/>
              </a:rPr>
              <a:t>explains the decision in the driver's language — never decides</a:t>
            </a:r>
          </a:p>
        </p:txBody>
      </p:sp>
      <p:sp>
        <p:nvSpPr>
          <p:cNvPr id="17462" name="Rectangle 17461"/>
          <p:cNvSpPr/>
          <p:nvPr/>
        </p:nvSpPr>
        <p:spPr>
          <a:xfrm>
            <a:off x="8686800" y="3108960"/>
            <a:ext cx="45720" cy="621792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TextBox 17462"/>
          <p:cNvSpPr txBox="1"/>
          <p:nvPr/>
        </p:nvSpPr>
        <p:spPr>
          <a:xfrm>
            <a:off x="8833104" y="3090672"/>
            <a:ext cx="2916936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11827"/>
                </a:solidFill>
                <a:latin typeface="Arial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Arial"/>
              </a:rPr>
              <a:t>research channel only; held outside routing by the safety gate</a:t>
            </a:r>
          </a:p>
        </p:txBody>
      </p:sp>
      <p:cxnSp>
        <p:nvCxnSpPr>
          <p:cNvPr id="17464" name="Connector 17463"/>
          <p:cNvCxnSpPr/>
          <p:nvPr/>
        </p:nvCxnSpPr>
        <p:spPr>
          <a:xfrm>
            <a:off x="8686800" y="3931920"/>
            <a:ext cx="3063240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5" name="TextBox 17464"/>
          <p:cNvSpPr txBox="1"/>
          <p:nvPr/>
        </p:nvSpPr>
        <p:spPr>
          <a:xfrm>
            <a:off x="8686800" y="4005072"/>
            <a:ext cx="3063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GOVERNANCE CHAIN</a:t>
            </a:r>
          </a:p>
        </p:txBody>
      </p:sp>
      <p:sp>
        <p:nvSpPr>
          <p:cNvPr id="17466" name="Rectangle 17465"/>
          <p:cNvSpPr/>
          <p:nvPr/>
        </p:nvSpPr>
        <p:spPr>
          <a:xfrm>
            <a:off x="8686800" y="4261104"/>
            <a:ext cx="3063240" cy="292608"/>
          </a:xfrm>
          <a:prstGeom prst="rect">
            <a:avLst/>
          </a:prstGeom>
          <a:noFill/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Verified evidence</a:t>
            </a:r>
          </a:p>
        </p:txBody>
      </p:sp>
      <p:cxnSp>
        <p:nvCxnSpPr>
          <p:cNvPr id="17467" name="Connector 17466"/>
          <p:cNvCxnSpPr/>
          <p:nvPr/>
        </p:nvCxnSpPr>
        <p:spPr>
          <a:xfrm>
            <a:off x="10213848" y="4562856"/>
            <a:ext cx="0" cy="100584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8" name="Rectangle 17467"/>
          <p:cNvSpPr/>
          <p:nvPr/>
        </p:nvSpPr>
        <p:spPr>
          <a:xfrm>
            <a:off x="8686800" y="4672584"/>
            <a:ext cx="3063240" cy="292608"/>
          </a:xfrm>
          <a:prstGeom prst="rect">
            <a:avLst/>
          </a:prstGeom>
          <a:noFill/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Deterministic safety policy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10213848" y="4974336"/>
            <a:ext cx="0" cy="100584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ectangle 17469"/>
          <p:cNvSpPr/>
          <p:nvPr/>
        </p:nvSpPr>
        <p:spPr>
          <a:xfrm>
            <a:off x="8686800" y="5084064"/>
            <a:ext cx="3063240" cy="292608"/>
          </a:xfrm>
          <a:prstGeom prst="rect">
            <a:avLst/>
          </a:prstGeom>
          <a:noFill/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Manager governance</a:t>
            </a:r>
          </a:p>
        </p:txBody>
      </p:sp>
      <p:cxnSp>
        <p:nvCxnSpPr>
          <p:cNvPr id="17471" name="Connector 17470"/>
          <p:cNvCxnSpPr/>
          <p:nvPr/>
        </p:nvCxnSpPr>
        <p:spPr>
          <a:xfrm>
            <a:off x="10213848" y="5385816"/>
            <a:ext cx="0" cy="100584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2" name="Rectangle 17471"/>
          <p:cNvSpPr/>
          <p:nvPr/>
        </p:nvSpPr>
        <p:spPr>
          <a:xfrm>
            <a:off x="8686800" y="5495544"/>
            <a:ext cx="3063240" cy="292608"/>
          </a:xfrm>
          <a:prstGeom prst="rect">
            <a:avLst/>
          </a:prstGeom>
          <a:noFill/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24128"/>
            <a:ext cx="54864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RUN LOG / PHYSICAL ANDROID / HOSTED BACKEND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225296"/>
            <a:ext cx="868680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11827"/>
                </a:solidFill>
                <a:latin typeface="Arial"/>
              </a:rPr>
              <a:t>Not a concept. A working end-to-end prototype.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68249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1207008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1289304" y="168249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2176272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2258568" y="168249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11827"/>
                </a:solidFill>
                <a:latin typeface="Arial"/>
              </a:rPr>
              <a:t>DISPATCH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3282696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3364992" y="1682496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11827"/>
                </a:solidFill>
                <a:latin typeface="Arial"/>
              </a:rPr>
              <a:t>ACCEPT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297680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4379976" y="168249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11827"/>
                </a:solidFill>
                <a:latin typeface="Arial"/>
              </a:rPr>
              <a:t>TRUCK VERIFY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5632704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5715000" y="168249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11827"/>
                </a:solidFill>
                <a:latin typeface="Arial"/>
              </a:rPr>
              <a:t>NAVIGATE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6784848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6867144" y="168249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11827"/>
                </a:solidFill>
                <a:latin typeface="Arial"/>
              </a:rPr>
              <a:t>OFF-ROUTE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7936992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8019288" y="1682496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MANAGER REROUTE APPROVAL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10094976" y="1828800"/>
            <a:ext cx="64008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Rounded Rectangle 17427"/>
          <p:cNvSpPr/>
          <p:nvPr/>
        </p:nvSpPr>
        <p:spPr>
          <a:xfrm>
            <a:off x="10177272" y="168249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457200" y="2103120"/>
            <a:ext cx="11292840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425196" y="2217420"/>
            <a:ext cx="2264283" cy="3264408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249424"/>
            <a:ext cx="2200275" cy="3200400"/>
          </a:xfrm>
          <a:prstGeom prst="rect">
            <a:avLst/>
          </a:prstGeom>
        </p:spPr>
      </p:pic>
      <p:sp>
        <p:nvSpPr>
          <p:cNvPr id="17432" name="Rounded Rectangle 17431"/>
          <p:cNvSpPr/>
          <p:nvPr/>
        </p:nvSpPr>
        <p:spPr>
          <a:xfrm>
            <a:off x="2808351" y="2217420"/>
            <a:ext cx="1505062" cy="3264408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0355" y="2249424"/>
            <a:ext cx="1441054" cy="3200400"/>
          </a:xfrm>
          <a:prstGeom prst="rect">
            <a:avLst/>
          </a:prstGeom>
        </p:spPr>
      </p:pic>
      <p:sp>
        <p:nvSpPr>
          <p:cNvPr id="17434" name="Rounded Rectangle 17433"/>
          <p:cNvSpPr/>
          <p:nvPr/>
        </p:nvSpPr>
        <p:spPr>
          <a:xfrm>
            <a:off x="4432285" y="2217420"/>
            <a:ext cx="1505062" cy="3264408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4289" y="2249424"/>
            <a:ext cx="1441054" cy="3200400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457200" y="5504688"/>
            <a:ext cx="2200275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MANAGER / ROUTE REVIEW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2840355" y="5504688"/>
            <a:ext cx="144105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DRIVER / TRUCK CHECK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464289" y="5504688"/>
            <a:ext cx="144105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DRIVER / NAVIGATION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216239" y="2231136"/>
            <a:ext cx="55338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EVIDENCE OF EXECUTION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6216239" y="2468880"/>
            <a:ext cx="5533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11827"/>
                </a:solidFill>
                <a:latin typeface="Arial"/>
              </a:rPr>
              <a:t>Run end to end on a physical Android phone, hosted backend, real road.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6216239" y="3072384"/>
            <a:ext cx="5533801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TextBox 17441"/>
          <p:cNvSpPr txBox="1"/>
          <p:nvPr/>
        </p:nvSpPr>
        <p:spPr>
          <a:xfrm>
            <a:off x="6216239" y="3108960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12/12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148927" y="3108960"/>
            <a:ext cx="460111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physical judge-flow steps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6216239" y="3474720"/>
            <a:ext cx="5533801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TextBox 17444"/>
          <p:cNvSpPr txBox="1"/>
          <p:nvPr/>
        </p:nvSpPr>
        <p:spPr>
          <a:xfrm>
            <a:off x="6216239" y="3511296"/>
            <a:ext cx="859536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9/9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7148927" y="3511296"/>
            <a:ext cx="460111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physical role-flow steps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6216239" y="3877056"/>
            <a:ext cx="5533801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6216239" y="3913632"/>
            <a:ext cx="553380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1138+ </a:t>
            </a:r>
            <a:r>
              <a:rPr sz="1050" b="0">
                <a:solidFill>
                  <a:srgbClr val="111827"/>
                </a:solidFill>
                <a:latin typeface="Arial"/>
              </a:rPr>
              <a:t>backend  ·  </a:t>
            </a:r>
            <a:r>
              <a:rPr sz="1300" b="1">
                <a:solidFill>
                  <a:srgbClr val="0F766E"/>
                </a:solidFill>
                <a:latin typeface="Arial"/>
              </a:rPr>
              <a:t>621+ </a:t>
            </a:r>
            <a:r>
              <a:rPr sz="1050" b="0">
                <a:solidFill>
                  <a:srgbClr val="111827"/>
                </a:solidFill>
                <a:latin typeface="Arial"/>
              </a:rPr>
              <a:t>driver  ·  </a:t>
            </a:r>
            <a:r>
              <a:rPr sz="1300" b="1">
                <a:solidFill>
                  <a:srgbClr val="0F766E"/>
                </a:solidFill>
                <a:latin typeface="Arial"/>
              </a:rPr>
              <a:t>170+ </a:t>
            </a:r>
            <a:r>
              <a:rPr sz="1050" b="0">
                <a:solidFill>
                  <a:srgbClr val="111827"/>
                </a:solidFill>
                <a:latin typeface="Arial"/>
              </a:rPr>
              <a:t>manager tests</a:t>
            </a:r>
          </a:p>
        </p:txBody>
      </p:sp>
      <p:sp>
        <p:nvSpPr>
          <p:cNvPr id="17449" name="Rectangle 17448"/>
          <p:cNvSpPr/>
          <p:nvPr/>
        </p:nvSpPr>
        <p:spPr>
          <a:xfrm>
            <a:off x="6216239" y="4334256"/>
            <a:ext cx="5533800" cy="32918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PHYSICAL ANDROID · CERTIFIED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6216239" y="4754880"/>
            <a:ext cx="55338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CANONICAL DEMO: GUWAHATI → SHILLONG / ≈ 98.8 KM REAL ROUTE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457200" y="5870448"/>
            <a:ext cx="11292840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TextBox 17451"/>
          <p:cNvSpPr txBox="1"/>
          <p:nvPr/>
        </p:nvSpPr>
        <p:spPr>
          <a:xfrm>
            <a:off x="457200" y="5925312"/>
            <a:ext cx="201168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B45309"/>
                </a:solidFill>
                <a:latin typeface="Courier New"/>
              </a:rPr>
              <a:t>KNOWN LIMITS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2304288" y="5907024"/>
            <a:ext cx="9445752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Cold start → warm /health first  ·  rate limits → cached evidence + explicit UNKNOWN  ·  push needs Firebase → in-app alerts work  ·  experimental ML → outside routing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42415"/>
            <a:ext cx="54864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IMPACT / WHO GAINS WHAT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261872"/>
            <a:ext cx="804672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50" b="0">
                <a:solidFill>
                  <a:srgbClr val="4B5563"/>
                </a:solidFill>
                <a:latin typeface="Arial"/>
              </a:rPr>
              <a:t>RASTA AI does not ask only </a:t>
            </a:r>
            <a:r>
              <a:rPr sz="1750" b="1">
                <a:solidFill>
                  <a:srgbClr val="111827"/>
                </a:solidFill>
                <a:latin typeface="Arial"/>
              </a:rPr>
              <a:t>“Which road is shortest?”</a:t>
            </a:r>
            <a:r>
              <a:rPr sz="1750" b="0">
                <a:solidFill>
                  <a:srgbClr val="4B5563"/>
                </a:solidFill>
                <a:latin typeface="Arial"/>
              </a:rPr>
              <a:t>  It asks  </a:t>
            </a:r>
            <a:r>
              <a:rPr sz="1750" b="1">
                <a:solidFill>
                  <a:srgbClr val="0F766E"/>
                </a:solidFill>
                <a:latin typeface="Arial"/>
              </a:rPr>
              <a:t>“Can this truck reliably use this corridor now?”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048256"/>
            <a:ext cx="804672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15803D"/>
                </a:solidFill>
                <a:latin typeface="Arial"/>
              </a:rPr>
              <a:t>FOOD  ·  MEDICINE  ·  FUEL  ·  RELIEF SUPPLIES</a:t>
            </a:r>
            <a:r>
              <a:rPr sz="1100" b="0">
                <a:solidFill>
                  <a:srgbClr val="4B5563"/>
                </a:solidFill>
                <a:latin typeface="Arial"/>
              </a:rPr>
              <a:t>   — essential logistics for hill communities, decided on evidence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57200" y="2432304"/>
            <a:ext cx="8065008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57200" y="2560320"/>
            <a:ext cx="1920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FLEET.MANAGERS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468880" y="2523744"/>
            <a:ext cx="605332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Usability and uncertainty visible before dispatch. Auditable.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457200" y="2834639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457200" y="2944368"/>
            <a:ext cx="1920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DRIVERS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468880" y="2907791"/>
            <a:ext cx="605332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Danger context, emergency support, 23 languages.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57200" y="3218687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457200" y="3328415"/>
            <a:ext cx="1920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REMOTE.COMMUNITIES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468880" y="3291839"/>
            <a:ext cx="605332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Resilient access to food, medicine, fuel, relief.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57200" y="3602735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457200" y="3712463"/>
            <a:ext cx="1920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GOVERNMENT/OPS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468880" y="3675887"/>
            <a:ext cx="605332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111827"/>
                </a:solidFill>
                <a:latin typeface="Arial"/>
              </a:rPr>
              <a:t>Auditable evidence and disruption per corridor.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457200" y="3986783"/>
            <a:ext cx="806500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TextBox 17425"/>
          <p:cNvSpPr txBox="1"/>
          <p:nvPr/>
        </p:nvSpPr>
        <p:spPr>
          <a:xfrm>
            <a:off x="457200" y="4114799"/>
            <a:ext cx="54864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DEMONSTRATED TODAY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57200" y="43525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23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371600" y="4352544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selectable languages, explicit fallback status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473659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11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371600" y="473659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route factors in every decision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57200" y="5120640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60 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371600" y="5120640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route-ahead monitor while driving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517136" y="43525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12/12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431536" y="4352544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judge-flow steps certified on a physical phone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517136" y="4736592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100 %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431536" y="4736592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of reroutes reviewed by a human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517136" y="5120640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431536" y="5120640"/>
            <a:ext cx="30175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11827"/>
                </a:solidFill>
                <a:latin typeface="Arial"/>
              </a:rPr>
              <a:t>unknown factors counted as safe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457200" y="5596128"/>
            <a:ext cx="8065008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TextBox 17439"/>
          <p:cNvSpPr txBox="1"/>
          <p:nvPr/>
        </p:nvSpPr>
        <p:spPr>
          <a:xfrm>
            <a:off x="457200" y="5650992"/>
            <a:ext cx="54864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HUMAN GOVERNANCE — AI HAS NO UNCONTROLLED AUTHORITY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57200" y="5907024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Verified evidence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2340864" y="6062472"/>
            <a:ext cx="164592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2523744" y="5907024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Deterministic safety policy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4407408" y="6062472"/>
            <a:ext cx="164592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4590288" y="5907024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Manager governance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6473952" y="6062472"/>
            <a:ext cx="164592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Rounded Rectangle 17446"/>
          <p:cNvSpPr/>
          <p:nvPr/>
        </p:nvSpPr>
        <p:spPr>
          <a:xfrm>
            <a:off x="6656832" y="5907024"/>
            <a:ext cx="18653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Driver action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8686800" y="1042415"/>
            <a:ext cx="306324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EXHIBIT C — REAL SCREENS / APK 1.0.18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8686800" y="1280160"/>
            <a:ext cx="3063240" cy="0"/>
          </a:xfrm>
          <a:prstGeom prst="line">
            <a:avLst/>
          </a:prstGeom>
          <a:ln w="1524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8654796" y="1376172"/>
            <a:ext cx="1687324" cy="2350008"/>
          </a:xfrm>
          <a:prstGeom prst="roundRect">
            <a:avLst>
              <a:gd name="adj" fmla="val 3251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1" name="Picture 17450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408176"/>
            <a:ext cx="1623316" cy="2286000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10424416" y="1376172"/>
            <a:ext cx="1142181" cy="2350008"/>
          </a:xfrm>
          <a:prstGeom prst="roundRect">
            <a:avLst>
              <a:gd name="adj" fmla="val 4803"/>
            </a:avLst>
          </a:prstGeom>
          <a:solidFill>
            <a:srgbClr val="FFFFFF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420" y="1408176"/>
            <a:ext cx="1078173" cy="2286000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686800" y="3785615"/>
            <a:ext cx="1623316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DRIVER / 23 LANGUAGES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0456420" y="3785615"/>
            <a:ext cx="1078173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MANAGER / MOBILE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8686800" y="4078224"/>
            <a:ext cx="306324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4B5563"/>
                </a:solidFill>
                <a:latin typeface="Arial"/>
              </a:rPr>
              <a:t>APK 1.0.18. One login, server-decided role. Every language shows its status — Verified, Draft or English fallback.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11827"/>
                </a:solidFill>
                <a:latin typeface="Arial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78992"/>
            <a:ext cx="67665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SOURCE REGISTER / EVIDENCE BEHIND THE ROUTE DECISION</a:t>
            </a:r>
          </a:p>
        </p:txBody>
      </p:sp>
      <p:cxnSp>
        <p:nvCxnSpPr>
          <p:cNvPr id="17411" name="Connector 17410"/>
          <p:cNvCxnSpPr/>
          <p:nvPr/>
        </p:nvCxnSpPr>
        <p:spPr>
          <a:xfrm>
            <a:off x="457200" y="1316736"/>
            <a:ext cx="6784848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2" name="TextBox 17411"/>
          <p:cNvSpPr txBox="1"/>
          <p:nvPr/>
        </p:nvSpPr>
        <p:spPr>
          <a:xfrm>
            <a:off x="457200" y="1417320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ROUTING/PLACES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240280" y="1389888"/>
            <a:ext cx="4544568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OSRM · OpenStreetMap · Nominatim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Road geometry, alternatives, turn steps.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457200" y="2066543"/>
            <a:ext cx="678484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TextBox 17414"/>
          <p:cNvSpPr txBox="1"/>
          <p:nvPr/>
        </p:nvSpPr>
        <p:spPr>
          <a:xfrm>
            <a:off x="457200" y="2167127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WEATHER/TERRAIN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40280" y="2139696"/>
            <a:ext cx="4544568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Open-Meteo · MET Norway · Copernicus DEM · OpenTopoData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Forecast along the road; climb, gradient, steep segments.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457200" y="2816352"/>
            <a:ext cx="678484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57200" y="2916935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OFFICIAL/FLOOD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240280" y="2889503"/>
            <a:ext cx="4544568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NDMA SACHET (CAP) · Copernicus GloFAS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Official warnings with freshness; discharge vs 30-day mean.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457200" y="3566159"/>
            <a:ext cx="678484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457200" y="3666744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LANDSLIDE.HISTORY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240280" y="3639311"/>
            <a:ext cx="4544568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NASA Global Landslide Catalog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Historical exposure, 2007–2017, ≤5 km accuracy.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457200" y="4315968"/>
            <a:ext cx="678484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457200" y="4416552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AI.ASSISTANCE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2240280" y="4389120"/>
            <a:ext cx="4544568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Google Gemini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Explains in the driver's language. Never safety authority.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457200" y="5065776"/>
            <a:ext cx="678484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TextBox 17426"/>
          <p:cNvSpPr txBox="1"/>
          <p:nvPr/>
        </p:nvSpPr>
        <p:spPr>
          <a:xfrm>
            <a:off x="457200" y="5166360"/>
            <a:ext cx="17373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F766E"/>
                </a:solidFill>
                <a:latin typeface="Courier New"/>
              </a:rPr>
              <a:t>PROBLEM.STATEMENT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240280" y="5138928"/>
            <a:ext cx="4544568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1827"/>
                </a:solidFill>
                <a:latin typeface="Arial"/>
              </a:rPr>
              <a:t>MDoNER · SIH26002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Smart logistics and accessibility intelligence for the NER.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457200" y="5815584"/>
            <a:ext cx="6784848" cy="0"/>
          </a:xfrm>
          <a:prstGeom prst="line">
            <a:avLst/>
          </a:prstGeom>
          <a:ln w="9525">
            <a:solidFill>
              <a:srgbClr val="D8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TextBox 17429"/>
          <p:cNvSpPr txBox="1"/>
          <p:nvPr/>
        </p:nvSpPr>
        <p:spPr>
          <a:xfrm>
            <a:off x="7498079" y="1078992"/>
            <a:ext cx="4251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F766E"/>
                </a:solidFill>
                <a:latin typeface="Courier New"/>
              </a:rPr>
              <a:t>EXPERIMENTAL LANDSLIDE RESEARCH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7498079" y="1316736"/>
            <a:ext cx="4251961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TextBox 17431"/>
          <p:cNvSpPr txBox="1"/>
          <p:nvPr/>
        </p:nvSpPr>
        <p:spPr>
          <a:xfrm>
            <a:off x="7498079" y="1426464"/>
            <a:ext cx="1737360" cy="85953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>
                <a:solidFill>
                  <a:srgbClr val="111827"/>
                </a:solidFill>
                <a:latin typeface="Arial"/>
              </a:rPr>
              <a:t>95 %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235440" y="1463040"/>
            <a:ext cx="2514600" cy="8046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11827"/>
                </a:solidFill>
                <a:latin typeface="Arial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Arial"/>
              </a:rPr>
              <a:t>NER geographic holdout · 154 events · no NER row in training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7498079" y="2395728"/>
            <a:ext cx="4251960" cy="7315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7498079" y="2450592"/>
            <a:ext cx="425196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9CA3AF"/>
                </a:solidFill>
                <a:latin typeface="Courier New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NOT DEPLOYED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7498079" y="3200400"/>
            <a:ext cx="42519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FPR 50 %</a:t>
            </a:r>
            <a:r>
              <a:rPr sz="1000" b="0">
                <a:solidFill>
                  <a:srgbClr val="4B5563"/>
                </a:solidFill>
                <a:latin typeface="Arial"/>
              </a:rPr>
              <a:t>   too high for production deployment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498079" y="3566160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TRAIN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8247888" y="3694176"/>
            <a:ext cx="36576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8302752" y="3566160"/>
            <a:ext cx="14996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HELD-OUT NER TEST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9820656" y="3694176"/>
            <a:ext cx="36576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9875520" y="356616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USEFUL SIGNAL FOUND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498079" y="3913632"/>
            <a:ext cx="181051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FALSE POSITIVES TOO HIGH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9326880" y="4041648"/>
            <a:ext cx="36576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9381744" y="3913632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SAFETY GATE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10405872" y="4041648"/>
            <a:ext cx="36576" cy="0"/>
          </a:xfrm>
          <a:prstGeom prst="line">
            <a:avLst/>
          </a:prstGeom>
          <a:ln w="15875">
            <a:solidFill>
              <a:srgbClr val="1118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10460736" y="3913632"/>
            <a:ext cx="117043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11827"/>
                </a:solidFill>
                <a:latin typeface="Arial"/>
              </a:rPr>
              <a:t>NOT DEPLOYED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7498079" y="4297680"/>
            <a:ext cx="425196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0F766E"/>
                </a:solidFill>
                <a:latin typeface="Arial"/>
              </a:rPr>
              <a:t>VALIDATION BEFORE AUTOMATION. </a:t>
            </a:r>
            <a:r>
              <a:rPr sz="1050" b="0">
                <a:solidFill>
                  <a:srgbClr val="111827"/>
                </a:solidFill>
                <a:latin typeface="Arial"/>
              </a:rPr>
              <a:t>Recall was not enough. Held-out testing exposed the false-positive rate. The gate keeps it out of routing.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498079" y="4919472"/>
            <a:ext cx="42519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50" b="0">
                <a:solidFill>
                  <a:srgbClr val="4B5563"/>
                </a:solidFill>
                <a:latin typeface="Courier New"/>
              </a:rPr>
              <a:t>Precision 0.32 · F1 0.48 · PR-AUC 0.55 · ROC-AUC 0.83 · Brier 0.12  —  calibrated logistic regression, NASA GLC + ERA5-Land rain + DEM slope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457200" y="5632704"/>
            <a:ext cx="11292840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TextBox 17449"/>
          <p:cNvSpPr txBox="1"/>
          <p:nvPr/>
        </p:nvSpPr>
        <p:spPr>
          <a:xfrm>
            <a:off x="457200" y="5687568"/>
            <a:ext cx="27432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CA3AF"/>
                </a:solidFill>
                <a:latin typeface="Courier New"/>
              </a:rPr>
              <a:t>REFERENCES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457200" y="5888736"/>
            <a:ext cx="11292840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Arial"/>
              </a:rPr>
              <a:t>gpm.nasa.gov/landslides  ·  sachet.ndma.gov.in  ·  global-flood.emergency.copernicus.eu  ·  open-meteo.com  ·  api.met.no  ·  opentopodata.org  ·  project-osrm.org  ·  openstreetmap.org  ·  github.com/nxtlucifer/ner-ai-logistics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