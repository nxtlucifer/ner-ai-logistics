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28116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34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02920" y="1170432"/>
            <a:ext cx="6035040" cy="6217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900" b="1">
                <a:solidFill>
                  <a:srgbClr val="16202B"/>
                </a:solidFill>
                <a:latin typeface="Calibri"/>
              </a:rPr>
              <a:t>RASTA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1792224"/>
            <a:ext cx="603504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55636F"/>
                </a:solidFill>
                <a:latin typeface="Calibri"/>
              </a:rPr>
              <a:t>Route Intelligence for Essential-Supply Logistics in North Eastern India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2231136"/>
            <a:ext cx="61264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457200" y="2231136"/>
            <a:ext cx="841248" cy="1005840"/>
          </a:xfrm>
          <a:prstGeom prst="roundRect">
            <a:avLst>
              <a:gd name="adj" fmla="val 5434"/>
            </a:avLst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1207007" y="2231136"/>
            <a:ext cx="91440" cy="1005840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12064" y="2231136"/>
            <a:ext cx="713232" cy="10058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THE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ASK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44751" y="2395728"/>
            <a:ext cx="1737360" cy="493776"/>
          </a:xfrm>
          <a:prstGeom prst="roundRect">
            <a:avLst>
              <a:gd name="adj" fmla="val 50000"/>
            </a:avLst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SIH26002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28415" y="2395728"/>
            <a:ext cx="3474720" cy="49377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4A3B0"/>
                </a:solidFill>
                <a:latin typeface="Calibri"/>
              </a:rPr>
              <a:t>PROBLEM STATEMENT ID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6202B"/>
                </a:solidFill>
                <a:latin typeface="Calibri"/>
              </a:rPr>
              <a:t>MDoNER · Smart Automation · Software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328416"/>
            <a:ext cx="6126480" cy="1773936"/>
          </a:xfrm>
          <a:prstGeom prst="roundRect">
            <a:avLst>
              <a:gd name="adj" fmla="val 2577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457200" y="3328416"/>
            <a:ext cx="841248" cy="1773936"/>
          </a:xfrm>
          <a:prstGeom prst="roundRect">
            <a:avLst>
              <a:gd name="adj" fmla="val 5434"/>
            </a:avLst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1207007" y="3328416"/>
            <a:ext cx="91440" cy="1773936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12064" y="3328416"/>
            <a:ext cx="713232" cy="17739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THE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RECORD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44751" y="3438144"/>
            <a:ext cx="17373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4A3B0"/>
                </a:solidFill>
                <a:latin typeface="Calibri"/>
              </a:rPr>
              <a:t>PROBLEM STATEMENT TITLE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36976" y="3410712"/>
            <a:ext cx="3273552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6202B"/>
                </a:solidFill>
                <a:latin typeface="Calibri"/>
              </a:rPr>
              <a:t>AI-Based Smart Logistics and Accessibility Intelligence Platform for North Eastern Region (NER)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44751" y="3877056"/>
            <a:ext cx="17373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4A3B0"/>
                </a:solidFill>
                <a:latin typeface="Calibri"/>
              </a:rPr>
              <a:t>THEME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36976" y="3849624"/>
            <a:ext cx="327355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6202B"/>
                </a:solidFill>
                <a:latin typeface="Calibri"/>
              </a:rPr>
              <a:t>Smart Automation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44751" y="4151376"/>
            <a:ext cx="17373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4A3B0"/>
                </a:solidFill>
                <a:latin typeface="Calibri"/>
              </a:rPr>
              <a:t>PS CATEGORY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36976" y="4123944"/>
            <a:ext cx="327355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6202B"/>
                </a:solidFill>
                <a:latin typeface="Calibri"/>
              </a:rPr>
              <a:t>Software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44751" y="4425696"/>
            <a:ext cx="17373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4A3B0"/>
                </a:solidFill>
                <a:latin typeface="Calibri"/>
              </a:rPr>
              <a:t>TEAM 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36976" y="4398264"/>
            <a:ext cx="327355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6202B"/>
                </a:solidFill>
                <a:latin typeface="Calibri"/>
              </a:rPr>
              <a:t>17  (internal group no.)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44751" y="4700016"/>
            <a:ext cx="17373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4A3B0"/>
                </a:solidFill>
                <a:latin typeface="Calibri"/>
              </a:rPr>
              <a:t>TEAM NAME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36976" y="4672583"/>
            <a:ext cx="327355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6202B"/>
                </a:solidFill>
                <a:latin typeface="Calibri"/>
              </a:rPr>
              <a:t>NER-AI LOGISTICS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193792"/>
            <a:ext cx="6126480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ounded Rectangle 59"/>
          <p:cNvSpPr/>
          <p:nvPr/>
        </p:nvSpPr>
        <p:spPr>
          <a:xfrm>
            <a:off x="457200" y="5193792"/>
            <a:ext cx="841248" cy="1133856"/>
          </a:xfrm>
          <a:prstGeom prst="roundRect">
            <a:avLst>
              <a:gd name="adj" fmla="val 5434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1207007" y="5193792"/>
            <a:ext cx="91440" cy="113385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12064" y="5193792"/>
            <a:ext cx="713232" cy="11338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THE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POINT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44751" y="5285232"/>
            <a:ext cx="502920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16202B"/>
                </a:solidFill>
                <a:latin typeface="Calibri"/>
              </a:rPr>
              <a:t>SHORTEST IS NOT ALWAYS USABLE.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44751" y="5669280"/>
            <a:ext cx="50292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E4E8C"/>
                </a:solidFill>
                <a:latin typeface="Calibri"/>
              </a:rPr>
              <a:t>“Can this essential-supply truck reliably use this corridor now?”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44751" y="5980176"/>
            <a:ext cx="50292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5803D"/>
                </a:solidFill>
                <a:latin typeface="Calibri"/>
              </a:rPr>
              <a:t>End-to-end working prototype · physical-phone validated · live demo corridor Guwahati → Shillong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12280" y="1170432"/>
            <a:ext cx="49377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4A3B0"/>
                </a:solidFill>
                <a:latin typeface="Calibri"/>
              </a:rPr>
              <a:t>LIVE WORKING SYSTEM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825996" y="2253996"/>
            <a:ext cx="2515743" cy="3630168"/>
          </a:xfrm>
          <a:prstGeom prst="roundRect">
            <a:avLst>
              <a:gd name="adj" fmla="val 2180"/>
            </a:avLst>
          </a:prstGeom>
          <a:solidFill>
            <a:srgbClr val="FFFFFF"/>
          </a:solidFill>
          <a:ln w="952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8" name="Picture 67" descr="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286000"/>
            <a:ext cx="2451735" cy="3566160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9477756" y="1504188"/>
            <a:ext cx="2007372" cy="4379976"/>
          </a:xfrm>
          <a:prstGeom prst="roundRect">
            <a:avLst>
              <a:gd name="adj" fmla="val 2733"/>
            </a:avLst>
          </a:prstGeom>
          <a:solidFill>
            <a:srgbClr val="FFFFFF"/>
          </a:solidFill>
          <a:ln w="952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0" name="Picture 69" descr="na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536192"/>
            <a:ext cx="1943364" cy="43159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812280" y="5943600"/>
            <a:ext cx="49377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55636F"/>
                </a:solidFill>
                <a:latin typeface="Calibri"/>
              </a:rPr>
              <a:t>Manager route review · Driver navigation — real screens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RASTA AI — ROUTE INTELLIGENCE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6202B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57200" y="1097280"/>
            <a:ext cx="8065008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16202B"/>
                </a:solidFill>
                <a:latin typeface="Calibri"/>
              </a:rPr>
              <a:t>Not the shortest road. </a:t>
            </a:r>
            <a:r>
              <a:rPr sz="2300" b="1">
                <a:solidFill>
                  <a:srgbClr val="1E4E8C"/>
                </a:solidFill>
                <a:latin typeface="Calibri"/>
              </a:rPr>
              <a:t>The road that is operationally usable now.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11480" y="1975104"/>
            <a:ext cx="8110727" cy="841248"/>
          </a:xfrm>
          <a:prstGeom prst="roundRect">
            <a:avLst>
              <a:gd name="adj" fmla="val 5434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4" name="Rounded Rectangle 15363"/>
          <p:cNvSpPr/>
          <p:nvPr/>
        </p:nvSpPr>
        <p:spPr>
          <a:xfrm>
            <a:off x="411480" y="1975104"/>
            <a:ext cx="841248" cy="841248"/>
          </a:xfrm>
          <a:prstGeom prst="roundRect">
            <a:avLst>
              <a:gd name="adj" fmla="val 5434"/>
            </a:avLst>
          </a:prstGeom>
          <a:solidFill>
            <a:srgbClr val="94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5" name="Rectangle 15364"/>
          <p:cNvSpPr/>
          <p:nvPr/>
        </p:nvSpPr>
        <p:spPr>
          <a:xfrm>
            <a:off x="1161288" y="1975104"/>
            <a:ext cx="91440" cy="841248"/>
          </a:xfrm>
          <a:prstGeom prst="rect">
            <a:avLst/>
          </a:prstGeom>
          <a:solidFill>
            <a:srgbClr val="94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6" name="TextBox 15365"/>
          <p:cNvSpPr txBox="1"/>
          <p:nvPr/>
        </p:nvSpPr>
        <p:spPr>
          <a:xfrm>
            <a:off x="466344" y="1975104"/>
            <a:ext cx="713232" cy="8412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1399032" y="2176272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4A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55636F"/>
                </a:solidFill>
                <a:latin typeface="Calibri"/>
              </a:rPr>
              <a:t>Origin</a:t>
            </a:r>
          </a:p>
        </p:txBody>
      </p:sp>
      <p:cxnSp>
        <p:nvCxnSpPr>
          <p:cNvPr id="15368" name="Connector 15367"/>
          <p:cNvCxnSpPr/>
          <p:nvPr/>
        </p:nvCxnSpPr>
        <p:spPr>
          <a:xfrm>
            <a:off x="2514600" y="2313432"/>
            <a:ext cx="91440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9" name="Rounded Rectangle 15368"/>
          <p:cNvSpPr/>
          <p:nvPr/>
        </p:nvSpPr>
        <p:spPr>
          <a:xfrm>
            <a:off x="2624328" y="217627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4A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55636F"/>
                </a:solidFill>
                <a:latin typeface="Calibri"/>
              </a:rPr>
              <a:t>Shortest / fastest road</a:t>
            </a:r>
          </a:p>
        </p:txBody>
      </p:sp>
      <p:cxnSp>
        <p:nvCxnSpPr>
          <p:cNvPr id="15370" name="Connector 15369"/>
          <p:cNvCxnSpPr/>
          <p:nvPr/>
        </p:nvCxnSpPr>
        <p:spPr>
          <a:xfrm>
            <a:off x="4562856" y="2313432"/>
            <a:ext cx="91440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1" name="Rounded Rectangle 15370"/>
          <p:cNvSpPr/>
          <p:nvPr/>
        </p:nvSpPr>
        <p:spPr>
          <a:xfrm>
            <a:off x="4672584" y="2176272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4A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55636F"/>
                </a:solidFill>
                <a:latin typeface="Calibri"/>
              </a:rPr>
              <a:t>Truck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5971032" y="2157984"/>
            <a:ext cx="246888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4A3B0"/>
                </a:solidFill>
                <a:latin typeface="Calibri"/>
              </a:rPr>
              <a:t>No governance. No answer when data is missing.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411480" y="2907792"/>
            <a:ext cx="8110727" cy="2084831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4" name="Rounded Rectangle 15373"/>
          <p:cNvSpPr/>
          <p:nvPr/>
        </p:nvSpPr>
        <p:spPr>
          <a:xfrm>
            <a:off x="411480" y="2907792"/>
            <a:ext cx="841248" cy="2084831"/>
          </a:xfrm>
          <a:prstGeom prst="roundRect">
            <a:avLst>
              <a:gd name="adj" fmla="val 5434"/>
            </a:avLst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5" name="Rectangle 15374"/>
          <p:cNvSpPr/>
          <p:nvPr/>
        </p:nvSpPr>
        <p:spPr>
          <a:xfrm>
            <a:off x="1161288" y="2907792"/>
            <a:ext cx="91440" cy="2084831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6" name="TextBox 15375"/>
          <p:cNvSpPr txBox="1"/>
          <p:nvPr/>
        </p:nvSpPr>
        <p:spPr>
          <a:xfrm>
            <a:off x="466344" y="2907792"/>
            <a:ext cx="713232" cy="2084831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RASTA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1399032" y="2980944"/>
            <a:ext cx="69494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6202B"/>
                </a:solidFill>
                <a:latin typeface="Calibri"/>
              </a:rPr>
              <a:t>Origin → real OSRM route, alternatives, turn steps → route-specific evidence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1399032" y="3273552"/>
            <a:ext cx="786384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6202B"/>
                </a:solidFill>
                <a:latin typeface="Calibri"/>
              </a:rPr>
              <a:t>Terrain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2258568" y="3273552"/>
            <a:ext cx="786384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6202B"/>
                </a:solidFill>
                <a:latin typeface="Calibri"/>
              </a:rPr>
              <a:t>Weather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3118103" y="3273552"/>
            <a:ext cx="1243584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6202B"/>
                </a:solidFill>
                <a:latin typeface="Calibri"/>
              </a:rPr>
              <a:t>Landslide exposure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4434840" y="3273552"/>
            <a:ext cx="100584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6202B"/>
                </a:solidFill>
                <a:latin typeface="Calibri"/>
              </a:rPr>
              <a:t>Flood context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5513831" y="3273552"/>
            <a:ext cx="1152144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6202B"/>
                </a:solidFill>
                <a:latin typeface="Calibri"/>
              </a:rPr>
              <a:t>Official warnings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6739127" y="3273552"/>
            <a:ext cx="914400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6202B"/>
                </a:solidFill>
                <a:latin typeface="Calibri"/>
              </a:rPr>
              <a:t>Fleet traffic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1399032" y="3547872"/>
            <a:ext cx="1243584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6202B"/>
                </a:solidFill>
                <a:latin typeface="Calibri"/>
              </a:rPr>
              <a:t>Evidence freshness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1399032" y="3913632"/>
            <a:ext cx="1684781" cy="310896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CONTINUE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3175254" y="3913632"/>
            <a:ext cx="1684781" cy="31089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CAUTION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4951476" y="3913632"/>
            <a:ext cx="1684781" cy="31089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6727698" y="3913632"/>
            <a:ext cx="1684781" cy="310896"/>
          </a:xfrm>
          <a:prstGeom prst="roundRect">
            <a:avLst>
              <a:gd name="adj" fmla="val 500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REROUTE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1399032" y="4297680"/>
            <a:ext cx="69494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6202B"/>
                </a:solidFill>
                <a:latin typeface="Calibri"/>
              </a:rPr>
              <a:t>Manager governance → driver navigation, danger context, 23 languages, offline package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411480" y="5084064"/>
            <a:ext cx="8110727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1" name="Rounded Rectangle 15390"/>
          <p:cNvSpPr/>
          <p:nvPr/>
        </p:nvSpPr>
        <p:spPr>
          <a:xfrm>
            <a:off x="411480" y="5084064"/>
            <a:ext cx="841248" cy="1188720"/>
          </a:xfrm>
          <a:prstGeom prst="roundRect">
            <a:avLst>
              <a:gd name="adj" fmla="val 5434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2" name="Rectangle 15391"/>
          <p:cNvSpPr/>
          <p:nvPr/>
        </p:nvSpPr>
        <p:spPr>
          <a:xfrm>
            <a:off x="1161288" y="5084064"/>
            <a:ext cx="91440" cy="1188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3" name="TextBox 15392"/>
          <p:cNvSpPr txBox="1"/>
          <p:nvPr/>
        </p:nvSpPr>
        <p:spPr>
          <a:xfrm>
            <a:off x="466344" y="5084064"/>
            <a:ext cx="713232" cy="11887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THE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1399032" y="5175504"/>
            <a:ext cx="6949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B91C1C"/>
                </a:solidFill>
                <a:latin typeface="Calibri"/>
              </a:rPr>
              <a:t>UNKNOWN ≠ SAFE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1399032" y="5559552"/>
            <a:ext cx="6949440" cy="6035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6202B"/>
                </a:solidFill>
                <a:latin typeface="Calibri"/>
              </a:rPr>
              <a:t>Missing or stale evidence is marked UNKNOWN, never counted as safe, and the route goes to an authorised reviewer.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8686800" y="1097280"/>
            <a:ext cx="3063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4A3B0"/>
                </a:solidFill>
                <a:latin typeface="Calibri"/>
              </a:rPr>
              <a:t>MANAGER · CHECK CONDITIONS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8654796" y="1394460"/>
            <a:ext cx="2942428" cy="4544568"/>
          </a:xfrm>
          <a:prstGeom prst="roundRect">
            <a:avLst>
              <a:gd name="adj" fmla="val 1864"/>
            </a:avLst>
          </a:prstGeom>
          <a:solidFill>
            <a:srgbClr val="FFFFFF"/>
          </a:solidFill>
          <a:ln w="952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98" name="Picture 15397" descr="ev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426464"/>
            <a:ext cx="2878420" cy="4480560"/>
          </a:xfrm>
          <a:prstGeom prst="rect">
            <a:avLst/>
          </a:prstGeom>
        </p:spPr>
      </p:pic>
      <p:sp>
        <p:nvSpPr>
          <p:cNvPr id="15399" name="TextBox 15398"/>
          <p:cNvSpPr txBox="1"/>
          <p:nvPr/>
        </p:nvSpPr>
        <p:spPr>
          <a:xfrm>
            <a:off x="8686800" y="5961888"/>
            <a:ext cx="3063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5636F"/>
                </a:solidFill>
                <a:latin typeface="Calibri"/>
              </a:rPr>
              <a:t>Real screen · evidence · freshness ·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6202B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84048" y="1097280"/>
            <a:ext cx="8138160" cy="969264"/>
          </a:xfrm>
          <a:prstGeom prst="roundRect">
            <a:avLst>
              <a:gd name="adj" fmla="val 4716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ounded Rectangle 17410"/>
          <p:cNvSpPr/>
          <p:nvPr/>
        </p:nvSpPr>
        <p:spPr>
          <a:xfrm>
            <a:off x="384048" y="1097280"/>
            <a:ext cx="841248" cy="969264"/>
          </a:xfrm>
          <a:prstGeom prst="roundRect">
            <a:avLst>
              <a:gd name="adj" fmla="val 5434"/>
            </a:avLst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ectangle 17411"/>
          <p:cNvSpPr/>
          <p:nvPr/>
        </p:nvSpPr>
        <p:spPr>
          <a:xfrm>
            <a:off x="1133856" y="1097280"/>
            <a:ext cx="91440" cy="969264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438912" y="1097280"/>
            <a:ext cx="713232" cy="9692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VERIFIED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371600" y="1207008"/>
            <a:ext cx="117043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6202B"/>
                </a:solidFill>
                <a:latin typeface="Calibri"/>
              </a:rPr>
              <a:t>WEATHER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5636F"/>
                </a:solidFill>
                <a:latin typeface="Calibri"/>
              </a:rPr>
              <a:t>Open-Meteo · MET Norway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587752" y="1207008"/>
            <a:ext cx="117043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6202B"/>
                </a:solidFill>
                <a:latin typeface="Calibri"/>
              </a:rPr>
              <a:t>TERRAIN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5636F"/>
                </a:solidFill>
                <a:latin typeface="Calibri"/>
              </a:rPr>
              <a:t>Copernicus DEM · OpenTopoData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803904" y="1207008"/>
            <a:ext cx="117043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6202B"/>
                </a:solidFill>
                <a:latin typeface="Calibri"/>
              </a:rPr>
              <a:t>WARNINGS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5636F"/>
                </a:solidFill>
                <a:latin typeface="Calibri"/>
              </a:rPr>
              <a:t>NDMA SACHET (CAP)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020056" y="1207008"/>
            <a:ext cx="117043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6202B"/>
                </a:solidFill>
                <a:latin typeface="Calibri"/>
              </a:rPr>
              <a:t>FLOOD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5636F"/>
                </a:solidFill>
                <a:latin typeface="Calibri"/>
              </a:rPr>
              <a:t>GloFAS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236208" y="1207008"/>
            <a:ext cx="117043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6202B"/>
                </a:solidFill>
                <a:latin typeface="Calibri"/>
              </a:rPr>
              <a:t>LANDSLIDE HISTORY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5636F"/>
                </a:solidFill>
                <a:latin typeface="Calibri"/>
              </a:rPr>
              <a:t>NASA GLC 2007–17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452360" y="1207008"/>
            <a:ext cx="117043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6202B"/>
                </a:solidFill>
                <a:latin typeface="Calibri"/>
              </a:rPr>
              <a:t>TRAFFIC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5636F"/>
                </a:solidFill>
                <a:latin typeface="Calibri"/>
              </a:rPr>
              <a:t>fleet GPS fixes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84048" y="2157984"/>
            <a:ext cx="8138160" cy="2103120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Rounded Rectangle 17420"/>
          <p:cNvSpPr/>
          <p:nvPr/>
        </p:nvSpPr>
        <p:spPr>
          <a:xfrm>
            <a:off x="384048" y="2157984"/>
            <a:ext cx="841248" cy="2103120"/>
          </a:xfrm>
          <a:prstGeom prst="roundRect">
            <a:avLst>
              <a:gd name="adj" fmla="val 5434"/>
            </a:avLst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Rectangle 17421"/>
          <p:cNvSpPr/>
          <p:nvPr/>
        </p:nvSpPr>
        <p:spPr>
          <a:xfrm>
            <a:off x="1133856" y="2157984"/>
            <a:ext cx="91440" cy="2103120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438912" y="2157984"/>
            <a:ext cx="713232" cy="21031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1371600" y="2249424"/>
            <a:ext cx="6967728" cy="493776"/>
          </a:xfrm>
          <a:prstGeom prst="roundRect">
            <a:avLst>
              <a:gd name="adj" fmla="val 9259"/>
            </a:avLst>
          </a:prstGeom>
          <a:solidFill>
            <a:srgbClr val="F3F6F9"/>
          </a:solidFill>
          <a:ln w="952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1481328" y="2276856"/>
            <a:ext cx="676656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6202B"/>
                </a:solidFill>
                <a:latin typeface="Calibri"/>
              </a:rPr>
              <a:t>ROUTE-SPECIFIC EVIDENCE · FastAPI backend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5636F"/>
                </a:solidFill>
                <a:latin typeface="Calibri"/>
              </a:rPr>
              <a:t>every factor sampled along the selected road · PostgreSQL + PostGIS (Supabase) · OSRM routes, alternatives, turn steps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1371600" y="2816352"/>
            <a:ext cx="6967728" cy="493776"/>
          </a:xfrm>
          <a:prstGeom prst="roundRect">
            <a:avLst>
              <a:gd name="adj" fmla="val 9259"/>
            </a:avLst>
          </a:prstGeom>
          <a:solidFill>
            <a:srgbClr val="1E4E8C"/>
          </a:solidFill>
          <a:ln w="952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1481328" y="2843784"/>
            <a:ext cx="676656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DETERMINISTIC SAFETY POLICY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DCE3E9"/>
                </a:solidFill>
                <a:latin typeface="Calibri"/>
              </a:rPr>
              <a:t>11 factors · reason codes · UNKNOWN ≠ SAFE · reviewer authorisation when hazard data is missing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1371600" y="3383280"/>
            <a:ext cx="1659636" cy="310896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CONTINUE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140964" y="3383280"/>
            <a:ext cx="1659636" cy="31089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CAUTION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910328" y="3383280"/>
            <a:ext cx="1659636" cy="31089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679692" y="3383280"/>
            <a:ext cx="1659636" cy="310896"/>
          </a:xfrm>
          <a:prstGeom prst="roundRect">
            <a:avLst>
              <a:gd name="adj" fmla="val 500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REROUTE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1371600" y="3803904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6202B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MANAGER REVIEW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2670048" y="3950208"/>
            <a:ext cx="36576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4" name="Rounded Rectangle 17433"/>
          <p:cNvSpPr/>
          <p:nvPr/>
        </p:nvSpPr>
        <p:spPr>
          <a:xfrm>
            <a:off x="2724912" y="380390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6202B"/>
                </a:solidFill>
                <a:latin typeface="Calibri"/>
              </a:rPr>
              <a:t>DRIVER NAVIGATION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4114800" y="3950208"/>
            <a:ext cx="36576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Rounded Rectangle 17435"/>
          <p:cNvSpPr/>
          <p:nvPr/>
        </p:nvSpPr>
        <p:spPr>
          <a:xfrm>
            <a:off x="4169664" y="3803904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6202B"/>
                </a:solidFill>
                <a:latin typeface="Calibri"/>
              </a:rPr>
              <a:t>ROUTE-AHEAD 60 s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5486400" y="3950208"/>
            <a:ext cx="36576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Rounded Rectangle 17437"/>
          <p:cNvSpPr/>
          <p:nvPr/>
        </p:nvSpPr>
        <p:spPr>
          <a:xfrm>
            <a:off x="5541264" y="3803904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6202B"/>
                </a:solidFill>
                <a:latin typeface="Calibri"/>
              </a:rPr>
              <a:t>CONDITIONS CHANGE?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7022592" y="3950208"/>
            <a:ext cx="36576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Rounded Rectangle 17439"/>
          <p:cNvSpPr/>
          <p:nvPr/>
        </p:nvSpPr>
        <p:spPr>
          <a:xfrm>
            <a:off x="7077456" y="3803904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6202B"/>
                </a:solidFill>
                <a:latin typeface="Calibri"/>
              </a:rPr>
              <a:t>REASSESS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384048" y="4352544"/>
            <a:ext cx="8138160" cy="192024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2" name="Rounded Rectangle 17441"/>
          <p:cNvSpPr/>
          <p:nvPr/>
        </p:nvSpPr>
        <p:spPr>
          <a:xfrm>
            <a:off x="384048" y="4352544"/>
            <a:ext cx="841248" cy="1920240"/>
          </a:xfrm>
          <a:prstGeom prst="roundRect">
            <a:avLst>
              <a:gd name="adj" fmla="val 5434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Rectangle 17442"/>
          <p:cNvSpPr/>
          <p:nvPr/>
        </p:nvSpPr>
        <p:spPr>
          <a:xfrm>
            <a:off x="1133856" y="4352544"/>
            <a:ext cx="91440" cy="192024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438912" y="4352544"/>
            <a:ext cx="713232" cy="1920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BUILT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WITH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1371600" y="4443984"/>
            <a:ext cx="6967728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00" b="1">
                <a:solidFill>
                  <a:srgbClr val="94A3B0"/>
                </a:solidFill>
                <a:latin typeface="Calibri"/>
              </a:rPr>
              <a:t>CLIENTS  </a:t>
            </a:r>
            <a:r>
              <a:rPr sz="1000" b="0">
                <a:solidFill>
                  <a:srgbClr val="16202B"/>
                </a:solidFill>
                <a:latin typeface="Calibri"/>
              </a:rPr>
              <a:t>Manager console — React + TypeScript, manager accounts only · Driver app — React Native / Expo, Android; one login, server-decided role, offline trip package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00" b="1">
                <a:solidFill>
                  <a:srgbClr val="94A3B0"/>
                </a:solidFill>
                <a:latin typeface="Calibri"/>
              </a:rPr>
              <a:t>STACK  </a:t>
            </a:r>
            <a:r>
              <a:rPr sz="1000" b="0">
                <a:solidFill>
                  <a:srgbClr val="16202B"/>
                </a:solidFill>
                <a:latin typeface="Calibri"/>
              </a:rPr>
              <a:t>FastAPI · PostgreSQL / PostGIS (Supabase) · React · React Native / Expo · OSRM · OpenStreetMap · Gemini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00" b="1">
                <a:solidFill>
                  <a:srgbClr val="94A3B0"/>
                </a:solidFill>
                <a:latin typeface="Calibri"/>
              </a:rPr>
              <a:t>EVIDENCE  </a:t>
            </a:r>
            <a:r>
              <a:rPr sz="1000" b="0">
                <a:solidFill>
                  <a:srgbClr val="16202B"/>
                </a:solidFill>
                <a:latin typeface="Calibri"/>
              </a:rPr>
              <a:t>Open-Meteo / MET Norway · NDMA SACHET · GloFAS · NASA historical landslides · OpenTopoData / Copernicus DEM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5636F"/>
                </a:solidFill>
                <a:latin typeface="Calibri"/>
              </a:rPr>
              <a:t>Re-scored every 60 s along the road ahead; a reroute is proposed to the manager, never applied silently.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8686800" y="1097280"/>
            <a:ext cx="3063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4A3B0"/>
                </a:solidFill>
                <a:latin typeface="Calibri"/>
              </a:rPr>
              <a:t>WHO DECIDES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8686800" y="1353312"/>
            <a:ext cx="3063240" cy="0"/>
          </a:xfrm>
          <a:prstGeom prst="line">
            <a:avLst/>
          </a:prstGeom>
          <a:ln w="19050">
            <a:solidFill>
              <a:srgbClr val="16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Rectangle 17447"/>
          <p:cNvSpPr/>
          <p:nvPr/>
        </p:nvSpPr>
        <p:spPr>
          <a:xfrm>
            <a:off x="8686800" y="1481328"/>
            <a:ext cx="45720" cy="621792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8833104" y="1463040"/>
            <a:ext cx="2916936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202B"/>
                </a:solidFill>
                <a:latin typeface="Calibri"/>
              </a:rPr>
              <a:t>DETERMINISTIC SAFETY ENGINE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5636F"/>
                </a:solidFill>
                <a:latin typeface="Calibri"/>
              </a:rPr>
              <a:t>makes every operational decision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8686800" y="2322576"/>
            <a:ext cx="45720" cy="62179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1" name="TextBox 17450"/>
          <p:cNvSpPr txBox="1"/>
          <p:nvPr/>
        </p:nvSpPr>
        <p:spPr>
          <a:xfrm>
            <a:off x="8833104" y="2304288"/>
            <a:ext cx="2916936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202B"/>
                </a:solidFill>
                <a:latin typeface="Calibri"/>
              </a:rPr>
              <a:t>GEMINI / OPENROUTER (LLM)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5636F"/>
                </a:solidFill>
                <a:latin typeface="Calibri"/>
              </a:rPr>
              <a:t>explains the decision in the driver's language — never decides</a:t>
            </a:r>
          </a:p>
        </p:txBody>
      </p:sp>
      <p:sp>
        <p:nvSpPr>
          <p:cNvPr id="17452" name="Rectangle 17451"/>
          <p:cNvSpPr/>
          <p:nvPr/>
        </p:nvSpPr>
        <p:spPr>
          <a:xfrm>
            <a:off x="8686800" y="3163824"/>
            <a:ext cx="45720" cy="621792"/>
          </a:xfrm>
          <a:prstGeom prst="rect">
            <a:avLst/>
          </a:prstGeom>
          <a:solidFill>
            <a:srgbClr val="94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TextBox 17452"/>
          <p:cNvSpPr txBox="1"/>
          <p:nvPr/>
        </p:nvSpPr>
        <p:spPr>
          <a:xfrm>
            <a:off x="8833104" y="3145536"/>
            <a:ext cx="2916936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202B"/>
                </a:solidFill>
                <a:latin typeface="Calibri"/>
              </a:rPr>
              <a:t>EXPERIMENTAL ML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5636F"/>
                </a:solidFill>
                <a:latin typeface="Calibri"/>
              </a:rPr>
              <a:t>research channel only; held outside routing by the safety gate</a:t>
            </a:r>
          </a:p>
        </p:txBody>
      </p:sp>
      <p:cxnSp>
        <p:nvCxnSpPr>
          <p:cNvPr id="17454" name="Connector 17453"/>
          <p:cNvCxnSpPr/>
          <p:nvPr/>
        </p:nvCxnSpPr>
        <p:spPr>
          <a:xfrm>
            <a:off x="8686800" y="4005072"/>
            <a:ext cx="3063240" cy="0"/>
          </a:xfrm>
          <a:prstGeom prst="line">
            <a:avLst/>
          </a:prstGeom>
          <a:ln w="9525">
            <a:solidFill>
              <a:srgbClr val="DC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5" name="TextBox 17454"/>
          <p:cNvSpPr txBox="1"/>
          <p:nvPr/>
        </p:nvSpPr>
        <p:spPr>
          <a:xfrm>
            <a:off x="8686800" y="4078224"/>
            <a:ext cx="3063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4A3B0"/>
                </a:solidFill>
                <a:latin typeface="Calibri"/>
              </a:rPr>
              <a:t>GOVERNANCE CHAIN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8686800" y="4389120"/>
            <a:ext cx="3063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6202B"/>
                </a:solidFill>
                <a:latin typeface="Calibri"/>
              </a:rPr>
              <a:t>Verified evidence</a:t>
            </a:r>
          </a:p>
        </p:txBody>
      </p:sp>
      <p:cxnSp>
        <p:nvCxnSpPr>
          <p:cNvPr id="17457" name="Connector 17456"/>
          <p:cNvCxnSpPr/>
          <p:nvPr/>
        </p:nvCxnSpPr>
        <p:spPr>
          <a:xfrm>
            <a:off x="10218420" y="4690872"/>
            <a:ext cx="0" cy="109728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8" name="Rounded Rectangle 17457"/>
          <p:cNvSpPr/>
          <p:nvPr/>
        </p:nvSpPr>
        <p:spPr>
          <a:xfrm>
            <a:off x="8686800" y="4809744"/>
            <a:ext cx="3063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6202B"/>
                </a:solidFill>
                <a:latin typeface="Calibri"/>
              </a:rPr>
              <a:t>Deterministic safety policy</a:t>
            </a:r>
          </a:p>
        </p:txBody>
      </p:sp>
      <p:cxnSp>
        <p:nvCxnSpPr>
          <p:cNvPr id="17459" name="Connector 17458"/>
          <p:cNvCxnSpPr/>
          <p:nvPr/>
        </p:nvCxnSpPr>
        <p:spPr>
          <a:xfrm>
            <a:off x="10218420" y="5111496"/>
            <a:ext cx="0" cy="109728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0" name="Rounded Rectangle 17459"/>
          <p:cNvSpPr/>
          <p:nvPr/>
        </p:nvSpPr>
        <p:spPr>
          <a:xfrm>
            <a:off x="8686800" y="5230368"/>
            <a:ext cx="3063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6202B"/>
                </a:solidFill>
                <a:latin typeface="Calibri"/>
              </a:rPr>
              <a:t>Manager governance</a:t>
            </a:r>
          </a:p>
        </p:txBody>
      </p:sp>
      <p:cxnSp>
        <p:nvCxnSpPr>
          <p:cNvPr id="17461" name="Connector 17460"/>
          <p:cNvCxnSpPr/>
          <p:nvPr/>
        </p:nvCxnSpPr>
        <p:spPr>
          <a:xfrm>
            <a:off x="10218420" y="5532120"/>
            <a:ext cx="0" cy="109728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2" name="Rounded Rectangle 17461"/>
          <p:cNvSpPr/>
          <p:nvPr/>
        </p:nvSpPr>
        <p:spPr>
          <a:xfrm>
            <a:off x="8686800" y="5650992"/>
            <a:ext cx="3063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16202B"/>
                </a:solidFill>
                <a:latin typeface="Calibri"/>
              </a:rPr>
              <a:t>Driver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6202B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24128"/>
            <a:ext cx="8686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16202B"/>
                </a:solidFill>
                <a:latin typeface="Calibri"/>
              </a:rPr>
              <a:t>Not a concept. A working end-to-end prototype.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84048" y="1463040"/>
            <a:ext cx="11393424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ounded Rectangle 17411"/>
          <p:cNvSpPr/>
          <p:nvPr/>
        </p:nvSpPr>
        <p:spPr>
          <a:xfrm>
            <a:off x="384048" y="1463040"/>
            <a:ext cx="841248" cy="713232"/>
          </a:xfrm>
          <a:prstGeom prst="roundRect">
            <a:avLst>
              <a:gd name="adj" fmla="val 6410"/>
            </a:avLst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Rectangle 17412"/>
          <p:cNvSpPr/>
          <p:nvPr/>
        </p:nvSpPr>
        <p:spPr>
          <a:xfrm>
            <a:off x="1133856" y="1463040"/>
            <a:ext cx="91440" cy="713232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438912" y="1463040"/>
            <a:ext cx="713232" cy="7132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LIFECYCLE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1371600" y="162763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1E4E8C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2121408" y="1783080"/>
            <a:ext cx="45719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Rounded Rectangle 17416"/>
          <p:cNvSpPr/>
          <p:nvPr/>
        </p:nvSpPr>
        <p:spPr>
          <a:xfrm>
            <a:off x="2185416" y="1627632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1E4E8C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3063240" y="1783080"/>
            <a:ext cx="45720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3127248" y="1627632"/>
            <a:ext cx="98755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16202B"/>
                </a:solidFill>
                <a:latin typeface="Calibri"/>
              </a:rPr>
              <a:t>DISPATCH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4133087" y="1783080"/>
            <a:ext cx="45721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ounded Rectangle 17420"/>
          <p:cNvSpPr/>
          <p:nvPr/>
        </p:nvSpPr>
        <p:spPr>
          <a:xfrm>
            <a:off x="4197096" y="1627632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16202B"/>
                </a:solidFill>
                <a:latin typeface="Calibri"/>
              </a:rPr>
              <a:t>ACCEPT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5111496" y="1783080"/>
            <a:ext cx="45720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ounded Rectangle 17422"/>
          <p:cNvSpPr/>
          <p:nvPr/>
        </p:nvSpPr>
        <p:spPr>
          <a:xfrm>
            <a:off x="5175504" y="162763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16202B"/>
                </a:solidFill>
                <a:latin typeface="Calibri"/>
              </a:rPr>
              <a:t>TRUCK VERIFY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6382512" y="1783080"/>
            <a:ext cx="45720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Rounded Rectangle 17424"/>
          <p:cNvSpPr/>
          <p:nvPr/>
        </p:nvSpPr>
        <p:spPr>
          <a:xfrm>
            <a:off x="6446520" y="1627632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16202B"/>
                </a:solidFill>
                <a:latin typeface="Calibri"/>
              </a:rPr>
              <a:t>NAVIGATE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7488936" y="1783080"/>
            <a:ext cx="45720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7552944" y="1627632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16202B"/>
                </a:solidFill>
                <a:latin typeface="Calibri"/>
              </a:rPr>
              <a:t>OFF-ROUTE</a:t>
            </a:r>
          </a:p>
        </p:txBody>
      </p:sp>
      <p:cxnSp>
        <p:nvCxnSpPr>
          <p:cNvPr id="17428" name="Connector 17427"/>
          <p:cNvCxnSpPr/>
          <p:nvPr/>
        </p:nvCxnSpPr>
        <p:spPr>
          <a:xfrm>
            <a:off x="8595360" y="1783080"/>
            <a:ext cx="45720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Rounded Rectangle 17428"/>
          <p:cNvSpPr/>
          <p:nvPr/>
        </p:nvSpPr>
        <p:spPr>
          <a:xfrm>
            <a:off x="8659368" y="1627632"/>
            <a:ext cx="1975104" cy="310896"/>
          </a:xfrm>
          <a:prstGeom prst="roundRect">
            <a:avLst>
              <a:gd name="adj" fmla="val 50000"/>
            </a:avLst>
          </a:prstGeom>
          <a:solidFill>
            <a:srgbClr val="1E4E8C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MANAGER REROUTE APPROVAL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10652760" y="1783080"/>
            <a:ext cx="45720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Rounded Rectangle 17430"/>
          <p:cNvSpPr/>
          <p:nvPr/>
        </p:nvSpPr>
        <p:spPr>
          <a:xfrm>
            <a:off x="10716768" y="1627632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84048" y="2286000"/>
            <a:ext cx="11393424" cy="3584448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Rounded Rectangle 17432"/>
          <p:cNvSpPr/>
          <p:nvPr/>
        </p:nvSpPr>
        <p:spPr>
          <a:xfrm>
            <a:off x="384048" y="2286000"/>
            <a:ext cx="841248" cy="3584448"/>
          </a:xfrm>
          <a:prstGeom prst="roundRect">
            <a:avLst>
              <a:gd name="adj" fmla="val 5434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Rectangle 17433"/>
          <p:cNvSpPr/>
          <p:nvPr/>
        </p:nvSpPr>
        <p:spPr>
          <a:xfrm>
            <a:off x="1133856" y="2286000"/>
            <a:ext cx="91440" cy="35844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TextBox 17434"/>
          <p:cNvSpPr txBox="1"/>
          <p:nvPr/>
        </p:nvSpPr>
        <p:spPr>
          <a:xfrm>
            <a:off x="438912" y="2286000"/>
            <a:ext cx="713232" cy="35844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1339596" y="2400300"/>
            <a:ext cx="2100834" cy="3026664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952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7" name="Picture 17436" descr="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432304"/>
            <a:ext cx="2036826" cy="2962656"/>
          </a:xfrm>
          <a:prstGeom prst="rect">
            <a:avLst/>
          </a:prstGeom>
        </p:spPr>
      </p:pic>
      <p:sp>
        <p:nvSpPr>
          <p:cNvPr id="17438" name="Rounded Rectangle 17437"/>
          <p:cNvSpPr/>
          <p:nvPr/>
        </p:nvSpPr>
        <p:spPr>
          <a:xfrm>
            <a:off x="3541014" y="2400300"/>
            <a:ext cx="1398012" cy="3026664"/>
          </a:xfrm>
          <a:prstGeom prst="roundRect">
            <a:avLst>
              <a:gd name="adj" fmla="val 3924"/>
            </a:avLst>
          </a:prstGeom>
          <a:solidFill>
            <a:srgbClr val="FFFFFF"/>
          </a:solidFill>
          <a:ln w="952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9" name="Picture 17438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018" y="2432304"/>
            <a:ext cx="1334004" cy="2962656"/>
          </a:xfrm>
          <a:prstGeom prst="rect">
            <a:avLst/>
          </a:prstGeom>
        </p:spPr>
      </p:pic>
      <p:sp>
        <p:nvSpPr>
          <p:cNvPr id="17440" name="Rounded Rectangle 17439"/>
          <p:cNvSpPr/>
          <p:nvPr/>
        </p:nvSpPr>
        <p:spPr>
          <a:xfrm>
            <a:off x="5039610" y="2400300"/>
            <a:ext cx="1398012" cy="3026664"/>
          </a:xfrm>
          <a:prstGeom prst="roundRect">
            <a:avLst>
              <a:gd name="adj" fmla="val 3924"/>
            </a:avLst>
          </a:prstGeom>
          <a:solidFill>
            <a:srgbClr val="FFFFFF"/>
          </a:solidFill>
          <a:ln w="952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1" name="Picture 17440" descr="na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1614" y="2432304"/>
            <a:ext cx="1334004" cy="2962656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1371600" y="5449824"/>
            <a:ext cx="2036826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5636F"/>
                </a:solidFill>
                <a:latin typeface="Calibri"/>
              </a:rPr>
              <a:t>Manager · route review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3573018" y="5449824"/>
            <a:ext cx="1334004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5636F"/>
                </a:solidFill>
                <a:latin typeface="Calibri"/>
              </a:rPr>
              <a:t>Driver · truck check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5071614" y="5449824"/>
            <a:ext cx="1334004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5636F"/>
                </a:solidFill>
                <a:latin typeface="Calibri"/>
              </a:rPr>
              <a:t>Driver · navigation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679939" y="2432304"/>
            <a:ext cx="4951228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6202B"/>
                </a:solidFill>
                <a:latin typeface="Calibri"/>
              </a:rPr>
              <a:t>The whole lifecycle above was run end to end on a physical Android phone against the hosted backend, on the real road.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6679939" y="3072384"/>
            <a:ext cx="80467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E4E8C"/>
                </a:solidFill>
                <a:latin typeface="Calibri"/>
              </a:rPr>
              <a:t>12/12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7557763" y="3072384"/>
            <a:ext cx="4073404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6202B"/>
                </a:solidFill>
                <a:latin typeface="Calibri"/>
              </a:rPr>
              <a:t>physical judge-flow steps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6679939" y="3456432"/>
            <a:ext cx="80467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E4E8C"/>
                </a:solidFill>
                <a:latin typeface="Calibri"/>
              </a:rPr>
              <a:t>9/9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7557763" y="3456432"/>
            <a:ext cx="4073404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6202B"/>
                </a:solidFill>
                <a:latin typeface="Calibri"/>
              </a:rPr>
              <a:t>physical role-flow steps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6679939" y="3840480"/>
            <a:ext cx="495122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E4E8C"/>
                </a:solidFill>
                <a:latin typeface="Calibri"/>
              </a:rPr>
              <a:t>1138+ </a:t>
            </a:r>
            <a:r>
              <a:rPr sz="1000" b="0">
                <a:solidFill>
                  <a:srgbClr val="16202B"/>
                </a:solidFill>
                <a:latin typeface="Calibri"/>
              </a:rPr>
              <a:t>backend  ·  </a:t>
            </a:r>
            <a:r>
              <a:rPr sz="1200" b="1">
                <a:solidFill>
                  <a:srgbClr val="1E4E8C"/>
                </a:solidFill>
                <a:latin typeface="Calibri"/>
              </a:rPr>
              <a:t>621+ </a:t>
            </a:r>
            <a:r>
              <a:rPr sz="1000" b="0">
                <a:solidFill>
                  <a:srgbClr val="16202B"/>
                </a:solidFill>
                <a:latin typeface="Calibri"/>
              </a:rPr>
              <a:t>driver  ·  </a:t>
            </a:r>
            <a:r>
              <a:rPr sz="1200" b="1">
                <a:solidFill>
                  <a:srgbClr val="1E4E8C"/>
                </a:solidFill>
                <a:latin typeface="Calibri"/>
              </a:rPr>
              <a:t>170+ </a:t>
            </a:r>
            <a:r>
              <a:rPr sz="1000" b="0">
                <a:solidFill>
                  <a:srgbClr val="16202B"/>
                </a:solidFill>
                <a:latin typeface="Calibri"/>
              </a:rPr>
              <a:t>manager tests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6679939" y="4242816"/>
            <a:ext cx="4951228" cy="329184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PHYSICAL ANDROID · CERTIFIED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6679939" y="4645152"/>
            <a:ext cx="4951228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4A3B0"/>
                </a:solidFill>
                <a:latin typeface="Calibri"/>
              </a:rPr>
              <a:t>Canonical demo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6202B"/>
                </a:solidFill>
                <a:latin typeface="Calibri"/>
              </a:rPr>
              <a:t>Guwahati → Shillong · ≈ 98.8 km real route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384048" y="5943600"/>
            <a:ext cx="11393424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4A3B0"/>
                </a:solidFill>
                <a:latin typeface="Calibri"/>
              </a:rPr>
              <a:t>KNOWN LIMITS → MITIGATION   </a:t>
            </a:r>
            <a:r>
              <a:rPr sz="900" b="0">
                <a:solidFill>
                  <a:srgbClr val="55636F"/>
                </a:solidFill>
                <a:latin typeface="Calibri"/>
              </a:rPr>
              <a:t>Render cold start → warm /health before the demo  ·  provider rate limits → cached evidence + explicit UNKNOWN  ·  background push needs Firebase config → in-app alerts already work  ·  experimental ML → outside routing until the gate passes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6202B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60704"/>
            <a:ext cx="8065008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55636F"/>
                </a:solidFill>
                <a:latin typeface="Calibri"/>
              </a:rPr>
              <a:t>RASTA AI does not ask only </a:t>
            </a:r>
            <a:r>
              <a:rPr sz="1700" b="1">
                <a:solidFill>
                  <a:srgbClr val="16202B"/>
                </a:solidFill>
                <a:latin typeface="Calibri"/>
              </a:rPr>
              <a:t>“Which road is shortest?”</a:t>
            </a:r>
            <a:r>
              <a:rPr sz="1700" b="0">
                <a:solidFill>
                  <a:srgbClr val="55636F"/>
                </a:solidFill>
                <a:latin typeface="Calibri"/>
              </a:rPr>
              <a:t>  It asks  </a:t>
            </a:r>
            <a:r>
              <a:rPr sz="1700" b="1">
                <a:solidFill>
                  <a:srgbClr val="1E4E8C"/>
                </a:solidFill>
                <a:latin typeface="Calibri"/>
              </a:rPr>
              <a:t>“Can this truck reliably use this corridor now?”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865376"/>
            <a:ext cx="8110727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ounded Rectangle 17411"/>
          <p:cNvSpPr/>
          <p:nvPr/>
        </p:nvSpPr>
        <p:spPr>
          <a:xfrm>
            <a:off x="411480" y="1865376"/>
            <a:ext cx="841248" cy="1371600"/>
          </a:xfrm>
          <a:prstGeom prst="roundRect">
            <a:avLst>
              <a:gd name="adj" fmla="val 5434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Rectangle 17412"/>
          <p:cNvSpPr/>
          <p:nvPr/>
        </p:nvSpPr>
        <p:spPr>
          <a:xfrm>
            <a:off x="1161288" y="1865376"/>
            <a:ext cx="91440" cy="13716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466344" y="1865376"/>
            <a:ext cx="713232" cy="1371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WHO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GAINS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399032" y="1956816"/>
            <a:ext cx="1700784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E4E8C"/>
                </a:solidFill>
                <a:latin typeface="Calibri"/>
              </a:rPr>
              <a:t>FLEET MANAGERS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6202B"/>
                </a:solidFill>
                <a:latin typeface="Calibri"/>
              </a:rPr>
              <a:t>Route usability and uncertainty visible before dispatch; auditable decisions.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227832" y="1956816"/>
            <a:ext cx="1700784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E4E8C"/>
                </a:solidFill>
                <a:latin typeface="Calibri"/>
              </a:rPr>
              <a:t>DRIVERS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6202B"/>
                </a:solidFill>
                <a:latin typeface="Calibri"/>
              </a:rPr>
              <a:t>Safer navigation, danger context, emergency support, 23 languages.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056632" y="1956816"/>
            <a:ext cx="1700784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E4E8C"/>
                </a:solidFill>
                <a:latin typeface="Calibri"/>
              </a:rPr>
              <a:t>REMOTE COMMUNITIES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6202B"/>
                </a:solidFill>
                <a:latin typeface="Calibri"/>
              </a:rPr>
              <a:t>More resilient access to food, medicine, fuel and relief supplies.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885432" y="1956816"/>
            <a:ext cx="1700784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1E4E8C"/>
                </a:solidFill>
                <a:latin typeface="Calibri"/>
              </a:rPr>
              <a:t>GOVERNMENT / OPERATIONS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16202B"/>
                </a:solidFill>
                <a:latin typeface="Calibri"/>
              </a:rPr>
              <a:t>Auditable route evidence and disruption visibility per corridor.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11480" y="3328416"/>
            <a:ext cx="8110727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Rounded Rectangle 17419"/>
          <p:cNvSpPr/>
          <p:nvPr/>
        </p:nvSpPr>
        <p:spPr>
          <a:xfrm>
            <a:off x="411480" y="3328416"/>
            <a:ext cx="841248" cy="1481328"/>
          </a:xfrm>
          <a:prstGeom prst="roundRect">
            <a:avLst>
              <a:gd name="adj" fmla="val 5434"/>
            </a:avLst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Rectangle 17420"/>
          <p:cNvSpPr/>
          <p:nvPr/>
        </p:nvSpPr>
        <p:spPr>
          <a:xfrm>
            <a:off x="1161288" y="3328416"/>
            <a:ext cx="91440" cy="1481328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466344" y="3328416"/>
            <a:ext cx="713232" cy="14813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PROVEN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399032" y="3438144"/>
            <a:ext cx="80467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E4E8C"/>
                </a:solidFill>
                <a:latin typeface="Calibri"/>
              </a:rPr>
              <a:t>23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2276856" y="3438144"/>
            <a:ext cx="254203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6202B"/>
                </a:solidFill>
                <a:latin typeface="Calibri"/>
              </a:rPr>
              <a:t>selectable languages, explicit fallback status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399032" y="3803904"/>
            <a:ext cx="80467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E4E8C"/>
                </a:solidFill>
                <a:latin typeface="Calibri"/>
              </a:rPr>
              <a:t>11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2276856" y="3803904"/>
            <a:ext cx="254203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6202B"/>
                </a:solidFill>
                <a:latin typeface="Calibri"/>
              </a:rPr>
              <a:t>route factors in every decision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399032" y="4169663"/>
            <a:ext cx="80467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E4E8C"/>
                </a:solidFill>
                <a:latin typeface="Calibri"/>
              </a:rPr>
              <a:t>60 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2276856" y="4169663"/>
            <a:ext cx="254203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6202B"/>
                </a:solidFill>
                <a:latin typeface="Calibri"/>
              </a:rPr>
              <a:t>route-ahead monitor while driving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928616" y="3438144"/>
            <a:ext cx="80467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E4E8C"/>
                </a:solidFill>
                <a:latin typeface="Calibri"/>
              </a:rPr>
              <a:t>12/12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5806440" y="3438144"/>
            <a:ext cx="254203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6202B"/>
                </a:solidFill>
                <a:latin typeface="Calibri"/>
              </a:rPr>
              <a:t>judge-flow steps certified on a physical phone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928616" y="3803904"/>
            <a:ext cx="80467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E4E8C"/>
                </a:solidFill>
                <a:latin typeface="Calibri"/>
              </a:rPr>
              <a:t>100 %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5806440" y="3803904"/>
            <a:ext cx="254203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6202B"/>
                </a:solidFill>
                <a:latin typeface="Calibri"/>
              </a:rPr>
              <a:t>of reroutes reviewed by a human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928616" y="4169663"/>
            <a:ext cx="80467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E4E8C"/>
                </a:solidFill>
                <a:latin typeface="Calibri"/>
              </a:rPr>
              <a:t>0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5806440" y="4169663"/>
            <a:ext cx="254203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6202B"/>
                </a:solidFill>
                <a:latin typeface="Calibri"/>
              </a:rPr>
              <a:t>unknown factors counted as safe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411480" y="4901184"/>
            <a:ext cx="8110727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Rounded Rectangle 17435"/>
          <p:cNvSpPr/>
          <p:nvPr/>
        </p:nvSpPr>
        <p:spPr>
          <a:xfrm>
            <a:off x="411480" y="4901184"/>
            <a:ext cx="841248" cy="1371600"/>
          </a:xfrm>
          <a:prstGeom prst="roundRect">
            <a:avLst>
              <a:gd name="adj" fmla="val 5434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Rectangle 17436"/>
          <p:cNvSpPr/>
          <p:nvPr/>
        </p:nvSpPr>
        <p:spPr>
          <a:xfrm>
            <a:off x="1161288" y="4901184"/>
            <a:ext cx="91440" cy="13716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8" name="TextBox 17437"/>
          <p:cNvSpPr txBox="1"/>
          <p:nvPr/>
        </p:nvSpPr>
        <p:spPr>
          <a:xfrm>
            <a:off x="466344" y="4901184"/>
            <a:ext cx="713232" cy="1371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GOVERNED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1399032" y="4992624"/>
            <a:ext cx="69494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5803D"/>
                </a:solidFill>
                <a:latin typeface="Calibri"/>
              </a:rPr>
              <a:t>FOOD  ·  MEDICINE  ·  FUEL  ·  RELIEF SUPPLIES</a:t>
            </a:r>
            <a:r>
              <a:rPr sz="1000" b="0">
                <a:solidFill>
                  <a:srgbClr val="55636F"/>
                </a:solidFill>
                <a:latin typeface="Calibri"/>
              </a:rPr>
              <a:t>   — essential logistics for hill communities, decided on evidence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1399032" y="5340096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16202B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Verified evidence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3044952" y="5495544"/>
            <a:ext cx="128016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Rounded Rectangle 17441"/>
          <p:cNvSpPr/>
          <p:nvPr/>
        </p:nvSpPr>
        <p:spPr>
          <a:xfrm>
            <a:off x="3191256" y="5340096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16202B"/>
                </a:solidFill>
                <a:latin typeface="Calibri"/>
              </a:rPr>
              <a:t>Deterministic safety policy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4837176" y="5495544"/>
            <a:ext cx="128016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Rounded Rectangle 17443"/>
          <p:cNvSpPr/>
          <p:nvPr/>
        </p:nvSpPr>
        <p:spPr>
          <a:xfrm>
            <a:off x="4983480" y="5340096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16202B"/>
                </a:solidFill>
                <a:latin typeface="Calibri"/>
              </a:rPr>
              <a:t>Manager governance</a:t>
            </a:r>
          </a:p>
        </p:txBody>
      </p:sp>
      <p:cxnSp>
        <p:nvCxnSpPr>
          <p:cNvPr id="17445" name="Connector 17444"/>
          <p:cNvCxnSpPr/>
          <p:nvPr/>
        </p:nvCxnSpPr>
        <p:spPr>
          <a:xfrm>
            <a:off x="6629400" y="5495544"/>
            <a:ext cx="128016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6" name="Rounded Rectangle 17445"/>
          <p:cNvSpPr/>
          <p:nvPr/>
        </p:nvSpPr>
        <p:spPr>
          <a:xfrm>
            <a:off x="6775704" y="5340096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16202B"/>
                </a:solidFill>
                <a:latin typeface="Calibri"/>
              </a:rPr>
              <a:t>Driver action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1399032" y="5760720"/>
            <a:ext cx="69494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5636F"/>
                </a:solidFill>
                <a:latin typeface="Calibri"/>
              </a:rPr>
              <a:t>No invented percentages: impact is stated as who gains what, backed by the working system.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8686800" y="1097280"/>
            <a:ext cx="3063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4A3B0"/>
                </a:solidFill>
                <a:latin typeface="Calibri"/>
              </a:rPr>
              <a:t>REAL SCREENS · APK 1.0.18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8654796" y="1376172"/>
            <a:ext cx="1687324" cy="2350008"/>
          </a:xfrm>
          <a:prstGeom prst="roundRect">
            <a:avLst>
              <a:gd name="adj" fmla="val 3251"/>
            </a:avLst>
          </a:prstGeom>
          <a:solidFill>
            <a:srgbClr val="FFFFFF"/>
          </a:solidFill>
          <a:ln w="952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0" name="Picture 17449" descr="la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408176"/>
            <a:ext cx="1623316" cy="2286000"/>
          </a:xfrm>
          <a:prstGeom prst="rect">
            <a:avLst/>
          </a:prstGeom>
        </p:spPr>
      </p:pic>
      <p:sp>
        <p:nvSpPr>
          <p:cNvPr id="17451" name="Rounded Rectangle 17450"/>
          <p:cNvSpPr/>
          <p:nvPr/>
        </p:nvSpPr>
        <p:spPr>
          <a:xfrm>
            <a:off x="10424416" y="1376172"/>
            <a:ext cx="1142181" cy="2350008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2" name="Picture 17451" descr="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6420" y="1408176"/>
            <a:ext cx="1078173" cy="2286000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8686800" y="3767328"/>
            <a:ext cx="1623316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5636F"/>
                </a:solidFill>
                <a:latin typeface="Calibri"/>
              </a:rPr>
              <a:t>Driver · 23 languages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10456420" y="3767328"/>
            <a:ext cx="1078173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5636F"/>
                </a:solidFill>
                <a:latin typeface="Calibri"/>
              </a:rPr>
              <a:t>Manager · mobile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8686800" y="4114800"/>
            <a:ext cx="306324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5636F"/>
                </a:solidFill>
                <a:latin typeface="Calibri"/>
              </a:rPr>
              <a:t>Real screens, APK 1.0.18. One login, server-decided role: a manager gets a mobile fleet view, a driver gets navigation. Each language shows its status — Verified, Draft or English fallback — so nobody is misled.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6202B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84048" y="1097280"/>
            <a:ext cx="6766560" cy="4443984"/>
          </a:xfrm>
          <a:prstGeom prst="roundRect">
            <a:avLst>
              <a:gd name="adj" fmla="val 1028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ounded Rectangle 17410"/>
          <p:cNvSpPr/>
          <p:nvPr/>
        </p:nvSpPr>
        <p:spPr>
          <a:xfrm>
            <a:off x="384048" y="1097280"/>
            <a:ext cx="841248" cy="4443984"/>
          </a:xfrm>
          <a:prstGeom prst="roundRect">
            <a:avLst>
              <a:gd name="adj" fmla="val 5434"/>
            </a:avLst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ectangle 17411"/>
          <p:cNvSpPr/>
          <p:nvPr/>
        </p:nvSpPr>
        <p:spPr>
          <a:xfrm>
            <a:off x="1133856" y="1097280"/>
            <a:ext cx="91440" cy="4443984"/>
          </a:xfrm>
          <a:prstGeom prst="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438912" y="1097280"/>
            <a:ext cx="713232" cy="44439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SOURCES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1371600" y="1207008"/>
            <a:ext cx="2706624" cy="0"/>
          </a:xfrm>
          <a:prstGeom prst="line">
            <a:avLst/>
          </a:prstGeom>
          <a:ln w="19050">
            <a:solidFill>
              <a:srgbClr val="1E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TextBox 17414"/>
          <p:cNvSpPr txBox="1"/>
          <p:nvPr/>
        </p:nvSpPr>
        <p:spPr>
          <a:xfrm>
            <a:off x="1371600" y="1261872"/>
            <a:ext cx="2706624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1E4E8C"/>
                </a:solidFill>
                <a:latin typeface="Calibri"/>
              </a:rPr>
              <a:t>ROUTING / PLACES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6202B"/>
                </a:solidFill>
                <a:latin typeface="Calibri"/>
              </a:rPr>
              <a:t>OSRM · OpenStreetMap · Nominatim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5636F"/>
                </a:solidFill>
                <a:latin typeface="Calibri"/>
              </a:rPr>
              <a:t>real road geometry, alternatives and turn steps; place search on the corridor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4261104" y="1207008"/>
            <a:ext cx="2706624" cy="0"/>
          </a:xfrm>
          <a:prstGeom prst="line">
            <a:avLst/>
          </a:prstGeom>
          <a:ln w="19050">
            <a:solidFill>
              <a:srgbClr val="1E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TextBox 17416"/>
          <p:cNvSpPr txBox="1"/>
          <p:nvPr/>
        </p:nvSpPr>
        <p:spPr>
          <a:xfrm>
            <a:off x="4261104" y="1261872"/>
            <a:ext cx="2706624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1E4E8C"/>
                </a:solidFill>
                <a:latin typeface="Calibri"/>
              </a:rPr>
              <a:t>WEATHER / TERRAIN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6202B"/>
                </a:solidFill>
                <a:latin typeface="Calibri"/>
              </a:rPr>
              <a:t>Open-Meteo · MET Norway · Copernicus DEM · OpenTopoData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5636F"/>
                </a:solidFill>
                <a:latin typeface="Calibri"/>
              </a:rPr>
              <a:t>forecast sampled along the road; climb, gradient and steep segments (GLO-90)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1371600" y="2670048"/>
            <a:ext cx="2706624" cy="0"/>
          </a:xfrm>
          <a:prstGeom prst="line">
            <a:avLst/>
          </a:prstGeom>
          <a:ln w="19050">
            <a:solidFill>
              <a:srgbClr val="1E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TextBox 17418"/>
          <p:cNvSpPr txBox="1"/>
          <p:nvPr/>
        </p:nvSpPr>
        <p:spPr>
          <a:xfrm>
            <a:off x="1371600" y="2724912"/>
            <a:ext cx="2706624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1E4E8C"/>
                </a:solidFill>
                <a:latin typeface="Calibri"/>
              </a:rPr>
              <a:t>OFFICIAL / FLOOD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6202B"/>
                </a:solidFill>
                <a:latin typeface="Calibri"/>
              </a:rPr>
              <a:t>NDMA SACHET (CAP) · Copernicus GloFAS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5636F"/>
                </a:solidFill>
                <a:latin typeface="Calibri"/>
              </a:rPr>
              <a:t>official warnings polled with freshness; river discharge against its 30-day mean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4261104" y="2670048"/>
            <a:ext cx="2706624" cy="0"/>
          </a:xfrm>
          <a:prstGeom prst="line">
            <a:avLst/>
          </a:prstGeom>
          <a:ln w="19050">
            <a:solidFill>
              <a:srgbClr val="1E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TextBox 17420"/>
          <p:cNvSpPr txBox="1"/>
          <p:nvPr/>
        </p:nvSpPr>
        <p:spPr>
          <a:xfrm>
            <a:off x="4261104" y="2724912"/>
            <a:ext cx="2706624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1E4E8C"/>
                </a:solidFill>
                <a:latin typeface="Calibri"/>
              </a:rPr>
              <a:t>LANDSLIDE HISTORY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6202B"/>
                </a:solidFill>
                <a:latin typeface="Calibri"/>
              </a:rPr>
              <a:t>NASA Global Landslide Catalog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5636F"/>
                </a:solidFill>
                <a:latin typeface="Calibri"/>
              </a:rPr>
              <a:t>historical exposure; inventory 2007–2017, ≤5 km location-accuracy filter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1371600" y="4133088"/>
            <a:ext cx="2706624" cy="0"/>
          </a:xfrm>
          <a:prstGeom prst="line">
            <a:avLst/>
          </a:prstGeom>
          <a:ln w="19050">
            <a:solidFill>
              <a:srgbClr val="1E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TextBox 17422"/>
          <p:cNvSpPr txBox="1"/>
          <p:nvPr/>
        </p:nvSpPr>
        <p:spPr>
          <a:xfrm>
            <a:off x="1371600" y="4187952"/>
            <a:ext cx="2706624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1E4E8C"/>
                </a:solidFill>
                <a:latin typeface="Calibri"/>
              </a:rPr>
              <a:t>AI ASSISTANCE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6202B"/>
                </a:solidFill>
                <a:latin typeface="Calibri"/>
              </a:rPr>
              <a:t>Google Gemini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5636F"/>
                </a:solidFill>
                <a:latin typeface="Calibri"/>
              </a:rPr>
              <a:t>explains the decision in the driver's language — never safety authority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4261104" y="4133088"/>
            <a:ext cx="2706624" cy="0"/>
          </a:xfrm>
          <a:prstGeom prst="line">
            <a:avLst/>
          </a:prstGeom>
          <a:ln w="19050">
            <a:solidFill>
              <a:srgbClr val="1E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TextBox 17424"/>
          <p:cNvSpPr txBox="1"/>
          <p:nvPr/>
        </p:nvSpPr>
        <p:spPr>
          <a:xfrm>
            <a:off x="4261104" y="4187952"/>
            <a:ext cx="2706624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1E4E8C"/>
                </a:solidFill>
                <a:latin typeface="Calibri"/>
              </a:rPr>
              <a:t>PROBLEM STATEMENT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6202B"/>
                </a:solidFill>
                <a:latin typeface="Calibri"/>
              </a:rPr>
              <a:t>MDoNER · SIH26002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5636F"/>
                </a:solidFill>
                <a:latin typeface="Calibri"/>
              </a:rPr>
              <a:t>AI-based smart logistics and accessibility intelligence for the NER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7360920" y="1097280"/>
            <a:ext cx="4416552" cy="4443984"/>
          </a:xfrm>
          <a:prstGeom prst="roundRect">
            <a:avLst>
              <a:gd name="adj" fmla="val 1035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Rectangle 17426"/>
          <p:cNvSpPr/>
          <p:nvPr/>
        </p:nvSpPr>
        <p:spPr>
          <a:xfrm>
            <a:off x="7360920" y="1097280"/>
            <a:ext cx="4416552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TextBox 17427"/>
          <p:cNvSpPr txBox="1"/>
          <p:nvPr/>
        </p:nvSpPr>
        <p:spPr>
          <a:xfrm>
            <a:off x="7516368" y="1225296"/>
            <a:ext cx="41148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C2410C"/>
                </a:solidFill>
                <a:latin typeface="Calibri"/>
              </a:rPr>
              <a:t>EXPERIMENTAL LANDSLIDE RESEARCH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7516368" y="1517904"/>
            <a:ext cx="1691640" cy="8595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16202B"/>
                </a:solidFill>
                <a:latin typeface="Calibri"/>
              </a:rPr>
              <a:t>95 %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9208008" y="1554480"/>
            <a:ext cx="2423160" cy="8046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6202B"/>
                </a:solidFill>
                <a:latin typeface="Calibri"/>
              </a:rPr>
              <a:t>RECALL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55636F"/>
                </a:solidFill>
                <a:latin typeface="Calibri"/>
              </a:rPr>
              <a:t>on the NER geographic holdout — 154 catalogued events, no NER row used in training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7516368" y="2505456"/>
            <a:ext cx="4114800" cy="731520"/>
          </a:xfrm>
          <a:prstGeom prst="roundRect">
            <a:avLst>
              <a:gd name="adj" fmla="val 625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TextBox 17431"/>
          <p:cNvSpPr txBox="1"/>
          <p:nvPr/>
        </p:nvSpPr>
        <p:spPr>
          <a:xfrm>
            <a:off x="7516368" y="2560320"/>
            <a:ext cx="411480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4A3B0"/>
                </a:solidFill>
                <a:latin typeface="Calibri"/>
              </a:rPr>
              <a:t>SAFETY GATE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NOT DEPLOYED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7516368" y="3310128"/>
            <a:ext cx="411480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Calibri"/>
              </a:rPr>
              <a:t>FPR 50 %</a:t>
            </a:r>
            <a:r>
              <a:rPr sz="1000" b="0">
                <a:solidFill>
                  <a:srgbClr val="55636F"/>
                </a:solidFill>
                <a:latin typeface="Calibri"/>
              </a:rPr>
              <a:t>   too high for production deployment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7516368" y="3675887"/>
            <a:ext cx="6949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6202B"/>
                </a:solidFill>
                <a:latin typeface="Calibri"/>
              </a:rPr>
              <a:t>TRAIN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8229600" y="3803903"/>
            <a:ext cx="36576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Rounded Rectangle 17435"/>
          <p:cNvSpPr/>
          <p:nvPr/>
        </p:nvSpPr>
        <p:spPr>
          <a:xfrm>
            <a:off x="8284464" y="3675887"/>
            <a:ext cx="144475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6202B"/>
                </a:solidFill>
                <a:latin typeface="Calibri"/>
              </a:rPr>
              <a:t>HELD-OUT NER TEST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9747504" y="3803903"/>
            <a:ext cx="36576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Rounded Rectangle 17437"/>
          <p:cNvSpPr/>
          <p:nvPr/>
        </p:nvSpPr>
        <p:spPr>
          <a:xfrm>
            <a:off x="9802368" y="3675887"/>
            <a:ext cx="159105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6202B"/>
                </a:solidFill>
                <a:latin typeface="Calibri"/>
              </a:rPr>
              <a:t>USEFUL SIGNAL FOUND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7516368" y="4023359"/>
            <a:ext cx="177393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6202B"/>
                </a:solidFill>
                <a:latin typeface="Calibri"/>
              </a:rPr>
              <a:t>FALSE POSITIVES TOO HIGH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9308592" y="4151375"/>
            <a:ext cx="36576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9363456" y="4023359"/>
            <a:ext cx="96926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6202B"/>
                </a:solidFill>
                <a:latin typeface="Calibri"/>
              </a:rPr>
              <a:t>SAFETY GATE</a:t>
            </a:r>
          </a:p>
        </p:txBody>
      </p:sp>
      <p:cxnSp>
        <p:nvCxnSpPr>
          <p:cNvPr id="17442" name="Connector 17441"/>
          <p:cNvCxnSpPr/>
          <p:nvPr/>
        </p:nvCxnSpPr>
        <p:spPr>
          <a:xfrm>
            <a:off x="10351008" y="4151375"/>
            <a:ext cx="36576" cy="0"/>
          </a:xfrm>
          <a:prstGeom prst="line">
            <a:avLst/>
          </a:prstGeom>
          <a:ln w="15875">
            <a:solidFill>
              <a:srgbClr val="1620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Rounded Rectangle 17442"/>
          <p:cNvSpPr/>
          <p:nvPr/>
        </p:nvSpPr>
        <p:spPr>
          <a:xfrm>
            <a:off x="10405872" y="4023359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6202B"/>
                </a:solidFill>
                <a:latin typeface="Calibri"/>
              </a:rPr>
              <a:t>NOT DEPLOYED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7516368" y="4407408"/>
            <a:ext cx="41148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E4E8C"/>
                </a:solidFill>
                <a:latin typeface="Calibri"/>
              </a:rPr>
              <a:t>VALIDATION BEFORE AUTOMATION. </a:t>
            </a:r>
            <a:r>
              <a:rPr sz="1000" b="0">
                <a:solidFill>
                  <a:srgbClr val="16202B"/>
                </a:solidFill>
                <a:latin typeface="Calibri"/>
              </a:rPr>
              <a:t>Strong recall was not enough. Held-out testing exposed the false-positive rate, so the gate keeps the model out of routing.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7516368" y="5029200"/>
            <a:ext cx="4114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5636F"/>
                </a:solidFill>
                <a:latin typeface="Calibri"/>
              </a:rPr>
              <a:t>Precision 0.32 · F1 0.48 · PR-AUC 0.55 · ROC-AUC 0.83 · Brier 0.12 · calibrated logistic regression on NASA GLC + ERA5-Land rain + DEM slope · docs/HAZARD_ERROR_ANALYSIS.md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384048" y="5632704"/>
            <a:ext cx="11393424" cy="0"/>
          </a:xfrm>
          <a:prstGeom prst="line">
            <a:avLst/>
          </a:prstGeom>
          <a:ln w="9525">
            <a:solidFill>
              <a:srgbClr val="DC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7" name="TextBox 17446"/>
          <p:cNvSpPr txBox="1"/>
          <p:nvPr/>
        </p:nvSpPr>
        <p:spPr>
          <a:xfrm>
            <a:off x="384048" y="5870448"/>
            <a:ext cx="11393424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94A3B0"/>
                </a:solidFill>
                <a:latin typeface="Calibri"/>
              </a:rPr>
              <a:t>REFERENCES   </a:t>
            </a:r>
            <a:r>
              <a:rPr sz="850" b="0">
                <a:solidFill>
                  <a:srgbClr val="55636F"/>
                </a:solidFill>
                <a:latin typeface="Calibri"/>
              </a:rPr>
              <a:t>gpm.nasa.gov/landslides (NASA GLC)  ·  sachet.ndma.gov.in  ·  global-flood.emergency.copernicus.eu (GloFAS)  ·  open-meteo.com · api.met.no  ·  opentopodata.org · Copernicus DEM  ·  project-osrm.org · openstreetmap.org  ·  github.com/nxtlucifer/ner-ai-logistics (repository, tests, model registry)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RASTA AI — SIH26002 — Team NER-AI LOGISTICS (17)</dc:title>
  <dc:subject>AI-Based Smart Logistics and Accessibility Intelligence Platform for North Eastern Region (NER)</dc:subject>
  <dc:creator>NER-AI LOGISTICS</dc:creator>
  <cp:keywords>SIH26002, SIH 2026, RASTA AI, NER logistics, route intelligence</cp:keywords>
  <dc:description/>
  <cp:lastModifiedBy>NER-AI LOGISTICS</cp:lastModifiedBy>
  <cp:revision>148</cp:revision>
  <dcterms:created xsi:type="dcterms:W3CDTF">2013-12-12T18:46:50Z</dcterms:created>
  <dcterms:modified xsi:type="dcterms:W3CDTF">2026-06-02T09:29:39Z</dcterms:modified>
  <cp:category>Smart India Hackathon 2026 — Smart Automation — Software</cp:category>
</cp:coreProperties>
</file>