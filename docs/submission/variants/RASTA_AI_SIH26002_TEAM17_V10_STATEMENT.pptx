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1188720"/>
            <a:ext cx="612648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RASTA AI</a:t>
            </a:r>
            <a:r>
              <a:rPr sz="1800" b="1">
                <a:solidFill>
                  <a:srgbClr val="D92B14"/>
                </a:solidFill>
                <a:latin typeface="Calibri"/>
              </a:rPr>
              <a:t>   SIH26002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1810512"/>
            <a:ext cx="1280160" cy="54864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02920" y="1975104"/>
            <a:ext cx="612648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3400" b="1">
                <a:solidFill>
                  <a:srgbClr val="0A0A0A"/>
                </a:solidFill>
                <a:latin typeface="Calibri"/>
              </a:rPr>
              <a:t>SHORTEST IS NOT ALWAYS </a:t>
            </a:r>
            <a:r>
              <a:rPr sz="3400" b="1">
                <a:solidFill>
                  <a:srgbClr val="D92B14"/>
                </a:solidFill>
                <a:latin typeface="Calibri"/>
              </a:rPr>
              <a:t>USABLE.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346704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59595E"/>
                </a:solidFill>
                <a:latin typeface="Calibri"/>
              </a:rPr>
              <a:t>“Can this essential-supply truck reliably use this corridor now?”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3877056"/>
            <a:ext cx="612648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3986784"/>
            <a:ext cx="1508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A1A1A8"/>
                </a:solidFill>
                <a:latin typeface="Calibri"/>
              </a:rPr>
              <a:t>PROBLEM STATEMENT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3968496"/>
            <a:ext cx="4526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SIH26002  ·  MDoNER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4261104"/>
            <a:ext cx="612648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4334256"/>
            <a:ext cx="1508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A1A1A8"/>
                </a:solidFill>
                <a:latin typeface="Calibri"/>
              </a:rPr>
              <a:t>TITLE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315968"/>
            <a:ext cx="4526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AI-Based Smart Logistics and Accessibility Intelligence Platform (NER)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608576"/>
            <a:ext cx="612648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681728"/>
            <a:ext cx="1508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A1A1A8"/>
                </a:solidFill>
                <a:latin typeface="Calibri"/>
              </a:rPr>
              <a:t>THEME / CATEGORY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4663440"/>
            <a:ext cx="4526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Smart Automation  ·  Software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4956048"/>
            <a:ext cx="612648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5029200"/>
            <a:ext cx="15087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A1A1A8"/>
                </a:solidFill>
                <a:latin typeface="Calibri"/>
              </a:rPr>
              <a:t>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4526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NER-AI LOGISTICS  ·  Team ID 17  (internal group no.)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5303520"/>
            <a:ext cx="612648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2920" y="5431536"/>
            <a:ext cx="6126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9595E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888736"/>
            <a:ext cx="61264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B4F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31452" y="1156716"/>
            <a:ext cx="2369695" cy="518464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na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188720"/>
            <a:ext cx="2305687" cy="512064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825996" y="2436876"/>
            <a:ext cx="2704338" cy="3904488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mg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468880"/>
            <a:ext cx="2640330" cy="384048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58000" y="1188720"/>
            <a:ext cx="237744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2B14"/>
                </a:solidFill>
                <a:latin typeface="Calibri"/>
              </a:rPr>
              <a:t>A WORKING SYSTEM, NOT A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457200" y="1115568"/>
            <a:ext cx="1280160" cy="54864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457200" y="1280160"/>
            <a:ext cx="8065008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2800" b="0">
                <a:solidFill>
                  <a:srgbClr val="0A0A0A"/>
                </a:solidFill>
                <a:latin typeface="Calibri"/>
              </a:rPr>
              <a:t>A road can be the shortest and still be </a:t>
            </a:r>
            <a:r>
              <a:rPr sz="2800" b="1">
                <a:solidFill>
                  <a:srgbClr val="D92B14"/>
                </a:solidFill>
                <a:latin typeface="Calibri"/>
              </a:rPr>
              <a:t>unusable.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2377440"/>
            <a:ext cx="8065008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9595E"/>
                </a:solidFill>
                <a:latin typeface="Calibri"/>
              </a:rPr>
              <a:t>NER corridors close without notice: monsoon rain, landslides, floods, official warnings, single-lane hill roads, no phone signal. A shortest-path router still sends the truck.</a:t>
            </a:r>
          </a:p>
        </p:txBody>
      </p:sp>
      <p:cxnSp>
        <p:nvCxnSpPr>
          <p:cNvPr id="15365" name="Connector 15364"/>
          <p:cNvCxnSpPr/>
          <p:nvPr/>
        </p:nvCxnSpPr>
        <p:spPr>
          <a:xfrm>
            <a:off x="457200" y="2889504"/>
            <a:ext cx="8065008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TextBox 15365"/>
          <p:cNvSpPr txBox="1"/>
          <p:nvPr/>
        </p:nvSpPr>
        <p:spPr>
          <a:xfrm>
            <a:off x="457200" y="2980944"/>
            <a:ext cx="22860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A NORMAL ROUTER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57200" y="3236976"/>
            <a:ext cx="237744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59595E"/>
                </a:solidFill>
                <a:latin typeface="Calibri"/>
              </a:rPr>
              <a:t>Origin  →  Shortest / fastest road  →  Truck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A1A1A8"/>
                </a:solidFill>
                <a:latin typeface="Calibri"/>
              </a:rPr>
              <a:t>No governance. No answer when data is missing.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108960" y="2980944"/>
            <a:ext cx="541324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D92B14"/>
                </a:solidFill>
                <a:latin typeface="Calibri"/>
              </a:rPr>
              <a:t>RASTA AI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3108960" y="3236976"/>
            <a:ext cx="786384" cy="237744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A0A0A"/>
                </a:solidFill>
                <a:latin typeface="Calibri"/>
              </a:rPr>
              <a:t>Terrain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3968496" y="3236976"/>
            <a:ext cx="786384" cy="237744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A0A0A"/>
                </a:solidFill>
                <a:latin typeface="Calibri"/>
              </a:rPr>
              <a:t>Weather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4828031" y="3236976"/>
            <a:ext cx="1243584" cy="237744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A0A0A"/>
                </a:solidFill>
                <a:latin typeface="Calibri"/>
              </a:rPr>
              <a:t>Landslide exposure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6144768" y="3236976"/>
            <a:ext cx="1005840" cy="237744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A0A0A"/>
                </a:solidFill>
                <a:latin typeface="Calibri"/>
              </a:rPr>
              <a:t>Flood context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7223760" y="3236976"/>
            <a:ext cx="1152144" cy="237744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A0A0A"/>
                </a:solidFill>
                <a:latin typeface="Calibri"/>
              </a:rPr>
              <a:t>Official warnings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3108960" y="3511296"/>
            <a:ext cx="914400" cy="237744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A0A0A"/>
                </a:solidFill>
                <a:latin typeface="Calibri"/>
              </a:rPr>
              <a:t>Fleet traffic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4096512" y="3511296"/>
            <a:ext cx="1243584" cy="237744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0A0A0A"/>
                </a:solidFill>
                <a:latin typeface="Calibri"/>
              </a:rPr>
              <a:t>Evidence freshness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3108960" y="3877056"/>
            <a:ext cx="1284732" cy="310896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4485132" y="3877056"/>
            <a:ext cx="1284732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5861304" y="3877056"/>
            <a:ext cx="1284732" cy="310896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7237476" y="3877056"/>
            <a:ext cx="1284732" cy="3108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3108960" y="4279392"/>
            <a:ext cx="541324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Manager governance → driver navigation, 23 languages, offline package</a:t>
            </a:r>
          </a:p>
        </p:txBody>
      </p:sp>
      <p:sp>
        <p:nvSpPr>
          <p:cNvPr id="15381" name="Rectangle 15380"/>
          <p:cNvSpPr/>
          <p:nvPr/>
        </p:nvSpPr>
        <p:spPr>
          <a:xfrm>
            <a:off x="457200" y="5358384"/>
            <a:ext cx="8065008" cy="54864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TextBox 15381"/>
          <p:cNvSpPr txBox="1"/>
          <p:nvPr/>
        </p:nvSpPr>
        <p:spPr>
          <a:xfrm>
            <a:off x="457200" y="5486400"/>
            <a:ext cx="3657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2400" b="1">
                <a:solidFill>
                  <a:srgbClr val="D92B14"/>
                </a:solidFill>
                <a:latin typeface="Calibri"/>
              </a:rPr>
              <a:t>UNKNOWN ≠ SAFE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3840480" y="5541264"/>
            <a:ext cx="468172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A0A0A"/>
                </a:solidFill>
                <a:latin typeface="Calibri"/>
              </a:rPr>
              <a:t>Missing or stale evidence is marked UNKNOWN, never counted as safe, and the route goes to an authorised reviewer.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8686800" y="1115568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MANAGER · CHECK CONDITIONS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8654796" y="1394460"/>
            <a:ext cx="2942428" cy="4544568"/>
          </a:xfrm>
          <a:prstGeom prst="roundRect">
            <a:avLst>
              <a:gd name="adj" fmla="val 1864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6" name="Picture 15385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26464"/>
            <a:ext cx="2878420" cy="4480560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8686800" y="5961888"/>
            <a:ext cx="30632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Real screen · evidence · freshness ·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57200" y="1115568"/>
            <a:ext cx="1280160" cy="54864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57200" y="1280160"/>
            <a:ext cx="8065008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2800" b="1">
                <a:solidFill>
                  <a:srgbClr val="0A0A0A"/>
                </a:solidFill>
                <a:latin typeface="Calibri"/>
              </a:rPr>
              <a:t>Evidence decides. </a:t>
            </a:r>
            <a:r>
              <a:rPr sz="2800" b="0">
                <a:solidFill>
                  <a:srgbClr val="59595E"/>
                </a:solidFill>
                <a:latin typeface="Calibri"/>
              </a:rPr>
              <a:t>AI explains, and never overrules.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57200" y="2450592"/>
            <a:ext cx="8065008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457200" y="2542032"/>
            <a:ext cx="1335024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9595E"/>
                </a:solidFill>
                <a:latin typeface="Calibri"/>
              </a:rPr>
              <a:t>Open-Meteo · MET Norway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810512" y="2542032"/>
            <a:ext cx="1335024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9595E"/>
                </a:solidFill>
                <a:latin typeface="Calibri"/>
              </a:rPr>
              <a:t>Copernicus DEM · OpenTopoData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163824" y="2542032"/>
            <a:ext cx="1335024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9595E"/>
                </a:solidFill>
                <a:latin typeface="Calibri"/>
              </a:rPr>
              <a:t>NDMA SACHET (CAP)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17136" y="2542032"/>
            <a:ext cx="1335024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9595E"/>
                </a:solidFill>
                <a:latin typeface="Calibri"/>
              </a:rPr>
              <a:t>GloFAS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870448" y="2542032"/>
            <a:ext cx="1335024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9595E"/>
                </a:solidFill>
                <a:latin typeface="Calibri"/>
              </a:rPr>
              <a:t>NASA GLC 2007–17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223760" y="2542032"/>
            <a:ext cx="1335024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A0A0A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59595E"/>
                </a:solidFill>
                <a:latin typeface="Calibri"/>
              </a:rPr>
              <a:t>fleet GPS fixes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457200" y="3163824"/>
            <a:ext cx="8065008" cy="493776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585216" y="3191256"/>
            <a:ext cx="7808975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59595E"/>
                </a:solidFill>
                <a:latin typeface="Calibri"/>
              </a:rPr>
              <a:t>every factor sampled along the selected road · PostgreSQL + PostGIS (Supabase) · OSRM routes, alternatives, turn steps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457200" y="3730752"/>
            <a:ext cx="8065008" cy="49377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585216" y="3758184"/>
            <a:ext cx="7808975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A1A1A8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57200" y="4297680"/>
            <a:ext cx="1933956" cy="310896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2500884" y="4297680"/>
            <a:ext cx="1933956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4544568" y="4297680"/>
            <a:ext cx="1933956" cy="310896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6588252" y="4297680"/>
            <a:ext cx="1933956" cy="3108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57200" y="473659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1801368" y="4882896"/>
            <a:ext cx="36575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Rounded Rectangle 17428"/>
          <p:cNvSpPr/>
          <p:nvPr/>
        </p:nvSpPr>
        <p:spPr>
          <a:xfrm>
            <a:off x="1856232" y="4736592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3300984" y="4882896"/>
            <a:ext cx="36576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3355848" y="4736592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ROUTE-AHEAD 60 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727448" y="4882896"/>
            <a:ext cx="36576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4782312" y="4736592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6300216" y="4882896"/>
            <a:ext cx="36576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6355080" y="473659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REASSESS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457200" y="5157216"/>
            <a:ext cx="8065008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TextBox 17436"/>
          <p:cNvSpPr txBox="1"/>
          <p:nvPr/>
        </p:nvSpPr>
        <p:spPr>
          <a:xfrm>
            <a:off x="457200" y="5212079"/>
            <a:ext cx="8065008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00" b="1">
                <a:solidFill>
                  <a:srgbClr val="A1A1A8"/>
                </a:solidFill>
                <a:latin typeface="Calibri"/>
              </a:rPr>
              <a:t>CLIENTS  </a:t>
            </a:r>
            <a:r>
              <a:rPr sz="950" b="0">
                <a:solidFill>
                  <a:srgbClr val="0A0A0A"/>
                </a:solidFill>
                <a:latin typeface="Calibri"/>
              </a:rPr>
              <a:t>Manager console — React + TypeScript, manager accounts only · Driver app — React Native / Expo, Android; one login, server-decided role, offline trip package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00" b="1">
                <a:solidFill>
                  <a:srgbClr val="A1A1A8"/>
                </a:solidFill>
                <a:latin typeface="Calibri"/>
              </a:rPr>
              <a:t>STACK  </a:t>
            </a:r>
            <a:r>
              <a:rPr sz="950" b="0">
                <a:solidFill>
                  <a:srgbClr val="0A0A0A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686800" y="1115568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WHO DECIDES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8686800" y="1371600"/>
            <a:ext cx="30632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ectangle 17439"/>
          <p:cNvSpPr/>
          <p:nvPr/>
        </p:nvSpPr>
        <p:spPr>
          <a:xfrm>
            <a:off x="8686800" y="1499616"/>
            <a:ext cx="45720" cy="621792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8833104" y="1481328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9595E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8686800" y="2340864"/>
            <a:ext cx="45720" cy="62179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8833104" y="2322576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9595E"/>
                </a:solidFill>
                <a:latin typeface="Calibri"/>
              </a:rPr>
              <a:t>explains the decision in the driver's language — never decides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686800" y="3182112"/>
            <a:ext cx="45720" cy="621792"/>
          </a:xfrm>
          <a:prstGeom prst="rect">
            <a:avLst/>
          </a:prstGeom>
          <a:solidFill>
            <a:srgbClr val="A1A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8833104" y="3163824"/>
            <a:ext cx="2916936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A0A0A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9595E"/>
                </a:solidFill>
                <a:latin typeface="Calibri"/>
              </a:rPr>
              <a:t>research channel only; held outside routing by the safety gate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8686800" y="4023359"/>
            <a:ext cx="3063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TextBox 17446"/>
          <p:cNvSpPr txBox="1"/>
          <p:nvPr/>
        </p:nvSpPr>
        <p:spPr>
          <a:xfrm>
            <a:off x="8686800" y="4096511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GOVERNANCE CHAIN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686800" y="4407408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10218420" y="4709160"/>
            <a:ext cx="0" cy="109728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8686800" y="4828032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10218420" y="5129784"/>
            <a:ext cx="0" cy="109728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8686800" y="5248656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10218420" y="5550408"/>
            <a:ext cx="0" cy="109728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8686800" y="5669280"/>
            <a:ext cx="306324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57200" y="1097280"/>
            <a:ext cx="1280160" cy="54864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57200" y="1243584"/>
            <a:ext cx="548640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Calibri"/>
              </a:rPr>
              <a:t>It already runs </a:t>
            </a:r>
            <a:r>
              <a:rPr sz="2700" b="1">
                <a:solidFill>
                  <a:srgbClr val="0A0A0A"/>
                </a:solidFill>
                <a:latin typeface="Calibri"/>
              </a:rPr>
              <a:t>on a real phone, on a real road.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2670048"/>
            <a:ext cx="5486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9595E"/>
                </a:solidFill>
                <a:latin typeface="Calibri"/>
              </a:rPr>
              <a:t>The whole lifecycle below was run end to end on a physical Android phone against the hosted backend.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3291840"/>
            <a:ext cx="1207007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D92B14"/>
                </a:solidFill>
                <a:latin typeface="Calibri"/>
              </a:rPr>
              <a:t>12/12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737360" y="3291840"/>
            <a:ext cx="42062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physical judge-flow steps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3803904"/>
            <a:ext cx="1207007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D92B14"/>
                </a:solidFill>
                <a:latin typeface="Calibri"/>
              </a:rPr>
              <a:t>9/9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737360" y="3803904"/>
            <a:ext cx="420624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physical role-flow steps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57200" y="4315968"/>
            <a:ext cx="548640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D92B14"/>
                </a:solidFill>
                <a:latin typeface="Calibri"/>
              </a:rPr>
              <a:t>1138+ </a:t>
            </a:r>
            <a:r>
              <a:rPr sz="1100" b="0">
                <a:solidFill>
                  <a:srgbClr val="0A0A0A"/>
                </a:solidFill>
                <a:latin typeface="Calibri"/>
              </a:rPr>
              <a:t>backend  ·  </a:t>
            </a:r>
            <a:r>
              <a:rPr sz="1500" b="1">
                <a:solidFill>
                  <a:srgbClr val="D92B14"/>
                </a:solidFill>
                <a:latin typeface="Calibri"/>
              </a:rPr>
              <a:t>621+ </a:t>
            </a:r>
            <a:r>
              <a:rPr sz="1100" b="0">
                <a:solidFill>
                  <a:srgbClr val="0A0A0A"/>
                </a:solidFill>
                <a:latin typeface="Calibri"/>
              </a:rPr>
              <a:t>driver  ·  </a:t>
            </a:r>
            <a:r>
              <a:rPr sz="1500" b="1">
                <a:solidFill>
                  <a:srgbClr val="D92B14"/>
                </a:solidFill>
                <a:latin typeface="Calibri"/>
              </a:rPr>
              <a:t>170+ </a:t>
            </a:r>
            <a:r>
              <a:rPr sz="1100" b="0">
                <a:solidFill>
                  <a:srgbClr val="0A0A0A"/>
                </a:solidFill>
                <a:latin typeface="Calibri"/>
              </a:rPr>
              <a:t>manager tests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457200" y="4773168"/>
            <a:ext cx="5486400" cy="365760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57200" y="5230368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A1A1A8"/>
                </a:solidFill>
                <a:latin typeface="Calibri"/>
              </a:rPr>
              <a:t>Canonical demo  </a:t>
            </a:r>
            <a:r>
              <a:rPr sz="1100" b="1">
                <a:solidFill>
                  <a:srgbClr val="0A0A0A"/>
                </a:solidFill>
                <a:latin typeface="Calibri"/>
              </a:rPr>
              <a:t>Guwahati → Shillong · ≈ 98.8 km real route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09360" y="1133856"/>
            <a:ext cx="54681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CERTIFIED LIFECYCLE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6309360" y="1408176"/>
            <a:ext cx="1719072" cy="29260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6309360" y="1755648"/>
            <a:ext cx="1719072" cy="29260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6309360" y="2103120"/>
            <a:ext cx="1719072" cy="292608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DISPATCH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8138160" y="1408176"/>
            <a:ext cx="1719072" cy="292608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ACCEPT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8138160" y="1755648"/>
            <a:ext cx="1719072" cy="292608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TRUCK VERIFY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8138160" y="2103120"/>
            <a:ext cx="1719072" cy="292608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NAVIGATE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9966960" y="1408176"/>
            <a:ext cx="1719072" cy="292608"/>
          </a:xfrm>
          <a:prstGeom prst="rect">
            <a:avLst/>
          </a:prstGeom>
          <a:noFill/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OFF-ROUTE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9966960" y="1755648"/>
            <a:ext cx="1719072" cy="29260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MANAGER REROUTE APPROVAL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9966960" y="2103120"/>
            <a:ext cx="1719072" cy="29260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277356" y="2583179"/>
            <a:ext cx="2163699" cy="3118103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615184"/>
            <a:ext cx="2099691" cy="3054096"/>
          </a:xfrm>
          <a:prstGeom prst="rect">
            <a:avLst/>
          </a:prstGeom>
        </p:spPr>
      </p:pic>
      <p:sp>
        <p:nvSpPr>
          <p:cNvPr id="17432" name="Rounded Rectangle 17431"/>
          <p:cNvSpPr/>
          <p:nvPr/>
        </p:nvSpPr>
        <p:spPr>
          <a:xfrm>
            <a:off x="8559927" y="2583179"/>
            <a:ext cx="1439185" cy="3118103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931" y="2615184"/>
            <a:ext cx="1375177" cy="3054096"/>
          </a:xfrm>
          <a:prstGeom prst="rect">
            <a:avLst/>
          </a:prstGeom>
        </p:spPr>
      </p:pic>
      <p:sp>
        <p:nvSpPr>
          <p:cNvPr id="17434" name="Rounded Rectangle 17433"/>
          <p:cNvSpPr/>
          <p:nvPr/>
        </p:nvSpPr>
        <p:spPr>
          <a:xfrm>
            <a:off x="10117984" y="2583179"/>
            <a:ext cx="1439185" cy="3118103"/>
          </a:xfrm>
          <a:prstGeom prst="roundRect">
            <a:avLst>
              <a:gd name="adj" fmla="val 3812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988" y="2615184"/>
            <a:ext cx="1375177" cy="3054096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6309360" y="5724143"/>
            <a:ext cx="2099691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591931" y="5724143"/>
            <a:ext cx="1375177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Driver · truck check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0149988" y="5724143"/>
            <a:ext cx="1375177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Driver · navigation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57200" y="6035040"/>
            <a:ext cx="112928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A1A1A8"/>
                </a:solidFill>
                <a:latin typeface="Calibri"/>
              </a:rPr>
              <a:t>KNOWN LIMITS → MITIGATION   </a:t>
            </a:r>
            <a:r>
              <a:rPr sz="800" b="0">
                <a:solidFill>
                  <a:srgbClr val="59595E"/>
                </a:solidFill>
                <a:latin typeface="Calibri"/>
              </a:rPr>
              <a:t>Render cold start → warm /health before the demo  ·  provider rate limits → cached evidence + explicit UNKNOWN  ·  background push needs Firebase config → in-app alerts already work  ·  experimental ML → outside routing until the gate passes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57200" y="1097280"/>
            <a:ext cx="1280160" cy="54864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57200" y="1243584"/>
            <a:ext cx="8065008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2700" b="0">
                <a:solidFill>
                  <a:srgbClr val="0A0A0A"/>
                </a:solidFill>
                <a:latin typeface="Calibri"/>
              </a:rPr>
              <a:t>Food, medicine, fuel and relief </a:t>
            </a:r>
            <a:r>
              <a:rPr sz="2700" b="1">
                <a:solidFill>
                  <a:srgbClr val="0A0A0A"/>
                </a:solidFill>
                <a:latin typeface="Calibri"/>
              </a:rPr>
              <a:t>reach people when the corridor is decided on evidence.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57200" y="2962656"/>
            <a:ext cx="8065008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457200" y="3054096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WHO BENEFITS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3310128"/>
            <a:ext cx="1865376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D92B14"/>
                </a:solidFill>
                <a:latin typeface="Calibri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Route usability and uncertainty visible before dispatch; auditable decisions.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468880" y="3310128"/>
            <a:ext cx="1865376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D92B14"/>
                </a:solidFill>
                <a:latin typeface="Calibri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Safer navigation, danger context, emergency support, 23 languages.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480560" y="3310128"/>
            <a:ext cx="1865376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D92B14"/>
                </a:solidFill>
                <a:latin typeface="Calibri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More resilient access to food, medicine, fuel and relief supplies.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492240" y="3310128"/>
            <a:ext cx="1865376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D92B14"/>
                </a:solidFill>
                <a:latin typeface="Calibri"/>
              </a:rPr>
              <a:t>GOVERNMENT / OPERATIONS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0A0A0A"/>
                </a:solidFill>
                <a:latin typeface="Calibri"/>
              </a:rPr>
              <a:t>Auditable route evidence and disruption visibility per corridor.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57200" y="4407408"/>
            <a:ext cx="8065008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457200" y="4462272"/>
            <a:ext cx="36576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DEMONSTRATED TODAY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57200" y="473659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2B14"/>
                </a:solidFill>
                <a:latin typeface="Calibri"/>
              </a:rPr>
              <a:t>23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371600" y="473659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A0A0A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57200" y="510235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2B14"/>
                </a:solidFill>
                <a:latin typeface="Calibri"/>
              </a:rPr>
              <a:t>11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371600" y="510235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A0A0A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546811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2B14"/>
                </a:solidFill>
                <a:latin typeface="Calibri"/>
              </a:rPr>
              <a:t>60 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371600" y="546811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A0A0A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17136" y="473659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2B14"/>
                </a:solidFill>
                <a:latin typeface="Calibri"/>
              </a:rPr>
              <a:t>12/12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431536" y="473659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A0A0A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517136" y="510235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2B14"/>
                </a:solidFill>
                <a:latin typeface="Calibri"/>
              </a:rPr>
              <a:t>100 %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431536" y="510235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A0A0A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17136" y="546811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2B14"/>
                </a:solidFill>
                <a:latin typeface="Calibri"/>
              </a:rPr>
              <a:t>0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431536" y="5468112"/>
            <a:ext cx="30175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A0A0A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57200" y="5907024"/>
            <a:ext cx="8065008" cy="3657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57200" y="5980176"/>
            <a:ext cx="806500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Verified evidence → deterministic safety policy → manager governance → driver action.  </a:t>
            </a:r>
            <a:r>
              <a:rPr sz="1000" b="0">
                <a:solidFill>
                  <a:srgbClr val="59595E"/>
                </a:solidFill>
                <a:latin typeface="Calibri"/>
              </a:rPr>
              <a:t>AI has no uncontrolled authority; no invented percentages.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686800" y="1115568"/>
            <a:ext cx="306324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REAL SCREENS · APK 1.0.18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654796" y="1394460"/>
            <a:ext cx="1752257" cy="2441448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6" name="Picture 17435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26464"/>
            <a:ext cx="1688249" cy="2377440"/>
          </a:xfrm>
          <a:prstGeom prst="rect">
            <a:avLst/>
          </a:prstGeom>
        </p:spPr>
      </p:pic>
      <p:sp>
        <p:nvSpPr>
          <p:cNvPr id="17437" name="Rounded Rectangle 17436"/>
          <p:cNvSpPr/>
          <p:nvPr/>
        </p:nvSpPr>
        <p:spPr>
          <a:xfrm>
            <a:off x="10489349" y="1394460"/>
            <a:ext cx="1185308" cy="2441448"/>
          </a:xfrm>
          <a:prstGeom prst="roundRect">
            <a:avLst>
              <a:gd name="adj" fmla="val 4628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8" name="Picture 17437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1353" y="1426464"/>
            <a:ext cx="1121300" cy="2377440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8686800" y="3877056"/>
            <a:ext cx="1688249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0521353" y="3877056"/>
            <a:ext cx="11213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Manager · mobile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686800" y="4224528"/>
            <a:ext cx="306324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59595E"/>
                </a:solidFill>
                <a:latin typeface="Calibri"/>
              </a:rPr>
              <a:t>Real screens, APK 1.0.18. One login, server-decided role: a manager gets a mobile fleet view, a driver gets navigation. Each language shows its status — Verified, Draft or English fallback — so nobody is misled.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A0A0A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57200" y="1097280"/>
            <a:ext cx="1280160" cy="54864"/>
          </a:xfrm>
          <a:prstGeom prst="rect">
            <a:avLst/>
          </a:prstGeom>
          <a:solidFill>
            <a:srgbClr val="D92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57200" y="1243584"/>
            <a:ext cx="667512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2500" b="0">
                <a:solidFill>
                  <a:srgbClr val="0A0A0A"/>
                </a:solidFill>
                <a:latin typeface="Calibri"/>
              </a:rPr>
              <a:t>We trained it, tested it, and </a:t>
            </a:r>
            <a:r>
              <a:rPr sz="2500" b="1">
                <a:solidFill>
                  <a:srgbClr val="D92B14"/>
                </a:solidFill>
                <a:latin typeface="Calibri"/>
              </a:rPr>
              <a:t>refused to ship it.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457200" y="2414016"/>
            <a:ext cx="6693408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457200" y="2487168"/>
            <a:ext cx="669340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RESEARCH / EVIDENCE SOURCES BEHIND THE ROUTE DECISION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2779776"/>
            <a:ext cx="3200400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D92B14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real road geometry, alternatives and turn steps; place search on the corridor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457200" y="3657600"/>
            <a:ext cx="320040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TextBox 17415"/>
          <p:cNvSpPr txBox="1"/>
          <p:nvPr/>
        </p:nvSpPr>
        <p:spPr>
          <a:xfrm>
            <a:off x="3950208" y="2779776"/>
            <a:ext cx="3200400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D92B14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forecast sampled along the road; climb, gradient and steep segments (GLO-90)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3950208" y="3657600"/>
            <a:ext cx="320040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TextBox 17417"/>
          <p:cNvSpPr txBox="1"/>
          <p:nvPr/>
        </p:nvSpPr>
        <p:spPr>
          <a:xfrm>
            <a:off x="457200" y="3749039"/>
            <a:ext cx="3200400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D92B14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official warnings polled with freshness; river discharge against its 30-day mean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57200" y="4626864"/>
            <a:ext cx="320040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7419"/>
          <p:cNvSpPr txBox="1"/>
          <p:nvPr/>
        </p:nvSpPr>
        <p:spPr>
          <a:xfrm>
            <a:off x="3950208" y="3749039"/>
            <a:ext cx="3200400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D92B14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historical exposure; inventory 2007–2017, ≤5 km location-accuracy filter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950208" y="4626864"/>
            <a:ext cx="320040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TextBox 17421"/>
          <p:cNvSpPr txBox="1"/>
          <p:nvPr/>
        </p:nvSpPr>
        <p:spPr>
          <a:xfrm>
            <a:off x="457200" y="4718304"/>
            <a:ext cx="3200400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D92B14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explains the decision in the driver's language — never safety authority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57200" y="5596128"/>
            <a:ext cx="320040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3950208" y="4718304"/>
            <a:ext cx="3200400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800" b="1">
                <a:solidFill>
                  <a:srgbClr val="D92B14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1">
                <a:solidFill>
                  <a:srgbClr val="0A0A0A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9595E"/>
                </a:solidFill>
                <a:latin typeface="Calibri"/>
              </a:rPr>
              <a:t>AI-based smart logistics and accessibility intelligence for the NER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3950208" y="5596128"/>
            <a:ext cx="320040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7772400" y="1133856"/>
            <a:ext cx="3977639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EXPERIMENTAL LANDSLIDE RESEARCH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7772400" y="1389888"/>
            <a:ext cx="3977640" cy="0"/>
          </a:xfrm>
          <a:prstGeom prst="line">
            <a:avLst/>
          </a:prstGeom>
          <a:ln w="1905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TextBox 17427"/>
          <p:cNvSpPr txBox="1"/>
          <p:nvPr/>
        </p:nvSpPr>
        <p:spPr>
          <a:xfrm>
            <a:off x="7772400" y="1499616"/>
            <a:ext cx="1691640" cy="8778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>
                <a:solidFill>
                  <a:srgbClr val="0A0A0A"/>
                </a:solidFill>
                <a:latin typeface="Calibri"/>
              </a:rPr>
              <a:t>95 %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464040" y="1536192"/>
            <a:ext cx="2285999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9595E"/>
                </a:solidFill>
                <a:latin typeface="Calibri"/>
              </a:rPr>
              <a:t>on the NER geographic holdout — 154 catalogued events, no NER row used in training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7772400" y="2505456"/>
            <a:ext cx="3977639" cy="76809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7772400" y="2560320"/>
            <a:ext cx="3977639" cy="6766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A1A1A8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772400" y="3346704"/>
            <a:ext cx="3977639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2B14"/>
                </a:solidFill>
                <a:latin typeface="Calibri"/>
              </a:rPr>
              <a:t>FPR 50 %</a:t>
            </a:r>
            <a:r>
              <a:rPr sz="1000" b="0">
                <a:solidFill>
                  <a:srgbClr val="59595E"/>
                </a:solidFill>
                <a:latin typeface="Calibri"/>
              </a:rPr>
              <a:t>   too high for production deployment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772400" y="3712463"/>
            <a:ext cx="6766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TRAIN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8467344" y="3840479"/>
            <a:ext cx="36576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8522208" y="3712463"/>
            <a:ext cx="13898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HELD-OUT NER TEST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9930384" y="3840479"/>
            <a:ext cx="36576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9985248" y="3712463"/>
            <a:ext cx="153619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USEFUL SIGNAL FOUND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772400" y="4059935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9509759" y="4187951"/>
            <a:ext cx="36577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9564624" y="4059935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SAFETY GATE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10515600" y="4187951"/>
            <a:ext cx="36576" cy="0"/>
          </a:xfrm>
          <a:prstGeom prst="line">
            <a:avLst/>
          </a:prstGeom>
          <a:ln w="15875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10570464" y="4059935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A0A0A"/>
                </a:solidFill>
                <a:latin typeface="Calibri"/>
              </a:rPr>
              <a:t>NOT DEPLOYED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772400" y="4443984"/>
            <a:ext cx="3977639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2B14"/>
                </a:solidFill>
                <a:latin typeface="Calibri"/>
              </a:rPr>
              <a:t>VALIDATION BEFORE AUTOMATION. </a:t>
            </a:r>
            <a:r>
              <a:rPr sz="1000" b="0">
                <a:solidFill>
                  <a:srgbClr val="0A0A0A"/>
                </a:solidFill>
                <a:latin typeface="Calibri"/>
              </a:rPr>
              <a:t>Strong recall was not enough. Held-out testing exposed the false-positive rate, so the gate keeps the model out of routing.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772400" y="5065776"/>
            <a:ext cx="3977639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9595E"/>
                </a:solidFill>
                <a:latin typeface="Calibri"/>
              </a:rPr>
              <a:t>Precision 0.32 · F1 0.48 · PR-AUC 0.55 · ROC-AUC 0.83 · Brier 0.12 · calibrated logistic regression on NASA GLC + ERA5-Land rain + DEM slope · docs/HAZARD_ERROR_ANALYSIS.md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457200" y="5669280"/>
            <a:ext cx="112928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TextBox 17445"/>
          <p:cNvSpPr txBox="1"/>
          <p:nvPr/>
        </p:nvSpPr>
        <p:spPr>
          <a:xfrm>
            <a:off x="457200" y="5888736"/>
            <a:ext cx="1129284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A1A1A8"/>
                </a:solidFill>
                <a:latin typeface="Calibri"/>
              </a:rPr>
              <a:t>REFERENCES   </a:t>
            </a:r>
            <a:r>
              <a:rPr sz="850" b="0">
                <a:solidFill>
                  <a:srgbClr val="59595E"/>
                </a:solidFill>
                <a:latin typeface="Calibri"/>
              </a:rPr>
              <a:t>gpm.nasa.gov/landslides (NASA GLC)  ·  sachet.ndma.gov.in  ·  global-flood.emergency.copernicus.eu (GloFAS)  ·  open-meteo.com · api.met.no  ·  opentopodata.org · Copernicus DEM  ·  project-osrm.org · openstreetmap.org  ·  github.com/nxtlucifer/ner-ai-logistics (repository, tests, model registry)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