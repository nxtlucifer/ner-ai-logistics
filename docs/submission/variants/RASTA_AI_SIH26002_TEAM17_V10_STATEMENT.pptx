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88720"/>
            <a:ext cx="6126480" cy="5486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Calibri"/>
              </a:rPr>
              <a:t>RASTA AI</a:t>
            </a:r>
            <a:r>
              <a:rPr sz="1800" b="1">
                <a:solidFill>
                  <a:srgbClr val="D92B14"/>
                </a:solidFill>
                <a:latin typeface="Calibri"/>
              </a:rPr>
              <a:t>   SIH26002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10512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2920" y="1975104"/>
            <a:ext cx="612648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400" b="1">
                <a:solidFill>
                  <a:srgbClr val="0A0A0A"/>
                </a:solidFill>
                <a:latin typeface="Calibri"/>
              </a:rPr>
              <a:t>SHORTEST IS NOT ALWAYS </a:t>
            </a:r>
            <a:r>
              <a:rPr sz="3400" b="1">
                <a:solidFill>
                  <a:srgbClr val="D92B14"/>
                </a:solidFill>
                <a:latin typeface="Calibri"/>
              </a:rPr>
              <a:t>USABLE.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3346704"/>
            <a:ext cx="61264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9595E"/>
                </a:solidFill>
                <a:latin typeface="Calibri"/>
              </a:rPr>
              <a:t>“Can this essential-supply truck reliably use this corridor now?”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2920" y="3877056"/>
            <a:ext cx="612648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02920" y="3986784"/>
            <a:ext cx="1508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PROBLEM STATEMENT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3968496"/>
            <a:ext cx="4526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SIH26002  ·  MDoNER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4261104"/>
            <a:ext cx="612648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4334256"/>
            <a:ext cx="1508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4315968"/>
            <a:ext cx="4526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AI-Based Smart Logistics and Accessibility Intelligence Platform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608576"/>
            <a:ext cx="612648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681728"/>
            <a:ext cx="1508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THEME /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20" y="4663440"/>
            <a:ext cx="4526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Smart Automation  ·  Software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956048"/>
            <a:ext cx="612648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5029200"/>
            <a:ext cx="1508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TEAM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20" y="5010912"/>
            <a:ext cx="4526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NER-AI LOGISTICS  ·  Team ID 17  (internal group no.)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5303520"/>
            <a:ext cx="612648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5431536"/>
            <a:ext cx="61264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9595E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888736"/>
            <a:ext cx="61264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0F7B4F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31452" y="1156716"/>
            <a:ext cx="2369695" cy="5184648"/>
          </a:xfrm>
          <a:prstGeom prst="roundRect">
            <a:avLst>
              <a:gd name="adj" fmla="val 2315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na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6" y="1188720"/>
            <a:ext cx="2305687" cy="512064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825996" y="2436876"/>
            <a:ext cx="2704338" cy="3904488"/>
          </a:xfrm>
          <a:prstGeom prst="roundRect">
            <a:avLst>
              <a:gd name="adj" fmla="val 20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9" name="Picture 58" descr="mg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468880"/>
            <a:ext cx="2640330" cy="384048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0" y="1188720"/>
            <a:ext cx="23774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D92B14"/>
                </a:solidFill>
                <a:latin typeface="Calibri"/>
              </a:rPr>
              <a:t>A WORKING SYSTEM, NOT A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457200" y="1115568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3" name="TextBox 15362"/>
          <p:cNvSpPr txBox="1"/>
          <p:nvPr/>
        </p:nvSpPr>
        <p:spPr>
          <a:xfrm>
            <a:off x="457200" y="1280160"/>
            <a:ext cx="8065008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800" b="0">
                <a:solidFill>
                  <a:srgbClr val="0A0A0A"/>
                </a:solidFill>
                <a:latin typeface="Calibri"/>
              </a:rPr>
              <a:t>A road can be the shortest and still be </a:t>
            </a:r>
            <a:r>
              <a:rPr sz="2800" b="1">
                <a:solidFill>
                  <a:srgbClr val="D92B14"/>
                </a:solidFill>
                <a:latin typeface="Calibri"/>
              </a:rPr>
              <a:t>unusable.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377440"/>
            <a:ext cx="8065008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9595E"/>
                </a:solidFill>
                <a:latin typeface="Calibri"/>
              </a:rPr>
              <a:t>Monsoon · landslides · floods · official warnings · single-lane hill roads · no signal.  </a:t>
            </a:r>
            <a:r>
              <a:rPr sz="1100" b="1">
                <a:solidFill>
                  <a:srgbClr val="D92B14"/>
                </a:solidFill>
                <a:latin typeface="Calibri"/>
              </a:rPr>
              <a:t>A shortest-path router still sends the truck.</a:t>
            </a:r>
          </a:p>
        </p:txBody>
      </p:sp>
      <p:cxnSp>
        <p:nvCxnSpPr>
          <p:cNvPr id="15365" name="Connector 15364"/>
          <p:cNvCxnSpPr/>
          <p:nvPr/>
        </p:nvCxnSpPr>
        <p:spPr>
          <a:xfrm>
            <a:off x="457200" y="2889504"/>
            <a:ext cx="8065008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6" name="TextBox 15365"/>
          <p:cNvSpPr txBox="1"/>
          <p:nvPr/>
        </p:nvSpPr>
        <p:spPr>
          <a:xfrm>
            <a:off x="457200" y="2980944"/>
            <a:ext cx="22860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A NORMAL ROUTER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57200" y="3236976"/>
            <a:ext cx="23774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59595E"/>
                </a:solidFill>
                <a:latin typeface="Calibri"/>
              </a:rPr>
              <a:t>Origin  →  Shortest / fastest road  →  Truck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A1A1A8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3108960" y="2980944"/>
            <a:ext cx="54132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D92B14"/>
                </a:solidFill>
                <a:latin typeface="Calibri"/>
              </a:rPr>
              <a:t>RASTA AI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3108960" y="3236976"/>
            <a:ext cx="786384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Terrain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3968496" y="3236976"/>
            <a:ext cx="786384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Weather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4828031" y="3236976"/>
            <a:ext cx="1243584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Landslide exposure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6144768" y="3236976"/>
            <a:ext cx="1005840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Flood context</a:t>
            </a:r>
          </a:p>
        </p:txBody>
      </p:sp>
      <p:sp>
        <p:nvSpPr>
          <p:cNvPr id="15373" name="Rectangle 15372"/>
          <p:cNvSpPr/>
          <p:nvPr/>
        </p:nvSpPr>
        <p:spPr>
          <a:xfrm>
            <a:off x="7223760" y="3236976"/>
            <a:ext cx="1152144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Official warnings</a:t>
            </a:r>
          </a:p>
        </p:txBody>
      </p:sp>
      <p:sp>
        <p:nvSpPr>
          <p:cNvPr id="15374" name="Rectangle 15373"/>
          <p:cNvSpPr/>
          <p:nvPr/>
        </p:nvSpPr>
        <p:spPr>
          <a:xfrm>
            <a:off x="3108960" y="3511296"/>
            <a:ext cx="914400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Fleet traffic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4096512" y="3511296"/>
            <a:ext cx="1243584" cy="237744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A0A0A"/>
                </a:solidFill>
                <a:latin typeface="Calibri"/>
              </a:rPr>
              <a:t>Evidence freshness</a:t>
            </a:r>
          </a:p>
        </p:txBody>
      </p:sp>
      <p:sp>
        <p:nvSpPr>
          <p:cNvPr id="15376" name="Rectangle 15375"/>
          <p:cNvSpPr/>
          <p:nvPr/>
        </p:nvSpPr>
        <p:spPr>
          <a:xfrm>
            <a:off x="3108960" y="3877056"/>
            <a:ext cx="1284732" cy="310896"/>
          </a:xfrm>
          <a:prstGeom prst="rect">
            <a:avLst/>
          </a:prstGeom>
          <a:solidFill>
            <a:srgbClr val="0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5377" name="Rectangle 15376"/>
          <p:cNvSpPr/>
          <p:nvPr/>
        </p:nvSpPr>
        <p:spPr>
          <a:xfrm>
            <a:off x="4485132" y="3877056"/>
            <a:ext cx="1284732" cy="3108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5861304" y="3877056"/>
            <a:ext cx="1284732" cy="310896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5379" name="Rectangle 15378"/>
          <p:cNvSpPr/>
          <p:nvPr/>
        </p:nvSpPr>
        <p:spPr>
          <a:xfrm>
            <a:off x="7237476" y="3877056"/>
            <a:ext cx="1284732" cy="3108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3108960" y="4279392"/>
            <a:ext cx="541324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Manager governance → driver navigation, 23 languages, offline package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457200" y="5358384"/>
            <a:ext cx="8065008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2" name="TextBox 15381"/>
          <p:cNvSpPr txBox="1"/>
          <p:nvPr/>
        </p:nvSpPr>
        <p:spPr>
          <a:xfrm>
            <a:off x="457200" y="5486400"/>
            <a:ext cx="3657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400" b="1">
                <a:solidFill>
                  <a:srgbClr val="D92B14"/>
                </a:solidFill>
                <a:latin typeface="Calibri"/>
              </a:rPr>
              <a:t>UNKNOWN ≠ SAFE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3840480" y="5541264"/>
            <a:ext cx="4681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Missing or stale evidence is marked UNKNOWN — never safe — and goes to an authorised reviewer.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8686800" y="1115568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8654796" y="1394460"/>
            <a:ext cx="2942428" cy="4544568"/>
          </a:xfrm>
          <a:prstGeom prst="roundRect">
            <a:avLst>
              <a:gd name="adj" fmla="val 186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26464"/>
            <a:ext cx="2878420" cy="448056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8686800" y="5961888"/>
            <a:ext cx="3063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457200" y="1115568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280160"/>
            <a:ext cx="8065008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800" b="1">
                <a:solidFill>
                  <a:srgbClr val="0A0A0A"/>
                </a:solidFill>
                <a:latin typeface="Calibri"/>
              </a:rPr>
              <a:t>Evidence decides. </a:t>
            </a:r>
            <a:r>
              <a:rPr sz="2800" b="0">
                <a:solidFill>
                  <a:srgbClr val="59595E"/>
                </a:solidFill>
                <a:latin typeface="Calibri"/>
              </a:rPr>
              <a:t>AI explains, and never overrules.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457200" y="2450592"/>
            <a:ext cx="8065008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457200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Open-Meteo · MET Norway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810512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Copernicus DEM · OpenTopoData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163824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NDMA SACHET (CAP)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17136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GloFAS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870448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NASA GLC 2007–17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223760" y="2542032"/>
            <a:ext cx="1335024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A0A0A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9595E"/>
                </a:solidFill>
                <a:latin typeface="Calibri"/>
              </a:rPr>
              <a:t>fleet GPS fixes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57200" y="3163824"/>
            <a:ext cx="8065008" cy="493776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585216" y="3191256"/>
            <a:ext cx="7808975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59595E"/>
                </a:solidFill>
                <a:latin typeface="Calibri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457200" y="3730752"/>
            <a:ext cx="8065008" cy="49377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585216" y="3758184"/>
            <a:ext cx="7808975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1A1A8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457200" y="4297680"/>
            <a:ext cx="1933956" cy="310896"/>
          </a:xfrm>
          <a:prstGeom prst="rect">
            <a:avLst/>
          </a:prstGeom>
          <a:solidFill>
            <a:srgbClr val="0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2500884" y="4297680"/>
            <a:ext cx="1933956" cy="3108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544568" y="4297680"/>
            <a:ext cx="1933956" cy="310896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588252" y="4297680"/>
            <a:ext cx="1933956" cy="3108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57200" y="4736592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1801368" y="4882896"/>
            <a:ext cx="36575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1856232" y="4736592"/>
            <a:ext cx="14264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3300984" y="4882896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3355848" y="4736592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ROUTE-AHEAD 60 s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4727448" y="4882896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4782312" y="4736592"/>
            <a:ext cx="14996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6300216" y="4882896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6355080" y="47365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REASSESS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457200" y="5157216"/>
            <a:ext cx="8065008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TextBox 17436"/>
          <p:cNvSpPr txBox="1"/>
          <p:nvPr/>
        </p:nvSpPr>
        <p:spPr>
          <a:xfrm>
            <a:off x="457200" y="5212079"/>
            <a:ext cx="8065008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CLIENTS  </a:t>
            </a:r>
            <a:r>
              <a:rPr sz="950" b="0">
                <a:solidFill>
                  <a:srgbClr val="0A0A0A"/>
                </a:solidFill>
                <a:latin typeface="Calibri"/>
              </a:rPr>
              <a:t>Manager console (React + TS) · Driver app (React Native / Expo, Android) · one login, server-decided role, offline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STACK  </a:t>
            </a:r>
            <a:r>
              <a:rPr sz="950" b="0">
                <a:solidFill>
                  <a:srgbClr val="0A0A0A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686800" y="1115568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WHO DECIDES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8686800" y="1371600"/>
            <a:ext cx="306324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ectangle 17439"/>
          <p:cNvSpPr/>
          <p:nvPr/>
        </p:nvSpPr>
        <p:spPr>
          <a:xfrm>
            <a:off x="8686800" y="1499616"/>
            <a:ext cx="45720" cy="621792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8833104" y="1481328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9595E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8686800" y="2340864"/>
            <a:ext cx="45720" cy="621792"/>
          </a:xfrm>
          <a:prstGeom prst="rect">
            <a:avLst/>
          </a:prstGeom>
          <a:solidFill>
            <a:srgbClr val="0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8833104" y="2322576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9595E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44" name="Rectangle 17443"/>
          <p:cNvSpPr/>
          <p:nvPr/>
        </p:nvSpPr>
        <p:spPr>
          <a:xfrm>
            <a:off x="8686800" y="3182112"/>
            <a:ext cx="45720" cy="621792"/>
          </a:xfrm>
          <a:prstGeom prst="rect">
            <a:avLst/>
          </a:prstGeom>
          <a:solidFill>
            <a:srgbClr val="A1A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833104" y="3163824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9595E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8686800" y="4023359"/>
            <a:ext cx="3063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TextBox 17446"/>
          <p:cNvSpPr txBox="1"/>
          <p:nvPr/>
        </p:nvSpPr>
        <p:spPr>
          <a:xfrm>
            <a:off x="8686800" y="4096511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GOVERNANCE CHAIN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686800" y="4407408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10218420" y="4709160"/>
            <a:ext cx="0" cy="109728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8686800" y="4828032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10218420" y="5129784"/>
            <a:ext cx="0" cy="109728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8686800" y="5248656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10218420" y="5550408"/>
            <a:ext cx="0" cy="109728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Rounded Rectangle 17453"/>
          <p:cNvSpPr/>
          <p:nvPr/>
        </p:nvSpPr>
        <p:spPr>
          <a:xfrm>
            <a:off x="8686800" y="5669280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457200" y="1097280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243584"/>
            <a:ext cx="548640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700" b="0">
                <a:solidFill>
                  <a:srgbClr val="0A0A0A"/>
                </a:solidFill>
                <a:latin typeface="Calibri"/>
              </a:rPr>
              <a:t>It already runs </a:t>
            </a:r>
            <a:r>
              <a:rPr sz="2700" b="1">
                <a:solidFill>
                  <a:srgbClr val="0A0A0A"/>
                </a:solidFill>
                <a:latin typeface="Calibri"/>
              </a:rPr>
              <a:t>on a real phone, on a real road.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670048"/>
            <a:ext cx="54864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9595E"/>
                </a:solidFill>
                <a:latin typeface="Calibri"/>
              </a:rPr>
              <a:t>Run end to end on a physical Android phone, hosted backend, real road.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3291840"/>
            <a:ext cx="1207007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D92B14"/>
                </a:solidFill>
                <a:latin typeface="Calibri"/>
              </a:rPr>
              <a:t>12/12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737360" y="3291840"/>
            <a:ext cx="420624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0A0A0A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3803904"/>
            <a:ext cx="1207007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D92B14"/>
                </a:solidFill>
                <a:latin typeface="Calibri"/>
              </a:rPr>
              <a:t>9/9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737360" y="3803904"/>
            <a:ext cx="420624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0A0A0A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" y="4315968"/>
            <a:ext cx="548640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D92B14"/>
                </a:solidFill>
                <a:latin typeface="Calibri"/>
              </a:rPr>
              <a:t>1138+ </a:t>
            </a:r>
            <a:r>
              <a:rPr sz="1100" b="0">
                <a:solidFill>
                  <a:srgbClr val="0A0A0A"/>
                </a:solidFill>
                <a:latin typeface="Calibri"/>
              </a:rPr>
              <a:t>backend  ·  </a:t>
            </a:r>
            <a:r>
              <a:rPr sz="1500" b="1">
                <a:solidFill>
                  <a:srgbClr val="D92B14"/>
                </a:solidFill>
                <a:latin typeface="Calibri"/>
              </a:rPr>
              <a:t>621+ </a:t>
            </a:r>
            <a:r>
              <a:rPr sz="1100" b="0">
                <a:solidFill>
                  <a:srgbClr val="0A0A0A"/>
                </a:solidFill>
                <a:latin typeface="Calibri"/>
              </a:rPr>
              <a:t>driver  ·  </a:t>
            </a:r>
            <a:r>
              <a:rPr sz="1500" b="1">
                <a:solidFill>
                  <a:srgbClr val="D92B14"/>
                </a:solidFill>
                <a:latin typeface="Calibri"/>
              </a:rPr>
              <a:t>170+ </a:t>
            </a:r>
            <a:r>
              <a:rPr sz="1100" b="0">
                <a:solidFill>
                  <a:srgbClr val="0A0A0A"/>
                </a:solidFill>
                <a:latin typeface="Calibri"/>
              </a:rPr>
              <a:t>manager tests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457200" y="4773168"/>
            <a:ext cx="5486400" cy="365760"/>
          </a:xfrm>
          <a:prstGeom prst="rect">
            <a:avLst/>
          </a:prstGeom>
          <a:solidFill>
            <a:srgbClr val="0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5230368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A1A1A8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0A0A0A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09360" y="1133856"/>
            <a:ext cx="546811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CERTIFIED LIFECYCLE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309360" y="1408176"/>
            <a:ext cx="1719072" cy="29260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309360" y="1755648"/>
            <a:ext cx="1719072" cy="29260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309360" y="2103120"/>
            <a:ext cx="1719072" cy="292608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DISPATCH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138160" y="1408176"/>
            <a:ext cx="1719072" cy="292608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ACCEPT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8138160" y="1755648"/>
            <a:ext cx="1719072" cy="292608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TRUCK VERIFY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138160" y="2103120"/>
            <a:ext cx="1719072" cy="292608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NAVIGATE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966960" y="1408176"/>
            <a:ext cx="1719072" cy="292608"/>
          </a:xfrm>
          <a:prstGeom prst="rect">
            <a:avLst/>
          </a:prstGeom>
          <a:noFill/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OFF-ROUTE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9966960" y="1755648"/>
            <a:ext cx="1719072" cy="29260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9966960" y="2103120"/>
            <a:ext cx="1719072" cy="29260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7356" y="2583179"/>
            <a:ext cx="2163699" cy="3118103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615184"/>
            <a:ext cx="2099691" cy="3054096"/>
          </a:xfrm>
          <a:prstGeom prst="rect">
            <a:avLst/>
          </a:prstGeom>
        </p:spPr>
      </p:pic>
      <p:sp>
        <p:nvSpPr>
          <p:cNvPr id="17432" name="Rounded Rectangle 17431"/>
          <p:cNvSpPr/>
          <p:nvPr/>
        </p:nvSpPr>
        <p:spPr>
          <a:xfrm>
            <a:off x="8559927" y="2583179"/>
            <a:ext cx="1439185" cy="3118103"/>
          </a:xfrm>
          <a:prstGeom prst="roundRect">
            <a:avLst>
              <a:gd name="adj" fmla="val 381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931" y="2615184"/>
            <a:ext cx="1375177" cy="3054096"/>
          </a:xfrm>
          <a:prstGeom prst="rect">
            <a:avLst/>
          </a:prstGeom>
        </p:spPr>
      </p:pic>
      <p:sp>
        <p:nvSpPr>
          <p:cNvPr id="17434" name="Rounded Rectangle 17433"/>
          <p:cNvSpPr/>
          <p:nvPr/>
        </p:nvSpPr>
        <p:spPr>
          <a:xfrm>
            <a:off x="10117984" y="2583179"/>
            <a:ext cx="1439185" cy="3118103"/>
          </a:xfrm>
          <a:prstGeom prst="roundRect">
            <a:avLst>
              <a:gd name="adj" fmla="val 381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988" y="2615184"/>
            <a:ext cx="1375177" cy="3054096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6309360" y="5724143"/>
            <a:ext cx="2099691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8591931" y="5724143"/>
            <a:ext cx="1375177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0149988" y="5724143"/>
            <a:ext cx="1375177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Driver · navigation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57200" y="6035040"/>
            <a:ext cx="112928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A1A1A8"/>
                </a:solidFill>
                <a:latin typeface="Calibri"/>
              </a:rPr>
              <a:t>KNOWN LIMITS → MITIGATION   </a:t>
            </a:r>
            <a:r>
              <a:rPr sz="800" b="0">
                <a:solidFill>
                  <a:srgbClr val="59595E"/>
                </a:solidFill>
                <a:latin typeface="Calibri"/>
              </a:rPr>
              <a:t>Cold start → warm /health first  ·  rate limits → cached evidence + explicit UNKNOWN  ·  push needs Firebase → in-app alerts work  ·  experimental ML → outside routing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457200" y="1097280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243584"/>
            <a:ext cx="8065008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700" b="0">
                <a:solidFill>
                  <a:srgbClr val="0A0A0A"/>
                </a:solidFill>
                <a:latin typeface="Calibri"/>
              </a:rPr>
              <a:t>Food, medicine, fuel and relief </a:t>
            </a:r>
            <a:r>
              <a:rPr sz="2700" b="1">
                <a:solidFill>
                  <a:srgbClr val="0A0A0A"/>
                </a:solidFill>
                <a:latin typeface="Calibri"/>
              </a:rPr>
              <a:t>reach people when the corridor is decided on evidence.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457200" y="2962656"/>
            <a:ext cx="8065008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457200" y="3054096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WHO BENEFITS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3310128"/>
            <a:ext cx="1865376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D92B14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Usability and uncertainty visible before dispatch. Auditable.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468880" y="3310128"/>
            <a:ext cx="1865376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D92B14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Danger context, emergency support, 23 languages.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480560" y="3310128"/>
            <a:ext cx="1865376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D92B14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Resilient access to food, medicine, fuel, relief.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492240" y="3310128"/>
            <a:ext cx="1865376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D92B14"/>
                </a:solidFill>
                <a:latin typeface="Calibri"/>
              </a:rPr>
              <a:t>GOVERNMENT / OPS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0A0A0A"/>
                </a:solidFill>
                <a:latin typeface="Calibri"/>
              </a:rPr>
              <a:t>Auditable evidence and disruption per corridor.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57200" y="4407408"/>
            <a:ext cx="8065008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457200" y="4462272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DEMONSTRATED TODAY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47365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23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371600" y="473659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57200" y="510235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11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71600" y="510235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546811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60 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371600" y="546811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517136" y="47365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12/12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431536" y="473659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517136" y="510235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100 %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431536" y="510235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517136" y="546811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D92B14"/>
                </a:solidFill>
                <a:latin typeface="Calibri"/>
              </a:rPr>
              <a:t>0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431536" y="546811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A0A0A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457200" y="5907024"/>
            <a:ext cx="8065008" cy="3657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457200" y="5980176"/>
            <a:ext cx="80650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Verified evidence → deterministic safety policy → manager governance → driver action.  </a:t>
            </a:r>
            <a:r>
              <a:rPr sz="1000" b="0">
                <a:solidFill>
                  <a:srgbClr val="59595E"/>
                </a:solidFill>
                <a:latin typeface="Calibri"/>
              </a:rPr>
              <a:t>AI has no uncontrolled authority; no invented percentages.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686800" y="1115568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654796" y="1394460"/>
            <a:ext cx="1752257" cy="2441448"/>
          </a:xfrm>
          <a:prstGeom prst="roundRect">
            <a:avLst>
              <a:gd name="adj" fmla="val 3131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26464"/>
            <a:ext cx="1688249" cy="2377440"/>
          </a:xfrm>
          <a:prstGeom prst="rect">
            <a:avLst/>
          </a:prstGeom>
        </p:spPr>
      </p:pic>
      <p:sp>
        <p:nvSpPr>
          <p:cNvPr id="17437" name="Rounded Rectangle 17436"/>
          <p:cNvSpPr/>
          <p:nvPr/>
        </p:nvSpPr>
        <p:spPr>
          <a:xfrm>
            <a:off x="10489349" y="1394460"/>
            <a:ext cx="1185308" cy="2441448"/>
          </a:xfrm>
          <a:prstGeom prst="roundRect">
            <a:avLst>
              <a:gd name="adj" fmla="val 46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1353" y="1426464"/>
            <a:ext cx="1121300" cy="2377440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8686800" y="3877056"/>
            <a:ext cx="1688249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521353" y="3877056"/>
            <a:ext cx="11213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Manager · mobile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686800" y="4224528"/>
            <a:ext cx="30632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9595E"/>
                </a:solidFill>
                <a:latin typeface="Calibri"/>
              </a:rPr>
              <a:t>APK 1.0.18. One login, server-decided role. Every language shows its status — Verified, Draft or English fallback.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A0A0A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457200" y="1097280"/>
            <a:ext cx="1280160" cy="54864"/>
          </a:xfrm>
          <a:prstGeom prst="rect">
            <a:avLst/>
          </a:prstGeom>
          <a:solidFill>
            <a:srgbClr val="D9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243584"/>
            <a:ext cx="667512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2500" b="0">
                <a:solidFill>
                  <a:srgbClr val="0A0A0A"/>
                </a:solidFill>
                <a:latin typeface="Calibri"/>
              </a:rPr>
              <a:t>We trained it, tested it, and </a:t>
            </a:r>
            <a:r>
              <a:rPr sz="2500" b="1">
                <a:solidFill>
                  <a:srgbClr val="D92B14"/>
                </a:solidFill>
                <a:latin typeface="Calibri"/>
              </a:rPr>
              <a:t>refused to ship it.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457200" y="2414016"/>
            <a:ext cx="6693408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457200" y="2487168"/>
            <a:ext cx="669340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RESEARCH / EVIDENCE SOURCES BEHIND THE ROUTE DECISION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2779776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Road geometry, alternatives, turn steps.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457200" y="3657600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3950208" y="2779776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Forecast along the road; climb, gradient, steep segments.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950208" y="3657600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7200" y="3749039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Official warnings with freshness; discharge vs 30-day mean.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57200" y="4626864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3950208" y="3749039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Historical exposure, 2007–2017, ≤5 km accuracy.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3950208" y="4626864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457200" y="4718304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Explains in the driver's language. Never safety authority.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57200" y="5596128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3950208" y="4718304"/>
            <a:ext cx="3200400" cy="8595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D92B14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A0A0A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59595E"/>
                </a:solidFill>
                <a:latin typeface="Calibri"/>
              </a:rPr>
              <a:t>Smart logistics and accessibility intelligence for the NER.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3950208" y="5596128"/>
            <a:ext cx="320040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TextBox 17425"/>
          <p:cNvSpPr txBox="1"/>
          <p:nvPr/>
        </p:nvSpPr>
        <p:spPr>
          <a:xfrm>
            <a:off x="7772400" y="1133856"/>
            <a:ext cx="397763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EXPERIMENTAL LANDSLIDE RESEARCH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7772400" y="1389888"/>
            <a:ext cx="397764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TextBox 17427"/>
          <p:cNvSpPr txBox="1"/>
          <p:nvPr/>
        </p:nvSpPr>
        <p:spPr>
          <a:xfrm>
            <a:off x="7772400" y="1499616"/>
            <a:ext cx="1691640" cy="8778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600" b="1">
                <a:solidFill>
                  <a:srgbClr val="0A0A0A"/>
                </a:solidFill>
                <a:latin typeface="Calibri"/>
              </a:rPr>
              <a:t>95 %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464040" y="1536192"/>
            <a:ext cx="2285999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9595E"/>
                </a:solidFill>
                <a:latin typeface="Calibri"/>
              </a:rPr>
              <a:t>NER geographic holdout · 154 events · no NER row in training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7772400" y="2505456"/>
            <a:ext cx="3977639" cy="7680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7772400" y="2560320"/>
            <a:ext cx="3977639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A1A1A8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772400" y="3346704"/>
            <a:ext cx="3977639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D92B14"/>
                </a:solidFill>
                <a:latin typeface="Calibri"/>
              </a:rPr>
              <a:t>FPR 50 %</a:t>
            </a:r>
            <a:r>
              <a:rPr sz="1000" b="0">
                <a:solidFill>
                  <a:srgbClr val="59595E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7772400" y="3712463"/>
            <a:ext cx="6766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TRAIN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8467344" y="3840479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8522208" y="3712463"/>
            <a:ext cx="13898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9930384" y="3840479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9985248" y="3712463"/>
            <a:ext cx="153619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USEFUL SIGNAL FOUND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772400" y="4059935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9509759" y="4187951"/>
            <a:ext cx="36577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9564624" y="4059935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SAFETY GATE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0515600" y="4187951"/>
            <a:ext cx="36576" cy="0"/>
          </a:xfrm>
          <a:prstGeom prst="line">
            <a:avLst/>
          </a:prstGeom>
          <a:ln w="15875">
            <a:solidFill>
              <a:srgbClr val="0A0A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10570464" y="4059935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A0A0A"/>
                </a:solidFill>
                <a:latin typeface="Calibri"/>
              </a:rPr>
              <a:t>NOT DEPLOYED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772400" y="4443984"/>
            <a:ext cx="3977639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D92B14"/>
                </a:solidFill>
                <a:latin typeface="Calibri"/>
              </a:rPr>
              <a:t>VALIDATION BEFORE AUTOMATION. </a:t>
            </a:r>
            <a:r>
              <a:rPr sz="1000" b="0">
                <a:solidFill>
                  <a:srgbClr val="0A0A0A"/>
                </a:solidFill>
                <a:latin typeface="Calibri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772400" y="5065776"/>
            <a:ext cx="397763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9595E"/>
                </a:solidFill>
                <a:latin typeface="Calibri"/>
              </a:rPr>
              <a:t>Precision 0.32 · F1 0.48 · PR-AUC 0.55 · ROC-AUC 0.83 · Brier 0.12  —  calibrated logistic regression, NASA GLC + ERA5-Land rain + DEM slope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457200" y="5669280"/>
            <a:ext cx="112928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TextBox 17445"/>
          <p:cNvSpPr txBox="1"/>
          <p:nvPr/>
        </p:nvSpPr>
        <p:spPr>
          <a:xfrm>
            <a:off x="457200" y="5888736"/>
            <a:ext cx="1129284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A1A1A8"/>
                </a:solidFill>
                <a:latin typeface="Calibri"/>
              </a:rPr>
              <a:t>REFERENCES   </a:t>
            </a:r>
            <a:r>
              <a:rPr sz="850" b="0">
                <a:solidFill>
                  <a:srgbClr val="59595E"/>
                </a:solidFill>
                <a:latin typeface="Calibri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